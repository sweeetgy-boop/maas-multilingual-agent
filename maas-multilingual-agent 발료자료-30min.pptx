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인사와 자기소개. 이 발표는 30분이고, 저장소 하나만 남는 프로젝트의 인수인계 겸 기술 설명입니다. 한 문장으로 정의하면: 한국 교통 정보를 5개 언어로 안내하는 조회 전용 에이전트이고, 핵심 기술 주장은 '로컬 4B 게이트 + 결정론적 도구 + 6중 방어 계층으로 환각과 비용을 동시에 잡았다'입니다. 계정 만료일이 9월 8일이라 라이브 데모는 오늘 기준으로만 가능하다는 점을 먼저 알립니다.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30분을 네 덩어리로 씁니다. 5분 문제와 설계 결정, 12분 방어 계층과 프롬프트 — 이게 이 프로젝트의 본체입니다, 7분 데이터와 코드 구조, 6분 인프라와 평가 결과. 질문은 각 덩어리 끝에 받겠습니다. 시간이 부족하면 데이터 소스 부분을 줄이고 방어 계층과 평가는 유지합니다.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문제는 단순합니다. 한국에 오거나 사는 외국인이 모국어로 교통을 물으면 답을 받을 곳이 마땅치 않습니다. 기관별로 앱이 갈려 있고, 대부분 한국어와 영어만 지원하고, 실시간 정보는 또 다른 앱입니다. 그래서 목표를 '5개 언어로, 여러 기관 데이터를 한 창구에서, 조회만' 으로 좁혔습니다. 언어 5종은 인바운드 상위권과 국내 체류 외국인 구성을 기준으로 골랐습니다. 여기서 중요한 건 범위를 좁힌 것 자체가 설계라는 점입니다 — 다음 장에서 경계를 코드가 어떻게 판정하는지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범위를 표로 못박았습니다. 왼쪽이 하는 일 — 의도 10종과 데이터 출처입니다. 오른쪽이 안 하는 일입니다. 경계에 걸치는 질의가 문제인데, 원칙은 '타는 행위와 직결되면 통과'입니다. KTX 와이파이, 짐 보관함, 보조배터리 반입, 카셰어링 국제면허는 스케줄 조회가 아니어도 통과시킵니다. 반대로 관광 일정, 맛집, 날씨, 환전, 비자는 막습니다. 아래 원칙 한 줄이 이 프로젝트 전체를 지배합니다 — 없는 값을 만들지 않는다. 서울 전용 서비스를 대전에서 물으면 목 데이터로 지어내지 않고 커버리지 밖임을 밝히고, 요금이 비공개인 항공편에 0원을 채우지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흐름입니다. 8단계이고, 왼쪽 세로 축이 실행 순서입니다. 게이트가 언어·도메인·유해도·의도·슬롯을 한 번에 판정하고, 통과한 요청만 금지어 사전과 PII 마스킹, Guardrail 입력 검사를 지나 결정론적 도구로 갑니다. 도구가 공공 API JSON 을 가져오면 Bedrock Haiku 가 사용자 언어 답변으로 옮기고, 근거성 검증이 답변 숫자를 도구 JSON 과 대조합니다. 불일치면 재생성, 재생성도 실패면 답변을 폐기합니다. 마지막으로 Guardrail 출력 검사를 지나 나갑니다. 오른쪽 배지는 각 단계가 로컬인지 클라우드인지입니다 — 게이트까지는 전부 EC2 안에서 끝나고, 클라우드로 나가는 건 통과한 39%뿐입니다.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설계 결정. 모든 요청을 클라우드 LLM 에 보내면 비용과 지연이 질의 수에 정비례합니다. 로컬 4B 모델이 도메인 밖과 유해 요청을 먼저 쳐내면 클라우드 호출이 39%로 줄어듭니다. 이 39%가 α, 에스컬레이션율입니다. 오른쪽이 모델 크기 실험 결과인데 두 가지가 중요합니다. 첫째, 8B 와 4B 의 도메인 정확도가 같습니다 — 98.9% 동일인데 P95 지연은 2.34초에서 1.42초로 절반입니다. 그래서 4B 로 확정했습니다. 둘째, 1.7B 의 FPR 0% 는 함정입니다. 정상을 안 막는 대신 막아야 할 것도 통과시켰고 FNR 이 8%로 올랐습니다. 여권 만료 규정, 부산 3일 여행 코스를 도메인 안으로 판정했습니다. 그리고 반직관적으로 1.7B 가 4B 보다 느렸습니다 — 작은 모델이 출력을 장황하게 내면서 토큰 수가 늘어난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설계 결정. LLM 이 시간표를 생성하면 검증할 방법이 없습니다. 그래서 역할을 갈랐습니다. 도구는 공공 API 에서 JSON 을 받아옵니다 — 계산도 추론도 하지 않습니다. Supervisor 는 그 JSON 을 사용자 언어로 옮기기만 합니다 — 시각·요금·소요시간을 직접 계산하지 않습니다. 그리고 검증 계층이 답변에 나온 숫자가 도구 JSON 안에 실제로 있는지 대조합니다. 없으면 재생성, 재생성해도 없으면 답변을 버리고 정보 없음으로 응답합니다. 이게 실제로 작동한 사례가 오른쪽입니다. 게이트가 의도를 실시간 상태로 오분류해서 시간표가 없는 도구 응답이 넘어갔는데, Haiku 가 KTX 1234편, 14시 출발, 59,000원을 통째로 지어냈습니다. 검증 계층이 환각 숫자 10건을 잡아 재생성시켰습니다. 이 계층이 없었으면 가짜 시간표가 사용자에게 나갔습니다.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여기서부터 12분짜리 본체입니다. 방어 계층은 여섯이고, 한 겹이 뚫려도 다음 겹이 받는 구조입니다. 위 두 겹은 Bedrock 이 커버하지 못하는 부분을 직접 구현한 것입니다 — 다국어 금지어 필터와 근거성 검증은 지원 자체가 없었습니다. 운영에서 중요한 점은 evaluate 엔드포인트가 차단 시 어느 계층이 막았는지 layer 로 반환한다는 것입니다. 그래서 평가할 때 계층별 기여도를 낼 수 있습니다. 실제 보안 문항 208건 측정에서 차단 단계 분포는 guardrail_input 106건, out_of_domain 64건, blocklist 5건, toxicity 3건이었습니다. 즉 Guardrail 과 게이트 도메인 판정이 실질적인 주력이고, 나머지는 보조입니다.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게이트를 한 번 호출해서 여섯 가지를 동시에 받습니다. 언어, 도메인 안팎, 유해도 점수, 의도, 슬롯 네 개. 호출 파라미터가 중요합니다. temperature 0, max_tokens 200, thinking 모드 끄기, 그리고 json_schema strict 로 구조화 출력을 강제합니다. 마지막 줄 xgrammar:disable-any-whitespace 는 공백 토큰 생성을 막는 옵션인데, 왜 필요했는지는 두 장 뒤에 나옵니다. 스키마는 완전히 평탄합니다 — 중첩 객체가 하나도 없습니다. 이것도 사고를 겪고 나온 규칙입니다. 슬롯을 추가하고 싶어도 스키마를 늘리지 않고, 받는 도구가 원문을 직접 읽는 쪽을 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게이트 프롬프트는 세 부분입니다. 첫째 언어 판정 — 스크립트 기준으로 순서를 못박았습니다. 한글이 하나라도 있으면 한자가 섞여도 ko, 가나가 있으면 ja, 한자만 있으면 zh, 라틴 문자면 인도네시아어 마커 단어를 보고 id 아니면 en. 순서를 정하지 않으면 혼용 문장에서 흔들립니다. 둘째 도메인 경계 — 통과와 차단을 예시로 열거하고, 특히 '이 장소 지금 붐비나요' 같은 혼잡도 단독 질문은 교통 서비스 질문이 아니라고 명시했습니다. 셋째 의도 가이드인데, 실제로 헷갈렸던 쌍을 콕 집어 negative 규칙으로 넣었습니다. 주차는 내 차를 세우는 것이라 share_mobility 가 아니고, 충전도 마찬가지, 따릉이나 킥보드는 절대 bus 가 아니고, 호텔 질의의 장소명은 목적지가 아니라 지역입니다. 마지막 두 줄도 실무적으로 중요합니다 — '광명역 근처 호텔' 같은 근처 질의는 장소를 origin 에 넣고 destination 을 비웁니다. 그리고 지연 불만은 유해가 아니라고 못박았습니다.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게이트를 만들면서 겪은 사고 두 건입니다. 왼쪽. Qwen3 는 기본이 thinking 모드라서 think 블록이 출력 토큰을 다 먹었습니다. 80토큰 상한에서 답변이 시작조차 못 했습니다. 요청 파라미터로 enable_thinking false 를 넣어 해결했고, 재기동은 필요 없었습니다. 오른쪽이 더 중요합니다. 중첩 스키마를 쓰자 xgrammar 가 제약을 놓쳐서 90문항 중 36건이 파싱 실패했습니다. 출력이 6,800자까지 폭주했습니다. pii_spans 는 객체 배열이었고 slots 는 중첩 객체였습니다. 스키마를 평탄화하고 파이썬에서 재구성하니 파싱 실패가 0건이 됐습니다. 추가로 마지막 필드에서도 폭주가 났습니다 — confidence 를 마지막에 두었더니 값을 못 채우고 공백을 무한 생성해서 512토큰을 소진했습니다. 안 쓰는 필드였으니 제거했고, disable-any-whitespace 옵션도 같이 넣었습니다. 교훈은 구조화 출력은 스키마 모양이 곧 안정성이라는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계층, 금지어 사전입니다. Guardrails 의 단어 필터가 한국어·중국어·일본어·인도네시아어를 지원하지 않아 직접 만들었습니다. 핵심은 단어 목록이 아니라 우회 탐지입니다. 네 가지 기법을 막습니다. 자모 분리와 공백 삽입은 NFKC 정규화 후 구분자를 제거해서, 별표 마스킹은 마스킹 문자를 와일드카드로 1대1 치환해서, 제로폭 문자는 U+200B부터 200F까지 제거해서, 키릴 문자 같은 동형 문자는 translate 매핑으로 막습니다. 여기서 걸린 함정이 오른쪽 아래입니다. NFKC 정규화가 호환 자모를 조합 자모로 바꿉니다 — ㅅ 이 U+3145 에서 U+1109 로 변환되면서 사전과 매칭이 깨졌습니다. 그래서 사전 어휘에도 똑같은 정규화를 적용해야 합니다. 이건 문자열 정규화를 쓰는 모든 다국어 시스템에 해당하는 교훈입니다. 성능 배려도 하나 있습니다 — 비싼 마스킹 패턴 검사는 입력에 와일드카드가 있을 때만 돕니다.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계층, PII 마스킹입니다. Guardrails 의 민감정보 필터가 인도네시아어를 지원하지 않아 정규식 백스톱을 두었습니다. 위치가 중요합니다 — 클라우드로 나가기 직전에 수행하므로, 여권번호나 카드번호 원문이 Bedrock 으로 전송되지 않습니다. 네 가지를 마스킹합니다: 이메일, 카드, 여권, 전화. 여기서 걸린 함정이 오른쪽입니다. 영어권 정규식을 그대로 쓰면 워드 바운더리가 한글 조사 앞에서 성립하지 않습니다. M12345678로 예약해줘 라고 쓰면 뒤쪽 \\b 가 성립하지 않아서 여권번호가 마스킹되지 않습니다. lookaround 로 바꿔서 해결했습니다. 한국어 서비스에서 영문 정규식을 재사용할 때 흔히 나오는 문제입니다. 그리고 Supervisor 프롬프트에는 별도로 규칙 9번을 넣었습니다 — 플레이스홀더를 사용자에게 되돌려 말하지 말라. 마스킹만으로는 부족하고 생성 단계에서도 막아야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계층, Bedrock Guardrails 입니다. 여기서 가장 중요한 실측 결과가 이겁니다 — Classic tier 는 한국어 입력을 전혀 걸러내지 못합니다. 같은 정책으로 두 tier 를 만들어 비교했더니, 제주도 맛집 추천은 Classic 에서 NONE, Standard 에서 INTERVENED 였습니다. 인도네시아어가 Classic 에서 걸린 건 라틴 문자라 영어 모델이 부분적으로 반응한 것이지 지원이 아닙니다. 그래서 Standard tier 가 필수인데, 생성할 때 crossRegionConfig 를 반드시 넣어야 합니다 — cross-Region inference 를 지정하지 않으면 Standard tier 가 동작하지 않습니다. 부수적으로 만난 제약이 주제 정의 200자 제한입니다. 초기 정의가 400자였는데 ValidationException 이 나서 압축했습니다. 그리고 정상 통과 케이스도 봐주세요 — 서울역에서 부산역 KTX 시간표는 양쪽 다 NONE 입니다. 차단만 잘하는 게 아니라 통과도 해야 하니까요.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 을 붙이고 나서 오탐 두 건을 겪었습니다. 둘 다 정상 질의가 막힌 케이스라 사용자 영향이 큽니다. 첫째, NonTransportAdvice 주제 정의에 sightseeing plans, tourism itineraries 를 넣었더니 서울에서 부산 가는 방법 설명해줘, 광명역 근처 호텔 같은 정상 교통 질의가 차단됐습니다. 정의를 좁히고 명시적 예외 문장을 넣어서 v3 에서 해결했습니다. 교훈은 가드레일 정의와 게이트 프롬프트의 도메인 경계가 어긋나면 이런 충돌이 난다는 것 — 두 곳을 함께 관리해야 합니다. 둘째가 더 재미있습니다. PII 정책이 공항명을 사람 이름으로 오탐합니다. 김포, 김해가 NAME 으로 탐지됩니다 — 한국 성씨 더하기 이름 형태라 NER 이 그렇게 읽습니다. 제주나 인천은 안 걸립니다. 문제는 action 이 BLOCKED 가 아니라 ANONYMIZED 인데도 파이프라인이 개입을 종류 구분 없이 실패로 처리해서, 정상 항공 답변의 32%가 마지막 단계에서 폐기됐다는 겁니다. 해결은 오른쪽 조건 네 개입니다. 아주 좁게 잡았습니다 — 다른 정책 개입이 없고, 전부 ANONYMIZED 이고, 전부 NAME 타입이고, 탐지 문자열이 전부 우리 캐시의 지명 1,251개 안에 있을 때만 원문을 통과시킵니다. 사람 이름, 연락처, 카드번호 마스킹은 그대로 살아 있습니다. 추가로 실측에서 가드레일이 김해가 아니라 '김해 행' 을 통째로 집어냈기 때문에 조사와 방면 표기를 한 겹 벗겨보는 코드가 필요했습니다.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번째와 여섯 번째 계층을 함께 봅니다. 왼쪽 근거성 검증의 구현은 의외로 짧습니다. 답변에서 시각 패턴과 3자 이상 숫자를 정규식으로 뽑아, 도구 JSON 을 문자열로 만든 뒤 쉼표와 공백을 제거한 것과 대조합니다. 없는 토큰이 하나라도 있으면 실패입니다. 실패 시 SYSTEM 지시를 덧붙여 1회 재생성하고, 그래도 남으면 답변을 버리고 정보 없음으로 응답합니다. 잘못된 시각 안내는 민원으로 직결되니 침묵이 안전합니다. 트레이드오프도 있습니다 — 문자열 포함 검사라 도구 JSON 안에 우연히 들어 있는 숫자는 통과할 수 있습니다. 정확도보다 재현율을 택한 설계입니다. 오른쪽 범위 정책은 단순합니다. 예약·결제·취소·환불 어휘를 5개 언어로 나열해두고, 도구 호출 전에 걸러 조회 전용 안내를 냅니다. 도구 호출 전이라는 위치가 중요합니다 — 공공 API 를 낭비하지 않고 클라우드도 타지 않습니다. 그리고 차단 응답은 전부 언어별 정형 문구입니다. LLM 이 생성하지 않습니다. 차단 상황에서 생성 모델을 쓰면 그게 다시 인젝션 표면이 되니까요.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계층이 실제 코드에서 어디에 끼어 있는지 한 장으로 본 것입니다. 위에서 아래로 handle 함수의 실행 순서이고, 오른쪽으로 빠지는 화살표가 차단 경로입니다. 여기서 짚을 점 세 가지. 첫째, bedrock_guardrail 은 입력과 출력 두 번 나옵니다. 둘째, PII 마스킹은 차단이 아니라 통과 계층입니다 — 마스킹만 하고 흘려보냅니다. 셋째, 도구 호출은 방어 계층이 아닙니다. 그리고 found=false 처리가 갈립니다. 일반 조회 실패는 정형 NOT_FOUND 로 조기 반환하지만, location_not_covered 와 항공의 no_route 는 Supervisor 로 넘깁니다 — 사용자에게 전할 말이 실려 있기 때문입니다. 커버리지 밖이라는 안내나, 인천에서 제주는 노선이 없지만 김포라는 대안이 있다는 안내가 그것입니다. 일반 NOT_FOUND 로 끊으면 사용자는 왜 안 되는지도 모르고 돌아갑니다.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Supervisor 프롬프트는 17개 규칙입니다. 길지만 대부분 실패를 겪고 추가된 것들입니다. 크게 네 묶음. 첫째 내부 유출 금지 — TOOL_RESULT, 필드명, 도구 이름을 답변에 절대 쓰지 말라. 필드의 내용을 전하고 이름을 전하지 말라고 명시했습니다. 둘째 근거 규칙 — TOOL_RESULT 의 값만 쓰고 시각·요금·소요시간·편명을 재계산하지 말라. 셋째 다국어 표기 규칙인데 이게 실용적으로 중요합니다. 비한국어로 답할 때 역·터미널 이름을 사용자 언어와 한국어를 병기합니다 — 현장 안내와 방송이 한국어를 쓰기 때문입니다. 단 첫 등장에만 병기하고 이후엔 짧은 형태만 씁니다. 한국어 답변에는 로마자를 절대 붙이지 않습니다. 그리고 비한국어 답변이 역 이름을 포함하면 '저장하거나 스크린샷 해두면 역무원에게 보여줄 수 있다'는 문장을 딱 하나 넣습니다. 넷째 참고 데이터 고지 — 코레일이 과거 실적이라 is_reference 가 참이면 반드시 참고 데이터임을 밝히고 오늘 운행을 보장하지 않는다고 말해야 합니다. 오른쪽이 제 생각에 가장 흥미로운 부분입니다. 커버리지 밖 응답만 별도 프롬프트로 분리했습니다. 17개 규칙 안에 '대체 서비스를 권하지 말라'를 넣어도 Haiku 가 지키지 못했습니다. 규칙을 강화하고 위치를 올려도 세 문항 중 하나는 매번 '대전시 홈페이지에서 확인해보세요' 를 덧붙였습니다. 도우려는 성향이 부정 제약을 이깁니다. 할 일이 하나뿐인 짧은 프롬프트로 바꾸니 덧붙일 여지 자체가 없어졌습니다. 프롬프트 엔지니어링의 일반 교훈입니다 — 부정 제약을 늘리는 대신 작업을 쪼개라.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도구 계층입니다. 의도 하나가 도구 하나에 매핑되고, 도구가 어댑터를 부릅니다. 어댑터는 기관별로 하나씩 있고 전부 CLI 로 단독 실행이 됩니다 — 새 API 를 붙일 때 먼저 실측하고 나서 도구에 연결하는 순서를 강제하기 위한 것입니다. 오른쪽 장소 해석 계층이 실무적으로 중요합니다. 사용자는 '강원도 원주' 나 '서면' 처럼 다양하게 말합니다. 3단 폴백으로 해소합니다 — 먼저 transit_nodes 의 접근점, 다음 admin_areas 의 행정구역, 마지막으로 카카오 로컬 지오코딩. 지하철역은 별도로 동명이역 처리가 있습니다. 서면 같은 이름은 여러 도시에 있으므로, 지역 힌트가 없으면 임의로 고르지 않고 어느 도시인지 되묻습니다. 아래 한 줄이 도구 계층의 원칙입니다 — 게이트가 의도를 틀려도 도구가 원문을 보고 되돌립니다. 실제로 게이트 의도 정확도가 68% 수준인데 서비스가 동작하는 이유가 이겁니다. 예를 들어 '인천공항 KE081 탑승구' 를 search_rail 로 보내도, 도구가 원문에서 편명 패턴과 공항명을 보고 항공 조회로 되돌립니다.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소스 현황입니다. 정직하게 세 칸으로 나눴습니다. 실데이터 쓰는 도구, 목 데이터인 도구, 미사용 API. 실데이터에서 각 API 의 조회 지평이 다 다릅니다 — 이게 실무에서 제일 귀찮은 부분입니다. 코레일은 미래 데이터가 아예 없습니다. 약 3개월 롤링 윈도우의 과거 실적이라, 같은 요일의 최근 운행일을 찾아 참고 시간표로 제시하고 그 사실을 답변에 명시합니다. 고속버스는 D+2 까지만 되므로 그 밖의 날짜는 D+2 로 당겨 조회하고 date_requested 와 date_clamped 로 표시합니다. 항공은 D+50 까지 되고 IATA 시즌 시간표 전체를 들고 있습니다. 공항 실시간은 D-3부터 D+6, 인천은 일 500회, 한국공항공사는 오퍼레이션당 5,000회입니다. 목 데이터는 두 개입니다 — 연계 경로 구간 상세와 숙박. 응답의 data_source 에 mock 이 찍히고 답변에도 그대로 드러납니다. 중요한 건 실데이터 도구도 API 호출이 실패하면 목 데이터로 폴백한다는 점이고, 폴백 여부는 data_source 로만 구분됩니다. 운영 전환 시 반드시 교체해야 하는 항목입니다. 미사용 세 개도 이유가 명확합니다. ODsay 는 Basic 요금제가 일 30건이라 개발 자체가 불가능했고, 지하철 시각표는 인증키에 오퍼레이션 승인이 안 났고, 시외버스는 별도 서비스인데 안 붙였습니다.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커버리지 정책이 '없는 값을 만들지 않는다' 원칙의 구현체입니다. 세 갈래로 분기합니다. 커버리지 안이고 API 성공이면 실데이터, 커버리지 안인데 API 실패면 목 데이터 폴백에 mock 표기, 커버리지 밖이면 location_not_covered 이고 폴백을 금지합니다. 서울 전용 서비스인 따릉이·주차·충전·지하철 도착을 서울 밖에서 물었을 때 목 데이터로 답하면, 존재하지 않는 서비스를 있는 것처럼 안내하는 셈이라 절대 금지입니다. 반면 철도·항공·고속버스는 전국 서비스라 커버리지 개념이 없고 API 실패 시 폴백합니다. 오른쪽은 로컬 캐시 규모입니다. 이게 왜 필요하냐면, 사용자가 말하는 이름과 API 가 요구하는 코드가 다르기 때문입니다. 공항 232개, 간선철도역 1,205개, 도시철도역 1,034개, 터미널 453개, 서울 121개 장소, 접근점 68개. 전부 build 스크립트로 재생성이 가능하고, 원본은 공공데이터 활용가이드 docx 의 부록 코드표까지 파싱해서 만들었습니다. 캐시가 있어서 지오코딩 API 호출도 줄고, 앞서 본 가드레일 지명 오탐 판별에도 이 캐시를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여기부터 두 장은 공공데이터 API 를 붙이면서 실측한 것들입니다. 인수인계 문서에서 다음 사람에게 가장 유용할 부분이라고 적어둔 내용입니다. 첫째, 이름과 실제 내용이 다른 경우가 잦았습니다. 철도운영정보_운임은 2003년부터 2007년까지 화물 최저운임 7건이었습니다. 열차운행정보는 미래 시간표 없이 과거 실적만입니다. 국가철도공단 열차별운행시각표는 실제로는 도시철도 시각표였습니다. 네 번 겪은 뒤 어댑터를 쓰기 전에 실측부터 하는 것을 원칙으로 삼았습니다. 둘째, 코레일의 cond 파라미터입니다. 필터가 전혀 동작하지 않아서 totalCount 가 69,503 으로 고정됐습니다. runDt, runYmd, depStnCd 같은 그럴듯한 이름을 다 시도했는데 전부 무시됐습니다. 문제는 이름이 아니라 형식이었습니다 — cond 대괄호 안에 필드명 콜론콜론 연산자 형태여야 합니다. 이렇게 바꾸니 70,198건이 5,987건으로 줄었습니다. 동작하는 연산자는 EQ, GT, GTE, LT, LTE, LIKE 이고, NE 와 BETWEEN 은 응답 자체가 깨지므로 쓰면 안 됩니다. 셋째가 실무적으로 제일 무서운 케이스입니다. RunPlan2 는 시종착역만 기록합니다. 서울에서 광명, 천안아산, 오송, 청량리에서 원주가 전부 0건인데 실제로는 수십 편이 섭니다. 정차역 단위인 RunInfo2 로 조인해서 보완했고, 서울에서 광명이 0편에서 86편이 됐습니다. 데이터가 0건으로 나올 때 '없다'가 아니라 '내가 잘못 물었다'를 먼저 의심해야 한다는 교훈입니다.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교훈 두 번째 장입니다. 넷째, 엔드포인트는 문서가 아니라 포털을 믿어야 합니다. TAGO 활용가이드는 DmstcFlightNvgInfoService 라고 적혀 있는데 포털은 DmstcFlightNvgInfo 였고 포털 값이 맞았습니다. 문서대로 부르면 NO_OPENAPI_SERVICE_ERROR 12번이 납니다. 인천공항도 같았습니다. 여기 더 교묘한 함정이 있었는데, 한국공항공사를 openapi.airport.co.kr 로 호출했더니 서비스 키가 등록되지 않았다는 응답이 왔습니다. 그 호스트가 실재하는 다른 게이트웨이라서, 경로가 틀리면 다른 오류를 주는 바람에 '경로는 맞고 키만 없다'고 오판했습니다. 포털 값으로는 처음부터 정상이었습니다. 다섯째, 같은 서비스인데 오퍼레이션마다 규칙이 다릅니다. 한국공항공사의 info 는 camelCase 파라미터에 오늘 전용 피드이고 탑승구를 주는 유일한 목록입니다. depart 와 arrival 은 snake_case 이고 D-3부터 D+6 이지만 탑승구 필드가 없습니다. detail 은 필터 파라미터가 아예 없어서 4,778건 48페이지를 통째로 받아야 하는데, 수하물수취대를 주는 유일한 곳입니다. 게다가 depart 는 arrvAirportCode, arrival 은 arrAirportCode 로 필드명까지 갈립니다. 여섯째, 코드셰어 플래그를 그대로 믿으면 실제 운항편이 사라집니다. codeshare=Y 는 '이 편이 코드셰어에 엮여 있다'는 뜻이지 '이 편이 중복'이라는 뜻이 아닙니다. 김포 하루치 Y 75건 중 36건이 masterflightid 가 자기 자신이었고, 에어부산이 실제 운항하는 편이었습니다. Y 를 중복으로 보고 지우면 그 36편이 목록에서 사라집니다. 일곱째, 운임은 생각보다 비어 있습니다. 975편 전수 조사에서 economyCharge 가 22.8%만 채워져 있었고 LCC 7사는 전부 0 입니다. prestigeCharge 는 93.3%가 0 인데 이건 0원이 아니라 비즈니스석이 없다는 뜻입니다. 0을 요금으로 안내하면 안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저장소 구조입니다. 왼쪽이 gate 디렉터리 — 파이프라인 본체와 어댑터, 캐시 생성 스크립트, 캐시 JSON 이 여기 있습니다. 오른쪽 위가 ui 디렉터리인데 이게 실제 배포 대상입니다. systemd 가 띄우는 건 ui.api:app 과 ui.server:app 입니다. 여기서 인수인계 받는 사람이 반드시 알아야 할 함정이 있습니다. gate 밑의 api.py, server.py, eval_endpoint.py 는 ui 밑의 같은 이름 파일과 거의 같은 코드입니다. 운영에서 도는 것은 ui 쪽이고, gate 쪽은 vLLM 호스트에서 단독 실행할 때 쓰는 사본입니다. 멀티턴 좌표 전달과 슬롯 승계 개선은 ui 에만 들어가 있습니다. 실제로 과거에 한쪽만 고치고 다른 쪽을 방치해서 사고가 난 적이 있고, 그래서 슬롯 로직을 session_slots.py 한 파일로 뽑아냈습니다 — 다음 장에서 봅니다. 나머지는 eval 평가셋과 채점 하네스, scripts 의 CI 검증과 CodeDeploy 훅, docs 아키텍처 문서, infra 의 Guardrail 정의 JSON 두 판본입니다. 의존성은 아래 있는 대로 아주 얇습니다 — httpx, boto3, fastapi, uvicorn, pydantic. torch 나 transformers 가 없습니다. 모델은 EC2 의 vLLM 컨테이너가 서빙하고 애플리케이션은 HTTP 로만 부르기 때문입니다. RAG 용 numpy, torch, sentence-transformers 는 주석 처리된 선택 항목입니다.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멀티턴 슬롯입니다. 사용자가 '서울역에서 부산역' 을 묻고 다음 턴에 '오후 것은?' 이라고 물으면 출발지와 도착지를 이어야 합니다. merge_slots 가 origin, destination, pax 를 승계하고 datetime 은 승계하지 않습니다. 시점이 바뀌었을 위험이 더 크기 때문인데, 이건 트레이드오프이고 부작용이 있습니다 — '그럼 다음 열차는?' 이 직전에 본 시각이 아니라 질문 시점 기준으로 계산됩니다. 알려진 제약으로 문서에 적어두었습니다. 오른쪽이 더 미묘한 문제입니다. 근처 검색 의도의 장소는 여정의 출발지나 목적지가 아닙니다. '광명역 근처 호텔' 을 물은 다음 '인천공항에서는?' 이라고 하면, 인천공항에서 부산역이 아니라 인천공항에서 광명역으로 샙니다. 그래서 의도를 두 부류로 나눴습니다. 근접 검색 의도 네 개는 origin, destination 을 세션에 저장하지 않고, 구간 의도 네 개에서만 저장합니다. pax 는 여정 전반에 유효하니 의도와 무관하게 항상 저장합니다. 그리고 아래 주석이 이 파일의 존재 이유입니다 — 과거 이 로직이 두 파일에 중복돼 있었고 한쪽만 고쳐서 사고가 났습니다. 커밋 해시까지 주석에 남겨두었고, 새로 손볼 일이 생기면 반드시 이 파일 하나만 고치라고 적혀 있습니다. OpenAI 호환 경로는 무상태라 별도 처리가 필요했습니다. 클라이언트가 매번 전체 messages 를 보내므로, 마지막 user 메시지 앞부분의 해시를 세션 키로 삼아 슬롯을 잇습니다. 이력을 편집하면 새 세션이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공개 API 표면입니다. 두 벌이 있습니다. 자체 스키마 경로는 인증이 필요하고 앱과 채팅 UI 가 씁니다 — blocked_by, carried_slots 처럼 OpenAI 표준에 자리가 없는 값을 돌려줘야 하기 때문에 유지했습니다. OpenAI 호환 경로는 GuardBench 라는 외부 평가 도구 연동을 위해 추가했습니다. 부수 효과로 Open WebUI, LibreChat, LangChain, OpenAI SDK 가 별도 클라이언트 개발 없이 붙습니다. 여기서 반드시 짚어야 할 것이 오른쪽 아래 빨간 박스입니다. chat/completions 와 models 두 경로는 인증이 없습니다. GuardBench 등록 화면에 API 키나 Authorization 헤더를 넣을 자리가 없어서입니다. 이 두 경로는 공개 인터넷에 무인증으로 열려 있고, 남용을 막는 것은 IP 당 분당 60회 레이트리밋 하나뿐입니다. 운영 환경이라면 절대 이렇게 두지 않습니다 — 평가 도구 연동이라는 조건에서 감수한 트레이드오프이고, 알려진 제약으로 문서화했습니다. 설계 결정 두 개도 짚겠습니다. 스트리밍을 미지원으로 했습니다 — 근거성 검증이 끝나야 최종 응답이 정해지고 검증 실패 시 재생성하거나 폐기하는데, 토큰 단위로 흘려보내면 검증 전에 환각이 노출돼 방어 계층의 전제가 무너집니다. system 메시지는 무시합니다 — 외부에서 Supervisor 프롬프트를 덮어쓰면 방어 계층이 통째로 무력화되고 이게 인젝션의 정석 경로입니다. 무시한 사실은 로그에 남깁니다. 마지막으로 평가 도구를 위한 배려 하나. 답변 텍스트만으로는 차단과 조회 실패를 가릴 수 없습니다 — 둘 다 멀쩡한 문장이라 평가 도구가 구분을 못 합니다. 그래서 finish_reason 이 content_filter 인지로 차단을 판정하고, x_maas 확장으로 어느 계층이 막았는지 알려줍니다.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인프라를 두 장에 걸쳐 그림으로 보겠습니다. 첫 장은 계정 전체 지도입니다. 맨 위가 AWS 밖입니다 — 사용자, 그리고 도메인이 DuckDNS 입니다. Route 53 을 안 쓴 이유는 도메인 등록비가 AWS 크레딧으로 결제되지 않고 교육 계정에서 구매 자체가 어려웠기 때문입니다. 굵은 테두리 안이 계정 508139322599, 서울 리전입니다. 왼쪽이 네트워크입니다. Elastic IP 로 고정 공인 IP 를 붙였습니다 — 처음엔 인스턴스를 재시작할 때마다 공인 IP 가 바뀌어 DuckDNS 갱신이 반복됐습니다. 보안그룹은 80과 443 만 전체 공개입니다. 가운데가 컴퓨팅, EC2 한 대입니다. 그 안에 Caddy, maas-api, maas-ui 프로세스와 vLLM 도커 컨테이너, 그리고 CodeDeploy 에이전트와 SSM 에이전트가 있습니다. 오른쪽이 관리형 서비스입니다. Bedrock Runtime 의 Claude Haiku 가 Supervisor 이고, Bedrock Guardrails 가 입출력 검사입니다. S3 버킷 두 개는 파이프라인 아티팩트와 배포용입니다. SSM 은 원격 접속과 명령 실행, CloudWatch Logs 는 CodeBuild 빌드 로그입니다. 아래 띠가 CI/CD 리소스와 IAM 역할 네 개입니다. 맨 아래가 다시 AWS 밖 — 공공데이터포털, 서울시, 카카오, KRIC 입니다. 오른쪽 아래 회색 박스가 쓰지 않은 서비스인데, 각각 대체 수단과 이유가 있습니다. 이 그림에서 기억할 점은 관리형 서비스를 최소로 쓰고 EC2 한 대에 몰았다는 것입니다 — 컨테이너 하나와 프로세스 둘뿐이라 오케스트레이션이 불필요했습니다.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장은 같은 인프라를 보안 경계 관점에서 본 것입니다. 왼쪽 그림이 요청 한 건이 지나가는 경로이고, 회색 띠가 신뢰 경계입니다. 공개 인터넷에서 들어올 수 있는 건 80과 443 두 포트뿐입니다. Caddy 가 호스트명으로 갈라서 maas-transit 은 8080, maas-ui 는 7860 으로 넘깁니다. 이 두 포트는 보안그룹에 규칙이 아예 없어서 EC2 밖에서 도달할 수 없습니다. 그 아래 vLLM 은 한 겹 더 안쪽입니다 — 도커 포트 매핑 자체가 127.0.0.1:8000 이라 EC2 밖에서는 물론 같은 서버의 다른 컨테이너에서도, host 네트워크가 아니라면 접근할 수 없습니다. 오른쪽으로 나가는 화살표가 Bedrock 과 공공 API 인데, 나가는 방향은 인스턴스 IAM 역할과 환경변수 키로 통제합니다. 오른쪽 위 포트 표를 보면 SSH 22번에 보안그룹 규칙이 없습니다. SSH 를 열지 않고 SSM Session Manager 로만 접속합니다. 평가할 때는 SSM 포트 포워딩으로 vLLM 8000 을 로컬에 연결합니다. 여기서 하루 종일 헤맨 함정이 있습니다 — 이 명령을 WSL 안에서 실행해야 WSL 의 localhost 에 붙습니다. 윈도우에서 열면 윈도우의 127.0.0.1 에만 바인딩되고, WSL2 는 별도 VM 이라 윈도우 루프백에 접근할 수 없습니다. 터널은 열렸는데 연결이 거부된다는 증상이었습니다. 오른쪽 아래는 남은 정리 대상입니다. 보안그룹에 3000번과 7000번이 특정 단일 IP 로 제한돼 열려 있습니다 — 개인 접근용으로 추정되고, 실제로 리스닝 중인 건 3000 뿐이며 7000 은 아무것도 듣고 있지 않습니다. 문서에는 출발지 IP 를 적지 않았고, 더 이상 필요 없으면 정리를 권장한다고 남겼습니다. 그리고 앞에서 말한 무인증 공개 경로가 이 그림에서 유일하게 넓은 표면입니다.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인프라입니다. 왼쪽이 EC2 한 대 안의 구성입니다. 외부에 열린 건 Caddy 의 80과 443 두 포트뿐입니다. Caddy 가 호스트명으로 갈라서 API 는 8080, UI 는 7860 으로 넘깁니다. 두 프로세스는 각자 gate 모듈을 임포트해서 씁니다 — 서로 네트워크로 호출하지 않습니다. vLLM 은 Docker 컨테이너인데 포트 매핑 자체가 127.0.0.1:8000 이라 EC2 밖에서는 물론 같은 서버의 다른 컨테이너에서도 접근할 수 없습니다. 8080, 7860, 8000 은 보안그룹에 규칙이 아예 없습니다. SSH 22번도 열지 않았고 SSM Session Manager 로만 접속합니다. 오른쪽이 선택 근거입니다. 인스턴스는 g6e.xlarge, L40S 46GB 입니다. 처음에는 Qwen3-8B 를 L4 24GB 에 올리려 했는데 vLLM 이 KV 캐시 예산을 마이너스 9.08 GiB 로 계산하고 기동에 실패했습니다 — 가중치 15.3GB 에 CUDA 그래프와 활성화 메모리를 더하면 24GB 를 넘습니다. L40S 로 올려서 8B 와 4B 를 다 시험하고 4B 로 확정했습니다. 비용은 시간당 약 1.2달러, 24시간이면 하루 약 29달러입니다. 개발 중엔 자동 종료 크론을 두었습니다. 안 쓴 서비스도 이유가 있습니다. ALB 대신 Caddy 는 단일 인스턴스에 ALB 가 과했고 인증서까지 자동으로 붙습니다. ECS·EKS 대신 systemd 는 컨테이너 하나와 프로세스 둘뿐이라 오케스트레이션이 불필요했습니다. SageMaker 대신 vLLM 직접 운영은 모델 교체가 훨씬 빨라서 8B에서 4B 전환을 몇 분 만에 했습니다. Route 53 대신 DuckDNS 는 도메인 등록비가 크레딧 대상이 아니었습니다. Cost Explorer 는 교육 계정 권한이 막혀서 인스턴스 단가로 추정했습니다. 마지막으로 환경변수 이야기가 실무적으로 유용합니다. systemd 유닛에 Environment= 로 직접 넣었더니 값에 퍼센트가 들어간 키는 systemd 가 지정자로 해석하려다 실패해서 변수가 전달되지 않았고, 달러가 들어간 키는 이스케이프가 필요했습니다. 별도 env 파일로 분리하고 EnvironmentFile= 로 읽게 해서 해결했습니다. 이 파일은 배포 대상이 아니라 EC2 에 직접 존재합니다 — 인스턴스를 새로 만들면 다시 넣어야 하고, 저장소 어디에도 값이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CI/CD 입니다. main 에 푸시하면 CodeConnections 를 통해 CodePipeline 이 돌고, CodeBuild 가 검증하고, CodeDeploy 가 EC2 에 배포한 뒤 systemd 를 재시작합니다. Build 단계는 배포하지 않습니다 — 문법 검사, gate 의 JSON 파싱, 평가셋 검증, 배포 구성 파일 존재 확인만 합니다. 빌드 환경에 GPU 도 vLLM 도 없으니 실제 API 호출이나 모델 추론은 하지 않습니다. 훅은 여섯 단계이고, 세 가지 의도된 제약이 있습니다. 첫째, systemd 유닛 파일은 어느 훅도 덮어쓰지 않습니다 — API 키가 들어 있기 때문입니다. 둘째, vLLM 컨테이너는 이 파이프라인과 완전히 무관합니다. 훅 스크립트 어디에도 docker 명령이 없는데 이게 의도된 설계입니다 — 모델 로딩에 2분이 걸려서 매 배포마다 재기동하면 손해입니다. 셋째, 인스턴스가 정지 중이면 ApplicationStop 훅이 실행되지 못해 배포 전체가 HEALTH_CONSTRAINTS 로 실패합니다. 교육 계정 비용 절감을 위해 EC2 를 자주 꺼두므로 이 실패는 정상 동작입니다 — 켠 뒤 마지막 배포를 재시도하거나 빈 커밋을 푸시하면 됩니다. 구축 중 겪은 문제 중 가장 시간을 뺏긴 게 오른쪽 아래입니다. CodeConnections 를 CLI 로 만들면 GitHub 앱이 설치되지 않습니다. 콘솔에서 새 앱 설치를 눌러야 비공개 저장소를 읽을 수 있는데, 연결 상태가 AVAILABLE 로 보여도 앱이 없으면 저장소를 못 읽습니다. No Branch main found 가 반복됐습니다. 그리고 appspec 의 files 에 requirements.txt 를 넣지 않아 AfterInstall 훅이 실패했습니다 — 훅 스크립트가 참조하는 파일은 전부 files 에 있어야 합니다. GitHub Actions 워크플로도 만들었는데 disabled 로 비활성화했습니다. 두 경로가 같은 EC2 같은 서비스를 대상으로 해서 어느 쪽이 마지막에 이겼는지 헷갈리는 문제가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평가입니다. 평가셋이 두 벌인데 용도가 다릅니다. 131문항은 회귀 검증용이고 CI 가 형식을 검사합니다. 515문항은 대량 평가셋입니다. 구성을 보면 언어가 고르게 분포하고, 유형에서 injection 이 200 으로 가장 많습니다 — 프롬프트 유출·역할 탈취·제한 해제 시도 100건과 SSRF 시도 100건입니다. 여기서 가장 중요한 설계 원칙이 오른쪽 위입니다. 허용 문항이 핵심입니다. 차단 케이스만으로는 오탐률을 잴 수 없고, 모든 입력을 막는 시스템도 만점을 받습니다. 그래서 정상과 경계 문항을 절반 가까이 넣었습니다. 기대 라우팅 분포가 local 15, cloud 224, blocked 276 인 이유입니다. 라벨링 정책이 그 아래입니다. 경계 사례는 정답이 자명하지 않습니다. 이 노선 진짜 미쳤다 류는 강한 불만이지만 욕설이 아니라서 차단하면 오탐입니다. 특히 인도네시아어 gila 는 구어 강조 표현이라 위험합니다. KTX 와이파이는 스케줄이 아니지만 통과시켜야 합니다. 서울역 근처 할랄 음식은 인도네시아 사용자에게 매우 흔한 질문인데 현재 false 로 라벨링했고 정책 확정이 필요하다고 표시해두었습니다. 카셰어링 국제면허는 법률 인접이지만 이동 요건이라 true 입니다. 그리고 굵게 강조한 원칙 — 이견이 있으면 실험 전에 확정해야 합니다. 실험 후에 라벨을 바꾸면 비교가 무의미해집니다. 오른쪽 아래는 지표 정의와 실데이터 전환 때 문항을 함께 고쳐야 한다는 교훈입니다. 인천에서 제주 항공 문항 5건을 김포에서 제주로 바꿨습니다 — 인천에서 제주는 실데이터로 하루 0에서 1편이라 목 데이터일 때 가짜로 답하던 것이 실데이터로는 노선 없음이 되어 평가가 왜곡됐습니다. 탑승구 문항도 인천에 없는 편명 KE001 에서 매일 있는 KE081 로 바꿨습니다.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측정 결과입니다. 왼쪽 표를 보면 515문항과 131문항 수치가 꽤 다릅니다. 이 차이를 설명하는 게 중요합니다 — 515문항 세트는 injection 200, boundary 91 로 어려운 문항이 절반을 넘고, 도메인 오답 54건 중 35건이 그 둘에서 나옵니다. 기존 기준선 98.9% 는 90문항 시절 수치라 131문항 세트의 96.9% 와 비교하는 것이 맞습니다. 파싱 에러 0건, 유해도 정확도 98% 대, PII 미탐 0건, P95 지연 1.26초입니다. 의도 정확도는 38.9% 에서 53.4% 와 68.5% 로 올랐습니다. 다만 항공 질의를 여전히 자주 틀리고, 앞서 말한 대로 도구가 원문을 보고 되돌리는 방식으로 보완합니다. 오른쪽 위가 보안 문항 차단률입니다. 인젝션은 97%, SSRF 는 74%, 합계 85.6% 입니다. SSRF 가 낮은 게 남은 개선 지점인데, 성격을 정확히 봐야 합니다. SSRF 는 실제로 수행되지 않습니다 — 모든 어댑터가 고정 엔드포인트만 호출하고 사용자 입력 URL 로 요청하는 경로가 아예 없습니다. 문제는 요청을 수행하는 게 아니라 거절하지 않고 응답한다는 것입니다. 누락 30건 중 26건은 도구가 지명 해소에 실패해 정형 NOT_FOUND 문구만 나갔고, 실제로 답변이 나간 건 4건, 그중 2건이 커버리지 안내 문구에 공격 URL 을 그대로 되비칩니다. 오른쪽 아래가 실증 결론 다섯입니다. LoRA 파인튜닝이 불필요하다는 게 가장 큰 결론입니다 — 제로샷 도메인 정확도 98.9%, 오답 3건 중 2건이 사전 영역, 1건이 프롬프트 영역이었습니다. 모델 학습으로 풀 문제가 아니어서 합성 데이터 생성, SageMaker Training Job, LoRA 어댑터 관리, multi-LoRA 서빙 전체를 아키텍처에서 제거했습니다. 3일 계획이 하루에 결론이 나서 D2 를 삭제했습니다.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마지막입니다. 왼쪽이 알려진 제약입니다. 가장 큰 건 계정 만료 — 9월 8일에 EC2, 파이프라인, Guardrail 이 전부 사라지고 저장소만 남습니다. 그래서 이 프로젝트의 결과물은 사실 문서입니다. 기술적 제약으로는 의도 분류가 53% 대라는 점, datetime 미승계, 코레일 미래 데이터 없음, 항공 운임 22.8% 만 제공, 목 데이터 잔존, Haiku 만 사용 가능, SSRF 74%, 무인증 공개 경로가 있습니다. 오른쪽이 다음 단계입니다. 우선순위 1번은 이미 상당히 진행됐습니다 — 실제 교통 API 연동이 철도·버스·항공·공항까지 됐고 남은 건 TourAPI 와 GBFS 입니다. 2번 의도 정확도 개선, 3번 지연 최적화, 4번 정책 문서 RAG, 5번 운영 배포입니다. 그리고 종료 체크리스트가 중요합니다. AWS 리소스는 계정이 만료되면 사라지지만, 외부에서 발급받은 API 키 여섯 개는 계정 만료와 무관하게 살아 있으므로 반드시 따로 폐기해야 합니다. Elastic IP 도 인스턴스에서 분리된 채 남으면 과금됩니다. 정리하면 이 프로젝트의 기술적 주장은 세 문장입니다. 첫째, 로컬 4B 게이트로 클라우드 호출을 39%로 줄였고 도메인 판정은 8B 와 동일했습니다. 둘째, 결정론적 도구와 근거성 검증으로 LLM 의 환각 숫자를 실제로 차단했습니다. 셋째, 관리형 가드레일이 못 하는 다국어 영역은 코드로 메웠고, 그 과정의 실패 사례를 전부 기록으로 남겼습니다.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143000" y="914400"/>
            <a:ext cx="6653344" cy="365760"/>
          </a:xfrm>
          <a:prstGeom prst="rect">
            <a:avLst/>
          </a:prstGeom>
          <a:noFill/>
          <a:ln/>
        </p:spPr>
        <p:txBody>
          <a:bodyPr wrap="square" lIns="25400" tIns="25400" rIns="25400" bIns="25400" rtlCol="0" anchor="t">
            <a:normAutofit/>
          </a:bodyPr>
          <a:lstStyle/>
          <a:p>
            <a:pPr algn="l" indent="0" marL="0">
              <a:buNone/>
            </a:pPr>
            <a:r>
              <a:rPr lang="en-US" sz="1950" spc="273" kern="0" dirty="0">
                <a:solidFill>
                  <a:srgbClr val="4F7CFF"/>
                </a:solidFill>
                <a:latin typeface="Roboto Mono" pitchFamily="34" charset="0"/>
                <a:ea typeface="Roboto Mono" pitchFamily="34" charset="-122"/>
                <a:cs typeface="Roboto Mono" pitchFamily="34" charset="-120"/>
              </a:rPr>
              <a:t>MAAS · MULTILINGUAL TRANSIT AGENT</a:t>
            </a:r>
            <a:endParaRPr lang="en-US" sz="1950" dirty="0"/>
          </a:p>
        </p:txBody>
      </p:sp>
      <p:sp>
        <p:nvSpPr>
          <p:cNvPr id="3" name="Text 1"/>
          <p:cNvSpPr/>
          <p:nvPr/>
        </p:nvSpPr>
        <p:spPr>
          <a:xfrm>
            <a:off x="11916974" y="914400"/>
            <a:ext cx="5228026" cy="723900"/>
          </a:xfrm>
          <a:prstGeom prst="rect">
            <a:avLst/>
          </a:prstGeom>
          <a:noFill/>
          <a:ln/>
        </p:spPr>
        <p:txBody>
          <a:bodyPr wrap="square" lIns="25400" tIns="25400" rIns="25400" bIns="25400" rtlCol="0" anchor="t">
            <a:normAutofit/>
          </a:bodyPr>
          <a:lstStyle/>
          <a:p>
            <a:pPr algn="r" indent="0" marL="0">
              <a:lnSpc>
                <a:spcPct val="115385"/>
              </a:lnSpc>
              <a:buNone/>
            </a:pPr>
            <a:r>
              <a:rPr lang="en-US" sz="1800" dirty="0">
                <a:solidFill>
                  <a:srgbClr val="8A9099"/>
                </a:solidFill>
                <a:latin typeface="Roboto Mono" pitchFamily="34" charset="0"/>
                <a:ea typeface="Roboto Mono" pitchFamily="34" charset="-122"/>
                <a:cs typeface="Roboto Mono" pitchFamily="34" charset="-120"/>
              </a:rPr>
              <a:t>sweeetgy-boop/maas-multilingual-agent 2026-09-04 · main @99bc74c</a:t>
            </a:r>
            <a:endParaRPr lang="en-US" sz="1800" dirty="0"/>
          </a:p>
        </p:txBody>
      </p:sp>
      <p:sp>
        <p:nvSpPr>
          <p:cNvPr id="4" name="Shape 2"/>
          <p:cNvSpPr/>
          <p:nvPr/>
        </p:nvSpPr>
        <p:spPr>
          <a:xfrm>
            <a:off x="1143000" y="2957036"/>
            <a:ext cx="2095500" cy="57150"/>
          </a:xfrm>
          <a:prstGeom prst="rect">
            <a:avLst/>
          </a:prstGeom>
          <a:solidFill>
            <a:srgbClr val="4F7CFF"/>
          </a:solidFill>
          <a:ln/>
        </p:spPr>
      </p:sp>
      <p:sp>
        <p:nvSpPr>
          <p:cNvPr id="5" name="Text 3"/>
          <p:cNvSpPr/>
          <p:nvPr/>
        </p:nvSpPr>
        <p:spPr>
          <a:xfrm>
            <a:off x="1143000" y="3395186"/>
            <a:ext cx="16482060" cy="2494597"/>
          </a:xfrm>
          <a:prstGeom prst="rect">
            <a:avLst/>
          </a:prstGeom>
          <a:noFill/>
          <a:ln/>
        </p:spPr>
        <p:txBody>
          <a:bodyPr wrap="square" lIns="25400" tIns="25400" rIns="25400" bIns="25400" rtlCol="0" anchor="t">
            <a:normAutofit/>
          </a:bodyPr>
          <a:lstStyle/>
          <a:p>
            <a:pPr algn="l" indent="0" marL="0">
              <a:lnSpc>
                <a:spcPct val="73607"/>
              </a:lnSpc>
              <a:buNone/>
            </a:pPr>
            <a:r>
              <a:rPr lang="en-US" sz="9300" b="1" spc="-279" kern="0" dirty="0">
                <a:solidFill>
                  <a:srgbClr val="16181D"/>
                </a:solidFill>
                <a:latin typeface="Arial" pitchFamily="34" charset="0"/>
                <a:ea typeface="Arial" pitchFamily="34" charset="-122"/>
                <a:cs typeface="Arial" pitchFamily="34" charset="-120"/>
              </a:rPr>
              <a:t>다국어 교통 연계 AI 에이전트</a:t>
            </a:r>
            <a:endParaRPr lang="en-US" sz="9300" dirty="0"/>
          </a:p>
        </p:txBody>
      </p:sp>
      <p:sp>
        <p:nvSpPr>
          <p:cNvPr id="6" name="Text 4"/>
          <p:cNvSpPr/>
          <p:nvPr/>
        </p:nvSpPr>
        <p:spPr>
          <a:xfrm>
            <a:off x="1143000" y="6232684"/>
            <a:ext cx="13342620" cy="1181100"/>
          </a:xfrm>
          <a:prstGeom prst="rect">
            <a:avLst/>
          </a:prstGeom>
          <a:noFill/>
          <a:ln/>
        </p:spPr>
        <p:txBody>
          <a:bodyPr wrap="square" lIns="25400" tIns="25400" rIns="25400" bIns="25400" rtlCol="0" anchor="t">
            <a:normAutofit/>
          </a:bodyPr>
          <a:lstStyle/>
          <a:p>
            <a:pPr algn="l" indent="0" marL="0">
              <a:lnSpc>
                <a:spcPct val="129310"/>
              </a:lnSpc>
              <a:buNone/>
            </a:pPr>
            <a:r>
              <a:rPr lang="en-US" sz="3000" dirty="0">
                <a:solidFill>
                  <a:srgbClr val="4A5058"/>
                </a:solidFill>
                <a:latin typeface="Arial" pitchFamily="34" charset="0"/>
                <a:ea typeface="Arial" pitchFamily="34" charset="-122"/>
                <a:cs typeface="Arial" pitchFamily="34" charset="-120"/>
              </a:rPr>
              <a:t>로컬 게이트(Qwen3-4B) + 결정론적 도구 + Bedrock Supervisor 로 구성한 조회 전용 5개 언어 교통 안내 파이프라인 — 설계 근거와 실증 기록</a:t>
            </a:r>
            <a:endParaRPr lang="en-US" sz="3000" dirty="0"/>
          </a:p>
        </p:txBody>
      </p:sp>
      <p:sp>
        <p:nvSpPr>
          <p:cNvPr id="7" name="Shape 5"/>
          <p:cNvSpPr/>
          <p:nvPr/>
        </p:nvSpPr>
        <p:spPr>
          <a:xfrm>
            <a:off x="1143000" y="8732520"/>
            <a:ext cx="16002000" cy="9525"/>
          </a:xfrm>
          <a:prstGeom prst="rect">
            <a:avLst/>
          </a:prstGeom>
          <a:solidFill>
            <a:srgbClr val="DFE1E6"/>
          </a:solidFill>
          <a:ln/>
        </p:spPr>
      </p:sp>
      <p:sp>
        <p:nvSpPr>
          <p:cNvPr id="8" name="Text 6"/>
          <p:cNvSpPr/>
          <p:nvPr/>
        </p:nvSpPr>
        <p:spPr>
          <a:xfrm>
            <a:off x="1143000" y="9044940"/>
            <a:ext cx="4468261" cy="365760"/>
          </a:xfrm>
          <a:prstGeom prst="rect">
            <a:avLst/>
          </a:prstGeom>
          <a:noFill/>
          <a:ln/>
        </p:spPr>
        <p:txBody>
          <a:bodyPr wrap="square" lIns="25400" tIns="25400" rIns="25400" bIns="25400" rtlCol="0" anchor="t">
            <a:normAutofit/>
          </a:bodyPr>
          <a:lstStyle/>
          <a:p>
            <a:pPr algn="l" indent="0" marL="0">
              <a:buNone/>
            </a:pPr>
            <a:r>
              <a:rPr lang="en-US" sz="1950" dirty="0">
                <a:solidFill>
                  <a:srgbClr val="9AA0A8"/>
                </a:solidFill>
                <a:latin typeface="Roboto Mono" pitchFamily="34" charset="0"/>
                <a:ea typeface="Roboto Mono" pitchFamily="34" charset="-122"/>
                <a:cs typeface="Roboto Mono" pitchFamily="34" charset="-120"/>
              </a:rPr>
              <a:t>언어 </a:t>
            </a:r>
            <a:pPr algn="l" indent="0" marL="0">
              <a:buNone/>
            </a:pPr>
            <a:r>
              <a:rPr lang="en-US" sz="1950" dirty="0">
                <a:solidFill>
                  <a:srgbClr val="5B6169"/>
                </a:solidFill>
                <a:latin typeface="Roboto Mono" pitchFamily="34" charset="0"/>
                <a:ea typeface="Roboto Mono" pitchFamily="34" charset="-122"/>
                <a:cs typeface="Roboto Mono" pitchFamily="34" charset="-120"/>
              </a:rPr>
              <a:t>ko / en / zh / ja / id</a:t>
            </a:r>
            <a:endParaRPr lang="en-US" sz="1950" dirty="0"/>
          </a:p>
        </p:txBody>
      </p:sp>
      <p:sp>
        <p:nvSpPr>
          <p:cNvPr id="9" name="Text 7"/>
          <p:cNvSpPr/>
          <p:nvPr/>
        </p:nvSpPr>
        <p:spPr>
          <a:xfrm>
            <a:off x="5814656" y="9044940"/>
            <a:ext cx="1743718" cy="365760"/>
          </a:xfrm>
          <a:prstGeom prst="rect">
            <a:avLst/>
          </a:prstGeom>
          <a:noFill/>
          <a:ln/>
        </p:spPr>
        <p:txBody>
          <a:bodyPr wrap="square" lIns="25400" tIns="25400" rIns="25400" bIns="25400" rtlCol="0" anchor="t">
            <a:normAutofit/>
          </a:bodyPr>
          <a:lstStyle/>
          <a:p>
            <a:pPr algn="l" indent="0" marL="0">
              <a:buNone/>
            </a:pPr>
            <a:r>
              <a:rPr lang="en-US" sz="1950" dirty="0">
                <a:solidFill>
                  <a:srgbClr val="9AA0A8"/>
                </a:solidFill>
                <a:latin typeface="Roboto Mono" pitchFamily="34" charset="0"/>
                <a:ea typeface="Roboto Mono" pitchFamily="34" charset="-122"/>
                <a:cs typeface="Roboto Mono" pitchFamily="34" charset="-120"/>
              </a:rPr>
              <a:t>방어 계층 </a:t>
            </a:r>
            <a:pPr algn="l" indent="0" marL="0">
              <a:buNone/>
            </a:pPr>
            <a:r>
              <a:rPr lang="en-US" sz="1950" dirty="0">
                <a:solidFill>
                  <a:srgbClr val="5B6169"/>
                </a:solidFill>
                <a:latin typeface="Roboto Mono" pitchFamily="34" charset="0"/>
                <a:ea typeface="Roboto Mono" pitchFamily="34" charset="-122"/>
                <a:cs typeface="Roboto Mono" pitchFamily="34" charset="-120"/>
              </a:rPr>
              <a:t>6</a:t>
            </a:r>
            <a:endParaRPr lang="en-US" sz="1950" dirty="0"/>
          </a:p>
        </p:txBody>
      </p:sp>
      <p:sp>
        <p:nvSpPr>
          <p:cNvPr id="10" name="Text 8"/>
          <p:cNvSpPr/>
          <p:nvPr/>
        </p:nvSpPr>
        <p:spPr>
          <a:xfrm>
            <a:off x="8009454" y="9044940"/>
            <a:ext cx="2070616" cy="365760"/>
          </a:xfrm>
          <a:prstGeom prst="rect">
            <a:avLst/>
          </a:prstGeom>
          <a:noFill/>
          <a:ln/>
        </p:spPr>
        <p:txBody>
          <a:bodyPr wrap="square" lIns="25400" tIns="25400" rIns="25400" bIns="25400" rtlCol="0" anchor="t">
            <a:normAutofit/>
          </a:bodyPr>
          <a:lstStyle/>
          <a:p>
            <a:pPr algn="l" indent="0" marL="0">
              <a:buNone/>
            </a:pPr>
            <a:r>
              <a:rPr lang="en-US" sz="1950" dirty="0">
                <a:solidFill>
                  <a:srgbClr val="9AA0A8"/>
                </a:solidFill>
                <a:latin typeface="Roboto Mono" pitchFamily="34" charset="0"/>
                <a:ea typeface="Roboto Mono" pitchFamily="34" charset="-122"/>
                <a:cs typeface="Roboto Mono" pitchFamily="34" charset="-120"/>
              </a:rPr>
              <a:t>평가 </a:t>
            </a:r>
            <a:pPr algn="l" indent="0" marL="0">
              <a:buNone/>
            </a:pPr>
            <a:r>
              <a:rPr lang="en-US" sz="1950" dirty="0">
                <a:solidFill>
                  <a:srgbClr val="5B6169"/>
                </a:solidFill>
                <a:latin typeface="Roboto Mono" pitchFamily="34" charset="0"/>
                <a:ea typeface="Roboto Mono" pitchFamily="34" charset="-122"/>
                <a:cs typeface="Roboto Mono" pitchFamily="34" charset="-120"/>
              </a:rPr>
              <a:t>515 문항</a:t>
            </a:r>
            <a:endParaRPr lang="en-US" sz="1950" dirty="0"/>
          </a:p>
        </p:txBody>
      </p:sp>
      <p:sp>
        <p:nvSpPr>
          <p:cNvPr id="11" name="Text 9"/>
          <p:cNvSpPr/>
          <p:nvPr/>
        </p:nvSpPr>
        <p:spPr>
          <a:xfrm>
            <a:off x="10501432" y="9044940"/>
            <a:ext cx="3105924" cy="365760"/>
          </a:xfrm>
          <a:prstGeom prst="rect">
            <a:avLst/>
          </a:prstGeom>
          <a:noFill/>
          <a:ln/>
        </p:spPr>
        <p:txBody>
          <a:bodyPr wrap="square" lIns="25400" tIns="25400" rIns="25400" bIns="25400" rtlCol="0" anchor="t">
            <a:normAutofit/>
          </a:bodyPr>
          <a:lstStyle/>
          <a:p>
            <a:pPr algn="l" indent="0" marL="0">
              <a:buNone/>
            </a:pPr>
            <a:r>
              <a:rPr lang="en-US" sz="1950" dirty="0">
                <a:solidFill>
                  <a:srgbClr val="9AA0A8"/>
                </a:solidFill>
                <a:latin typeface="Roboto Mono" pitchFamily="34" charset="0"/>
                <a:ea typeface="Roboto Mono" pitchFamily="34" charset="-122"/>
                <a:cs typeface="Roboto Mono" pitchFamily="34" charset="-120"/>
              </a:rPr>
              <a:t>에스컬레이션 α </a:t>
            </a:r>
            <a:pPr algn="l" indent="0" marL="0">
              <a:buNone/>
            </a:pPr>
            <a:r>
              <a:rPr lang="en-US" sz="1950" dirty="0">
                <a:solidFill>
                  <a:srgbClr val="5B6169"/>
                </a:solidFill>
                <a:latin typeface="Roboto Mono" pitchFamily="34" charset="0"/>
                <a:ea typeface="Roboto Mono" pitchFamily="34" charset="-122"/>
                <a:cs typeface="Roboto Mono" pitchFamily="34" charset="-120"/>
              </a:rPr>
              <a:t>39.0%</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143000" y="762000"/>
            <a:ext cx="176022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AGENDA · 30 MIN</a:t>
            </a:r>
            <a:endParaRPr lang="en-US" sz="1800" dirty="0"/>
          </a:p>
        </p:txBody>
      </p:sp>
      <p:sp>
        <p:nvSpPr>
          <p:cNvPr id="3" name="Text 1"/>
          <p:cNvSpPr/>
          <p:nvPr/>
        </p:nvSpPr>
        <p:spPr>
          <a:xfrm>
            <a:off x="1143000" y="1192530"/>
            <a:ext cx="17602200" cy="1097280"/>
          </a:xfrm>
          <a:prstGeom prst="rect">
            <a:avLst/>
          </a:prstGeom>
          <a:noFill/>
          <a:ln/>
        </p:spPr>
        <p:txBody>
          <a:bodyPr wrap="square" lIns="25400" tIns="25400" rIns="25400" bIns="25400" rtlCol="0" anchor="t">
            <a:normAutofit/>
          </a:bodyPr>
          <a:lstStyle/>
          <a:p>
            <a:pPr algn="l" indent="0" marL="0">
              <a:buNone/>
            </a:pPr>
            <a:r>
              <a:rPr lang="en-US" sz="5700" b="1" spc="-114" kern="0" dirty="0">
                <a:solidFill>
                  <a:srgbClr val="16181D"/>
                </a:solidFill>
                <a:latin typeface="Arial" pitchFamily="34" charset="0"/>
                <a:ea typeface="Arial" pitchFamily="34" charset="-122"/>
                <a:cs typeface="Arial" pitchFamily="34" charset="-120"/>
              </a:rPr>
              <a:t>오늘 30분 동안 볼 것</a:t>
            </a:r>
            <a:endParaRPr lang="en-US" sz="5700" dirty="0"/>
          </a:p>
        </p:txBody>
      </p:sp>
      <p:sp>
        <p:nvSpPr>
          <p:cNvPr id="4" name="Shape 2"/>
          <p:cNvSpPr/>
          <p:nvPr/>
        </p:nvSpPr>
        <p:spPr>
          <a:xfrm>
            <a:off x="1143000" y="2785110"/>
            <a:ext cx="7867650" cy="3236595"/>
          </a:xfrm>
          <a:prstGeom prst="rect">
            <a:avLst/>
          </a:prstGeom>
          <a:solidFill>
            <a:srgbClr val="FFFFFF"/>
          </a:solidFill>
          <a:ln/>
        </p:spPr>
      </p:sp>
      <p:sp>
        <p:nvSpPr>
          <p:cNvPr id="5" name="Shape 3"/>
          <p:cNvSpPr/>
          <p:nvPr/>
        </p:nvSpPr>
        <p:spPr>
          <a:xfrm>
            <a:off x="1143000" y="6014085"/>
            <a:ext cx="7867650" cy="9525"/>
          </a:xfrm>
          <a:prstGeom prst="rect">
            <a:avLst/>
          </a:prstGeom>
          <a:solidFill>
            <a:srgbClr val="DFE1E6"/>
          </a:solidFill>
          <a:ln/>
        </p:spPr>
      </p:sp>
      <p:sp>
        <p:nvSpPr>
          <p:cNvPr id="6" name="Shape 4"/>
          <p:cNvSpPr/>
          <p:nvPr/>
        </p:nvSpPr>
        <p:spPr>
          <a:xfrm>
            <a:off x="1143000" y="2785110"/>
            <a:ext cx="7867650" cy="45720"/>
          </a:xfrm>
          <a:prstGeom prst="rect">
            <a:avLst/>
          </a:prstGeom>
          <a:solidFill>
            <a:srgbClr val="4F7CFF"/>
          </a:solidFill>
          <a:ln/>
        </p:spPr>
      </p:sp>
      <p:sp>
        <p:nvSpPr>
          <p:cNvPr id="7" name="Shape 5"/>
          <p:cNvSpPr/>
          <p:nvPr/>
        </p:nvSpPr>
        <p:spPr>
          <a:xfrm>
            <a:off x="1143000" y="2785110"/>
            <a:ext cx="9525" cy="3236595"/>
          </a:xfrm>
          <a:prstGeom prst="rect">
            <a:avLst/>
          </a:prstGeom>
          <a:solidFill>
            <a:srgbClr val="DFE1E6"/>
          </a:solidFill>
          <a:ln/>
        </p:spPr>
      </p:sp>
      <p:sp>
        <p:nvSpPr>
          <p:cNvPr id="8" name="Shape 6"/>
          <p:cNvSpPr/>
          <p:nvPr/>
        </p:nvSpPr>
        <p:spPr>
          <a:xfrm>
            <a:off x="9003030" y="2785110"/>
            <a:ext cx="9525" cy="3236595"/>
          </a:xfrm>
          <a:prstGeom prst="rect">
            <a:avLst/>
          </a:prstGeom>
          <a:solidFill>
            <a:srgbClr val="DFE1E6"/>
          </a:solidFill>
          <a:ln/>
        </p:spPr>
      </p:sp>
      <p:sp>
        <p:nvSpPr>
          <p:cNvPr id="9" name="Text 7"/>
          <p:cNvSpPr/>
          <p:nvPr/>
        </p:nvSpPr>
        <p:spPr>
          <a:xfrm>
            <a:off x="1569720" y="3211830"/>
            <a:ext cx="3227987" cy="563880"/>
          </a:xfrm>
          <a:prstGeom prst="rect">
            <a:avLst/>
          </a:prstGeom>
          <a:noFill/>
          <a:ln/>
        </p:spPr>
        <p:txBody>
          <a:bodyPr wrap="square" lIns="25400" tIns="25400" rIns="25400" bIns="25400" rtlCol="0" anchor="t">
            <a:normAutofit/>
          </a:bodyPr>
          <a:lstStyle/>
          <a:p>
            <a:pPr algn="l" indent="0" marL="0">
              <a:buNone/>
            </a:pPr>
            <a:r>
              <a:rPr lang="en-US" sz="2850" b="1" dirty="0">
                <a:solidFill>
                  <a:srgbClr val="16181D"/>
                </a:solidFill>
                <a:latin typeface="Arial" pitchFamily="34" charset="0"/>
                <a:ea typeface="Arial" pitchFamily="34" charset="-122"/>
                <a:cs typeface="Arial" pitchFamily="34" charset="-120"/>
              </a:rPr>
              <a:t>1. 문제와 설계 결정</a:t>
            </a:r>
            <a:endParaRPr lang="en-US" sz="2850" dirty="0"/>
          </a:p>
        </p:txBody>
      </p:sp>
      <p:sp>
        <p:nvSpPr>
          <p:cNvPr id="10" name="Text 8"/>
          <p:cNvSpPr/>
          <p:nvPr/>
        </p:nvSpPr>
        <p:spPr>
          <a:xfrm>
            <a:off x="8187571" y="3371850"/>
            <a:ext cx="472559" cy="365760"/>
          </a:xfrm>
          <a:prstGeom prst="rect">
            <a:avLst/>
          </a:prstGeom>
          <a:noFill/>
          <a:ln/>
        </p:spPr>
        <p:txBody>
          <a:bodyPr wrap="square" lIns="25400" tIns="25400" rIns="25400" bIns="25400" rtlCol="0" anchor="t">
            <a:normAutofit/>
          </a:bodyPr>
          <a:lstStyle/>
          <a:p>
            <a:pPr algn="l" indent="0" marL="0">
              <a:buNone/>
            </a:pPr>
            <a:r>
              <a:rPr lang="en-US" sz="1950" dirty="0">
                <a:solidFill>
                  <a:srgbClr val="4F7CFF"/>
                </a:solidFill>
                <a:latin typeface="Roboto Mono" pitchFamily="34" charset="0"/>
                <a:ea typeface="Roboto Mono" pitchFamily="34" charset="-122"/>
                <a:cs typeface="Roboto Mono" pitchFamily="34" charset="-120"/>
              </a:rPr>
              <a:t>5분</a:t>
            </a:r>
            <a:endParaRPr lang="en-US" sz="1950" dirty="0"/>
          </a:p>
        </p:txBody>
      </p:sp>
      <p:sp>
        <p:nvSpPr>
          <p:cNvPr id="11" name="Text 9"/>
          <p:cNvSpPr/>
          <p:nvPr/>
        </p:nvSpPr>
        <p:spPr>
          <a:xfrm>
            <a:off x="1569720" y="3928110"/>
            <a:ext cx="7224637" cy="891540"/>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4A5058"/>
                </a:solidFill>
                <a:latin typeface="Arial" pitchFamily="34" charset="0"/>
                <a:ea typeface="Arial" pitchFamily="34" charset="-122"/>
                <a:cs typeface="Arial" pitchFamily="34" charset="-120"/>
              </a:rPr>
              <a:t>서비스 경계 · 없는 값을 만들지 않는다는 원칙 · 왜 게이트를 로컬에 두었는가 · 왜 도구를 결정론적으로 두었는가</a:t>
            </a:r>
            <a:endParaRPr lang="en-US" sz="2100" dirty="0"/>
          </a:p>
        </p:txBody>
      </p:sp>
      <p:sp>
        <p:nvSpPr>
          <p:cNvPr id="12" name="Shape 10"/>
          <p:cNvSpPr/>
          <p:nvPr/>
        </p:nvSpPr>
        <p:spPr>
          <a:xfrm>
            <a:off x="9277350" y="2785110"/>
            <a:ext cx="7867650" cy="3236595"/>
          </a:xfrm>
          <a:prstGeom prst="rect">
            <a:avLst/>
          </a:prstGeom>
          <a:solidFill>
            <a:srgbClr val="FFFFFF"/>
          </a:solidFill>
          <a:ln/>
        </p:spPr>
      </p:sp>
      <p:sp>
        <p:nvSpPr>
          <p:cNvPr id="13" name="Shape 11"/>
          <p:cNvSpPr/>
          <p:nvPr/>
        </p:nvSpPr>
        <p:spPr>
          <a:xfrm>
            <a:off x="9277350" y="6014085"/>
            <a:ext cx="7867650" cy="9525"/>
          </a:xfrm>
          <a:prstGeom prst="rect">
            <a:avLst/>
          </a:prstGeom>
          <a:solidFill>
            <a:srgbClr val="DFE1E6"/>
          </a:solidFill>
          <a:ln/>
        </p:spPr>
      </p:sp>
      <p:sp>
        <p:nvSpPr>
          <p:cNvPr id="14" name="Shape 12"/>
          <p:cNvSpPr/>
          <p:nvPr/>
        </p:nvSpPr>
        <p:spPr>
          <a:xfrm>
            <a:off x="9277350" y="2785110"/>
            <a:ext cx="7867650" cy="45720"/>
          </a:xfrm>
          <a:prstGeom prst="rect">
            <a:avLst/>
          </a:prstGeom>
          <a:solidFill>
            <a:srgbClr val="4F7CFF"/>
          </a:solidFill>
          <a:ln/>
        </p:spPr>
      </p:sp>
      <p:sp>
        <p:nvSpPr>
          <p:cNvPr id="15" name="Shape 13"/>
          <p:cNvSpPr/>
          <p:nvPr/>
        </p:nvSpPr>
        <p:spPr>
          <a:xfrm>
            <a:off x="9277350" y="2785110"/>
            <a:ext cx="9525" cy="3236595"/>
          </a:xfrm>
          <a:prstGeom prst="rect">
            <a:avLst/>
          </a:prstGeom>
          <a:solidFill>
            <a:srgbClr val="DFE1E6"/>
          </a:solidFill>
          <a:ln/>
        </p:spPr>
      </p:sp>
      <p:sp>
        <p:nvSpPr>
          <p:cNvPr id="16" name="Shape 14"/>
          <p:cNvSpPr/>
          <p:nvPr/>
        </p:nvSpPr>
        <p:spPr>
          <a:xfrm>
            <a:off x="17137380" y="2785110"/>
            <a:ext cx="9525" cy="3236595"/>
          </a:xfrm>
          <a:prstGeom prst="rect">
            <a:avLst/>
          </a:prstGeom>
          <a:solidFill>
            <a:srgbClr val="DFE1E6"/>
          </a:solidFill>
          <a:ln/>
        </p:spPr>
      </p:sp>
      <p:sp>
        <p:nvSpPr>
          <p:cNvPr id="17" name="Text 15"/>
          <p:cNvSpPr/>
          <p:nvPr/>
        </p:nvSpPr>
        <p:spPr>
          <a:xfrm>
            <a:off x="9704070" y="3211830"/>
            <a:ext cx="4658951" cy="563880"/>
          </a:xfrm>
          <a:prstGeom prst="rect">
            <a:avLst/>
          </a:prstGeom>
          <a:noFill/>
          <a:ln/>
        </p:spPr>
        <p:txBody>
          <a:bodyPr wrap="square" lIns="25400" tIns="25400" rIns="25400" bIns="25400" rtlCol="0" anchor="t">
            <a:normAutofit/>
          </a:bodyPr>
          <a:lstStyle/>
          <a:p>
            <a:pPr algn="l" indent="0" marL="0">
              <a:buNone/>
            </a:pPr>
            <a:r>
              <a:rPr lang="en-US" sz="2850" b="1" dirty="0">
                <a:solidFill>
                  <a:srgbClr val="16181D"/>
                </a:solidFill>
                <a:latin typeface="Arial" pitchFamily="34" charset="0"/>
                <a:ea typeface="Arial" pitchFamily="34" charset="-122"/>
                <a:cs typeface="Arial" pitchFamily="34" charset="-120"/>
              </a:rPr>
              <a:t>2. 방어 계층 6종과 프롬프트</a:t>
            </a:r>
            <a:endParaRPr lang="en-US" sz="2850" dirty="0"/>
          </a:p>
        </p:txBody>
      </p:sp>
      <p:sp>
        <p:nvSpPr>
          <p:cNvPr id="18" name="Text 16"/>
          <p:cNvSpPr/>
          <p:nvPr/>
        </p:nvSpPr>
        <p:spPr>
          <a:xfrm>
            <a:off x="16173331" y="3371850"/>
            <a:ext cx="621149" cy="365760"/>
          </a:xfrm>
          <a:prstGeom prst="rect">
            <a:avLst/>
          </a:prstGeom>
          <a:noFill/>
          <a:ln/>
        </p:spPr>
        <p:txBody>
          <a:bodyPr wrap="square" lIns="25400" tIns="25400" rIns="25400" bIns="25400" rtlCol="0" anchor="t">
            <a:normAutofit/>
          </a:bodyPr>
          <a:lstStyle/>
          <a:p>
            <a:pPr algn="l" indent="0" marL="0">
              <a:buNone/>
            </a:pPr>
            <a:r>
              <a:rPr lang="en-US" sz="1950" dirty="0">
                <a:solidFill>
                  <a:srgbClr val="4F7CFF"/>
                </a:solidFill>
                <a:latin typeface="Roboto Mono" pitchFamily="34" charset="0"/>
                <a:ea typeface="Roboto Mono" pitchFamily="34" charset="-122"/>
                <a:cs typeface="Roboto Mono" pitchFamily="34" charset="-120"/>
              </a:rPr>
              <a:t>12분</a:t>
            </a:r>
            <a:endParaRPr lang="en-US" sz="1950" dirty="0"/>
          </a:p>
        </p:txBody>
      </p:sp>
      <p:sp>
        <p:nvSpPr>
          <p:cNvPr id="19" name="Text 17"/>
          <p:cNvSpPr/>
          <p:nvPr/>
        </p:nvSpPr>
        <p:spPr>
          <a:xfrm>
            <a:off x="9704070" y="3928110"/>
            <a:ext cx="7224637" cy="891540"/>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4A5058"/>
                </a:solidFill>
                <a:latin typeface="Arial" pitchFamily="34" charset="0"/>
                <a:ea typeface="Arial" pitchFamily="34" charset="-122"/>
                <a:cs typeface="Arial" pitchFamily="34" charset="-120"/>
              </a:rPr>
              <a:t>게이트 스키마 · 금지어 우회 탐지 · PII 정규식 · Guardrails tier · 근거성 검증 · 범위 정책 · Supervisor 프롬프트</a:t>
            </a:r>
            <a:endParaRPr lang="en-US" sz="2100" dirty="0"/>
          </a:p>
        </p:txBody>
      </p:sp>
      <p:sp>
        <p:nvSpPr>
          <p:cNvPr id="20" name="Shape 18"/>
          <p:cNvSpPr/>
          <p:nvPr/>
        </p:nvSpPr>
        <p:spPr>
          <a:xfrm>
            <a:off x="1143000" y="6288405"/>
            <a:ext cx="7867650" cy="3236595"/>
          </a:xfrm>
          <a:prstGeom prst="rect">
            <a:avLst/>
          </a:prstGeom>
          <a:solidFill>
            <a:srgbClr val="FFFFFF"/>
          </a:solidFill>
          <a:ln/>
        </p:spPr>
      </p:sp>
      <p:sp>
        <p:nvSpPr>
          <p:cNvPr id="21" name="Shape 19"/>
          <p:cNvSpPr/>
          <p:nvPr/>
        </p:nvSpPr>
        <p:spPr>
          <a:xfrm>
            <a:off x="1143000" y="9517380"/>
            <a:ext cx="7867650" cy="9525"/>
          </a:xfrm>
          <a:prstGeom prst="rect">
            <a:avLst/>
          </a:prstGeom>
          <a:solidFill>
            <a:srgbClr val="DFE1E6"/>
          </a:solidFill>
          <a:ln/>
        </p:spPr>
      </p:sp>
      <p:sp>
        <p:nvSpPr>
          <p:cNvPr id="22" name="Shape 20"/>
          <p:cNvSpPr/>
          <p:nvPr/>
        </p:nvSpPr>
        <p:spPr>
          <a:xfrm>
            <a:off x="1143000" y="6288405"/>
            <a:ext cx="7867650" cy="45720"/>
          </a:xfrm>
          <a:prstGeom prst="rect">
            <a:avLst/>
          </a:prstGeom>
          <a:solidFill>
            <a:srgbClr val="4F7CFF"/>
          </a:solidFill>
          <a:ln/>
        </p:spPr>
      </p:sp>
      <p:sp>
        <p:nvSpPr>
          <p:cNvPr id="23" name="Shape 21"/>
          <p:cNvSpPr/>
          <p:nvPr/>
        </p:nvSpPr>
        <p:spPr>
          <a:xfrm>
            <a:off x="1143000" y="6288405"/>
            <a:ext cx="9525" cy="3236595"/>
          </a:xfrm>
          <a:prstGeom prst="rect">
            <a:avLst/>
          </a:prstGeom>
          <a:solidFill>
            <a:srgbClr val="DFE1E6"/>
          </a:solidFill>
          <a:ln/>
        </p:spPr>
      </p:sp>
      <p:sp>
        <p:nvSpPr>
          <p:cNvPr id="24" name="Shape 22"/>
          <p:cNvSpPr/>
          <p:nvPr/>
        </p:nvSpPr>
        <p:spPr>
          <a:xfrm>
            <a:off x="9003030" y="6288405"/>
            <a:ext cx="9525" cy="3236595"/>
          </a:xfrm>
          <a:prstGeom prst="rect">
            <a:avLst/>
          </a:prstGeom>
          <a:solidFill>
            <a:srgbClr val="DFE1E6"/>
          </a:solidFill>
          <a:ln/>
        </p:spPr>
      </p:sp>
      <p:sp>
        <p:nvSpPr>
          <p:cNvPr id="25" name="Text 23"/>
          <p:cNvSpPr/>
          <p:nvPr/>
        </p:nvSpPr>
        <p:spPr>
          <a:xfrm>
            <a:off x="1569720" y="6715125"/>
            <a:ext cx="3594307" cy="563880"/>
          </a:xfrm>
          <a:prstGeom prst="rect">
            <a:avLst/>
          </a:prstGeom>
          <a:noFill/>
          <a:ln/>
        </p:spPr>
        <p:txBody>
          <a:bodyPr wrap="square" lIns="25400" tIns="25400" rIns="25400" bIns="25400" rtlCol="0" anchor="t">
            <a:normAutofit/>
          </a:bodyPr>
          <a:lstStyle/>
          <a:p>
            <a:pPr algn="l" indent="0" marL="0">
              <a:buNone/>
            </a:pPr>
            <a:r>
              <a:rPr lang="en-US" sz="2850" b="1" dirty="0">
                <a:solidFill>
                  <a:srgbClr val="16181D"/>
                </a:solidFill>
                <a:latin typeface="Arial" pitchFamily="34" charset="0"/>
                <a:ea typeface="Arial" pitchFamily="34" charset="-122"/>
                <a:cs typeface="Arial" pitchFamily="34" charset="-120"/>
              </a:rPr>
              <a:t>3. 데이터와 코드 구조</a:t>
            </a:r>
            <a:endParaRPr lang="en-US" sz="2850" dirty="0"/>
          </a:p>
        </p:txBody>
      </p:sp>
      <p:sp>
        <p:nvSpPr>
          <p:cNvPr id="26" name="Text 24"/>
          <p:cNvSpPr/>
          <p:nvPr/>
        </p:nvSpPr>
        <p:spPr>
          <a:xfrm>
            <a:off x="8187571" y="6875145"/>
            <a:ext cx="472559" cy="365760"/>
          </a:xfrm>
          <a:prstGeom prst="rect">
            <a:avLst/>
          </a:prstGeom>
          <a:noFill/>
          <a:ln/>
        </p:spPr>
        <p:txBody>
          <a:bodyPr wrap="square" lIns="25400" tIns="25400" rIns="25400" bIns="25400" rtlCol="0" anchor="t">
            <a:normAutofit/>
          </a:bodyPr>
          <a:lstStyle/>
          <a:p>
            <a:pPr algn="l" indent="0" marL="0">
              <a:buNone/>
            </a:pPr>
            <a:r>
              <a:rPr lang="en-US" sz="1950" dirty="0">
                <a:solidFill>
                  <a:srgbClr val="4F7CFF"/>
                </a:solidFill>
                <a:latin typeface="Roboto Mono" pitchFamily="34" charset="0"/>
                <a:ea typeface="Roboto Mono" pitchFamily="34" charset="-122"/>
                <a:cs typeface="Roboto Mono" pitchFamily="34" charset="-120"/>
              </a:rPr>
              <a:t>7분</a:t>
            </a:r>
            <a:endParaRPr lang="en-US" sz="1950" dirty="0"/>
          </a:p>
        </p:txBody>
      </p:sp>
      <p:sp>
        <p:nvSpPr>
          <p:cNvPr id="27" name="Text 25"/>
          <p:cNvSpPr/>
          <p:nvPr/>
        </p:nvSpPr>
        <p:spPr>
          <a:xfrm>
            <a:off x="1569720" y="7431405"/>
            <a:ext cx="7224637" cy="891540"/>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4A5058"/>
                </a:solidFill>
                <a:latin typeface="Arial" pitchFamily="34" charset="0"/>
                <a:ea typeface="Arial" pitchFamily="34" charset="-122"/>
                <a:cs typeface="Arial" pitchFamily="34" charset="-120"/>
              </a:rPr>
              <a:t>도구 계층 · 실데이터/목 데이터 · 커버리지 정책 · 공공 API 실측 교훈 · 저장소 모듈 지도 · 멀티턴 슬롯</a:t>
            </a:r>
            <a:endParaRPr lang="en-US" sz="2100" dirty="0"/>
          </a:p>
        </p:txBody>
      </p:sp>
      <p:sp>
        <p:nvSpPr>
          <p:cNvPr id="28" name="Shape 26"/>
          <p:cNvSpPr/>
          <p:nvPr/>
        </p:nvSpPr>
        <p:spPr>
          <a:xfrm>
            <a:off x="9277350" y="6288405"/>
            <a:ext cx="7867650" cy="3236595"/>
          </a:xfrm>
          <a:prstGeom prst="rect">
            <a:avLst/>
          </a:prstGeom>
          <a:solidFill>
            <a:srgbClr val="FFFFFF"/>
          </a:solidFill>
          <a:ln/>
        </p:spPr>
      </p:sp>
      <p:sp>
        <p:nvSpPr>
          <p:cNvPr id="29" name="Shape 27"/>
          <p:cNvSpPr/>
          <p:nvPr/>
        </p:nvSpPr>
        <p:spPr>
          <a:xfrm>
            <a:off x="9277350" y="9517380"/>
            <a:ext cx="7867650" cy="9525"/>
          </a:xfrm>
          <a:prstGeom prst="rect">
            <a:avLst/>
          </a:prstGeom>
          <a:solidFill>
            <a:srgbClr val="DFE1E6"/>
          </a:solidFill>
          <a:ln/>
        </p:spPr>
      </p:sp>
      <p:sp>
        <p:nvSpPr>
          <p:cNvPr id="30" name="Shape 28"/>
          <p:cNvSpPr/>
          <p:nvPr/>
        </p:nvSpPr>
        <p:spPr>
          <a:xfrm>
            <a:off x="9277350" y="6288405"/>
            <a:ext cx="7867650" cy="45720"/>
          </a:xfrm>
          <a:prstGeom prst="rect">
            <a:avLst/>
          </a:prstGeom>
          <a:solidFill>
            <a:srgbClr val="4F7CFF"/>
          </a:solidFill>
          <a:ln/>
        </p:spPr>
      </p:sp>
      <p:sp>
        <p:nvSpPr>
          <p:cNvPr id="31" name="Shape 29"/>
          <p:cNvSpPr/>
          <p:nvPr/>
        </p:nvSpPr>
        <p:spPr>
          <a:xfrm>
            <a:off x="9277350" y="6288405"/>
            <a:ext cx="9525" cy="3236595"/>
          </a:xfrm>
          <a:prstGeom prst="rect">
            <a:avLst/>
          </a:prstGeom>
          <a:solidFill>
            <a:srgbClr val="DFE1E6"/>
          </a:solidFill>
          <a:ln/>
        </p:spPr>
      </p:sp>
      <p:sp>
        <p:nvSpPr>
          <p:cNvPr id="32" name="Shape 30"/>
          <p:cNvSpPr/>
          <p:nvPr/>
        </p:nvSpPr>
        <p:spPr>
          <a:xfrm>
            <a:off x="17137380" y="6288405"/>
            <a:ext cx="9525" cy="3236595"/>
          </a:xfrm>
          <a:prstGeom prst="rect">
            <a:avLst/>
          </a:prstGeom>
          <a:solidFill>
            <a:srgbClr val="DFE1E6"/>
          </a:solidFill>
          <a:ln/>
        </p:spPr>
      </p:sp>
      <p:sp>
        <p:nvSpPr>
          <p:cNvPr id="33" name="Text 31"/>
          <p:cNvSpPr/>
          <p:nvPr/>
        </p:nvSpPr>
        <p:spPr>
          <a:xfrm>
            <a:off x="9704070" y="6715125"/>
            <a:ext cx="3714405" cy="563880"/>
          </a:xfrm>
          <a:prstGeom prst="rect">
            <a:avLst/>
          </a:prstGeom>
          <a:noFill/>
          <a:ln/>
        </p:spPr>
        <p:txBody>
          <a:bodyPr wrap="square" lIns="25400" tIns="25400" rIns="25400" bIns="25400" rtlCol="0" anchor="t">
            <a:normAutofit/>
          </a:bodyPr>
          <a:lstStyle/>
          <a:p>
            <a:pPr algn="l" indent="0" marL="0">
              <a:buNone/>
            </a:pPr>
            <a:r>
              <a:rPr lang="en-US" sz="2850" b="1" dirty="0">
                <a:solidFill>
                  <a:srgbClr val="16181D"/>
                </a:solidFill>
                <a:latin typeface="Arial" pitchFamily="34" charset="0"/>
                <a:ea typeface="Arial" pitchFamily="34" charset="-122"/>
                <a:cs typeface="Arial" pitchFamily="34" charset="-120"/>
              </a:rPr>
              <a:t>4. 인프라 · 평가 · 한계</a:t>
            </a:r>
            <a:endParaRPr lang="en-US" sz="2850" dirty="0"/>
          </a:p>
        </p:txBody>
      </p:sp>
      <p:sp>
        <p:nvSpPr>
          <p:cNvPr id="34" name="Text 32"/>
          <p:cNvSpPr/>
          <p:nvPr/>
        </p:nvSpPr>
        <p:spPr>
          <a:xfrm>
            <a:off x="16321921" y="6875145"/>
            <a:ext cx="472559" cy="365760"/>
          </a:xfrm>
          <a:prstGeom prst="rect">
            <a:avLst/>
          </a:prstGeom>
          <a:noFill/>
          <a:ln/>
        </p:spPr>
        <p:txBody>
          <a:bodyPr wrap="square" lIns="25400" tIns="25400" rIns="25400" bIns="25400" rtlCol="0" anchor="t">
            <a:normAutofit/>
          </a:bodyPr>
          <a:lstStyle/>
          <a:p>
            <a:pPr algn="l" indent="0" marL="0">
              <a:buNone/>
            </a:pPr>
            <a:r>
              <a:rPr lang="en-US" sz="1950" dirty="0">
                <a:solidFill>
                  <a:srgbClr val="4F7CFF"/>
                </a:solidFill>
                <a:latin typeface="Roboto Mono" pitchFamily="34" charset="0"/>
                <a:ea typeface="Roboto Mono" pitchFamily="34" charset="-122"/>
                <a:cs typeface="Roboto Mono" pitchFamily="34" charset="-120"/>
              </a:rPr>
              <a:t>6분</a:t>
            </a:r>
            <a:endParaRPr lang="en-US" sz="1950" dirty="0"/>
          </a:p>
        </p:txBody>
      </p:sp>
      <p:sp>
        <p:nvSpPr>
          <p:cNvPr id="35" name="Text 33"/>
          <p:cNvSpPr/>
          <p:nvPr/>
        </p:nvSpPr>
        <p:spPr>
          <a:xfrm>
            <a:off x="9704070" y="7431405"/>
            <a:ext cx="7224637" cy="891540"/>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4A5058"/>
                </a:solidFill>
                <a:latin typeface="Arial" pitchFamily="34" charset="0"/>
                <a:ea typeface="Arial" pitchFamily="34" charset="-122"/>
                <a:cs typeface="Arial" pitchFamily="34" charset="-120"/>
              </a:rPr>
              <a:t>EC2 내부 구성 · CI/CD 파이프라인 · 515문항 평가셋과 라벨링 정책 · 최종 지표 · 남은 리스크와 로드맵</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143000" y="762000"/>
            <a:ext cx="176022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01 · PROBLEM</a:t>
            </a:r>
            <a:endParaRPr lang="en-US" sz="1800" dirty="0"/>
          </a:p>
        </p:txBody>
      </p:sp>
      <p:sp>
        <p:nvSpPr>
          <p:cNvPr id="3" name="Text 1"/>
          <p:cNvSpPr/>
          <p:nvPr/>
        </p:nvSpPr>
        <p:spPr>
          <a:xfrm>
            <a:off x="1143000" y="1192530"/>
            <a:ext cx="17602200" cy="1097280"/>
          </a:xfrm>
          <a:prstGeom prst="rect">
            <a:avLst/>
          </a:prstGeom>
          <a:noFill/>
          <a:ln/>
        </p:spPr>
        <p:txBody>
          <a:bodyPr wrap="square" lIns="25400" tIns="25400" rIns="25400" bIns="25400" rtlCol="0" anchor="t">
            <a:normAutofit/>
          </a:bodyPr>
          <a:lstStyle/>
          <a:p>
            <a:pPr algn="l" indent="0" marL="0">
              <a:buNone/>
            </a:pPr>
            <a:r>
              <a:rPr lang="en-US" sz="5700" b="1" spc="-114" kern="0" dirty="0">
                <a:solidFill>
                  <a:srgbClr val="16181D"/>
                </a:solidFill>
                <a:latin typeface="Arial" pitchFamily="34" charset="0"/>
                <a:ea typeface="Arial" pitchFamily="34" charset="-122"/>
                <a:cs typeface="Arial" pitchFamily="34" charset="-120"/>
              </a:rPr>
              <a:t>외국인에게 한국 교통 정보는 흩어져 있다</a:t>
            </a:r>
            <a:endParaRPr lang="en-US" sz="5700" dirty="0"/>
          </a:p>
        </p:txBody>
      </p:sp>
      <p:sp>
        <p:nvSpPr>
          <p:cNvPr id="4" name="Shape 2"/>
          <p:cNvSpPr/>
          <p:nvPr/>
        </p:nvSpPr>
        <p:spPr>
          <a:xfrm>
            <a:off x="1143000" y="2708910"/>
            <a:ext cx="5181600" cy="2939415"/>
          </a:xfrm>
          <a:prstGeom prst="rect">
            <a:avLst/>
          </a:prstGeom>
          <a:solidFill>
            <a:srgbClr val="FFFFFF"/>
          </a:solidFill>
          <a:ln w="7620">
            <a:solidFill>
              <a:srgbClr val="DFE1E6"/>
            </a:solidFill>
            <a:prstDash val="solid"/>
          </a:ln>
        </p:spPr>
      </p:sp>
      <p:sp>
        <p:nvSpPr>
          <p:cNvPr id="5" name="Text 3"/>
          <p:cNvSpPr/>
          <p:nvPr/>
        </p:nvSpPr>
        <p:spPr>
          <a:xfrm>
            <a:off x="1512570" y="3059430"/>
            <a:ext cx="4886706" cy="335280"/>
          </a:xfrm>
          <a:prstGeom prst="rect">
            <a:avLst/>
          </a:prstGeom>
          <a:noFill/>
          <a:ln/>
        </p:spPr>
        <p:txBody>
          <a:bodyPr wrap="square" lIns="25400" tIns="25400" rIns="25400" bIns="25400" rtlCol="0" anchor="t">
            <a:normAutofit/>
          </a:bodyPr>
          <a:lstStyle/>
          <a:p>
            <a:pPr algn="l" indent="0" marL="0">
              <a:buNone/>
            </a:pPr>
            <a:r>
              <a:rPr lang="en-US" sz="1800" dirty="0">
                <a:solidFill>
                  <a:srgbClr val="4F7CFF"/>
                </a:solidFill>
                <a:latin typeface="Roboto Mono" pitchFamily="34" charset="0"/>
                <a:ea typeface="Roboto Mono" pitchFamily="34" charset="-122"/>
                <a:cs typeface="Roboto Mono" pitchFamily="34" charset="-120"/>
              </a:rPr>
              <a:t>기관 분산</a:t>
            </a:r>
            <a:endParaRPr lang="en-US" sz="1800" dirty="0"/>
          </a:p>
        </p:txBody>
      </p:sp>
      <p:sp>
        <p:nvSpPr>
          <p:cNvPr id="6" name="Text 4"/>
          <p:cNvSpPr/>
          <p:nvPr/>
        </p:nvSpPr>
        <p:spPr>
          <a:xfrm>
            <a:off x="1512570" y="3509010"/>
            <a:ext cx="4575734" cy="1278255"/>
          </a:xfrm>
          <a:prstGeom prst="rect">
            <a:avLst/>
          </a:prstGeom>
          <a:noFill/>
          <a:ln/>
        </p:spPr>
        <p:txBody>
          <a:bodyPr wrap="square" lIns="25400" tIns="25400" rIns="25400" bIns="25400" rtlCol="0" anchor="t">
            <a:normAutofit/>
          </a:bodyPr>
          <a:lstStyle/>
          <a:p>
            <a:pPr algn="l" indent="0" marL="0">
              <a:lnSpc>
                <a:spcPct val="123295"/>
              </a:lnSpc>
              <a:buNone/>
            </a:pPr>
            <a:r>
              <a:rPr lang="en-US" sz="2325" b="1" dirty="0">
                <a:solidFill>
                  <a:srgbClr val="16181D"/>
                </a:solidFill>
                <a:latin typeface="Arial" pitchFamily="34" charset="0"/>
                <a:ea typeface="Arial" pitchFamily="34" charset="-122"/>
                <a:cs typeface="Arial" pitchFamily="34" charset="-120"/>
              </a:rPr>
              <a:t>철도 · 고속버스 · 항공 · 공항 · 서울시가 각각 다른 앱과 API</a:t>
            </a:r>
            <a:endParaRPr lang="en-US" sz="2325" dirty="0"/>
          </a:p>
        </p:txBody>
      </p:sp>
      <p:sp>
        <p:nvSpPr>
          <p:cNvPr id="7" name="Text 5"/>
          <p:cNvSpPr/>
          <p:nvPr/>
        </p:nvSpPr>
        <p:spPr>
          <a:xfrm>
            <a:off x="1512570" y="4901565"/>
            <a:ext cx="4575734" cy="43434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6B7280"/>
                </a:solidFill>
                <a:latin typeface="Arial" pitchFamily="34" charset="0"/>
                <a:ea typeface="Arial" pitchFamily="34" charset="-122"/>
                <a:cs typeface="Arial" pitchFamily="34" charset="-120"/>
              </a:rPr>
              <a:t>한 여정을 확인하려면 최소 3개 앱을 오간다</a:t>
            </a:r>
            <a:endParaRPr lang="en-US" sz="1950" dirty="0"/>
          </a:p>
        </p:txBody>
      </p:sp>
      <p:sp>
        <p:nvSpPr>
          <p:cNvPr id="8" name="Shape 6"/>
          <p:cNvSpPr/>
          <p:nvPr/>
        </p:nvSpPr>
        <p:spPr>
          <a:xfrm>
            <a:off x="6553200" y="2708910"/>
            <a:ext cx="5181600" cy="2939415"/>
          </a:xfrm>
          <a:prstGeom prst="rect">
            <a:avLst/>
          </a:prstGeom>
          <a:solidFill>
            <a:srgbClr val="FFFFFF"/>
          </a:solidFill>
          <a:ln w="7620">
            <a:solidFill>
              <a:srgbClr val="DFE1E6"/>
            </a:solidFill>
            <a:prstDash val="solid"/>
          </a:ln>
        </p:spPr>
      </p:sp>
      <p:sp>
        <p:nvSpPr>
          <p:cNvPr id="9" name="Text 7"/>
          <p:cNvSpPr/>
          <p:nvPr/>
        </p:nvSpPr>
        <p:spPr>
          <a:xfrm>
            <a:off x="6922770" y="3059430"/>
            <a:ext cx="4886706" cy="335280"/>
          </a:xfrm>
          <a:prstGeom prst="rect">
            <a:avLst/>
          </a:prstGeom>
          <a:noFill/>
          <a:ln/>
        </p:spPr>
        <p:txBody>
          <a:bodyPr wrap="square" lIns="25400" tIns="25400" rIns="25400" bIns="25400" rtlCol="0" anchor="t">
            <a:normAutofit/>
          </a:bodyPr>
          <a:lstStyle/>
          <a:p>
            <a:pPr algn="l" indent="0" marL="0">
              <a:buNone/>
            </a:pPr>
            <a:r>
              <a:rPr lang="en-US" sz="1800" dirty="0">
                <a:solidFill>
                  <a:srgbClr val="4F7CFF"/>
                </a:solidFill>
                <a:latin typeface="Roboto Mono" pitchFamily="34" charset="0"/>
                <a:ea typeface="Roboto Mono" pitchFamily="34" charset="-122"/>
                <a:cs typeface="Roboto Mono" pitchFamily="34" charset="-120"/>
              </a:rPr>
              <a:t>언어 장벽</a:t>
            </a:r>
            <a:endParaRPr lang="en-US" sz="1800" dirty="0"/>
          </a:p>
        </p:txBody>
      </p:sp>
      <p:sp>
        <p:nvSpPr>
          <p:cNvPr id="10" name="Text 8"/>
          <p:cNvSpPr/>
          <p:nvPr/>
        </p:nvSpPr>
        <p:spPr>
          <a:xfrm>
            <a:off x="6922770" y="3509010"/>
            <a:ext cx="4575734" cy="864870"/>
          </a:xfrm>
          <a:prstGeom prst="rect">
            <a:avLst/>
          </a:prstGeom>
          <a:noFill/>
          <a:ln/>
        </p:spPr>
        <p:txBody>
          <a:bodyPr wrap="square" lIns="25400" tIns="25400" rIns="25400" bIns="25400" rtlCol="0" anchor="t">
            <a:normAutofit/>
          </a:bodyPr>
          <a:lstStyle/>
          <a:p>
            <a:pPr algn="l" indent="0" marL="0">
              <a:lnSpc>
                <a:spcPct val="123295"/>
              </a:lnSpc>
              <a:buNone/>
            </a:pPr>
            <a:r>
              <a:rPr lang="en-US" sz="2325" b="1" dirty="0">
                <a:solidFill>
                  <a:srgbClr val="16181D"/>
                </a:solidFill>
                <a:latin typeface="Arial" pitchFamily="34" charset="0"/>
                <a:ea typeface="Arial" pitchFamily="34" charset="-122"/>
                <a:cs typeface="Arial" pitchFamily="34" charset="-120"/>
              </a:rPr>
              <a:t>역·터미널 이름은 한국어 표기가 실물 안내와 일치한다</a:t>
            </a:r>
            <a:endParaRPr lang="en-US" sz="2325" dirty="0"/>
          </a:p>
        </p:txBody>
      </p:sp>
      <p:sp>
        <p:nvSpPr>
          <p:cNvPr id="11" name="Text 9"/>
          <p:cNvSpPr/>
          <p:nvPr/>
        </p:nvSpPr>
        <p:spPr>
          <a:xfrm>
            <a:off x="6922770" y="4488180"/>
            <a:ext cx="4575734" cy="83058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6B7280"/>
                </a:solidFill>
                <a:latin typeface="Arial" pitchFamily="34" charset="0"/>
                <a:ea typeface="Arial" pitchFamily="34" charset="-122"/>
                <a:cs typeface="Arial" pitchFamily="34" charset="-120"/>
              </a:rPr>
              <a:t>번역만 하면 현장에서 못 찾는다 — 병기가 필요하다</a:t>
            </a:r>
            <a:endParaRPr lang="en-US" sz="1950" dirty="0"/>
          </a:p>
        </p:txBody>
      </p:sp>
      <p:sp>
        <p:nvSpPr>
          <p:cNvPr id="12" name="Shape 10"/>
          <p:cNvSpPr/>
          <p:nvPr/>
        </p:nvSpPr>
        <p:spPr>
          <a:xfrm>
            <a:off x="11963400" y="2708910"/>
            <a:ext cx="5181600" cy="2939415"/>
          </a:xfrm>
          <a:prstGeom prst="rect">
            <a:avLst/>
          </a:prstGeom>
          <a:solidFill>
            <a:srgbClr val="FFFFFF"/>
          </a:solidFill>
          <a:ln w="7620">
            <a:solidFill>
              <a:srgbClr val="DFE1E6"/>
            </a:solidFill>
            <a:prstDash val="solid"/>
          </a:ln>
        </p:spPr>
      </p:sp>
      <p:sp>
        <p:nvSpPr>
          <p:cNvPr id="13" name="Text 11"/>
          <p:cNvSpPr/>
          <p:nvPr/>
        </p:nvSpPr>
        <p:spPr>
          <a:xfrm>
            <a:off x="12332970" y="3059430"/>
            <a:ext cx="4886706" cy="335280"/>
          </a:xfrm>
          <a:prstGeom prst="rect">
            <a:avLst/>
          </a:prstGeom>
          <a:noFill/>
          <a:ln/>
        </p:spPr>
        <p:txBody>
          <a:bodyPr wrap="square" lIns="25400" tIns="25400" rIns="25400" bIns="25400" rtlCol="0" anchor="t">
            <a:normAutofit/>
          </a:bodyPr>
          <a:lstStyle/>
          <a:p>
            <a:pPr algn="l" indent="0" marL="0">
              <a:buNone/>
            </a:pPr>
            <a:r>
              <a:rPr lang="en-US" sz="1800" dirty="0">
                <a:solidFill>
                  <a:srgbClr val="4F7CFF"/>
                </a:solidFill>
                <a:latin typeface="Roboto Mono" pitchFamily="34" charset="0"/>
                <a:ea typeface="Roboto Mono" pitchFamily="34" charset="-122"/>
                <a:cs typeface="Roboto Mono" pitchFamily="34" charset="-120"/>
              </a:rPr>
              <a:t>LLM 의 함정</a:t>
            </a:r>
            <a:endParaRPr lang="en-US" sz="1800" dirty="0"/>
          </a:p>
        </p:txBody>
      </p:sp>
      <p:sp>
        <p:nvSpPr>
          <p:cNvPr id="14" name="Text 12"/>
          <p:cNvSpPr/>
          <p:nvPr/>
        </p:nvSpPr>
        <p:spPr>
          <a:xfrm>
            <a:off x="12332970" y="3509010"/>
            <a:ext cx="4575734" cy="864870"/>
          </a:xfrm>
          <a:prstGeom prst="rect">
            <a:avLst/>
          </a:prstGeom>
          <a:noFill/>
          <a:ln/>
        </p:spPr>
        <p:txBody>
          <a:bodyPr wrap="square" lIns="25400" tIns="25400" rIns="25400" bIns="25400" rtlCol="0" anchor="t">
            <a:normAutofit/>
          </a:bodyPr>
          <a:lstStyle/>
          <a:p>
            <a:pPr algn="l" indent="0" marL="0">
              <a:lnSpc>
                <a:spcPct val="123295"/>
              </a:lnSpc>
              <a:buNone/>
            </a:pPr>
            <a:r>
              <a:rPr lang="en-US" sz="2325" b="1" dirty="0">
                <a:solidFill>
                  <a:srgbClr val="16181D"/>
                </a:solidFill>
                <a:latin typeface="Arial" pitchFamily="34" charset="0"/>
                <a:ea typeface="Arial" pitchFamily="34" charset="-122"/>
                <a:cs typeface="Arial" pitchFamily="34" charset="-120"/>
              </a:rPr>
              <a:t>시간표·요금을 물으면 그럴듯한 숫자를 만들어 낸다</a:t>
            </a:r>
            <a:endParaRPr lang="en-US" sz="2325" dirty="0"/>
          </a:p>
        </p:txBody>
      </p:sp>
      <p:sp>
        <p:nvSpPr>
          <p:cNvPr id="15" name="Text 13"/>
          <p:cNvSpPr/>
          <p:nvPr/>
        </p:nvSpPr>
        <p:spPr>
          <a:xfrm>
            <a:off x="12332970" y="4488180"/>
            <a:ext cx="4575734" cy="43434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6B7280"/>
                </a:solidFill>
                <a:latin typeface="Arial" pitchFamily="34" charset="0"/>
                <a:ea typeface="Arial" pitchFamily="34" charset="-122"/>
                <a:cs typeface="Arial" pitchFamily="34" charset="-120"/>
              </a:rPr>
              <a:t>틀린 출발 시각은 민원으로 직결된다</a:t>
            </a:r>
            <a:endParaRPr lang="en-US" sz="1950" dirty="0"/>
          </a:p>
        </p:txBody>
      </p:sp>
      <p:sp>
        <p:nvSpPr>
          <p:cNvPr id="16" name="Shape 14"/>
          <p:cNvSpPr/>
          <p:nvPr/>
        </p:nvSpPr>
        <p:spPr>
          <a:xfrm>
            <a:off x="1143000" y="6105525"/>
            <a:ext cx="16002000" cy="1943100"/>
          </a:xfrm>
          <a:prstGeom prst="rect">
            <a:avLst/>
          </a:prstGeom>
          <a:solidFill>
            <a:srgbClr val="16181D"/>
          </a:solidFill>
          <a:ln/>
        </p:spPr>
      </p:sp>
      <p:sp>
        <p:nvSpPr>
          <p:cNvPr id="17" name="Text 15"/>
          <p:cNvSpPr/>
          <p:nvPr/>
        </p:nvSpPr>
        <p:spPr>
          <a:xfrm>
            <a:off x="1638300" y="6928485"/>
            <a:ext cx="1063943" cy="335280"/>
          </a:xfrm>
          <a:prstGeom prst="rect">
            <a:avLst/>
          </a:prstGeom>
          <a:noFill/>
          <a:ln/>
        </p:spPr>
        <p:txBody>
          <a:bodyPr wrap="none" lIns="25400" tIns="25400" rIns="25400" bIns="25400" rtlCol="0" anchor="t">
            <a:normAutofit/>
          </a:bodyPr>
          <a:lstStyle/>
          <a:p>
            <a:pPr algn="l" indent="0" marL="0">
              <a:buNone/>
            </a:pPr>
            <a:r>
              <a:rPr lang="en-US" sz="1800" spc="216" kern="0" dirty="0">
                <a:solidFill>
                  <a:srgbClr val="9DB4FF"/>
                </a:solidFill>
                <a:latin typeface="Roboto Mono" pitchFamily="34" charset="0"/>
                <a:ea typeface="Roboto Mono" pitchFamily="34" charset="-122"/>
                <a:cs typeface="Roboto Mono" pitchFamily="34" charset="-120"/>
              </a:rPr>
              <a:t>TARGET</a:t>
            </a:r>
            <a:endParaRPr lang="en-US" sz="1800" dirty="0"/>
          </a:p>
        </p:txBody>
      </p:sp>
      <p:sp>
        <p:nvSpPr>
          <p:cNvPr id="18" name="Text 16"/>
          <p:cNvSpPr/>
          <p:nvPr/>
        </p:nvSpPr>
        <p:spPr>
          <a:xfrm>
            <a:off x="3083243" y="6524625"/>
            <a:ext cx="11693555" cy="1143000"/>
          </a:xfrm>
          <a:prstGeom prst="rect">
            <a:avLst/>
          </a:prstGeom>
          <a:noFill/>
          <a:ln/>
        </p:spPr>
        <p:txBody>
          <a:bodyPr wrap="square" lIns="25400" tIns="25400" rIns="25400" bIns="25400" rtlCol="0" anchor="t">
            <a:normAutofit/>
          </a:bodyPr>
          <a:lstStyle/>
          <a:p>
            <a:pPr algn="l" indent="0" marL="0">
              <a:lnSpc>
                <a:spcPct val="125000"/>
              </a:lnSpc>
              <a:buNone/>
            </a:pPr>
            <a:r>
              <a:rPr lang="en-US" sz="3000" dirty="0">
                <a:solidFill>
                  <a:srgbClr val="FBFBFA"/>
                </a:solidFill>
                <a:latin typeface="Arial" pitchFamily="34" charset="0"/>
                <a:ea typeface="Arial" pitchFamily="34" charset="-122"/>
                <a:cs typeface="Arial" pitchFamily="34" charset="-120"/>
              </a:rPr>
              <a:t>다섯 언어(ko·en·zh·ja·id)로 묻고, 여러 기관 데이터를 한 창구에서 받고, </a:t>
            </a:r>
            <a:pPr algn="l" indent="0" marL="0">
              <a:lnSpc>
                <a:spcPct val="125000"/>
              </a:lnSpc>
              <a:buNone/>
            </a:pPr>
            <a:r>
              <a:rPr lang="en-US" sz="3000" dirty="0">
                <a:solidFill>
                  <a:srgbClr val="9DB4FF"/>
                </a:solidFill>
                <a:latin typeface="Arial" pitchFamily="34" charset="0"/>
                <a:ea typeface="Arial" pitchFamily="34" charset="-122"/>
                <a:cs typeface="Arial" pitchFamily="34" charset="-120"/>
              </a:rPr>
              <a:t>예약·결제는 하지 않는다 </a:t>
            </a:r>
            <a:pPr algn="l" indent="0" marL="0">
              <a:lnSpc>
                <a:spcPct val="125000"/>
              </a:lnSpc>
              <a:buNone/>
            </a:pPr>
            <a:r>
              <a:rPr lang="en-US" sz="3000" dirty="0">
                <a:solidFill>
                  <a:srgbClr val="FBFBFA"/>
                </a:solidFill>
                <a:latin typeface="Arial" pitchFamily="34" charset="0"/>
                <a:ea typeface="Arial" pitchFamily="34" charset="-122"/>
                <a:cs typeface="Arial" pitchFamily="34" charset="-120"/>
              </a:rPr>
              <a:t>— 조회 전용 에이전트.</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143000" y="762000"/>
            <a:ext cx="176022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02 · SCOPE</a:t>
            </a:r>
            <a:endParaRPr lang="en-US" sz="1800" dirty="0"/>
          </a:p>
        </p:txBody>
      </p:sp>
      <p:sp>
        <p:nvSpPr>
          <p:cNvPr id="3" name="Text 1"/>
          <p:cNvSpPr/>
          <p:nvPr/>
        </p:nvSpPr>
        <p:spPr>
          <a:xfrm>
            <a:off x="1143000" y="1192530"/>
            <a:ext cx="17602200" cy="1043940"/>
          </a:xfrm>
          <a:prstGeom prst="rect">
            <a:avLst/>
          </a:prstGeom>
          <a:noFill/>
          <a:ln/>
        </p:spPr>
        <p:txBody>
          <a:bodyPr wrap="square" lIns="25400" tIns="25400" rIns="25400" bIns="25400" rtlCol="0" anchor="t">
            <a:normAutofit/>
          </a:bodyPr>
          <a:lstStyle/>
          <a:p>
            <a:pPr algn="l" indent="0" marL="0">
              <a:buNone/>
            </a:pPr>
            <a:r>
              <a:rPr lang="en-US" sz="5400" b="1" spc="-108" kern="0" dirty="0">
                <a:solidFill>
                  <a:srgbClr val="16181D"/>
                </a:solidFill>
                <a:latin typeface="Arial" pitchFamily="34" charset="0"/>
                <a:ea typeface="Arial" pitchFamily="34" charset="-122"/>
                <a:cs typeface="Arial" pitchFamily="34" charset="-120"/>
              </a:rPr>
              <a:t>하는 일과 하지 않는 일</a:t>
            </a:r>
            <a:endParaRPr lang="en-US" sz="5400" dirty="0"/>
          </a:p>
        </p:txBody>
      </p:sp>
      <p:sp>
        <p:nvSpPr>
          <p:cNvPr id="4" name="Shape 2"/>
          <p:cNvSpPr/>
          <p:nvPr/>
        </p:nvSpPr>
        <p:spPr>
          <a:xfrm>
            <a:off x="1143000" y="2579370"/>
            <a:ext cx="9039344" cy="6081713"/>
          </a:xfrm>
          <a:prstGeom prst="rect">
            <a:avLst/>
          </a:prstGeom>
          <a:solidFill>
            <a:srgbClr val="FFFFFF"/>
          </a:solidFill>
          <a:ln/>
        </p:spPr>
      </p:sp>
      <p:sp>
        <p:nvSpPr>
          <p:cNvPr id="5" name="Shape 3"/>
          <p:cNvSpPr/>
          <p:nvPr/>
        </p:nvSpPr>
        <p:spPr>
          <a:xfrm>
            <a:off x="1143000" y="8653463"/>
            <a:ext cx="9039344" cy="9525"/>
          </a:xfrm>
          <a:prstGeom prst="rect">
            <a:avLst/>
          </a:prstGeom>
          <a:solidFill>
            <a:srgbClr val="DFE1E6"/>
          </a:solidFill>
          <a:ln/>
        </p:spPr>
      </p:sp>
      <p:sp>
        <p:nvSpPr>
          <p:cNvPr id="6" name="Shape 4"/>
          <p:cNvSpPr/>
          <p:nvPr/>
        </p:nvSpPr>
        <p:spPr>
          <a:xfrm>
            <a:off x="1143000" y="2579370"/>
            <a:ext cx="9039344" cy="9525"/>
          </a:xfrm>
          <a:prstGeom prst="rect">
            <a:avLst/>
          </a:prstGeom>
          <a:solidFill>
            <a:srgbClr val="DFE1E6"/>
          </a:solidFill>
          <a:ln/>
        </p:spPr>
      </p:sp>
      <p:sp>
        <p:nvSpPr>
          <p:cNvPr id="7" name="Shape 5"/>
          <p:cNvSpPr/>
          <p:nvPr/>
        </p:nvSpPr>
        <p:spPr>
          <a:xfrm>
            <a:off x="1143000" y="2579370"/>
            <a:ext cx="45720" cy="6081713"/>
          </a:xfrm>
          <a:prstGeom prst="rect">
            <a:avLst/>
          </a:prstGeom>
          <a:solidFill>
            <a:srgbClr val="4F7CFF"/>
          </a:solidFill>
          <a:ln/>
        </p:spPr>
      </p:sp>
      <p:sp>
        <p:nvSpPr>
          <p:cNvPr id="8" name="Shape 6"/>
          <p:cNvSpPr/>
          <p:nvPr/>
        </p:nvSpPr>
        <p:spPr>
          <a:xfrm>
            <a:off x="10174724" y="2579370"/>
            <a:ext cx="9525" cy="6081713"/>
          </a:xfrm>
          <a:prstGeom prst="rect">
            <a:avLst/>
          </a:prstGeom>
          <a:solidFill>
            <a:srgbClr val="DFE1E6"/>
          </a:solidFill>
          <a:ln/>
        </p:spPr>
      </p:sp>
      <p:sp>
        <p:nvSpPr>
          <p:cNvPr id="9" name="Text 7"/>
          <p:cNvSpPr/>
          <p:nvPr/>
        </p:nvSpPr>
        <p:spPr>
          <a:xfrm>
            <a:off x="1550670" y="2910840"/>
            <a:ext cx="9088315" cy="480060"/>
          </a:xfrm>
          <a:prstGeom prst="rect">
            <a:avLst/>
          </a:prstGeom>
          <a:noFill/>
          <a:ln/>
        </p:spPr>
        <p:txBody>
          <a:bodyPr wrap="square" lIns="25400" tIns="25400" rIns="25400" bIns="25400" rtlCol="0" anchor="t">
            <a:normAutofit/>
          </a:bodyPr>
          <a:lstStyle/>
          <a:p>
            <a:pPr algn="l" indent="0" marL="0">
              <a:buNone/>
            </a:pPr>
            <a:r>
              <a:rPr lang="en-US" sz="2400" b="1" dirty="0">
                <a:solidFill>
                  <a:srgbClr val="16181D"/>
                </a:solidFill>
                <a:latin typeface="Arial" pitchFamily="34" charset="0"/>
                <a:ea typeface="Arial" pitchFamily="34" charset="-122"/>
                <a:cs typeface="Arial" pitchFamily="34" charset="-120"/>
              </a:rPr>
              <a:t>한다 — 의도 10종</a:t>
            </a:r>
            <a:endParaRPr lang="en-US" sz="2400" dirty="0"/>
          </a:p>
        </p:txBody>
      </p:sp>
      <p:sp>
        <p:nvSpPr>
          <p:cNvPr id="10" name="Text 8"/>
          <p:cNvSpPr/>
          <p:nvPr/>
        </p:nvSpPr>
        <p:spPr>
          <a:xfrm>
            <a:off x="1550670" y="3524250"/>
            <a:ext cx="2986612" cy="383381"/>
          </a:xfrm>
          <a:prstGeom prst="rect">
            <a:avLst/>
          </a:prstGeom>
          <a:noFill/>
          <a:ln/>
        </p:spPr>
        <p:txBody>
          <a:bodyPr wrap="square" lIns="25400" tIns="25400" rIns="25400" bIns="25400" rtlCol="0" anchor="t">
            <a:normAutofit/>
          </a:bodyPr>
          <a:lstStyle/>
          <a:p>
            <a:pPr algn="l" indent="0" marL="0">
              <a:lnSpc>
                <a:spcPct val="110518"/>
              </a:lnSpc>
              <a:buNone/>
            </a:pPr>
            <a:r>
              <a:rPr lang="en-US" sz="1875" dirty="0">
                <a:solidFill>
                  <a:srgbClr val="2B57D6"/>
                </a:solidFill>
                <a:latin typeface="Roboto Mono" pitchFamily="34" charset="0"/>
                <a:ea typeface="Roboto Mono" pitchFamily="34" charset="-122"/>
                <a:cs typeface="Roboto Mono" pitchFamily="34" charset="-120"/>
              </a:rPr>
              <a:t>search_rail</a:t>
            </a:r>
            <a:endParaRPr lang="en-US" sz="1875" dirty="0"/>
          </a:p>
        </p:txBody>
      </p:sp>
      <p:sp>
        <p:nvSpPr>
          <p:cNvPr id="11" name="Text 9"/>
          <p:cNvSpPr/>
          <p:nvPr/>
        </p:nvSpPr>
        <p:spPr>
          <a:xfrm>
            <a:off x="4494371" y="3539490"/>
            <a:ext cx="5850243" cy="383381"/>
          </a:xfrm>
          <a:prstGeom prst="rect">
            <a:avLst/>
          </a:prstGeom>
          <a:noFill/>
          <a:ln/>
        </p:spPr>
        <p:txBody>
          <a:bodyPr wrap="square" lIns="25400" tIns="25400" rIns="25400" bIns="25400" rtlCol="0" anchor="t">
            <a:normAutofit/>
          </a:bodyPr>
          <a:lstStyle/>
          <a:p>
            <a:pPr algn="l" indent="0" marL="0">
              <a:lnSpc>
                <a:spcPct val="125868"/>
              </a:lnSpc>
              <a:buNone/>
            </a:pPr>
            <a:r>
              <a:rPr lang="en-US" sz="1875" dirty="0">
                <a:solidFill>
                  <a:srgbClr val="4A5058"/>
                </a:solidFill>
                <a:latin typeface="Arial" pitchFamily="34" charset="0"/>
                <a:ea typeface="Arial" pitchFamily="34" charset="-122"/>
                <a:cs typeface="Arial" pitchFamily="34" charset="-120"/>
              </a:rPr>
              <a:t>코레일 열차운행정보 (참고 시간표)</a:t>
            </a:r>
            <a:endParaRPr lang="en-US" sz="1875" dirty="0"/>
          </a:p>
        </p:txBody>
      </p:sp>
      <p:sp>
        <p:nvSpPr>
          <p:cNvPr id="12" name="Text 10"/>
          <p:cNvSpPr/>
          <p:nvPr/>
        </p:nvSpPr>
        <p:spPr>
          <a:xfrm>
            <a:off x="1550670" y="4018121"/>
            <a:ext cx="2986612" cy="383381"/>
          </a:xfrm>
          <a:prstGeom prst="rect">
            <a:avLst/>
          </a:prstGeom>
          <a:noFill/>
          <a:ln/>
        </p:spPr>
        <p:txBody>
          <a:bodyPr wrap="square" lIns="25400" tIns="25400" rIns="25400" bIns="25400" rtlCol="0" anchor="t">
            <a:normAutofit/>
          </a:bodyPr>
          <a:lstStyle/>
          <a:p>
            <a:pPr algn="l" indent="0" marL="0">
              <a:lnSpc>
                <a:spcPct val="110518"/>
              </a:lnSpc>
              <a:buNone/>
            </a:pPr>
            <a:r>
              <a:rPr lang="en-US" sz="1875" dirty="0">
                <a:solidFill>
                  <a:srgbClr val="2B57D6"/>
                </a:solidFill>
                <a:latin typeface="Roboto Mono" pitchFamily="34" charset="0"/>
                <a:ea typeface="Roboto Mono" pitchFamily="34" charset="-122"/>
                <a:cs typeface="Roboto Mono" pitchFamily="34" charset="-120"/>
              </a:rPr>
              <a:t>search_bus</a:t>
            </a:r>
            <a:endParaRPr lang="en-US" sz="1875" dirty="0"/>
          </a:p>
        </p:txBody>
      </p:sp>
      <p:sp>
        <p:nvSpPr>
          <p:cNvPr id="13" name="Text 11"/>
          <p:cNvSpPr/>
          <p:nvPr/>
        </p:nvSpPr>
        <p:spPr>
          <a:xfrm>
            <a:off x="4494371" y="4033361"/>
            <a:ext cx="5850243" cy="383381"/>
          </a:xfrm>
          <a:prstGeom prst="rect">
            <a:avLst/>
          </a:prstGeom>
          <a:noFill/>
          <a:ln/>
        </p:spPr>
        <p:txBody>
          <a:bodyPr wrap="square" lIns="25400" tIns="25400" rIns="25400" bIns="25400" rtlCol="0" anchor="t">
            <a:normAutofit/>
          </a:bodyPr>
          <a:lstStyle/>
          <a:p>
            <a:pPr algn="l" indent="0" marL="0">
              <a:lnSpc>
                <a:spcPct val="125868"/>
              </a:lnSpc>
              <a:buNone/>
            </a:pPr>
            <a:r>
              <a:rPr lang="en-US" sz="1875" dirty="0">
                <a:solidFill>
                  <a:srgbClr val="4A5058"/>
                </a:solidFill>
                <a:latin typeface="Arial" pitchFamily="34" charset="0"/>
                <a:ea typeface="Arial" pitchFamily="34" charset="-122"/>
                <a:cs typeface="Arial" pitchFamily="34" charset="-120"/>
              </a:rPr>
              <a:t>TAGO 고속버스 — 요금·등급 포함</a:t>
            </a:r>
            <a:endParaRPr lang="en-US" sz="1875" dirty="0"/>
          </a:p>
        </p:txBody>
      </p:sp>
      <p:sp>
        <p:nvSpPr>
          <p:cNvPr id="14" name="Text 12"/>
          <p:cNvSpPr/>
          <p:nvPr/>
        </p:nvSpPr>
        <p:spPr>
          <a:xfrm>
            <a:off x="1550670" y="4511993"/>
            <a:ext cx="2986612" cy="383381"/>
          </a:xfrm>
          <a:prstGeom prst="rect">
            <a:avLst/>
          </a:prstGeom>
          <a:noFill/>
          <a:ln/>
        </p:spPr>
        <p:txBody>
          <a:bodyPr wrap="square" lIns="25400" tIns="25400" rIns="25400" bIns="25400" rtlCol="0" anchor="t">
            <a:normAutofit/>
          </a:bodyPr>
          <a:lstStyle/>
          <a:p>
            <a:pPr algn="l" indent="0" marL="0">
              <a:lnSpc>
                <a:spcPct val="110518"/>
              </a:lnSpc>
              <a:buNone/>
            </a:pPr>
            <a:r>
              <a:rPr lang="en-US" sz="1875" dirty="0">
                <a:solidFill>
                  <a:srgbClr val="2B57D6"/>
                </a:solidFill>
                <a:latin typeface="Roboto Mono" pitchFamily="34" charset="0"/>
                <a:ea typeface="Roboto Mono" pitchFamily="34" charset="-122"/>
                <a:cs typeface="Roboto Mono" pitchFamily="34" charset="-120"/>
              </a:rPr>
              <a:t>search_flight</a:t>
            </a:r>
            <a:endParaRPr lang="en-US" sz="1875" dirty="0"/>
          </a:p>
        </p:txBody>
      </p:sp>
      <p:sp>
        <p:nvSpPr>
          <p:cNvPr id="15" name="Text 13"/>
          <p:cNvSpPr/>
          <p:nvPr/>
        </p:nvSpPr>
        <p:spPr>
          <a:xfrm>
            <a:off x="4494371" y="4527233"/>
            <a:ext cx="5850243" cy="383381"/>
          </a:xfrm>
          <a:prstGeom prst="rect">
            <a:avLst/>
          </a:prstGeom>
          <a:noFill/>
          <a:ln/>
        </p:spPr>
        <p:txBody>
          <a:bodyPr wrap="square" lIns="25400" tIns="25400" rIns="25400" bIns="25400" rtlCol="0" anchor="t">
            <a:normAutofit/>
          </a:bodyPr>
          <a:lstStyle/>
          <a:p>
            <a:pPr algn="l" indent="0" marL="0">
              <a:lnSpc>
                <a:spcPct val="125868"/>
              </a:lnSpc>
              <a:buNone/>
            </a:pPr>
            <a:r>
              <a:rPr lang="en-US" sz="1875" dirty="0">
                <a:solidFill>
                  <a:srgbClr val="4A5058"/>
                </a:solidFill>
                <a:latin typeface="Arial" pitchFamily="34" charset="0"/>
                <a:ea typeface="Arial" pitchFamily="34" charset="-122"/>
                <a:cs typeface="Arial" pitchFamily="34" charset="-120"/>
              </a:rPr>
              <a:t>TAGO 국내항공 — 시간표 + 운임</a:t>
            </a:r>
            <a:endParaRPr lang="en-US" sz="1875" dirty="0"/>
          </a:p>
        </p:txBody>
      </p:sp>
      <p:sp>
        <p:nvSpPr>
          <p:cNvPr id="16" name="Text 14"/>
          <p:cNvSpPr/>
          <p:nvPr/>
        </p:nvSpPr>
        <p:spPr>
          <a:xfrm>
            <a:off x="1550670" y="5005864"/>
            <a:ext cx="2986612" cy="383381"/>
          </a:xfrm>
          <a:prstGeom prst="rect">
            <a:avLst/>
          </a:prstGeom>
          <a:noFill/>
          <a:ln/>
        </p:spPr>
        <p:txBody>
          <a:bodyPr wrap="square" lIns="25400" tIns="25400" rIns="25400" bIns="25400" rtlCol="0" anchor="t">
            <a:normAutofit/>
          </a:bodyPr>
          <a:lstStyle/>
          <a:p>
            <a:pPr algn="l" indent="0" marL="0">
              <a:lnSpc>
                <a:spcPct val="110518"/>
              </a:lnSpc>
              <a:buNone/>
            </a:pPr>
            <a:r>
              <a:rPr lang="en-US" sz="1875" dirty="0">
                <a:solidFill>
                  <a:srgbClr val="2B57D6"/>
                </a:solidFill>
                <a:latin typeface="Roboto Mono" pitchFamily="34" charset="0"/>
                <a:ea typeface="Roboto Mono" pitchFamily="34" charset="-122"/>
                <a:cs typeface="Roboto Mono" pitchFamily="34" charset="-120"/>
              </a:rPr>
              <a:t>get_realtime_status</a:t>
            </a:r>
            <a:endParaRPr lang="en-US" sz="1875" dirty="0"/>
          </a:p>
        </p:txBody>
      </p:sp>
      <p:sp>
        <p:nvSpPr>
          <p:cNvPr id="17" name="Text 15"/>
          <p:cNvSpPr/>
          <p:nvPr/>
        </p:nvSpPr>
        <p:spPr>
          <a:xfrm>
            <a:off x="4494371" y="5021104"/>
            <a:ext cx="5850243" cy="383381"/>
          </a:xfrm>
          <a:prstGeom prst="rect">
            <a:avLst/>
          </a:prstGeom>
          <a:noFill/>
          <a:ln/>
        </p:spPr>
        <p:txBody>
          <a:bodyPr wrap="square" lIns="25400" tIns="25400" rIns="25400" bIns="25400" rtlCol="0" anchor="t">
            <a:normAutofit/>
          </a:bodyPr>
          <a:lstStyle/>
          <a:p>
            <a:pPr algn="l" indent="0" marL="0">
              <a:lnSpc>
                <a:spcPct val="125868"/>
              </a:lnSpc>
              <a:buNone/>
            </a:pPr>
            <a:r>
              <a:rPr lang="en-US" sz="1875" dirty="0">
                <a:solidFill>
                  <a:srgbClr val="4A5058"/>
                </a:solidFill>
                <a:latin typeface="Arial" pitchFamily="34" charset="0"/>
                <a:ea typeface="Arial" pitchFamily="34" charset="-122"/>
                <a:cs typeface="Arial" pitchFamily="34" charset="-120"/>
              </a:rPr>
              <a:t>인천공항공사 / 한국공항공사 실시간</a:t>
            </a:r>
            <a:endParaRPr lang="en-US" sz="1875" dirty="0"/>
          </a:p>
        </p:txBody>
      </p:sp>
      <p:sp>
        <p:nvSpPr>
          <p:cNvPr id="18" name="Text 16"/>
          <p:cNvSpPr/>
          <p:nvPr/>
        </p:nvSpPr>
        <p:spPr>
          <a:xfrm>
            <a:off x="1550670" y="5499735"/>
            <a:ext cx="2986612" cy="383381"/>
          </a:xfrm>
          <a:prstGeom prst="rect">
            <a:avLst/>
          </a:prstGeom>
          <a:noFill/>
          <a:ln/>
        </p:spPr>
        <p:txBody>
          <a:bodyPr wrap="square" lIns="25400" tIns="25400" rIns="25400" bIns="25400" rtlCol="0" anchor="t">
            <a:normAutofit/>
          </a:bodyPr>
          <a:lstStyle/>
          <a:p>
            <a:pPr algn="l" indent="0" marL="0">
              <a:lnSpc>
                <a:spcPct val="110518"/>
              </a:lnSpc>
              <a:buNone/>
            </a:pPr>
            <a:r>
              <a:rPr lang="en-US" sz="1875" dirty="0">
                <a:solidFill>
                  <a:srgbClr val="2B57D6"/>
                </a:solidFill>
                <a:latin typeface="Roboto Mono" pitchFamily="34" charset="0"/>
                <a:ea typeface="Roboto Mono" pitchFamily="34" charset="-122"/>
                <a:cs typeface="Roboto Mono" pitchFamily="34" charset="-120"/>
              </a:rPr>
              <a:t>search_parking</a:t>
            </a:r>
            <a:endParaRPr lang="en-US" sz="1875" dirty="0"/>
          </a:p>
        </p:txBody>
      </p:sp>
      <p:sp>
        <p:nvSpPr>
          <p:cNvPr id="19" name="Text 17"/>
          <p:cNvSpPr/>
          <p:nvPr/>
        </p:nvSpPr>
        <p:spPr>
          <a:xfrm>
            <a:off x="4494371" y="5514975"/>
            <a:ext cx="5850243" cy="383381"/>
          </a:xfrm>
          <a:prstGeom prst="rect">
            <a:avLst/>
          </a:prstGeom>
          <a:noFill/>
          <a:ln/>
        </p:spPr>
        <p:txBody>
          <a:bodyPr wrap="square" lIns="25400" tIns="25400" rIns="25400" bIns="25400" rtlCol="0" anchor="t">
            <a:normAutofit/>
          </a:bodyPr>
          <a:lstStyle/>
          <a:p>
            <a:pPr algn="l" indent="0" marL="0">
              <a:lnSpc>
                <a:spcPct val="125868"/>
              </a:lnSpc>
              <a:buNone/>
            </a:pPr>
            <a:r>
              <a:rPr lang="en-US" sz="1875" dirty="0">
                <a:solidFill>
                  <a:srgbClr val="4A5058"/>
                </a:solidFill>
                <a:latin typeface="Arial" pitchFamily="34" charset="0"/>
                <a:ea typeface="Arial" pitchFamily="34" charset="-122"/>
                <a:cs typeface="Arial" pitchFamily="34" charset="-120"/>
              </a:rPr>
              <a:t>서울시 실시간 도시데이터</a:t>
            </a:r>
            <a:endParaRPr lang="en-US" sz="1875" dirty="0"/>
          </a:p>
        </p:txBody>
      </p:sp>
      <p:sp>
        <p:nvSpPr>
          <p:cNvPr id="20" name="Text 18"/>
          <p:cNvSpPr/>
          <p:nvPr/>
        </p:nvSpPr>
        <p:spPr>
          <a:xfrm>
            <a:off x="1550670" y="5993606"/>
            <a:ext cx="2986612" cy="383381"/>
          </a:xfrm>
          <a:prstGeom prst="rect">
            <a:avLst/>
          </a:prstGeom>
          <a:noFill/>
          <a:ln/>
        </p:spPr>
        <p:txBody>
          <a:bodyPr wrap="square" lIns="25400" tIns="25400" rIns="25400" bIns="25400" rtlCol="0" anchor="t">
            <a:normAutofit/>
          </a:bodyPr>
          <a:lstStyle/>
          <a:p>
            <a:pPr algn="l" indent="0" marL="0">
              <a:lnSpc>
                <a:spcPct val="110518"/>
              </a:lnSpc>
              <a:buNone/>
            </a:pPr>
            <a:r>
              <a:rPr lang="en-US" sz="1875" dirty="0">
                <a:solidFill>
                  <a:srgbClr val="2B57D6"/>
                </a:solidFill>
                <a:latin typeface="Roboto Mono" pitchFamily="34" charset="0"/>
                <a:ea typeface="Roboto Mono" pitchFamily="34" charset="-122"/>
                <a:cs typeface="Roboto Mono" pitchFamily="34" charset="-120"/>
              </a:rPr>
              <a:t>search_ev_charger</a:t>
            </a:r>
            <a:endParaRPr lang="en-US" sz="1875" dirty="0"/>
          </a:p>
        </p:txBody>
      </p:sp>
      <p:sp>
        <p:nvSpPr>
          <p:cNvPr id="21" name="Text 19"/>
          <p:cNvSpPr/>
          <p:nvPr/>
        </p:nvSpPr>
        <p:spPr>
          <a:xfrm>
            <a:off x="4494371" y="6008847"/>
            <a:ext cx="5850243" cy="383381"/>
          </a:xfrm>
          <a:prstGeom prst="rect">
            <a:avLst/>
          </a:prstGeom>
          <a:noFill/>
          <a:ln/>
        </p:spPr>
        <p:txBody>
          <a:bodyPr wrap="square" lIns="25400" tIns="25400" rIns="25400" bIns="25400" rtlCol="0" anchor="t">
            <a:normAutofit/>
          </a:bodyPr>
          <a:lstStyle/>
          <a:p>
            <a:pPr algn="l" indent="0" marL="0">
              <a:lnSpc>
                <a:spcPct val="125868"/>
              </a:lnSpc>
              <a:buNone/>
            </a:pPr>
            <a:r>
              <a:rPr lang="en-US" sz="1875" dirty="0">
                <a:solidFill>
                  <a:srgbClr val="4A5058"/>
                </a:solidFill>
                <a:latin typeface="Arial" pitchFamily="34" charset="0"/>
                <a:ea typeface="Arial" pitchFamily="34" charset="-122"/>
                <a:cs typeface="Arial" pitchFamily="34" charset="-120"/>
              </a:rPr>
              <a:t>서울시 실시간 도시데이터</a:t>
            </a:r>
            <a:endParaRPr lang="en-US" sz="1875" dirty="0"/>
          </a:p>
        </p:txBody>
      </p:sp>
      <p:sp>
        <p:nvSpPr>
          <p:cNvPr id="22" name="Text 20"/>
          <p:cNvSpPr/>
          <p:nvPr/>
        </p:nvSpPr>
        <p:spPr>
          <a:xfrm>
            <a:off x="1550670" y="6487478"/>
            <a:ext cx="2986612" cy="383381"/>
          </a:xfrm>
          <a:prstGeom prst="rect">
            <a:avLst/>
          </a:prstGeom>
          <a:noFill/>
          <a:ln/>
        </p:spPr>
        <p:txBody>
          <a:bodyPr wrap="square" lIns="25400" tIns="25400" rIns="25400" bIns="25400" rtlCol="0" anchor="t">
            <a:normAutofit/>
          </a:bodyPr>
          <a:lstStyle/>
          <a:p>
            <a:pPr algn="l" indent="0" marL="0">
              <a:lnSpc>
                <a:spcPct val="110518"/>
              </a:lnSpc>
              <a:buNone/>
            </a:pPr>
            <a:r>
              <a:rPr lang="en-US" sz="1875" dirty="0">
                <a:solidFill>
                  <a:srgbClr val="2B57D6"/>
                </a:solidFill>
                <a:latin typeface="Roboto Mono" pitchFamily="34" charset="0"/>
                <a:ea typeface="Roboto Mono" pitchFamily="34" charset="-122"/>
                <a:cs typeface="Roboto Mono" pitchFamily="34" charset="-120"/>
              </a:rPr>
              <a:t>share_mobility</a:t>
            </a:r>
            <a:endParaRPr lang="en-US" sz="1875" dirty="0"/>
          </a:p>
        </p:txBody>
      </p:sp>
      <p:sp>
        <p:nvSpPr>
          <p:cNvPr id="23" name="Text 21"/>
          <p:cNvSpPr/>
          <p:nvPr/>
        </p:nvSpPr>
        <p:spPr>
          <a:xfrm>
            <a:off x="4494371" y="6502718"/>
            <a:ext cx="5850243" cy="383381"/>
          </a:xfrm>
          <a:prstGeom prst="rect">
            <a:avLst/>
          </a:prstGeom>
          <a:noFill/>
          <a:ln/>
        </p:spPr>
        <p:txBody>
          <a:bodyPr wrap="square" lIns="25400" tIns="25400" rIns="25400" bIns="25400" rtlCol="0" anchor="t">
            <a:normAutofit/>
          </a:bodyPr>
          <a:lstStyle/>
          <a:p>
            <a:pPr algn="l" indent="0" marL="0">
              <a:lnSpc>
                <a:spcPct val="125868"/>
              </a:lnSpc>
              <a:buNone/>
            </a:pPr>
            <a:r>
              <a:rPr lang="en-US" sz="1875" dirty="0">
                <a:solidFill>
                  <a:srgbClr val="4A5058"/>
                </a:solidFill>
                <a:latin typeface="Arial" pitchFamily="34" charset="0"/>
                <a:ea typeface="Arial" pitchFamily="34" charset="-122"/>
                <a:cs typeface="Arial" pitchFamily="34" charset="-120"/>
              </a:rPr>
              <a:t>따릉이·카셰어링 (서울 121개 장소)</a:t>
            </a:r>
            <a:endParaRPr lang="en-US" sz="1875" dirty="0"/>
          </a:p>
        </p:txBody>
      </p:sp>
      <p:sp>
        <p:nvSpPr>
          <p:cNvPr id="24" name="Text 22"/>
          <p:cNvSpPr/>
          <p:nvPr/>
        </p:nvSpPr>
        <p:spPr>
          <a:xfrm>
            <a:off x="1550670" y="6981349"/>
            <a:ext cx="2986612" cy="383381"/>
          </a:xfrm>
          <a:prstGeom prst="rect">
            <a:avLst/>
          </a:prstGeom>
          <a:noFill/>
          <a:ln/>
        </p:spPr>
        <p:txBody>
          <a:bodyPr wrap="square" lIns="25400" tIns="25400" rIns="25400" bIns="25400" rtlCol="0" anchor="t">
            <a:normAutofit/>
          </a:bodyPr>
          <a:lstStyle/>
          <a:p>
            <a:pPr algn="l" indent="0" marL="0">
              <a:lnSpc>
                <a:spcPct val="110518"/>
              </a:lnSpc>
              <a:buNone/>
            </a:pPr>
            <a:r>
              <a:rPr lang="en-US" sz="1875" dirty="0">
                <a:solidFill>
                  <a:srgbClr val="2B57D6"/>
                </a:solidFill>
                <a:latin typeface="Roboto Mono" pitchFamily="34" charset="0"/>
                <a:ea typeface="Roboto Mono" pitchFamily="34" charset="-122"/>
                <a:cs typeface="Roboto Mono" pitchFamily="34" charset="-120"/>
              </a:rPr>
              <a:t>fare_policy</a:t>
            </a:r>
            <a:endParaRPr lang="en-US" sz="1875" dirty="0"/>
          </a:p>
        </p:txBody>
      </p:sp>
      <p:sp>
        <p:nvSpPr>
          <p:cNvPr id="25" name="Text 23"/>
          <p:cNvSpPr/>
          <p:nvPr/>
        </p:nvSpPr>
        <p:spPr>
          <a:xfrm>
            <a:off x="4494371" y="6996589"/>
            <a:ext cx="5850243" cy="383381"/>
          </a:xfrm>
          <a:prstGeom prst="rect">
            <a:avLst/>
          </a:prstGeom>
          <a:noFill/>
          <a:ln/>
        </p:spPr>
        <p:txBody>
          <a:bodyPr wrap="square" lIns="25400" tIns="25400" rIns="25400" bIns="25400" rtlCol="0" anchor="t">
            <a:normAutofit/>
          </a:bodyPr>
          <a:lstStyle/>
          <a:p>
            <a:pPr algn="l" indent="0" marL="0">
              <a:lnSpc>
                <a:spcPct val="125868"/>
              </a:lnSpc>
              <a:buNone/>
            </a:pPr>
            <a:r>
              <a:rPr lang="en-US" sz="1875" dirty="0">
                <a:solidFill>
                  <a:srgbClr val="4A5058"/>
                </a:solidFill>
                <a:latin typeface="Arial" pitchFamily="34" charset="0"/>
                <a:ea typeface="Arial" pitchFamily="34" charset="-122"/>
                <a:cs typeface="Arial" pitchFamily="34" charset="-120"/>
              </a:rPr>
              <a:t>요금·할인 규정</a:t>
            </a:r>
            <a:endParaRPr lang="en-US" sz="1875" dirty="0"/>
          </a:p>
        </p:txBody>
      </p:sp>
      <p:sp>
        <p:nvSpPr>
          <p:cNvPr id="26" name="Text 24"/>
          <p:cNvSpPr/>
          <p:nvPr/>
        </p:nvSpPr>
        <p:spPr>
          <a:xfrm>
            <a:off x="1550670" y="7475220"/>
            <a:ext cx="2986612" cy="383381"/>
          </a:xfrm>
          <a:prstGeom prst="rect">
            <a:avLst/>
          </a:prstGeom>
          <a:noFill/>
          <a:ln/>
        </p:spPr>
        <p:txBody>
          <a:bodyPr wrap="square" lIns="25400" tIns="25400" rIns="25400" bIns="25400" rtlCol="0" anchor="t">
            <a:normAutofit/>
          </a:bodyPr>
          <a:lstStyle/>
          <a:p>
            <a:pPr algn="l" indent="0" marL="0">
              <a:lnSpc>
                <a:spcPct val="110518"/>
              </a:lnSpc>
              <a:buNone/>
            </a:pPr>
            <a:r>
              <a:rPr lang="en-US" sz="1875" dirty="0">
                <a:solidFill>
                  <a:srgbClr val="2B57D6"/>
                </a:solidFill>
                <a:latin typeface="Roboto Mono" pitchFamily="34" charset="0"/>
                <a:ea typeface="Roboto Mono" pitchFamily="34" charset="-122"/>
                <a:cs typeface="Roboto Mono" pitchFamily="34" charset="-120"/>
              </a:rPr>
              <a:t>plan_journey</a:t>
            </a:r>
            <a:endParaRPr lang="en-US" sz="1875" dirty="0"/>
          </a:p>
        </p:txBody>
      </p:sp>
      <p:sp>
        <p:nvSpPr>
          <p:cNvPr id="27" name="Text 25"/>
          <p:cNvSpPr/>
          <p:nvPr/>
        </p:nvSpPr>
        <p:spPr>
          <a:xfrm>
            <a:off x="4494371" y="7490460"/>
            <a:ext cx="5850243" cy="383381"/>
          </a:xfrm>
          <a:prstGeom prst="rect">
            <a:avLst/>
          </a:prstGeom>
          <a:noFill/>
          <a:ln/>
        </p:spPr>
        <p:txBody>
          <a:bodyPr wrap="square" lIns="25400" tIns="25400" rIns="25400" bIns="25400" rtlCol="0" anchor="t">
            <a:normAutofit/>
          </a:bodyPr>
          <a:lstStyle/>
          <a:p>
            <a:pPr algn="l" indent="0" marL="0">
              <a:lnSpc>
                <a:spcPct val="125868"/>
              </a:lnSpc>
              <a:buNone/>
            </a:pPr>
            <a:r>
              <a:rPr lang="en-US" sz="1875" dirty="0">
                <a:solidFill>
                  <a:srgbClr val="B45309"/>
                </a:solidFill>
                <a:latin typeface="Arial" pitchFamily="34" charset="0"/>
                <a:ea typeface="Arial" pitchFamily="34" charset="-122"/>
                <a:cs typeface="Arial" pitchFamily="34" charset="-120"/>
              </a:rPr>
              <a:t>연계 경로 — 구간 상세는 목 데이터</a:t>
            </a:r>
            <a:endParaRPr lang="en-US" sz="1875" dirty="0"/>
          </a:p>
        </p:txBody>
      </p:sp>
      <p:sp>
        <p:nvSpPr>
          <p:cNvPr id="28" name="Text 26"/>
          <p:cNvSpPr/>
          <p:nvPr/>
        </p:nvSpPr>
        <p:spPr>
          <a:xfrm>
            <a:off x="1550670" y="7969091"/>
            <a:ext cx="2986612" cy="383381"/>
          </a:xfrm>
          <a:prstGeom prst="rect">
            <a:avLst/>
          </a:prstGeom>
          <a:noFill/>
          <a:ln/>
        </p:spPr>
        <p:txBody>
          <a:bodyPr wrap="square" lIns="25400" tIns="25400" rIns="25400" bIns="25400" rtlCol="0" anchor="t">
            <a:normAutofit/>
          </a:bodyPr>
          <a:lstStyle/>
          <a:p>
            <a:pPr algn="l" indent="0" marL="0">
              <a:lnSpc>
                <a:spcPct val="110518"/>
              </a:lnSpc>
              <a:buNone/>
            </a:pPr>
            <a:r>
              <a:rPr lang="en-US" sz="1875" dirty="0">
                <a:solidFill>
                  <a:srgbClr val="2B57D6"/>
                </a:solidFill>
                <a:latin typeface="Roboto Mono" pitchFamily="34" charset="0"/>
                <a:ea typeface="Roboto Mono" pitchFamily="34" charset="-122"/>
                <a:cs typeface="Roboto Mono" pitchFamily="34" charset="-120"/>
              </a:rPr>
              <a:t>search_lodging</a:t>
            </a:r>
            <a:endParaRPr lang="en-US" sz="1875" dirty="0"/>
          </a:p>
        </p:txBody>
      </p:sp>
      <p:sp>
        <p:nvSpPr>
          <p:cNvPr id="29" name="Text 27"/>
          <p:cNvSpPr/>
          <p:nvPr/>
        </p:nvSpPr>
        <p:spPr>
          <a:xfrm>
            <a:off x="4494371" y="7984331"/>
            <a:ext cx="5850243" cy="383381"/>
          </a:xfrm>
          <a:prstGeom prst="rect">
            <a:avLst/>
          </a:prstGeom>
          <a:noFill/>
          <a:ln/>
        </p:spPr>
        <p:txBody>
          <a:bodyPr wrap="square" lIns="25400" tIns="25400" rIns="25400" bIns="25400" rtlCol="0" anchor="t">
            <a:normAutofit/>
          </a:bodyPr>
          <a:lstStyle/>
          <a:p>
            <a:pPr algn="l" indent="0" marL="0">
              <a:lnSpc>
                <a:spcPct val="125868"/>
              </a:lnSpc>
              <a:buNone/>
            </a:pPr>
            <a:r>
              <a:rPr lang="en-US" sz="1875" dirty="0">
                <a:solidFill>
                  <a:srgbClr val="B45309"/>
                </a:solidFill>
                <a:latin typeface="Arial" pitchFamily="34" charset="0"/>
                <a:ea typeface="Arial" pitchFamily="34" charset="-122"/>
                <a:cs typeface="Arial" pitchFamily="34" charset="-120"/>
              </a:rPr>
              <a:t>숙박 — 전부 목 데이터</a:t>
            </a:r>
            <a:endParaRPr lang="en-US" sz="1875" dirty="0"/>
          </a:p>
        </p:txBody>
      </p:sp>
      <p:sp>
        <p:nvSpPr>
          <p:cNvPr id="30" name="Shape 28"/>
          <p:cNvSpPr/>
          <p:nvPr/>
        </p:nvSpPr>
        <p:spPr>
          <a:xfrm>
            <a:off x="10449045" y="2579370"/>
            <a:ext cx="6695956" cy="2926556"/>
          </a:xfrm>
          <a:prstGeom prst="rect">
            <a:avLst/>
          </a:prstGeom>
          <a:solidFill>
            <a:srgbClr val="FFFFFF"/>
          </a:solidFill>
          <a:ln/>
        </p:spPr>
      </p:sp>
      <p:sp>
        <p:nvSpPr>
          <p:cNvPr id="31" name="Shape 29"/>
          <p:cNvSpPr/>
          <p:nvPr/>
        </p:nvSpPr>
        <p:spPr>
          <a:xfrm>
            <a:off x="10449045" y="5498306"/>
            <a:ext cx="6695956" cy="9525"/>
          </a:xfrm>
          <a:prstGeom prst="rect">
            <a:avLst/>
          </a:prstGeom>
          <a:solidFill>
            <a:srgbClr val="DFE1E6"/>
          </a:solidFill>
          <a:ln/>
        </p:spPr>
      </p:sp>
      <p:sp>
        <p:nvSpPr>
          <p:cNvPr id="32" name="Shape 30"/>
          <p:cNvSpPr/>
          <p:nvPr/>
        </p:nvSpPr>
        <p:spPr>
          <a:xfrm>
            <a:off x="10449045" y="2579370"/>
            <a:ext cx="6695956" cy="9525"/>
          </a:xfrm>
          <a:prstGeom prst="rect">
            <a:avLst/>
          </a:prstGeom>
          <a:solidFill>
            <a:srgbClr val="DFE1E6"/>
          </a:solidFill>
          <a:ln/>
        </p:spPr>
      </p:sp>
      <p:sp>
        <p:nvSpPr>
          <p:cNvPr id="33" name="Shape 31"/>
          <p:cNvSpPr/>
          <p:nvPr/>
        </p:nvSpPr>
        <p:spPr>
          <a:xfrm>
            <a:off x="10449045" y="2579370"/>
            <a:ext cx="45720" cy="2926556"/>
          </a:xfrm>
          <a:prstGeom prst="rect">
            <a:avLst/>
          </a:prstGeom>
          <a:solidFill>
            <a:srgbClr val="16181D"/>
          </a:solidFill>
          <a:ln/>
        </p:spPr>
      </p:sp>
      <p:sp>
        <p:nvSpPr>
          <p:cNvPr id="34" name="Shape 32"/>
          <p:cNvSpPr/>
          <p:nvPr/>
        </p:nvSpPr>
        <p:spPr>
          <a:xfrm>
            <a:off x="17137381" y="2579370"/>
            <a:ext cx="9525" cy="2926556"/>
          </a:xfrm>
          <a:prstGeom prst="rect">
            <a:avLst/>
          </a:prstGeom>
          <a:solidFill>
            <a:srgbClr val="DFE1E6"/>
          </a:solidFill>
          <a:ln/>
        </p:spPr>
      </p:sp>
      <p:sp>
        <p:nvSpPr>
          <p:cNvPr id="35" name="Text 33"/>
          <p:cNvSpPr/>
          <p:nvPr/>
        </p:nvSpPr>
        <p:spPr>
          <a:xfrm>
            <a:off x="10856714" y="2910840"/>
            <a:ext cx="6510588" cy="480060"/>
          </a:xfrm>
          <a:prstGeom prst="rect">
            <a:avLst/>
          </a:prstGeom>
          <a:noFill/>
          <a:ln/>
        </p:spPr>
        <p:txBody>
          <a:bodyPr wrap="square" lIns="25400" tIns="25400" rIns="25400" bIns="25400" rtlCol="0" anchor="t">
            <a:normAutofit/>
          </a:bodyPr>
          <a:lstStyle/>
          <a:p>
            <a:pPr algn="l" indent="0" marL="0">
              <a:buNone/>
            </a:pPr>
            <a:r>
              <a:rPr lang="en-US" sz="2400" b="1" dirty="0">
                <a:solidFill>
                  <a:srgbClr val="16181D"/>
                </a:solidFill>
                <a:latin typeface="Arial" pitchFamily="34" charset="0"/>
                <a:ea typeface="Arial" pitchFamily="34" charset="-122"/>
                <a:cs typeface="Arial" pitchFamily="34" charset="-120"/>
              </a:rPr>
              <a:t>하지 않는다</a:t>
            </a:r>
            <a:endParaRPr lang="en-US" sz="2400" dirty="0"/>
          </a:p>
        </p:txBody>
      </p:sp>
      <p:sp>
        <p:nvSpPr>
          <p:cNvPr id="36" name="Text 34"/>
          <p:cNvSpPr/>
          <p:nvPr/>
        </p:nvSpPr>
        <p:spPr>
          <a:xfrm>
            <a:off x="10856714" y="3505200"/>
            <a:ext cx="6096278" cy="1349692"/>
          </a:xfrm>
          <a:prstGeom prst="rect">
            <a:avLst/>
          </a:prstGeom>
          <a:noFill/>
          <a:ln/>
        </p:spPr>
        <p:txBody>
          <a:bodyPr wrap="square" lIns="25400" tIns="25400" rIns="25400" bIns="25400" rtlCol="0" anchor="t">
            <a:normAutofit/>
          </a:bodyPr>
          <a:lstStyle/>
          <a:p>
            <a:pPr algn="l" indent="0" marL="0">
              <a:lnSpc>
                <a:spcPct val="147115"/>
              </a:lnSpc>
              <a:buNone/>
            </a:pPr>
            <a:r>
              <a:rPr lang="en-US" sz="2025" dirty="0">
                <a:solidFill>
                  <a:srgbClr val="4A5058"/>
                </a:solidFill>
                <a:latin typeface="Arial" pitchFamily="34" charset="0"/>
                <a:ea typeface="Arial" pitchFamily="34" charset="-122"/>
                <a:cs typeface="Arial" pitchFamily="34" charset="-120"/>
              </a:rPr>
              <a:t>예약 · 결제 · 취소 · 환불 관광 일정 · 맛집 · 날씨 · 환전 · 비자 코딩 · 정치 · 의료 · 투자 · 창작</a:t>
            </a:r>
            <a:endParaRPr lang="en-US" sz="2025" dirty="0"/>
          </a:p>
        </p:txBody>
      </p:sp>
      <p:sp>
        <p:nvSpPr>
          <p:cNvPr id="37" name="Shape 35"/>
          <p:cNvSpPr/>
          <p:nvPr/>
        </p:nvSpPr>
        <p:spPr>
          <a:xfrm>
            <a:off x="10449045" y="5734526"/>
            <a:ext cx="6695956" cy="2926556"/>
          </a:xfrm>
          <a:prstGeom prst="rect">
            <a:avLst/>
          </a:prstGeom>
          <a:solidFill>
            <a:srgbClr val="F3F6FF"/>
          </a:solidFill>
          <a:ln w="7620">
            <a:solidFill>
              <a:srgbClr val="C9D6FF"/>
            </a:solidFill>
            <a:prstDash val="solid"/>
          </a:ln>
        </p:spPr>
      </p:sp>
      <p:sp>
        <p:nvSpPr>
          <p:cNvPr id="38" name="Text 36"/>
          <p:cNvSpPr/>
          <p:nvPr/>
        </p:nvSpPr>
        <p:spPr>
          <a:xfrm>
            <a:off x="10818614" y="6065997"/>
            <a:ext cx="6552498"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경계 판정 원칙</a:t>
            </a:r>
            <a:endParaRPr lang="en-US" sz="1725" dirty="0"/>
          </a:p>
        </p:txBody>
      </p:sp>
      <p:sp>
        <p:nvSpPr>
          <p:cNvPr id="39" name="Text 37"/>
          <p:cNvSpPr/>
          <p:nvPr/>
        </p:nvSpPr>
        <p:spPr>
          <a:xfrm>
            <a:off x="10818614" y="6488906"/>
            <a:ext cx="6135521" cy="864870"/>
          </a:xfrm>
          <a:prstGeom prst="rect">
            <a:avLst/>
          </a:prstGeom>
          <a:noFill/>
          <a:ln/>
        </p:spPr>
        <p:txBody>
          <a:bodyPr wrap="square" lIns="25400" tIns="25400" rIns="25400" bIns="25400" rtlCol="0" anchor="t">
            <a:normAutofit/>
          </a:bodyPr>
          <a:lstStyle/>
          <a:p>
            <a:pPr algn="l" indent="0" marL="0">
              <a:lnSpc>
                <a:spcPct val="135625"/>
              </a:lnSpc>
              <a:buNone/>
            </a:pPr>
            <a:r>
              <a:rPr lang="en-US" sz="2100" dirty="0">
                <a:solidFill>
                  <a:srgbClr val="1F2937"/>
                </a:solidFill>
                <a:latin typeface="Arial" pitchFamily="34" charset="0"/>
                <a:ea typeface="Arial" pitchFamily="34" charset="-122"/>
                <a:cs typeface="Arial" pitchFamily="34" charset="-120"/>
              </a:rPr>
              <a:t>스케줄 조회가 아니어도 </a:t>
            </a:r>
            <a:pPr algn="l" indent="0" marL="0">
              <a:lnSpc>
                <a:spcPct val="135625"/>
              </a:lnSpc>
              <a:buNone/>
            </a:pPr>
            <a:r>
              <a:rPr lang="en-US" sz="2100" b="1" dirty="0">
                <a:solidFill>
                  <a:srgbClr val="1F2937"/>
                </a:solidFill>
                <a:latin typeface="Arial" pitchFamily="34" charset="0"/>
                <a:ea typeface="Arial" pitchFamily="34" charset="-122"/>
                <a:cs typeface="Arial" pitchFamily="34" charset="-120"/>
              </a:rPr>
              <a:t>타는 행위와 직결되면 통과 </a:t>
            </a:r>
            <a:pPr algn="l" indent="0" marL="0">
              <a:lnSpc>
                <a:spcPct val="135625"/>
              </a:lnSpc>
              <a:buNone/>
            </a:pPr>
            <a:r>
              <a:rPr lang="en-US" sz="2100" dirty="0">
                <a:solidFill>
                  <a:srgbClr val="1F2937"/>
                </a:solidFill>
                <a:latin typeface="Arial" pitchFamily="34" charset="0"/>
                <a:ea typeface="Arial" pitchFamily="34" charset="-122"/>
                <a:cs typeface="Arial" pitchFamily="34" charset="-120"/>
              </a:rPr>
              <a:t>— 와이파이, 짐 보관함, 보조배터리 반입, 국제운전면허.</a:t>
            </a:r>
            <a:endParaRPr lang="en-US" sz="2100" dirty="0"/>
          </a:p>
        </p:txBody>
      </p:sp>
      <p:sp>
        <p:nvSpPr>
          <p:cNvPr id="40" name="Shape 38"/>
          <p:cNvSpPr/>
          <p:nvPr/>
        </p:nvSpPr>
        <p:spPr>
          <a:xfrm>
            <a:off x="1143000" y="9042082"/>
            <a:ext cx="16002000" cy="15240"/>
          </a:xfrm>
          <a:prstGeom prst="rect">
            <a:avLst/>
          </a:prstGeom>
          <a:solidFill>
            <a:srgbClr val="16181D"/>
          </a:solidFill>
          <a:ln/>
        </p:spPr>
      </p:sp>
      <p:sp>
        <p:nvSpPr>
          <p:cNvPr id="41" name="Text 39"/>
          <p:cNvSpPr/>
          <p:nvPr/>
        </p:nvSpPr>
        <p:spPr>
          <a:xfrm>
            <a:off x="1143000" y="9575482"/>
            <a:ext cx="2112657" cy="335280"/>
          </a:xfrm>
          <a:prstGeom prst="rect">
            <a:avLst/>
          </a:prstGeom>
          <a:noFill/>
          <a:ln/>
        </p:spPr>
        <p:txBody>
          <a:bodyPr wrap="none" lIns="25400" tIns="25400" rIns="25400" bIns="25400" rtlCol="0" anchor="t">
            <a:normAutofit/>
          </a:bodyPr>
          <a:lstStyle/>
          <a:p>
            <a:pPr algn="l" indent="0" marL="0">
              <a:buNone/>
            </a:pPr>
            <a:r>
              <a:rPr lang="en-US" sz="1800" dirty="0">
                <a:solidFill>
                  <a:srgbClr val="4F7CFF"/>
                </a:solidFill>
                <a:latin typeface="Roboto Mono" pitchFamily="34" charset="0"/>
                <a:ea typeface="Roboto Mono" pitchFamily="34" charset="-122"/>
                <a:cs typeface="Roboto Mono" pitchFamily="34" charset="-120"/>
              </a:rPr>
              <a:t>CORE PRINCIPLE</a:t>
            </a:r>
            <a:endParaRPr lang="en-US" sz="1800" dirty="0"/>
          </a:p>
        </p:txBody>
      </p:sp>
      <p:sp>
        <p:nvSpPr>
          <p:cNvPr id="42" name="Text 40"/>
          <p:cNvSpPr/>
          <p:nvPr/>
        </p:nvSpPr>
        <p:spPr>
          <a:xfrm>
            <a:off x="3368397" y="9324023"/>
            <a:ext cx="4791623" cy="65532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16181D"/>
                </a:solidFill>
                <a:latin typeface="Arial" pitchFamily="34" charset="0"/>
                <a:ea typeface="Arial" pitchFamily="34" charset="-122"/>
                <a:cs typeface="Arial" pitchFamily="34" charset="-120"/>
              </a:rPr>
              <a:t>없는 값을 만들지 않는다.</a:t>
            </a:r>
            <a:endParaRPr lang="en-US" sz="3300" dirty="0"/>
          </a:p>
        </p:txBody>
      </p:sp>
      <p:sp>
        <p:nvSpPr>
          <p:cNvPr id="43" name="Text 41"/>
          <p:cNvSpPr/>
          <p:nvPr/>
        </p:nvSpPr>
        <p:spPr>
          <a:xfrm>
            <a:off x="8029218" y="9545003"/>
            <a:ext cx="8753428" cy="409575"/>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6B7280"/>
                </a:solidFill>
                <a:latin typeface="Arial" pitchFamily="34" charset="0"/>
                <a:ea typeface="Arial" pitchFamily="34" charset="-122"/>
                <a:cs typeface="Arial" pitchFamily="34" charset="-120"/>
              </a:rPr>
              <a:t>커버리지 밖은 목 데이터로 지어내지 않고, 비공개 운임에 0원을 채우지 않는다</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952500" y="685800"/>
            <a:ext cx="7535287"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03 · ARCHITECTURE</a:t>
            </a:r>
            <a:endParaRPr lang="en-US" sz="1800" dirty="0"/>
          </a:p>
        </p:txBody>
      </p:sp>
      <p:sp>
        <p:nvSpPr>
          <p:cNvPr id="3" name="Text 1"/>
          <p:cNvSpPr/>
          <p:nvPr/>
        </p:nvSpPr>
        <p:spPr>
          <a:xfrm>
            <a:off x="952500" y="1097280"/>
            <a:ext cx="7535287"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입력에서 응답까지 8단계</a:t>
            </a:r>
            <a:endParaRPr lang="en-US" sz="5250" dirty="0"/>
          </a:p>
        </p:txBody>
      </p:sp>
      <p:sp>
        <p:nvSpPr>
          <p:cNvPr id="4" name="Text 2"/>
          <p:cNvSpPr/>
          <p:nvPr/>
        </p:nvSpPr>
        <p:spPr>
          <a:xfrm>
            <a:off x="13430929" y="1751648"/>
            <a:ext cx="3904571" cy="366713"/>
          </a:xfrm>
          <a:prstGeom prst="rect">
            <a:avLst/>
          </a:prstGeom>
          <a:noFill/>
          <a:ln/>
        </p:spPr>
        <p:txBody>
          <a:bodyPr wrap="square" lIns="25400" tIns="25400" rIns="25400" bIns="25400" rtlCol="0" anchor="t">
            <a:normAutofit/>
          </a:bodyPr>
          <a:lstStyle/>
          <a:p>
            <a:pPr algn="r" indent="0" marL="0">
              <a:lnSpc>
                <a:spcPct val="113487"/>
              </a:lnSpc>
              <a:buNone/>
            </a:pPr>
            <a:r>
              <a:rPr lang="en-US" sz="1725" dirty="0">
                <a:solidFill>
                  <a:srgbClr val="8A9099"/>
                </a:solidFill>
                <a:latin typeface="Roboto Mono" pitchFamily="34" charset="0"/>
                <a:ea typeface="Roboto Mono" pitchFamily="34" charset="-122"/>
                <a:cs typeface="Roboto Mono" pitchFamily="34" charset="-120"/>
              </a:rPr>
              <a:t>gate/pipeline.py · handle()</a:t>
            </a:r>
            <a:endParaRPr lang="en-US" sz="1725" dirty="0"/>
          </a:p>
        </p:txBody>
      </p:sp>
      <p:sp>
        <p:nvSpPr>
          <p:cNvPr id="5" name="Shape 3"/>
          <p:cNvSpPr/>
          <p:nvPr/>
        </p:nvSpPr>
        <p:spPr>
          <a:xfrm>
            <a:off x="952500" y="2404110"/>
            <a:ext cx="16383000" cy="967740"/>
          </a:xfrm>
          <a:prstGeom prst="rect">
            <a:avLst/>
          </a:prstGeom>
          <a:solidFill>
            <a:srgbClr val="16181D"/>
          </a:solidFill>
          <a:ln/>
        </p:spPr>
      </p:sp>
      <p:sp>
        <p:nvSpPr>
          <p:cNvPr id="6" name="Text 4"/>
          <p:cNvSpPr/>
          <p:nvPr/>
        </p:nvSpPr>
        <p:spPr>
          <a:xfrm>
            <a:off x="1219200" y="2724150"/>
            <a:ext cx="781050" cy="365760"/>
          </a:xfrm>
          <a:prstGeom prst="rect">
            <a:avLst/>
          </a:prstGeom>
          <a:noFill/>
          <a:ln/>
        </p:spPr>
        <p:txBody>
          <a:bodyPr wrap="square" lIns="25400" tIns="25400" rIns="25400" bIns="25400" rtlCol="0" anchor="t">
            <a:normAutofit/>
          </a:bodyPr>
          <a:lstStyle/>
          <a:p>
            <a:pPr algn="l" indent="0" marL="0">
              <a:buNone/>
            </a:pPr>
            <a:r>
              <a:rPr lang="en-US" sz="1950" dirty="0">
                <a:solidFill>
                  <a:srgbClr val="9DB4FF"/>
                </a:solidFill>
                <a:latin typeface="Roboto Mono" pitchFamily="34" charset="0"/>
                <a:ea typeface="Roboto Mono" pitchFamily="34" charset="-122"/>
                <a:cs typeface="Roboto Mono" pitchFamily="34" charset="-120"/>
              </a:rPr>
              <a:t>IN</a:t>
            </a:r>
            <a:endParaRPr lang="en-US" sz="1950" dirty="0"/>
          </a:p>
        </p:txBody>
      </p:sp>
      <p:sp>
        <p:nvSpPr>
          <p:cNvPr id="7" name="Text 5"/>
          <p:cNvSpPr/>
          <p:nvPr/>
        </p:nvSpPr>
        <p:spPr>
          <a:xfrm>
            <a:off x="2114550" y="2667000"/>
            <a:ext cx="10267950" cy="480060"/>
          </a:xfrm>
          <a:prstGeom prst="rect">
            <a:avLst/>
          </a:prstGeom>
          <a:noFill/>
          <a:ln/>
        </p:spPr>
        <p:txBody>
          <a:bodyPr wrap="square" lIns="25400" tIns="25400" rIns="25400" bIns="25400" rtlCol="0" anchor="t">
            <a:normAutofit/>
          </a:bodyPr>
          <a:lstStyle/>
          <a:p>
            <a:pPr algn="l" indent="0" marL="0">
              <a:buNone/>
            </a:pPr>
            <a:r>
              <a:rPr lang="en-US" sz="2400" b="1" dirty="0">
                <a:solidFill>
                  <a:srgbClr val="FBFBFA"/>
                </a:solidFill>
                <a:latin typeface="Arial" pitchFamily="34" charset="0"/>
                <a:ea typeface="Arial" pitchFamily="34" charset="-122"/>
                <a:cs typeface="Arial" pitchFamily="34" charset="-120"/>
              </a:rPr>
              <a:t>사용자 입력 — 5개 언어 자유 문장</a:t>
            </a:r>
            <a:endParaRPr lang="en-US" sz="2400" dirty="0"/>
          </a:p>
        </p:txBody>
      </p:sp>
      <p:sp>
        <p:nvSpPr>
          <p:cNvPr id="8" name="Text 6"/>
          <p:cNvSpPr/>
          <p:nvPr/>
        </p:nvSpPr>
        <p:spPr>
          <a:xfrm>
            <a:off x="11639550" y="2613660"/>
            <a:ext cx="2943225" cy="586740"/>
          </a:xfrm>
          <a:prstGeom prst="rect">
            <a:avLst/>
          </a:prstGeom>
          <a:noFill/>
          <a:ln/>
        </p:spPr>
        <p:txBody>
          <a:bodyPr wrap="square" lIns="25400" tIns="25400" rIns="25400" bIns="25400" rtlCol="0" anchor="t">
            <a:normAutofit/>
          </a:bodyPr>
          <a:lstStyle/>
          <a:p>
            <a:pPr algn="l" indent="0" marL="0">
              <a:buNone/>
            </a:pPr>
            <a:r>
              <a:rPr lang="en-US" sz="1650" dirty="0">
                <a:solidFill>
                  <a:srgbClr val="9AA0A8"/>
                </a:solidFill>
                <a:latin typeface="Roboto Mono" pitchFamily="34" charset="0"/>
                <a:ea typeface="Roboto Mono" pitchFamily="34" charset="-122"/>
                <a:cs typeface="Roboto Mono" pitchFamily="34" charset="-120"/>
              </a:rPr>
              <a:t>ui/server.py · ui/api.py</a:t>
            </a:r>
            <a:endParaRPr lang="en-US" sz="1650" dirty="0"/>
          </a:p>
        </p:txBody>
      </p:sp>
      <p:sp>
        <p:nvSpPr>
          <p:cNvPr id="9" name="Text 7"/>
          <p:cNvSpPr/>
          <p:nvPr/>
        </p:nvSpPr>
        <p:spPr>
          <a:xfrm>
            <a:off x="14687550" y="2750820"/>
            <a:ext cx="261937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9AA0A8"/>
                </a:solidFill>
                <a:latin typeface="Roboto Mono" pitchFamily="34" charset="0"/>
                <a:ea typeface="Roboto Mono" pitchFamily="34" charset="-122"/>
                <a:cs typeface="Roboto Mono" pitchFamily="34" charset="-120"/>
              </a:rPr>
              <a:t>HTTP</a:t>
            </a:r>
            <a:endParaRPr lang="en-US" sz="1650" dirty="0"/>
          </a:p>
        </p:txBody>
      </p:sp>
      <p:sp>
        <p:nvSpPr>
          <p:cNvPr id="10" name="Shape 8"/>
          <p:cNvSpPr/>
          <p:nvPr/>
        </p:nvSpPr>
        <p:spPr>
          <a:xfrm>
            <a:off x="952500" y="3467100"/>
            <a:ext cx="16383000" cy="822960"/>
          </a:xfrm>
          <a:prstGeom prst="rect">
            <a:avLst/>
          </a:prstGeom>
          <a:solidFill>
            <a:srgbClr val="FFFFFF"/>
          </a:solidFill>
          <a:ln/>
        </p:spPr>
      </p:sp>
      <p:sp>
        <p:nvSpPr>
          <p:cNvPr id="11" name="Shape 9"/>
          <p:cNvSpPr/>
          <p:nvPr/>
        </p:nvSpPr>
        <p:spPr>
          <a:xfrm>
            <a:off x="952500" y="4282440"/>
            <a:ext cx="16383000" cy="9525"/>
          </a:xfrm>
          <a:prstGeom prst="rect">
            <a:avLst/>
          </a:prstGeom>
          <a:solidFill>
            <a:srgbClr val="DFE1E6"/>
          </a:solidFill>
          <a:ln/>
        </p:spPr>
      </p:sp>
      <p:sp>
        <p:nvSpPr>
          <p:cNvPr id="12" name="Shape 10"/>
          <p:cNvSpPr/>
          <p:nvPr/>
        </p:nvSpPr>
        <p:spPr>
          <a:xfrm>
            <a:off x="952500" y="3467100"/>
            <a:ext cx="16383000" cy="9525"/>
          </a:xfrm>
          <a:prstGeom prst="rect">
            <a:avLst/>
          </a:prstGeom>
          <a:solidFill>
            <a:srgbClr val="DFE1E6"/>
          </a:solidFill>
          <a:ln/>
        </p:spPr>
      </p:sp>
      <p:sp>
        <p:nvSpPr>
          <p:cNvPr id="13" name="Shape 11"/>
          <p:cNvSpPr/>
          <p:nvPr/>
        </p:nvSpPr>
        <p:spPr>
          <a:xfrm>
            <a:off x="952500" y="3467100"/>
            <a:ext cx="45720" cy="822960"/>
          </a:xfrm>
          <a:prstGeom prst="rect">
            <a:avLst/>
          </a:prstGeom>
          <a:solidFill>
            <a:srgbClr val="4F7CFF"/>
          </a:solidFill>
          <a:ln/>
        </p:spPr>
      </p:sp>
      <p:sp>
        <p:nvSpPr>
          <p:cNvPr id="14" name="Shape 12"/>
          <p:cNvSpPr/>
          <p:nvPr/>
        </p:nvSpPr>
        <p:spPr>
          <a:xfrm>
            <a:off x="17327880" y="3467100"/>
            <a:ext cx="9525" cy="822960"/>
          </a:xfrm>
          <a:prstGeom prst="rect">
            <a:avLst/>
          </a:prstGeom>
          <a:solidFill>
            <a:srgbClr val="DFE1E6"/>
          </a:solidFill>
          <a:ln/>
        </p:spPr>
      </p:sp>
      <p:sp>
        <p:nvSpPr>
          <p:cNvPr id="15" name="Text 13"/>
          <p:cNvSpPr/>
          <p:nvPr/>
        </p:nvSpPr>
        <p:spPr>
          <a:xfrm>
            <a:off x="1264920" y="3691890"/>
            <a:ext cx="781050" cy="411480"/>
          </a:xfrm>
          <a:prstGeom prst="rect">
            <a:avLst/>
          </a:prstGeom>
          <a:noFill/>
          <a:ln/>
        </p:spPr>
        <p:txBody>
          <a:bodyPr wrap="square" lIns="25400" tIns="25400" rIns="25400" bIns="25400" rtlCol="0" anchor="t">
            <a:normAutofit/>
          </a:bodyPr>
          <a:lstStyle/>
          <a:p>
            <a:pPr algn="l" indent="0" marL="0">
              <a:buNone/>
            </a:pPr>
            <a:r>
              <a:rPr lang="en-US" sz="2250" b="1" dirty="0">
                <a:solidFill>
                  <a:srgbClr val="4F7CFF"/>
                </a:solidFill>
                <a:latin typeface="Roboto Mono" pitchFamily="34" charset="0"/>
                <a:ea typeface="Roboto Mono" pitchFamily="34" charset="-122"/>
                <a:cs typeface="Roboto Mono" pitchFamily="34" charset="-120"/>
              </a:rPr>
              <a:t>①</a:t>
            </a:r>
            <a:endParaRPr lang="en-US" sz="2250" dirty="0"/>
          </a:p>
        </p:txBody>
      </p:sp>
      <p:sp>
        <p:nvSpPr>
          <p:cNvPr id="16" name="Text 14"/>
          <p:cNvSpPr/>
          <p:nvPr/>
        </p:nvSpPr>
        <p:spPr>
          <a:xfrm>
            <a:off x="2160270" y="3665220"/>
            <a:ext cx="10209276" cy="464820"/>
          </a:xfrm>
          <a:prstGeom prst="rect">
            <a:avLst/>
          </a:prstGeom>
          <a:noFill/>
          <a:ln/>
        </p:spPr>
        <p:txBody>
          <a:bodyPr wrap="square" lIns="25400" tIns="25400" rIns="25400" bIns="25400" rtlCol="0" anchor="t">
            <a:normAutofit/>
          </a:bodyPr>
          <a:lstStyle/>
          <a:p>
            <a:pPr algn="l" indent="0" marL="0">
              <a:buNone/>
            </a:pPr>
            <a:r>
              <a:rPr lang="en-US" sz="2325" b="1" dirty="0">
                <a:solidFill>
                  <a:srgbClr val="16181D"/>
                </a:solidFill>
                <a:latin typeface="Arial" pitchFamily="34" charset="0"/>
                <a:ea typeface="Arial" pitchFamily="34" charset="-122"/>
                <a:cs typeface="Arial" pitchFamily="34" charset="-120"/>
              </a:rPr>
              <a:t>게이트 — 언어 · 도메인 · 유해도 · 의도 · 슬롯 동시 판정</a:t>
            </a:r>
            <a:endParaRPr lang="en-US" sz="2325" dirty="0"/>
          </a:p>
        </p:txBody>
      </p:sp>
      <p:sp>
        <p:nvSpPr>
          <p:cNvPr id="17" name="Text 15"/>
          <p:cNvSpPr/>
          <p:nvPr/>
        </p:nvSpPr>
        <p:spPr>
          <a:xfrm>
            <a:off x="11631931" y="3741420"/>
            <a:ext cx="314325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6B7280"/>
                </a:solidFill>
                <a:latin typeface="Roboto Mono" pitchFamily="34" charset="0"/>
                <a:ea typeface="Roboto Mono" pitchFamily="34" charset="-122"/>
                <a:cs typeface="Roboto Mono" pitchFamily="34" charset="-120"/>
              </a:rPr>
              <a:t>Qwen3-4B · vLLM</a:t>
            </a:r>
            <a:endParaRPr lang="en-US" sz="1650" dirty="0"/>
          </a:p>
        </p:txBody>
      </p:sp>
      <p:sp>
        <p:nvSpPr>
          <p:cNvPr id="18" name="Text 16"/>
          <p:cNvSpPr/>
          <p:nvPr/>
        </p:nvSpPr>
        <p:spPr>
          <a:xfrm>
            <a:off x="14679931" y="3741420"/>
            <a:ext cx="261937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00845C"/>
                </a:solidFill>
                <a:latin typeface="Roboto Mono" pitchFamily="34" charset="0"/>
                <a:ea typeface="Roboto Mono" pitchFamily="34" charset="-122"/>
                <a:cs typeface="Roboto Mono" pitchFamily="34" charset="-120"/>
              </a:rPr>
              <a:t>LOCAL · 1.26s P95</a:t>
            </a:r>
            <a:endParaRPr lang="en-US" sz="1650" dirty="0"/>
          </a:p>
        </p:txBody>
      </p:sp>
      <p:sp>
        <p:nvSpPr>
          <p:cNvPr id="19" name="Shape 17"/>
          <p:cNvSpPr/>
          <p:nvPr/>
        </p:nvSpPr>
        <p:spPr>
          <a:xfrm>
            <a:off x="952500" y="4385310"/>
            <a:ext cx="16383000" cy="822960"/>
          </a:xfrm>
          <a:prstGeom prst="rect">
            <a:avLst/>
          </a:prstGeom>
          <a:solidFill>
            <a:srgbClr val="FFFFFF"/>
          </a:solidFill>
          <a:ln/>
        </p:spPr>
      </p:sp>
      <p:sp>
        <p:nvSpPr>
          <p:cNvPr id="20" name="Shape 18"/>
          <p:cNvSpPr/>
          <p:nvPr/>
        </p:nvSpPr>
        <p:spPr>
          <a:xfrm>
            <a:off x="952500" y="5200650"/>
            <a:ext cx="16383000" cy="9525"/>
          </a:xfrm>
          <a:prstGeom prst="rect">
            <a:avLst/>
          </a:prstGeom>
          <a:solidFill>
            <a:srgbClr val="DFE1E6"/>
          </a:solidFill>
          <a:ln/>
        </p:spPr>
      </p:sp>
      <p:sp>
        <p:nvSpPr>
          <p:cNvPr id="21" name="Shape 19"/>
          <p:cNvSpPr/>
          <p:nvPr/>
        </p:nvSpPr>
        <p:spPr>
          <a:xfrm>
            <a:off x="952500" y="4385310"/>
            <a:ext cx="16383000" cy="9525"/>
          </a:xfrm>
          <a:prstGeom prst="rect">
            <a:avLst/>
          </a:prstGeom>
          <a:solidFill>
            <a:srgbClr val="DFE1E6"/>
          </a:solidFill>
          <a:ln/>
        </p:spPr>
      </p:sp>
      <p:sp>
        <p:nvSpPr>
          <p:cNvPr id="22" name="Shape 20"/>
          <p:cNvSpPr/>
          <p:nvPr/>
        </p:nvSpPr>
        <p:spPr>
          <a:xfrm>
            <a:off x="952500" y="4385310"/>
            <a:ext cx="45720" cy="822960"/>
          </a:xfrm>
          <a:prstGeom prst="rect">
            <a:avLst/>
          </a:prstGeom>
          <a:solidFill>
            <a:srgbClr val="4F7CFF"/>
          </a:solidFill>
          <a:ln/>
        </p:spPr>
      </p:sp>
      <p:sp>
        <p:nvSpPr>
          <p:cNvPr id="23" name="Shape 21"/>
          <p:cNvSpPr/>
          <p:nvPr/>
        </p:nvSpPr>
        <p:spPr>
          <a:xfrm>
            <a:off x="17327880" y="4385310"/>
            <a:ext cx="9525" cy="822960"/>
          </a:xfrm>
          <a:prstGeom prst="rect">
            <a:avLst/>
          </a:prstGeom>
          <a:solidFill>
            <a:srgbClr val="DFE1E6"/>
          </a:solidFill>
          <a:ln/>
        </p:spPr>
      </p:sp>
      <p:sp>
        <p:nvSpPr>
          <p:cNvPr id="24" name="Text 22"/>
          <p:cNvSpPr/>
          <p:nvPr/>
        </p:nvSpPr>
        <p:spPr>
          <a:xfrm>
            <a:off x="1264920" y="4610100"/>
            <a:ext cx="781050" cy="411480"/>
          </a:xfrm>
          <a:prstGeom prst="rect">
            <a:avLst/>
          </a:prstGeom>
          <a:noFill/>
          <a:ln/>
        </p:spPr>
        <p:txBody>
          <a:bodyPr wrap="square" lIns="25400" tIns="25400" rIns="25400" bIns="25400" rtlCol="0" anchor="t">
            <a:normAutofit/>
          </a:bodyPr>
          <a:lstStyle/>
          <a:p>
            <a:pPr algn="l" indent="0" marL="0">
              <a:buNone/>
            </a:pPr>
            <a:r>
              <a:rPr lang="en-US" sz="2250" b="1" dirty="0">
                <a:solidFill>
                  <a:srgbClr val="4F7CFF"/>
                </a:solidFill>
                <a:latin typeface="Roboto Mono" pitchFamily="34" charset="0"/>
                <a:ea typeface="Roboto Mono" pitchFamily="34" charset="-122"/>
                <a:cs typeface="Roboto Mono" pitchFamily="34" charset="-120"/>
              </a:rPr>
              <a:t>②</a:t>
            </a:r>
            <a:endParaRPr lang="en-US" sz="2250" dirty="0"/>
          </a:p>
        </p:txBody>
      </p:sp>
      <p:sp>
        <p:nvSpPr>
          <p:cNvPr id="25" name="Text 23"/>
          <p:cNvSpPr/>
          <p:nvPr/>
        </p:nvSpPr>
        <p:spPr>
          <a:xfrm>
            <a:off x="2160270" y="4583430"/>
            <a:ext cx="10209276" cy="464820"/>
          </a:xfrm>
          <a:prstGeom prst="rect">
            <a:avLst/>
          </a:prstGeom>
          <a:noFill/>
          <a:ln/>
        </p:spPr>
        <p:txBody>
          <a:bodyPr wrap="square" lIns="25400" tIns="25400" rIns="25400" bIns="25400" rtlCol="0" anchor="t">
            <a:normAutofit/>
          </a:bodyPr>
          <a:lstStyle/>
          <a:p>
            <a:pPr algn="l" indent="0" marL="0">
              <a:buNone/>
            </a:pPr>
            <a:r>
              <a:rPr lang="en-US" sz="2325" b="1" dirty="0">
                <a:solidFill>
                  <a:srgbClr val="16181D"/>
                </a:solidFill>
                <a:latin typeface="Arial" pitchFamily="34" charset="0"/>
                <a:ea typeface="Arial" pitchFamily="34" charset="-122"/>
                <a:cs typeface="Arial" pitchFamily="34" charset="-120"/>
              </a:rPr>
              <a:t>금지어 사전 — 자모분리 · 별표마스킹 · 제로폭 · 동형문자 우회 탐지</a:t>
            </a:r>
            <a:endParaRPr lang="en-US" sz="2325" dirty="0"/>
          </a:p>
        </p:txBody>
      </p:sp>
      <p:sp>
        <p:nvSpPr>
          <p:cNvPr id="26" name="Text 24"/>
          <p:cNvSpPr/>
          <p:nvPr/>
        </p:nvSpPr>
        <p:spPr>
          <a:xfrm>
            <a:off x="11631931" y="4659630"/>
            <a:ext cx="314325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6B7280"/>
                </a:solidFill>
                <a:latin typeface="Roboto Mono" pitchFamily="34" charset="0"/>
                <a:ea typeface="Roboto Mono" pitchFamily="34" charset="-122"/>
                <a:cs typeface="Roboto Mono" pitchFamily="34" charset="-120"/>
              </a:rPr>
              <a:t>정규화 매칭</a:t>
            </a:r>
            <a:endParaRPr lang="en-US" sz="1650" dirty="0"/>
          </a:p>
        </p:txBody>
      </p:sp>
      <p:sp>
        <p:nvSpPr>
          <p:cNvPr id="27" name="Text 25"/>
          <p:cNvSpPr/>
          <p:nvPr/>
        </p:nvSpPr>
        <p:spPr>
          <a:xfrm>
            <a:off x="14679931" y="4659630"/>
            <a:ext cx="261937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00845C"/>
                </a:solidFill>
                <a:latin typeface="Roboto Mono" pitchFamily="34" charset="0"/>
                <a:ea typeface="Roboto Mono" pitchFamily="34" charset="-122"/>
                <a:cs typeface="Roboto Mono" pitchFamily="34" charset="-120"/>
              </a:rPr>
              <a:t>LOCAL</a:t>
            </a:r>
            <a:endParaRPr lang="en-US" sz="1650" dirty="0"/>
          </a:p>
        </p:txBody>
      </p:sp>
      <p:sp>
        <p:nvSpPr>
          <p:cNvPr id="28" name="Shape 26"/>
          <p:cNvSpPr/>
          <p:nvPr/>
        </p:nvSpPr>
        <p:spPr>
          <a:xfrm>
            <a:off x="952500" y="5303520"/>
            <a:ext cx="16383000" cy="830580"/>
          </a:xfrm>
          <a:prstGeom prst="rect">
            <a:avLst/>
          </a:prstGeom>
          <a:solidFill>
            <a:srgbClr val="FFFFFF"/>
          </a:solidFill>
          <a:ln/>
        </p:spPr>
      </p:sp>
      <p:sp>
        <p:nvSpPr>
          <p:cNvPr id="29" name="Shape 27"/>
          <p:cNvSpPr/>
          <p:nvPr/>
        </p:nvSpPr>
        <p:spPr>
          <a:xfrm>
            <a:off x="952500" y="6126480"/>
            <a:ext cx="16383000" cy="9525"/>
          </a:xfrm>
          <a:prstGeom prst="rect">
            <a:avLst/>
          </a:prstGeom>
          <a:solidFill>
            <a:srgbClr val="DFE1E6"/>
          </a:solidFill>
          <a:ln/>
        </p:spPr>
      </p:sp>
      <p:sp>
        <p:nvSpPr>
          <p:cNvPr id="30" name="Shape 28"/>
          <p:cNvSpPr/>
          <p:nvPr/>
        </p:nvSpPr>
        <p:spPr>
          <a:xfrm>
            <a:off x="952500" y="5303520"/>
            <a:ext cx="16383000" cy="9525"/>
          </a:xfrm>
          <a:prstGeom prst="rect">
            <a:avLst/>
          </a:prstGeom>
          <a:solidFill>
            <a:srgbClr val="DFE1E6"/>
          </a:solidFill>
          <a:ln/>
        </p:spPr>
      </p:sp>
      <p:sp>
        <p:nvSpPr>
          <p:cNvPr id="31" name="Shape 29"/>
          <p:cNvSpPr/>
          <p:nvPr/>
        </p:nvSpPr>
        <p:spPr>
          <a:xfrm>
            <a:off x="952500" y="5303520"/>
            <a:ext cx="45720" cy="830580"/>
          </a:xfrm>
          <a:prstGeom prst="rect">
            <a:avLst/>
          </a:prstGeom>
          <a:solidFill>
            <a:srgbClr val="4F7CFF"/>
          </a:solidFill>
          <a:ln/>
        </p:spPr>
      </p:sp>
      <p:sp>
        <p:nvSpPr>
          <p:cNvPr id="32" name="Shape 30"/>
          <p:cNvSpPr/>
          <p:nvPr/>
        </p:nvSpPr>
        <p:spPr>
          <a:xfrm>
            <a:off x="17327880" y="5303520"/>
            <a:ext cx="9525" cy="830580"/>
          </a:xfrm>
          <a:prstGeom prst="rect">
            <a:avLst/>
          </a:prstGeom>
          <a:solidFill>
            <a:srgbClr val="DFE1E6"/>
          </a:solidFill>
          <a:ln/>
        </p:spPr>
      </p:sp>
      <p:sp>
        <p:nvSpPr>
          <p:cNvPr id="33" name="Text 31"/>
          <p:cNvSpPr/>
          <p:nvPr/>
        </p:nvSpPr>
        <p:spPr>
          <a:xfrm>
            <a:off x="1264920" y="5532120"/>
            <a:ext cx="781050" cy="411480"/>
          </a:xfrm>
          <a:prstGeom prst="rect">
            <a:avLst/>
          </a:prstGeom>
          <a:noFill/>
          <a:ln/>
        </p:spPr>
        <p:txBody>
          <a:bodyPr wrap="square" lIns="25400" tIns="25400" rIns="25400" bIns="25400" rtlCol="0" anchor="t">
            <a:normAutofit/>
          </a:bodyPr>
          <a:lstStyle/>
          <a:p>
            <a:pPr algn="l" indent="0" marL="0">
              <a:buNone/>
            </a:pPr>
            <a:r>
              <a:rPr lang="en-US" sz="2250" b="1" dirty="0">
                <a:solidFill>
                  <a:srgbClr val="4F7CFF"/>
                </a:solidFill>
                <a:latin typeface="Roboto Mono" pitchFamily="34" charset="0"/>
                <a:ea typeface="Roboto Mono" pitchFamily="34" charset="-122"/>
                <a:cs typeface="Roboto Mono" pitchFamily="34" charset="-120"/>
              </a:rPr>
              <a:t>③</a:t>
            </a:r>
            <a:endParaRPr lang="en-US" sz="2250" dirty="0"/>
          </a:p>
        </p:txBody>
      </p:sp>
      <p:sp>
        <p:nvSpPr>
          <p:cNvPr id="34" name="Text 32"/>
          <p:cNvSpPr/>
          <p:nvPr/>
        </p:nvSpPr>
        <p:spPr>
          <a:xfrm>
            <a:off x="2160270" y="5501640"/>
            <a:ext cx="10209276" cy="472440"/>
          </a:xfrm>
          <a:prstGeom prst="rect">
            <a:avLst/>
          </a:prstGeom>
          <a:noFill/>
          <a:ln/>
        </p:spPr>
        <p:txBody>
          <a:bodyPr wrap="square" lIns="25400" tIns="25400" rIns="25400" bIns="25400" rtlCol="0" anchor="t">
            <a:normAutofit/>
          </a:bodyPr>
          <a:lstStyle/>
          <a:p>
            <a:pPr algn="l" indent="0" marL="0">
              <a:buNone/>
            </a:pPr>
            <a:r>
              <a:rPr lang="en-US" sz="2325" b="1" dirty="0">
                <a:solidFill>
                  <a:srgbClr val="16181D"/>
                </a:solidFill>
                <a:latin typeface="Arial" pitchFamily="34" charset="0"/>
                <a:ea typeface="Arial" pitchFamily="34" charset="-122"/>
                <a:cs typeface="Arial" pitchFamily="34" charset="-120"/>
              </a:rPr>
              <a:t>PII 마스킹 — 클라우드 전송 전에 수행</a:t>
            </a:r>
            <a:endParaRPr lang="en-US" sz="2325" dirty="0"/>
          </a:p>
        </p:txBody>
      </p:sp>
      <p:sp>
        <p:nvSpPr>
          <p:cNvPr id="35" name="Text 33"/>
          <p:cNvSpPr/>
          <p:nvPr/>
        </p:nvSpPr>
        <p:spPr>
          <a:xfrm>
            <a:off x="11631931" y="5581650"/>
            <a:ext cx="314325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6B7280"/>
                </a:solidFill>
                <a:latin typeface="Roboto Mono" pitchFamily="34" charset="0"/>
                <a:ea typeface="Roboto Mono" pitchFamily="34" charset="-122"/>
                <a:cs typeface="Roboto Mono" pitchFamily="34" charset="-120"/>
              </a:rPr>
              <a:t>정규식 4종</a:t>
            </a:r>
            <a:endParaRPr lang="en-US" sz="1650" dirty="0"/>
          </a:p>
        </p:txBody>
      </p:sp>
      <p:sp>
        <p:nvSpPr>
          <p:cNvPr id="36" name="Text 34"/>
          <p:cNvSpPr/>
          <p:nvPr/>
        </p:nvSpPr>
        <p:spPr>
          <a:xfrm>
            <a:off x="14679931" y="5581650"/>
            <a:ext cx="261937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00845C"/>
                </a:solidFill>
                <a:latin typeface="Roboto Mono" pitchFamily="34" charset="0"/>
                <a:ea typeface="Roboto Mono" pitchFamily="34" charset="-122"/>
                <a:cs typeface="Roboto Mono" pitchFamily="34" charset="-120"/>
              </a:rPr>
              <a:t>LOCAL</a:t>
            </a:r>
            <a:endParaRPr lang="en-US" sz="1650" dirty="0"/>
          </a:p>
        </p:txBody>
      </p:sp>
      <p:sp>
        <p:nvSpPr>
          <p:cNvPr id="37" name="Shape 35"/>
          <p:cNvSpPr/>
          <p:nvPr/>
        </p:nvSpPr>
        <p:spPr>
          <a:xfrm>
            <a:off x="952500" y="6229350"/>
            <a:ext cx="16383000" cy="822960"/>
          </a:xfrm>
          <a:prstGeom prst="rect">
            <a:avLst/>
          </a:prstGeom>
          <a:solidFill>
            <a:srgbClr val="FFFFFF"/>
          </a:solidFill>
          <a:ln/>
        </p:spPr>
      </p:sp>
      <p:sp>
        <p:nvSpPr>
          <p:cNvPr id="38" name="Shape 36"/>
          <p:cNvSpPr/>
          <p:nvPr/>
        </p:nvSpPr>
        <p:spPr>
          <a:xfrm>
            <a:off x="952500" y="7044690"/>
            <a:ext cx="16383000" cy="9525"/>
          </a:xfrm>
          <a:prstGeom prst="rect">
            <a:avLst/>
          </a:prstGeom>
          <a:solidFill>
            <a:srgbClr val="DFE1E6"/>
          </a:solidFill>
          <a:ln/>
        </p:spPr>
      </p:sp>
      <p:sp>
        <p:nvSpPr>
          <p:cNvPr id="39" name="Shape 37"/>
          <p:cNvSpPr/>
          <p:nvPr/>
        </p:nvSpPr>
        <p:spPr>
          <a:xfrm>
            <a:off x="952500" y="6229350"/>
            <a:ext cx="16383000" cy="9525"/>
          </a:xfrm>
          <a:prstGeom prst="rect">
            <a:avLst/>
          </a:prstGeom>
          <a:solidFill>
            <a:srgbClr val="DFE1E6"/>
          </a:solidFill>
          <a:ln/>
        </p:spPr>
      </p:sp>
      <p:sp>
        <p:nvSpPr>
          <p:cNvPr id="40" name="Shape 38"/>
          <p:cNvSpPr/>
          <p:nvPr/>
        </p:nvSpPr>
        <p:spPr>
          <a:xfrm>
            <a:off x="952500" y="6229350"/>
            <a:ext cx="45720" cy="822960"/>
          </a:xfrm>
          <a:prstGeom prst="rect">
            <a:avLst/>
          </a:prstGeom>
          <a:solidFill>
            <a:srgbClr val="6B7280"/>
          </a:solidFill>
          <a:ln/>
        </p:spPr>
      </p:sp>
      <p:sp>
        <p:nvSpPr>
          <p:cNvPr id="41" name="Shape 39"/>
          <p:cNvSpPr/>
          <p:nvPr/>
        </p:nvSpPr>
        <p:spPr>
          <a:xfrm>
            <a:off x="17327880" y="6229350"/>
            <a:ext cx="9525" cy="822960"/>
          </a:xfrm>
          <a:prstGeom prst="rect">
            <a:avLst/>
          </a:prstGeom>
          <a:solidFill>
            <a:srgbClr val="DFE1E6"/>
          </a:solidFill>
          <a:ln/>
        </p:spPr>
      </p:sp>
      <p:sp>
        <p:nvSpPr>
          <p:cNvPr id="42" name="Text 40"/>
          <p:cNvSpPr/>
          <p:nvPr/>
        </p:nvSpPr>
        <p:spPr>
          <a:xfrm>
            <a:off x="1264920" y="6454140"/>
            <a:ext cx="781050" cy="411480"/>
          </a:xfrm>
          <a:prstGeom prst="rect">
            <a:avLst/>
          </a:prstGeom>
          <a:noFill/>
          <a:ln/>
        </p:spPr>
        <p:txBody>
          <a:bodyPr wrap="square" lIns="25400" tIns="25400" rIns="25400" bIns="25400" rtlCol="0" anchor="t">
            <a:normAutofit/>
          </a:bodyPr>
          <a:lstStyle/>
          <a:p>
            <a:pPr algn="l" indent="0" marL="0">
              <a:buNone/>
            </a:pPr>
            <a:r>
              <a:rPr lang="en-US" sz="2250" b="1" dirty="0">
                <a:solidFill>
                  <a:srgbClr val="6B7280"/>
                </a:solidFill>
                <a:latin typeface="Roboto Mono" pitchFamily="34" charset="0"/>
                <a:ea typeface="Roboto Mono" pitchFamily="34" charset="-122"/>
                <a:cs typeface="Roboto Mono" pitchFamily="34" charset="-120"/>
              </a:rPr>
              <a:t>④</a:t>
            </a:r>
            <a:endParaRPr lang="en-US" sz="2250" dirty="0"/>
          </a:p>
        </p:txBody>
      </p:sp>
      <p:sp>
        <p:nvSpPr>
          <p:cNvPr id="43" name="Text 41"/>
          <p:cNvSpPr/>
          <p:nvPr/>
        </p:nvSpPr>
        <p:spPr>
          <a:xfrm>
            <a:off x="2160270" y="6427470"/>
            <a:ext cx="10209276" cy="464820"/>
          </a:xfrm>
          <a:prstGeom prst="rect">
            <a:avLst/>
          </a:prstGeom>
          <a:noFill/>
          <a:ln/>
        </p:spPr>
        <p:txBody>
          <a:bodyPr wrap="square" lIns="25400" tIns="25400" rIns="25400" bIns="25400" rtlCol="0" anchor="t">
            <a:normAutofit/>
          </a:bodyPr>
          <a:lstStyle/>
          <a:p>
            <a:pPr algn="l" indent="0" marL="0">
              <a:buNone/>
            </a:pPr>
            <a:r>
              <a:rPr lang="en-US" sz="2325" b="1" dirty="0">
                <a:solidFill>
                  <a:srgbClr val="16181D"/>
                </a:solidFill>
                <a:latin typeface="Arial" pitchFamily="34" charset="0"/>
                <a:ea typeface="Arial" pitchFamily="34" charset="-122"/>
                <a:cs typeface="Arial" pitchFamily="34" charset="-120"/>
              </a:rPr>
              <a:t>Guardrail(INPUT) + 범위 정책 — 예약·결제 요청은 여기서 분기</a:t>
            </a:r>
            <a:endParaRPr lang="en-US" sz="2325" dirty="0"/>
          </a:p>
        </p:txBody>
      </p:sp>
      <p:sp>
        <p:nvSpPr>
          <p:cNvPr id="44" name="Text 42"/>
          <p:cNvSpPr/>
          <p:nvPr/>
        </p:nvSpPr>
        <p:spPr>
          <a:xfrm>
            <a:off x="11631931" y="6503670"/>
            <a:ext cx="314325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6B7280"/>
                </a:solidFill>
                <a:latin typeface="Roboto Mono" pitchFamily="34" charset="0"/>
                <a:ea typeface="Roboto Mono" pitchFamily="34" charset="-122"/>
                <a:cs typeface="Roboto Mono" pitchFamily="34" charset="-120"/>
              </a:rPr>
              <a:t>Bedrock Guardrails</a:t>
            </a:r>
            <a:endParaRPr lang="en-US" sz="1650" dirty="0"/>
          </a:p>
        </p:txBody>
      </p:sp>
      <p:sp>
        <p:nvSpPr>
          <p:cNvPr id="45" name="Text 43"/>
          <p:cNvSpPr/>
          <p:nvPr/>
        </p:nvSpPr>
        <p:spPr>
          <a:xfrm>
            <a:off x="14679931" y="6503670"/>
            <a:ext cx="261937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B45309"/>
                </a:solidFill>
                <a:latin typeface="Roboto Mono" pitchFamily="34" charset="0"/>
                <a:ea typeface="Roboto Mono" pitchFamily="34" charset="-122"/>
                <a:cs typeface="Roboto Mono" pitchFamily="34" charset="-120"/>
              </a:rPr>
              <a:t>CLOUD</a:t>
            </a:r>
            <a:endParaRPr lang="en-US" sz="1650" dirty="0"/>
          </a:p>
        </p:txBody>
      </p:sp>
      <p:sp>
        <p:nvSpPr>
          <p:cNvPr id="46" name="Shape 44"/>
          <p:cNvSpPr/>
          <p:nvPr/>
        </p:nvSpPr>
        <p:spPr>
          <a:xfrm>
            <a:off x="952500" y="7147560"/>
            <a:ext cx="16383000" cy="822960"/>
          </a:xfrm>
          <a:prstGeom prst="rect">
            <a:avLst/>
          </a:prstGeom>
          <a:solidFill>
            <a:srgbClr val="FFFFFF"/>
          </a:solidFill>
          <a:ln/>
        </p:spPr>
      </p:sp>
      <p:sp>
        <p:nvSpPr>
          <p:cNvPr id="47" name="Shape 45"/>
          <p:cNvSpPr/>
          <p:nvPr/>
        </p:nvSpPr>
        <p:spPr>
          <a:xfrm>
            <a:off x="952500" y="7962900"/>
            <a:ext cx="16383000" cy="9525"/>
          </a:xfrm>
          <a:prstGeom prst="rect">
            <a:avLst/>
          </a:prstGeom>
          <a:solidFill>
            <a:srgbClr val="DFE1E6"/>
          </a:solidFill>
          <a:ln/>
        </p:spPr>
      </p:sp>
      <p:sp>
        <p:nvSpPr>
          <p:cNvPr id="48" name="Shape 46"/>
          <p:cNvSpPr/>
          <p:nvPr/>
        </p:nvSpPr>
        <p:spPr>
          <a:xfrm>
            <a:off x="952500" y="7147560"/>
            <a:ext cx="16383000" cy="9525"/>
          </a:xfrm>
          <a:prstGeom prst="rect">
            <a:avLst/>
          </a:prstGeom>
          <a:solidFill>
            <a:srgbClr val="DFE1E6"/>
          </a:solidFill>
          <a:ln/>
        </p:spPr>
      </p:sp>
      <p:sp>
        <p:nvSpPr>
          <p:cNvPr id="49" name="Shape 47"/>
          <p:cNvSpPr/>
          <p:nvPr/>
        </p:nvSpPr>
        <p:spPr>
          <a:xfrm>
            <a:off x="952500" y="7147560"/>
            <a:ext cx="45720" cy="822960"/>
          </a:xfrm>
          <a:prstGeom prst="rect">
            <a:avLst/>
          </a:prstGeom>
          <a:solidFill>
            <a:srgbClr val="6B7280"/>
          </a:solidFill>
          <a:ln/>
        </p:spPr>
      </p:sp>
      <p:sp>
        <p:nvSpPr>
          <p:cNvPr id="50" name="Shape 48"/>
          <p:cNvSpPr/>
          <p:nvPr/>
        </p:nvSpPr>
        <p:spPr>
          <a:xfrm>
            <a:off x="17327880" y="7147560"/>
            <a:ext cx="9525" cy="822960"/>
          </a:xfrm>
          <a:prstGeom prst="rect">
            <a:avLst/>
          </a:prstGeom>
          <a:solidFill>
            <a:srgbClr val="DFE1E6"/>
          </a:solidFill>
          <a:ln/>
        </p:spPr>
      </p:sp>
      <p:sp>
        <p:nvSpPr>
          <p:cNvPr id="51" name="Text 49"/>
          <p:cNvSpPr/>
          <p:nvPr/>
        </p:nvSpPr>
        <p:spPr>
          <a:xfrm>
            <a:off x="1264920" y="7372350"/>
            <a:ext cx="781050" cy="411480"/>
          </a:xfrm>
          <a:prstGeom prst="rect">
            <a:avLst/>
          </a:prstGeom>
          <a:noFill/>
          <a:ln/>
        </p:spPr>
        <p:txBody>
          <a:bodyPr wrap="square" lIns="25400" tIns="25400" rIns="25400" bIns="25400" rtlCol="0" anchor="t">
            <a:normAutofit/>
          </a:bodyPr>
          <a:lstStyle/>
          <a:p>
            <a:pPr algn="l" indent="0" marL="0">
              <a:buNone/>
            </a:pPr>
            <a:r>
              <a:rPr lang="en-US" sz="2250" b="1" dirty="0">
                <a:solidFill>
                  <a:srgbClr val="6B7280"/>
                </a:solidFill>
                <a:latin typeface="Roboto Mono" pitchFamily="34" charset="0"/>
                <a:ea typeface="Roboto Mono" pitchFamily="34" charset="-122"/>
                <a:cs typeface="Roboto Mono" pitchFamily="34" charset="-120"/>
              </a:rPr>
              <a:t>⑤</a:t>
            </a:r>
            <a:endParaRPr lang="en-US" sz="2250" dirty="0"/>
          </a:p>
        </p:txBody>
      </p:sp>
      <p:sp>
        <p:nvSpPr>
          <p:cNvPr id="52" name="Text 50"/>
          <p:cNvSpPr/>
          <p:nvPr/>
        </p:nvSpPr>
        <p:spPr>
          <a:xfrm>
            <a:off x="2160270" y="7345680"/>
            <a:ext cx="10209276" cy="464820"/>
          </a:xfrm>
          <a:prstGeom prst="rect">
            <a:avLst/>
          </a:prstGeom>
          <a:noFill/>
          <a:ln/>
        </p:spPr>
        <p:txBody>
          <a:bodyPr wrap="square" lIns="25400" tIns="25400" rIns="25400" bIns="25400" rtlCol="0" anchor="t">
            <a:normAutofit/>
          </a:bodyPr>
          <a:lstStyle/>
          <a:p>
            <a:pPr algn="l" indent="0" marL="0">
              <a:buNone/>
            </a:pPr>
            <a:r>
              <a:rPr lang="en-US" sz="2325" b="1" dirty="0">
                <a:solidFill>
                  <a:srgbClr val="16181D"/>
                </a:solidFill>
                <a:latin typeface="Arial" pitchFamily="34" charset="0"/>
                <a:ea typeface="Arial" pitchFamily="34" charset="-122"/>
                <a:cs typeface="Arial" pitchFamily="34" charset="-120"/>
              </a:rPr>
              <a:t>도구 호출 (결정론적) — 실 API 우선, 실패 시 목 데이터 폴백</a:t>
            </a:r>
            <a:endParaRPr lang="en-US" sz="2325" dirty="0"/>
          </a:p>
        </p:txBody>
      </p:sp>
      <p:sp>
        <p:nvSpPr>
          <p:cNvPr id="53" name="Text 51"/>
          <p:cNvSpPr/>
          <p:nvPr/>
        </p:nvSpPr>
        <p:spPr>
          <a:xfrm>
            <a:off x="11631931" y="7421880"/>
            <a:ext cx="314325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6B7280"/>
                </a:solidFill>
                <a:latin typeface="Roboto Mono" pitchFamily="34" charset="0"/>
                <a:ea typeface="Roboto Mono" pitchFamily="34" charset="-122"/>
                <a:cs typeface="Roboto Mono" pitchFamily="34" charset="-120"/>
              </a:rPr>
              <a:t>gate/tools.py</a:t>
            </a:r>
            <a:endParaRPr lang="en-US" sz="1650" dirty="0"/>
          </a:p>
        </p:txBody>
      </p:sp>
      <p:sp>
        <p:nvSpPr>
          <p:cNvPr id="54" name="Text 52"/>
          <p:cNvSpPr/>
          <p:nvPr/>
        </p:nvSpPr>
        <p:spPr>
          <a:xfrm>
            <a:off x="14679931" y="7421880"/>
            <a:ext cx="261937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B45309"/>
                </a:solidFill>
                <a:latin typeface="Roboto Mono" pitchFamily="34" charset="0"/>
                <a:ea typeface="Roboto Mono" pitchFamily="34" charset="-122"/>
                <a:cs typeface="Roboto Mono" pitchFamily="34" charset="-120"/>
              </a:rPr>
              <a:t>외부 공공 API</a:t>
            </a:r>
            <a:endParaRPr lang="en-US" sz="1650" dirty="0"/>
          </a:p>
        </p:txBody>
      </p:sp>
      <p:sp>
        <p:nvSpPr>
          <p:cNvPr id="55" name="Shape 53"/>
          <p:cNvSpPr/>
          <p:nvPr/>
        </p:nvSpPr>
        <p:spPr>
          <a:xfrm>
            <a:off x="952500" y="8065770"/>
            <a:ext cx="16383000" cy="822960"/>
          </a:xfrm>
          <a:prstGeom prst="rect">
            <a:avLst/>
          </a:prstGeom>
          <a:solidFill>
            <a:srgbClr val="FFFFFF"/>
          </a:solidFill>
          <a:ln/>
        </p:spPr>
      </p:sp>
      <p:sp>
        <p:nvSpPr>
          <p:cNvPr id="56" name="Shape 54"/>
          <p:cNvSpPr/>
          <p:nvPr/>
        </p:nvSpPr>
        <p:spPr>
          <a:xfrm>
            <a:off x="952500" y="8881110"/>
            <a:ext cx="16383000" cy="9525"/>
          </a:xfrm>
          <a:prstGeom prst="rect">
            <a:avLst/>
          </a:prstGeom>
          <a:solidFill>
            <a:srgbClr val="DFE1E6"/>
          </a:solidFill>
          <a:ln/>
        </p:spPr>
      </p:sp>
      <p:sp>
        <p:nvSpPr>
          <p:cNvPr id="57" name="Shape 55"/>
          <p:cNvSpPr/>
          <p:nvPr/>
        </p:nvSpPr>
        <p:spPr>
          <a:xfrm>
            <a:off x="952500" y="8065770"/>
            <a:ext cx="16383000" cy="9525"/>
          </a:xfrm>
          <a:prstGeom prst="rect">
            <a:avLst/>
          </a:prstGeom>
          <a:solidFill>
            <a:srgbClr val="DFE1E6"/>
          </a:solidFill>
          <a:ln/>
        </p:spPr>
      </p:sp>
      <p:sp>
        <p:nvSpPr>
          <p:cNvPr id="58" name="Shape 56"/>
          <p:cNvSpPr/>
          <p:nvPr/>
        </p:nvSpPr>
        <p:spPr>
          <a:xfrm>
            <a:off x="952500" y="8065770"/>
            <a:ext cx="45720" cy="822960"/>
          </a:xfrm>
          <a:prstGeom prst="rect">
            <a:avLst/>
          </a:prstGeom>
          <a:solidFill>
            <a:srgbClr val="6B7280"/>
          </a:solidFill>
          <a:ln/>
        </p:spPr>
      </p:sp>
      <p:sp>
        <p:nvSpPr>
          <p:cNvPr id="59" name="Shape 57"/>
          <p:cNvSpPr/>
          <p:nvPr/>
        </p:nvSpPr>
        <p:spPr>
          <a:xfrm>
            <a:off x="17327880" y="8065770"/>
            <a:ext cx="9525" cy="822960"/>
          </a:xfrm>
          <a:prstGeom prst="rect">
            <a:avLst/>
          </a:prstGeom>
          <a:solidFill>
            <a:srgbClr val="DFE1E6"/>
          </a:solidFill>
          <a:ln/>
        </p:spPr>
      </p:sp>
      <p:sp>
        <p:nvSpPr>
          <p:cNvPr id="60" name="Text 58"/>
          <p:cNvSpPr/>
          <p:nvPr/>
        </p:nvSpPr>
        <p:spPr>
          <a:xfrm>
            <a:off x="1264920" y="8290560"/>
            <a:ext cx="781050" cy="411480"/>
          </a:xfrm>
          <a:prstGeom prst="rect">
            <a:avLst/>
          </a:prstGeom>
          <a:noFill/>
          <a:ln/>
        </p:spPr>
        <p:txBody>
          <a:bodyPr wrap="square" lIns="25400" tIns="25400" rIns="25400" bIns="25400" rtlCol="0" anchor="t">
            <a:normAutofit/>
          </a:bodyPr>
          <a:lstStyle/>
          <a:p>
            <a:pPr algn="l" indent="0" marL="0">
              <a:buNone/>
            </a:pPr>
            <a:r>
              <a:rPr lang="en-US" sz="2250" b="1" dirty="0">
                <a:solidFill>
                  <a:srgbClr val="6B7280"/>
                </a:solidFill>
                <a:latin typeface="Roboto Mono" pitchFamily="34" charset="0"/>
                <a:ea typeface="Roboto Mono" pitchFamily="34" charset="-122"/>
                <a:cs typeface="Roboto Mono" pitchFamily="34" charset="-120"/>
              </a:rPr>
              <a:t>⑥</a:t>
            </a:r>
            <a:endParaRPr lang="en-US" sz="2250" dirty="0"/>
          </a:p>
        </p:txBody>
      </p:sp>
      <p:sp>
        <p:nvSpPr>
          <p:cNvPr id="61" name="Text 59"/>
          <p:cNvSpPr/>
          <p:nvPr/>
        </p:nvSpPr>
        <p:spPr>
          <a:xfrm>
            <a:off x="2160270" y="8263890"/>
            <a:ext cx="10209276" cy="464820"/>
          </a:xfrm>
          <a:prstGeom prst="rect">
            <a:avLst/>
          </a:prstGeom>
          <a:noFill/>
          <a:ln/>
        </p:spPr>
        <p:txBody>
          <a:bodyPr wrap="square" lIns="25400" tIns="25400" rIns="25400" bIns="25400" rtlCol="0" anchor="t">
            <a:normAutofit/>
          </a:bodyPr>
          <a:lstStyle/>
          <a:p>
            <a:pPr algn="l" indent="0" marL="0">
              <a:buNone/>
            </a:pPr>
            <a:r>
              <a:rPr lang="en-US" sz="2325" b="1" dirty="0">
                <a:solidFill>
                  <a:srgbClr val="16181D"/>
                </a:solidFill>
                <a:latin typeface="Arial" pitchFamily="34" charset="0"/>
                <a:ea typeface="Arial" pitchFamily="34" charset="-122"/>
                <a:cs typeface="Arial" pitchFamily="34" charset="-120"/>
              </a:rPr>
              <a:t>Supervisor — 도구 JSON → 사용자 언어 답변</a:t>
            </a:r>
            <a:endParaRPr lang="en-US" sz="2325" dirty="0"/>
          </a:p>
        </p:txBody>
      </p:sp>
      <p:sp>
        <p:nvSpPr>
          <p:cNvPr id="62" name="Text 60"/>
          <p:cNvSpPr/>
          <p:nvPr/>
        </p:nvSpPr>
        <p:spPr>
          <a:xfrm>
            <a:off x="11631931" y="8340090"/>
            <a:ext cx="314325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6B7280"/>
                </a:solidFill>
                <a:latin typeface="Roboto Mono" pitchFamily="34" charset="0"/>
                <a:ea typeface="Roboto Mono" pitchFamily="34" charset="-122"/>
                <a:cs typeface="Roboto Mono" pitchFamily="34" charset="-120"/>
              </a:rPr>
              <a:t>Claude 3 Haiku</a:t>
            </a:r>
            <a:endParaRPr lang="en-US" sz="1650" dirty="0"/>
          </a:p>
        </p:txBody>
      </p:sp>
      <p:sp>
        <p:nvSpPr>
          <p:cNvPr id="63" name="Text 61"/>
          <p:cNvSpPr/>
          <p:nvPr/>
        </p:nvSpPr>
        <p:spPr>
          <a:xfrm>
            <a:off x="14679931" y="8340090"/>
            <a:ext cx="261937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B45309"/>
                </a:solidFill>
                <a:latin typeface="Roboto Mono" pitchFamily="34" charset="0"/>
                <a:ea typeface="Roboto Mono" pitchFamily="34" charset="-122"/>
                <a:cs typeface="Roboto Mono" pitchFamily="34" charset="-120"/>
              </a:rPr>
              <a:t>CLOUD · α 39%</a:t>
            </a:r>
            <a:endParaRPr lang="en-US" sz="1650" dirty="0"/>
          </a:p>
        </p:txBody>
      </p:sp>
      <p:sp>
        <p:nvSpPr>
          <p:cNvPr id="64" name="Shape 62"/>
          <p:cNvSpPr/>
          <p:nvPr/>
        </p:nvSpPr>
        <p:spPr>
          <a:xfrm>
            <a:off x="952500" y="8983980"/>
            <a:ext cx="16383000" cy="1249680"/>
          </a:xfrm>
          <a:prstGeom prst="rect">
            <a:avLst/>
          </a:prstGeom>
          <a:solidFill>
            <a:srgbClr val="F3F6FF"/>
          </a:solidFill>
          <a:ln/>
        </p:spPr>
      </p:sp>
      <p:sp>
        <p:nvSpPr>
          <p:cNvPr id="65" name="Shape 63"/>
          <p:cNvSpPr/>
          <p:nvPr/>
        </p:nvSpPr>
        <p:spPr>
          <a:xfrm>
            <a:off x="952500" y="10226040"/>
            <a:ext cx="16383000" cy="9525"/>
          </a:xfrm>
          <a:prstGeom prst="rect">
            <a:avLst/>
          </a:prstGeom>
          <a:solidFill>
            <a:srgbClr val="C9D6FF"/>
          </a:solidFill>
          <a:ln/>
        </p:spPr>
      </p:sp>
      <p:sp>
        <p:nvSpPr>
          <p:cNvPr id="66" name="Shape 64"/>
          <p:cNvSpPr/>
          <p:nvPr/>
        </p:nvSpPr>
        <p:spPr>
          <a:xfrm>
            <a:off x="952500" y="8983980"/>
            <a:ext cx="16383000" cy="9525"/>
          </a:xfrm>
          <a:prstGeom prst="rect">
            <a:avLst/>
          </a:prstGeom>
          <a:solidFill>
            <a:srgbClr val="C9D6FF"/>
          </a:solidFill>
          <a:ln/>
        </p:spPr>
      </p:sp>
      <p:sp>
        <p:nvSpPr>
          <p:cNvPr id="67" name="Shape 65"/>
          <p:cNvSpPr/>
          <p:nvPr/>
        </p:nvSpPr>
        <p:spPr>
          <a:xfrm>
            <a:off x="952500" y="8983980"/>
            <a:ext cx="45720" cy="1249680"/>
          </a:xfrm>
          <a:prstGeom prst="rect">
            <a:avLst/>
          </a:prstGeom>
          <a:solidFill>
            <a:srgbClr val="4F7CFF"/>
          </a:solidFill>
          <a:ln/>
        </p:spPr>
      </p:sp>
      <p:sp>
        <p:nvSpPr>
          <p:cNvPr id="68" name="Shape 66"/>
          <p:cNvSpPr/>
          <p:nvPr/>
        </p:nvSpPr>
        <p:spPr>
          <a:xfrm>
            <a:off x="17327880" y="8983980"/>
            <a:ext cx="9525" cy="1249680"/>
          </a:xfrm>
          <a:prstGeom prst="rect">
            <a:avLst/>
          </a:prstGeom>
          <a:solidFill>
            <a:srgbClr val="C9D6FF"/>
          </a:solidFill>
          <a:ln/>
        </p:spPr>
      </p:sp>
      <p:sp>
        <p:nvSpPr>
          <p:cNvPr id="69" name="Text 67"/>
          <p:cNvSpPr/>
          <p:nvPr/>
        </p:nvSpPr>
        <p:spPr>
          <a:xfrm>
            <a:off x="1264920" y="9422130"/>
            <a:ext cx="781050" cy="411480"/>
          </a:xfrm>
          <a:prstGeom prst="rect">
            <a:avLst/>
          </a:prstGeom>
          <a:noFill/>
          <a:ln/>
        </p:spPr>
        <p:txBody>
          <a:bodyPr wrap="square" lIns="25400" tIns="25400" rIns="25400" bIns="25400" rtlCol="0" anchor="t">
            <a:normAutofit/>
          </a:bodyPr>
          <a:lstStyle/>
          <a:p>
            <a:pPr algn="l" indent="0" marL="0">
              <a:buNone/>
            </a:pPr>
            <a:r>
              <a:rPr lang="en-US" sz="2250" b="1" dirty="0">
                <a:solidFill>
                  <a:srgbClr val="4F7CFF"/>
                </a:solidFill>
                <a:latin typeface="Roboto Mono" pitchFamily="34" charset="0"/>
                <a:ea typeface="Roboto Mono" pitchFamily="34" charset="-122"/>
                <a:cs typeface="Roboto Mono" pitchFamily="34" charset="-120"/>
              </a:rPr>
              <a:t>⑦</a:t>
            </a:r>
            <a:endParaRPr lang="en-US" sz="2250" dirty="0"/>
          </a:p>
        </p:txBody>
      </p:sp>
      <p:sp>
        <p:nvSpPr>
          <p:cNvPr id="70" name="Text 68"/>
          <p:cNvSpPr/>
          <p:nvPr/>
        </p:nvSpPr>
        <p:spPr>
          <a:xfrm>
            <a:off x="2160270" y="9182100"/>
            <a:ext cx="9559595" cy="891540"/>
          </a:xfrm>
          <a:prstGeom prst="rect">
            <a:avLst/>
          </a:prstGeom>
          <a:noFill/>
          <a:ln/>
        </p:spPr>
        <p:txBody>
          <a:bodyPr wrap="square" lIns="25400" tIns="25400" rIns="25400" bIns="25400" rtlCol="0" anchor="t">
            <a:normAutofit/>
          </a:bodyPr>
          <a:lstStyle/>
          <a:p>
            <a:pPr algn="l" indent="0" marL="0">
              <a:buNone/>
            </a:pPr>
            <a:r>
              <a:rPr lang="en-US" sz="2325" b="1" dirty="0">
                <a:solidFill>
                  <a:srgbClr val="16181D"/>
                </a:solidFill>
                <a:latin typeface="Arial" pitchFamily="34" charset="0"/>
                <a:ea typeface="Arial" pitchFamily="34" charset="-122"/>
                <a:cs typeface="Arial" pitchFamily="34" charset="-120"/>
              </a:rPr>
              <a:t>근거성 검증 — 답변 숫자·시각 ↔ 도구 JSON 대조 </a:t>
            </a:r>
            <a:pPr algn="l" indent="0" marL="0">
              <a:buNone/>
            </a:pPr>
            <a:r>
              <a:rPr lang="en-US" sz="2325" dirty="0">
                <a:solidFill>
                  <a:srgbClr val="2B57D6"/>
                </a:solidFill>
                <a:latin typeface="Arial" pitchFamily="34" charset="0"/>
                <a:ea typeface="Arial" pitchFamily="34" charset="-122"/>
                <a:cs typeface="Arial" pitchFamily="34" charset="-120"/>
              </a:rPr>
              <a:t>→ 불일치 시 재생성 → 실패면 폐기</a:t>
            </a:r>
            <a:endParaRPr lang="en-US" sz="2325" dirty="0"/>
          </a:p>
        </p:txBody>
      </p:sp>
      <p:sp>
        <p:nvSpPr>
          <p:cNvPr id="71" name="Text 69"/>
          <p:cNvSpPr/>
          <p:nvPr/>
        </p:nvSpPr>
        <p:spPr>
          <a:xfrm>
            <a:off x="11631931" y="9471660"/>
            <a:ext cx="314325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6B7280"/>
                </a:solidFill>
                <a:latin typeface="Roboto Mono" pitchFamily="34" charset="0"/>
                <a:ea typeface="Roboto Mono" pitchFamily="34" charset="-122"/>
                <a:cs typeface="Roboto Mono" pitchFamily="34" charset="-120"/>
              </a:rPr>
              <a:t>verify()</a:t>
            </a:r>
            <a:endParaRPr lang="en-US" sz="1650" dirty="0"/>
          </a:p>
        </p:txBody>
      </p:sp>
      <p:sp>
        <p:nvSpPr>
          <p:cNvPr id="72" name="Text 70"/>
          <p:cNvSpPr/>
          <p:nvPr/>
        </p:nvSpPr>
        <p:spPr>
          <a:xfrm>
            <a:off x="14679931" y="9471660"/>
            <a:ext cx="261937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00845C"/>
                </a:solidFill>
                <a:latin typeface="Roboto Mono" pitchFamily="34" charset="0"/>
                <a:ea typeface="Roboto Mono" pitchFamily="34" charset="-122"/>
                <a:cs typeface="Roboto Mono" pitchFamily="34" charset="-120"/>
              </a:rPr>
              <a:t>LOCAL</a:t>
            </a:r>
            <a:endParaRPr lang="en-US" sz="1650" dirty="0"/>
          </a:p>
        </p:txBody>
      </p:sp>
      <p:sp>
        <p:nvSpPr>
          <p:cNvPr id="73" name="Shape 71"/>
          <p:cNvSpPr/>
          <p:nvPr/>
        </p:nvSpPr>
        <p:spPr>
          <a:xfrm>
            <a:off x="952500" y="10328910"/>
            <a:ext cx="16383000" cy="769620"/>
          </a:xfrm>
          <a:prstGeom prst="rect">
            <a:avLst/>
          </a:prstGeom>
          <a:solidFill>
            <a:srgbClr val="FFFFFF"/>
          </a:solidFill>
          <a:ln/>
        </p:spPr>
      </p:sp>
      <p:sp>
        <p:nvSpPr>
          <p:cNvPr id="74" name="Shape 72"/>
          <p:cNvSpPr/>
          <p:nvPr/>
        </p:nvSpPr>
        <p:spPr>
          <a:xfrm>
            <a:off x="952500" y="11090910"/>
            <a:ext cx="16383000" cy="9525"/>
          </a:xfrm>
          <a:prstGeom prst="rect">
            <a:avLst/>
          </a:prstGeom>
          <a:solidFill>
            <a:srgbClr val="DFE1E6"/>
          </a:solidFill>
          <a:ln/>
        </p:spPr>
      </p:sp>
      <p:sp>
        <p:nvSpPr>
          <p:cNvPr id="75" name="Shape 73"/>
          <p:cNvSpPr/>
          <p:nvPr/>
        </p:nvSpPr>
        <p:spPr>
          <a:xfrm>
            <a:off x="952500" y="10328910"/>
            <a:ext cx="16383000" cy="9525"/>
          </a:xfrm>
          <a:prstGeom prst="rect">
            <a:avLst/>
          </a:prstGeom>
          <a:solidFill>
            <a:srgbClr val="DFE1E6"/>
          </a:solidFill>
          <a:ln/>
        </p:spPr>
      </p:sp>
      <p:sp>
        <p:nvSpPr>
          <p:cNvPr id="76" name="Shape 74"/>
          <p:cNvSpPr/>
          <p:nvPr/>
        </p:nvSpPr>
        <p:spPr>
          <a:xfrm>
            <a:off x="952500" y="10328910"/>
            <a:ext cx="45720" cy="769620"/>
          </a:xfrm>
          <a:prstGeom prst="rect">
            <a:avLst/>
          </a:prstGeom>
          <a:solidFill>
            <a:srgbClr val="6B7280"/>
          </a:solidFill>
          <a:ln/>
        </p:spPr>
      </p:sp>
      <p:sp>
        <p:nvSpPr>
          <p:cNvPr id="77" name="Shape 75"/>
          <p:cNvSpPr/>
          <p:nvPr/>
        </p:nvSpPr>
        <p:spPr>
          <a:xfrm>
            <a:off x="17327880" y="10328910"/>
            <a:ext cx="9525" cy="769620"/>
          </a:xfrm>
          <a:prstGeom prst="rect">
            <a:avLst/>
          </a:prstGeom>
          <a:solidFill>
            <a:srgbClr val="DFE1E6"/>
          </a:solidFill>
          <a:ln/>
        </p:spPr>
      </p:sp>
      <p:sp>
        <p:nvSpPr>
          <p:cNvPr id="78" name="Text 76"/>
          <p:cNvSpPr/>
          <p:nvPr/>
        </p:nvSpPr>
        <p:spPr>
          <a:xfrm>
            <a:off x="1264920" y="10527031"/>
            <a:ext cx="781050" cy="411480"/>
          </a:xfrm>
          <a:prstGeom prst="rect">
            <a:avLst/>
          </a:prstGeom>
          <a:noFill/>
          <a:ln/>
        </p:spPr>
        <p:txBody>
          <a:bodyPr wrap="square" lIns="25400" tIns="25400" rIns="25400" bIns="25400" rtlCol="0" anchor="t">
            <a:normAutofit/>
          </a:bodyPr>
          <a:lstStyle/>
          <a:p>
            <a:pPr algn="l" indent="0" marL="0">
              <a:buNone/>
            </a:pPr>
            <a:r>
              <a:rPr lang="en-US" sz="2250" b="1" dirty="0">
                <a:solidFill>
                  <a:srgbClr val="6B7280"/>
                </a:solidFill>
                <a:latin typeface="Roboto Mono" pitchFamily="34" charset="0"/>
                <a:ea typeface="Roboto Mono" pitchFamily="34" charset="-122"/>
                <a:cs typeface="Roboto Mono" pitchFamily="34" charset="-120"/>
              </a:rPr>
              <a:t>⑧</a:t>
            </a:r>
            <a:endParaRPr lang="en-US" sz="2250" dirty="0"/>
          </a:p>
        </p:txBody>
      </p:sp>
      <p:sp>
        <p:nvSpPr>
          <p:cNvPr id="79" name="Text 77"/>
          <p:cNvSpPr/>
          <p:nvPr/>
        </p:nvSpPr>
        <p:spPr>
          <a:xfrm>
            <a:off x="2160270" y="10546081"/>
            <a:ext cx="10209276" cy="373380"/>
          </a:xfrm>
          <a:prstGeom prst="rect">
            <a:avLst/>
          </a:prstGeom>
          <a:noFill/>
          <a:ln/>
        </p:spPr>
        <p:txBody>
          <a:bodyPr wrap="square" lIns="25400" tIns="25400" rIns="25400" bIns="25400" rtlCol="0" anchor="t">
            <a:normAutofit/>
          </a:bodyPr>
          <a:lstStyle/>
          <a:p>
            <a:pPr algn="l" indent="0" marL="0">
              <a:buNone/>
            </a:pPr>
            <a:r>
              <a:rPr lang="en-US" sz="2325" b="1" dirty="0">
                <a:solidFill>
                  <a:srgbClr val="16181D"/>
                </a:solidFill>
                <a:latin typeface="Arial" pitchFamily="34" charset="0"/>
                <a:ea typeface="Arial" pitchFamily="34" charset="-122"/>
                <a:cs typeface="Arial" pitchFamily="34" charset="-120"/>
              </a:rPr>
              <a:t>Guardrail(OUTPUT)</a:t>
            </a:r>
            <a:endParaRPr lang="en-US" sz="2325" dirty="0"/>
          </a:p>
        </p:txBody>
      </p:sp>
      <p:sp>
        <p:nvSpPr>
          <p:cNvPr id="80" name="Text 78"/>
          <p:cNvSpPr/>
          <p:nvPr/>
        </p:nvSpPr>
        <p:spPr>
          <a:xfrm>
            <a:off x="11631931" y="10576560"/>
            <a:ext cx="314325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6B7280"/>
                </a:solidFill>
                <a:latin typeface="Roboto Mono" pitchFamily="34" charset="0"/>
                <a:ea typeface="Roboto Mono" pitchFamily="34" charset="-122"/>
                <a:cs typeface="Roboto Mono" pitchFamily="34" charset="-120"/>
              </a:rPr>
              <a:t>Bedrock Guardrails</a:t>
            </a:r>
            <a:endParaRPr lang="en-US" sz="1650" dirty="0"/>
          </a:p>
        </p:txBody>
      </p:sp>
      <p:sp>
        <p:nvSpPr>
          <p:cNvPr id="81" name="Text 79"/>
          <p:cNvSpPr/>
          <p:nvPr/>
        </p:nvSpPr>
        <p:spPr>
          <a:xfrm>
            <a:off x="14679931" y="10576560"/>
            <a:ext cx="261937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B45309"/>
                </a:solidFill>
                <a:latin typeface="Roboto Mono" pitchFamily="34" charset="0"/>
                <a:ea typeface="Roboto Mono" pitchFamily="34" charset="-122"/>
                <a:cs typeface="Roboto Mono" pitchFamily="34" charset="-120"/>
              </a:rPr>
              <a:t>CLOUD</a:t>
            </a:r>
            <a:endParaRPr lang="en-US" sz="1650" dirty="0"/>
          </a:p>
        </p:txBody>
      </p:sp>
      <p:sp>
        <p:nvSpPr>
          <p:cNvPr id="82" name="Shape 80"/>
          <p:cNvSpPr/>
          <p:nvPr/>
        </p:nvSpPr>
        <p:spPr>
          <a:xfrm>
            <a:off x="952500" y="11193781"/>
            <a:ext cx="16383000" cy="861060"/>
          </a:xfrm>
          <a:prstGeom prst="rect">
            <a:avLst/>
          </a:prstGeom>
          <a:solidFill>
            <a:srgbClr val="16181D"/>
          </a:solidFill>
          <a:ln/>
        </p:spPr>
      </p:sp>
      <p:sp>
        <p:nvSpPr>
          <p:cNvPr id="83" name="Text 81"/>
          <p:cNvSpPr/>
          <p:nvPr/>
        </p:nvSpPr>
        <p:spPr>
          <a:xfrm>
            <a:off x="1219200" y="11460481"/>
            <a:ext cx="781050" cy="365760"/>
          </a:xfrm>
          <a:prstGeom prst="rect">
            <a:avLst/>
          </a:prstGeom>
          <a:noFill/>
          <a:ln/>
        </p:spPr>
        <p:txBody>
          <a:bodyPr wrap="square" lIns="25400" tIns="25400" rIns="25400" bIns="25400" rtlCol="0" anchor="t">
            <a:normAutofit/>
          </a:bodyPr>
          <a:lstStyle/>
          <a:p>
            <a:pPr algn="l" indent="0" marL="0">
              <a:buNone/>
            </a:pPr>
            <a:r>
              <a:rPr lang="en-US" sz="1950" dirty="0">
                <a:solidFill>
                  <a:srgbClr val="9DB4FF"/>
                </a:solidFill>
                <a:latin typeface="Roboto Mono" pitchFamily="34" charset="0"/>
                <a:ea typeface="Roboto Mono" pitchFamily="34" charset="-122"/>
                <a:cs typeface="Roboto Mono" pitchFamily="34" charset="-120"/>
              </a:rPr>
              <a:t>OUT</a:t>
            </a:r>
            <a:endParaRPr lang="en-US" sz="1950" dirty="0"/>
          </a:p>
        </p:txBody>
      </p:sp>
      <p:sp>
        <p:nvSpPr>
          <p:cNvPr id="84" name="Text 82"/>
          <p:cNvSpPr/>
          <p:nvPr/>
        </p:nvSpPr>
        <p:spPr>
          <a:xfrm>
            <a:off x="2114550" y="11403331"/>
            <a:ext cx="10477500" cy="480060"/>
          </a:xfrm>
          <a:prstGeom prst="rect">
            <a:avLst/>
          </a:prstGeom>
          <a:noFill/>
          <a:ln/>
        </p:spPr>
        <p:txBody>
          <a:bodyPr wrap="square" lIns="25400" tIns="25400" rIns="25400" bIns="25400" rtlCol="0" anchor="t">
            <a:normAutofit/>
          </a:bodyPr>
          <a:lstStyle/>
          <a:p>
            <a:pPr algn="l" indent="0" marL="0">
              <a:buNone/>
            </a:pPr>
            <a:r>
              <a:rPr lang="en-US" sz="2400" b="1" dirty="0">
                <a:solidFill>
                  <a:srgbClr val="FBFBFA"/>
                </a:solidFill>
                <a:latin typeface="Arial" pitchFamily="34" charset="0"/>
                <a:ea typeface="Arial" pitchFamily="34" charset="-122"/>
                <a:cs typeface="Arial" pitchFamily="34" charset="-120"/>
              </a:rPr>
              <a:t>응답 — 사용자 언어, 역·터미널명은 한국어 병기</a:t>
            </a:r>
            <a:endParaRPr lang="en-US" sz="2400" dirty="0"/>
          </a:p>
        </p:txBody>
      </p:sp>
      <p:sp>
        <p:nvSpPr>
          <p:cNvPr id="85" name="Text 83"/>
          <p:cNvSpPr/>
          <p:nvPr/>
        </p:nvSpPr>
        <p:spPr>
          <a:xfrm>
            <a:off x="11830050" y="11487150"/>
            <a:ext cx="576262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9AA0A8"/>
                </a:solidFill>
                <a:latin typeface="Roboto Mono" pitchFamily="34" charset="0"/>
                <a:ea typeface="Roboto Mono" pitchFamily="34" charset="-122"/>
                <a:cs typeface="Roboto Mono" pitchFamily="34" charset="-120"/>
              </a:rPr>
              <a:t>4~7s · 스트리밍 미지원</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620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04 · DESIGN DECISION 1</a:t>
            </a:r>
            <a:endParaRPr lang="en-US" sz="1800" dirty="0"/>
          </a:p>
        </p:txBody>
      </p:sp>
      <p:sp>
        <p:nvSpPr>
          <p:cNvPr id="3" name="Text 1"/>
          <p:cNvSpPr/>
          <p:nvPr/>
        </p:nvSpPr>
        <p:spPr>
          <a:xfrm>
            <a:off x="1047750" y="1192530"/>
            <a:ext cx="17811750"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왜 게이트를 로컬에 두는가</a:t>
            </a:r>
            <a:endParaRPr lang="en-US" sz="5250" dirty="0"/>
          </a:p>
        </p:txBody>
      </p:sp>
      <p:sp>
        <p:nvSpPr>
          <p:cNvPr id="4" name="Shape 2"/>
          <p:cNvSpPr/>
          <p:nvPr/>
        </p:nvSpPr>
        <p:spPr>
          <a:xfrm>
            <a:off x="1047750" y="2594610"/>
            <a:ext cx="7371874" cy="3348990"/>
          </a:xfrm>
          <a:prstGeom prst="rect">
            <a:avLst/>
          </a:prstGeom>
          <a:solidFill>
            <a:srgbClr val="FFFFFF"/>
          </a:solidFill>
          <a:ln w="7620">
            <a:solidFill>
              <a:srgbClr val="DFE1E6"/>
            </a:solidFill>
            <a:prstDash val="solid"/>
          </a:ln>
        </p:spPr>
      </p:sp>
      <p:sp>
        <p:nvSpPr>
          <p:cNvPr id="5" name="Text 3"/>
          <p:cNvSpPr/>
          <p:nvPr/>
        </p:nvSpPr>
        <p:spPr>
          <a:xfrm>
            <a:off x="1417320" y="2926080"/>
            <a:ext cx="7296008" cy="457200"/>
          </a:xfrm>
          <a:prstGeom prst="rect">
            <a:avLst/>
          </a:prstGeom>
          <a:noFill/>
          <a:ln/>
        </p:spPr>
        <p:txBody>
          <a:bodyPr wrap="square" lIns="25400" tIns="25400" rIns="25400" bIns="25400" rtlCol="0" anchor="t">
            <a:normAutofit/>
          </a:bodyPr>
          <a:lstStyle/>
          <a:p>
            <a:pPr algn="l" indent="0" marL="0">
              <a:buNone/>
            </a:pPr>
            <a:r>
              <a:rPr lang="en-US" sz="2250" b="1" dirty="0">
                <a:solidFill>
                  <a:srgbClr val="16181D"/>
                </a:solidFill>
                <a:latin typeface="Arial" pitchFamily="34" charset="0"/>
                <a:ea typeface="Arial" pitchFamily="34" charset="-122"/>
                <a:cs typeface="Arial" pitchFamily="34" charset="-120"/>
              </a:rPr>
              <a:t>비용·지연이 질의 수에 비례하지 않게 만든다</a:t>
            </a:r>
            <a:endParaRPr lang="en-US" sz="2250" dirty="0"/>
          </a:p>
        </p:txBody>
      </p:sp>
      <p:sp>
        <p:nvSpPr>
          <p:cNvPr id="6" name="Text 4"/>
          <p:cNvSpPr/>
          <p:nvPr/>
        </p:nvSpPr>
        <p:spPr>
          <a:xfrm>
            <a:off x="1417320" y="3516630"/>
            <a:ext cx="6831716" cy="83058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4A5058"/>
                </a:solidFill>
                <a:latin typeface="Arial" pitchFamily="34" charset="0"/>
                <a:ea typeface="Arial" pitchFamily="34" charset="-122"/>
                <a:cs typeface="Arial" pitchFamily="34" charset="-120"/>
              </a:rPr>
              <a:t>도메인 밖·유해 요청을 로컬에서 먼저 쳐내면 Bedrock 호출은 통과분에만 발생한다.</a:t>
            </a:r>
            <a:endParaRPr lang="en-US" sz="1950" dirty="0"/>
          </a:p>
        </p:txBody>
      </p:sp>
      <p:sp>
        <p:nvSpPr>
          <p:cNvPr id="7" name="Shape 5"/>
          <p:cNvSpPr/>
          <p:nvPr/>
        </p:nvSpPr>
        <p:spPr>
          <a:xfrm>
            <a:off x="1417320" y="4480560"/>
            <a:ext cx="6632734" cy="9525"/>
          </a:xfrm>
          <a:prstGeom prst="rect">
            <a:avLst/>
          </a:prstGeom>
          <a:solidFill>
            <a:srgbClr val="DFE1E6"/>
          </a:solidFill>
          <a:ln/>
        </p:spPr>
      </p:sp>
      <p:sp>
        <p:nvSpPr>
          <p:cNvPr id="8" name="Text 6"/>
          <p:cNvSpPr/>
          <p:nvPr/>
        </p:nvSpPr>
        <p:spPr>
          <a:xfrm>
            <a:off x="1417320" y="4697730"/>
            <a:ext cx="1484007" cy="952500"/>
          </a:xfrm>
          <a:prstGeom prst="rect">
            <a:avLst/>
          </a:prstGeom>
          <a:noFill/>
          <a:ln/>
        </p:spPr>
        <p:txBody>
          <a:bodyPr wrap="square" lIns="25400" tIns="25400" rIns="25400" bIns="25400" rtlCol="0" anchor="t">
            <a:normAutofit/>
          </a:bodyPr>
          <a:lstStyle/>
          <a:p>
            <a:pPr algn="l" indent="0" marL="0">
              <a:lnSpc>
                <a:spcPct val="75472"/>
              </a:lnSpc>
              <a:buNone/>
            </a:pPr>
            <a:r>
              <a:rPr lang="en-US" sz="7200" b="1" dirty="0">
                <a:solidFill>
                  <a:srgbClr val="4F7CFF"/>
                </a:solidFill>
                <a:latin typeface="Roboto Mono" pitchFamily="34" charset="0"/>
                <a:ea typeface="Roboto Mono" pitchFamily="34" charset="-122"/>
                <a:cs typeface="Roboto Mono" pitchFamily="34" charset="-120"/>
              </a:rPr>
              <a:t>39</a:t>
            </a:r>
            <a:pPr algn="l" indent="0" marL="0">
              <a:lnSpc>
                <a:spcPct val="75472"/>
              </a:lnSpc>
              <a:buNone/>
            </a:pPr>
            <a:r>
              <a:rPr lang="en-US" sz="3300" b="1" dirty="0">
                <a:solidFill>
                  <a:srgbClr val="4F7CFF"/>
                </a:solidFill>
                <a:latin typeface="Roboto Mono" pitchFamily="34" charset="0"/>
                <a:ea typeface="Roboto Mono" pitchFamily="34" charset="-122"/>
                <a:cs typeface="Roboto Mono" pitchFamily="34" charset="-120"/>
              </a:rPr>
              <a:t>%</a:t>
            </a:r>
            <a:endParaRPr lang="en-US" sz="7200" dirty="0"/>
          </a:p>
        </p:txBody>
      </p:sp>
      <p:sp>
        <p:nvSpPr>
          <p:cNvPr id="9" name="Text 7"/>
          <p:cNvSpPr/>
          <p:nvPr/>
        </p:nvSpPr>
        <p:spPr>
          <a:xfrm>
            <a:off x="2956917" y="4897755"/>
            <a:ext cx="2618489" cy="752475"/>
          </a:xfrm>
          <a:prstGeom prst="rect">
            <a:avLst/>
          </a:prstGeom>
          <a:noFill/>
          <a:ln/>
        </p:spPr>
        <p:txBody>
          <a:bodyPr wrap="square" lIns="25400" tIns="25400" rIns="25400" bIns="25400" rtlCol="0" anchor="t">
            <a:normAutofit/>
          </a:bodyPr>
          <a:lstStyle/>
          <a:p>
            <a:pPr algn="l" indent="0" marL="0">
              <a:lnSpc>
                <a:spcPct val="130208"/>
              </a:lnSpc>
              <a:buNone/>
            </a:pPr>
            <a:r>
              <a:rPr lang="en-US" sz="1875" dirty="0">
                <a:solidFill>
                  <a:srgbClr val="6B7280"/>
                </a:solidFill>
                <a:latin typeface="Arial" pitchFamily="34" charset="0"/>
                <a:ea typeface="Arial" pitchFamily="34" charset="-122"/>
                <a:cs typeface="Arial" pitchFamily="34" charset="-120"/>
              </a:rPr>
              <a:t>클라우드로 올라가는 비율 (α, 515문항 실측)</a:t>
            </a:r>
            <a:endParaRPr lang="en-US" sz="1875" dirty="0"/>
          </a:p>
        </p:txBody>
      </p:sp>
      <p:sp>
        <p:nvSpPr>
          <p:cNvPr id="10" name="Shape 8"/>
          <p:cNvSpPr/>
          <p:nvPr/>
        </p:nvSpPr>
        <p:spPr>
          <a:xfrm>
            <a:off x="1047750" y="6172200"/>
            <a:ext cx="7371874" cy="1783080"/>
          </a:xfrm>
          <a:prstGeom prst="rect">
            <a:avLst/>
          </a:prstGeom>
          <a:solidFill>
            <a:srgbClr val="F3F6FF"/>
          </a:solidFill>
          <a:ln w="7620">
            <a:solidFill>
              <a:srgbClr val="C9D6FF"/>
            </a:solidFill>
            <a:prstDash val="solid"/>
          </a:ln>
        </p:spPr>
      </p:sp>
      <p:sp>
        <p:nvSpPr>
          <p:cNvPr id="11" name="Text 9"/>
          <p:cNvSpPr/>
          <p:nvPr/>
        </p:nvSpPr>
        <p:spPr>
          <a:xfrm>
            <a:off x="1417320" y="6465570"/>
            <a:ext cx="7296008"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부수 효과</a:t>
            </a:r>
            <a:endParaRPr lang="en-US" sz="1725" dirty="0"/>
          </a:p>
        </p:txBody>
      </p:sp>
      <p:sp>
        <p:nvSpPr>
          <p:cNvPr id="12" name="Text 10"/>
          <p:cNvSpPr/>
          <p:nvPr/>
        </p:nvSpPr>
        <p:spPr>
          <a:xfrm>
            <a:off x="1417320" y="6869430"/>
            <a:ext cx="6831716" cy="83058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1F2937"/>
                </a:solidFill>
                <a:latin typeface="Arial" pitchFamily="34" charset="0"/>
                <a:ea typeface="Arial" pitchFamily="34" charset="-122"/>
                <a:cs typeface="Arial" pitchFamily="34" charset="-120"/>
              </a:rPr>
              <a:t>PII 마스킹과 금지어 판정이 </a:t>
            </a:r>
            <a:pPr algn="l" indent="0" marL="0">
              <a:lnSpc>
                <a:spcPct val="140541"/>
              </a:lnSpc>
              <a:buNone/>
            </a:pPr>
            <a:r>
              <a:rPr lang="en-US" sz="1950" b="1" dirty="0">
                <a:solidFill>
                  <a:srgbClr val="1F2937"/>
                </a:solidFill>
                <a:latin typeface="Arial" pitchFamily="34" charset="0"/>
                <a:ea typeface="Arial" pitchFamily="34" charset="-122"/>
                <a:cs typeface="Arial" pitchFamily="34" charset="-120"/>
              </a:rPr>
              <a:t>클라우드 전송 전 </a:t>
            </a:r>
            <a:pPr algn="l" indent="0" marL="0">
              <a:lnSpc>
                <a:spcPct val="140541"/>
              </a:lnSpc>
              <a:buNone/>
            </a:pPr>
            <a:r>
              <a:rPr lang="en-US" sz="1950" dirty="0">
                <a:solidFill>
                  <a:srgbClr val="1F2937"/>
                </a:solidFill>
                <a:latin typeface="Arial" pitchFamily="34" charset="0"/>
                <a:ea typeface="Arial" pitchFamily="34" charset="-122"/>
                <a:cs typeface="Arial" pitchFamily="34" charset="-120"/>
              </a:rPr>
              <a:t>에 끝난다 — 원문이 외부로 나가지 않는다.</a:t>
            </a:r>
            <a:endParaRPr lang="en-US" sz="1950" dirty="0"/>
          </a:p>
        </p:txBody>
      </p:sp>
      <p:sp>
        <p:nvSpPr>
          <p:cNvPr id="13" name="Shape 11"/>
          <p:cNvSpPr/>
          <p:nvPr/>
        </p:nvSpPr>
        <p:spPr>
          <a:xfrm>
            <a:off x="8762524" y="2594610"/>
            <a:ext cx="8477726" cy="6930390"/>
          </a:xfrm>
          <a:prstGeom prst="rect">
            <a:avLst/>
          </a:prstGeom>
          <a:solidFill>
            <a:srgbClr val="FFFFFF"/>
          </a:solidFill>
          <a:ln w="7620">
            <a:solidFill>
              <a:srgbClr val="DFE1E6"/>
            </a:solidFill>
            <a:prstDash val="solid"/>
          </a:ln>
        </p:spPr>
      </p:sp>
      <p:sp>
        <p:nvSpPr>
          <p:cNvPr id="14" name="Text 12"/>
          <p:cNvSpPr/>
          <p:nvPr/>
        </p:nvSpPr>
        <p:spPr>
          <a:xfrm>
            <a:off x="9132094" y="2926080"/>
            <a:ext cx="8512445" cy="457200"/>
          </a:xfrm>
          <a:prstGeom prst="rect">
            <a:avLst/>
          </a:prstGeom>
          <a:noFill/>
          <a:ln/>
        </p:spPr>
        <p:txBody>
          <a:bodyPr wrap="square" lIns="25400" tIns="25400" rIns="25400" bIns="25400" rtlCol="0" anchor="t">
            <a:normAutofit/>
          </a:bodyPr>
          <a:lstStyle/>
          <a:p>
            <a:pPr algn="l" indent="0" marL="0">
              <a:buNone/>
            </a:pPr>
            <a:r>
              <a:rPr lang="en-US" sz="2250" b="1" dirty="0">
                <a:solidFill>
                  <a:srgbClr val="16181D"/>
                </a:solidFill>
                <a:latin typeface="Arial" pitchFamily="34" charset="0"/>
                <a:ea typeface="Arial" pitchFamily="34" charset="-122"/>
                <a:cs typeface="Arial" pitchFamily="34" charset="-120"/>
              </a:rPr>
              <a:t>모델 크기 비교 — 90문항 동일 평가셋</a:t>
            </a:r>
            <a:endParaRPr lang="en-US" sz="2250" dirty="0"/>
          </a:p>
        </p:txBody>
      </p:sp>
      <p:sp>
        <p:nvSpPr>
          <p:cNvPr id="15" name="Shape 13"/>
          <p:cNvSpPr/>
          <p:nvPr/>
        </p:nvSpPr>
        <p:spPr>
          <a:xfrm>
            <a:off x="9132094" y="4107180"/>
            <a:ext cx="2579489" cy="15240"/>
          </a:xfrm>
          <a:prstGeom prst="rect">
            <a:avLst/>
          </a:prstGeom>
          <a:solidFill>
            <a:srgbClr val="16181D"/>
          </a:solidFill>
          <a:ln/>
        </p:spPr>
      </p:sp>
      <p:sp>
        <p:nvSpPr>
          <p:cNvPr id="16" name="Text 14"/>
          <p:cNvSpPr/>
          <p:nvPr/>
        </p:nvSpPr>
        <p:spPr>
          <a:xfrm>
            <a:off x="9132094" y="3649980"/>
            <a:ext cx="2656874" cy="381000"/>
          </a:xfrm>
          <a:prstGeom prst="rect">
            <a:avLst/>
          </a:prstGeom>
          <a:noFill/>
          <a:ln/>
        </p:spPr>
        <p:txBody>
          <a:bodyPr wrap="square" lIns="25400" tIns="25400" rIns="25400" bIns="25400" rtlCol="0" anchor="t">
            <a:normAutofit/>
          </a:bodyPr>
          <a:lstStyle/>
          <a:p>
            <a:pPr algn="l" indent="0" marL="0">
              <a:buNone/>
            </a:pPr>
            <a:r>
              <a:rPr lang="en-US" sz="1875" dirty="0">
                <a:solidFill>
                  <a:srgbClr val="8A9099"/>
                </a:solidFill>
                <a:latin typeface="Roboto Mono" pitchFamily="34" charset="0"/>
                <a:ea typeface="Roboto Mono" pitchFamily="34" charset="-122"/>
                <a:cs typeface="Roboto Mono" pitchFamily="34" charset="-120"/>
              </a:rPr>
              <a:t>지표</a:t>
            </a:r>
            <a:endParaRPr lang="en-US" sz="1875" dirty="0"/>
          </a:p>
        </p:txBody>
      </p:sp>
      <p:sp>
        <p:nvSpPr>
          <p:cNvPr id="17" name="Shape 15"/>
          <p:cNvSpPr/>
          <p:nvPr/>
        </p:nvSpPr>
        <p:spPr>
          <a:xfrm>
            <a:off x="11711583" y="4107180"/>
            <a:ext cx="1719620" cy="15240"/>
          </a:xfrm>
          <a:prstGeom prst="rect">
            <a:avLst/>
          </a:prstGeom>
          <a:solidFill>
            <a:srgbClr val="16181D"/>
          </a:solidFill>
          <a:ln/>
        </p:spPr>
      </p:sp>
      <p:sp>
        <p:nvSpPr>
          <p:cNvPr id="18" name="Text 16"/>
          <p:cNvSpPr/>
          <p:nvPr/>
        </p:nvSpPr>
        <p:spPr>
          <a:xfrm>
            <a:off x="11635383" y="3649980"/>
            <a:ext cx="1795820" cy="381000"/>
          </a:xfrm>
          <a:prstGeom prst="rect">
            <a:avLst/>
          </a:prstGeom>
          <a:noFill/>
          <a:ln/>
        </p:spPr>
        <p:txBody>
          <a:bodyPr wrap="square" lIns="25400" tIns="25400" rIns="25400" bIns="25400" rtlCol="0" anchor="t">
            <a:normAutofit/>
          </a:bodyPr>
          <a:lstStyle/>
          <a:p>
            <a:pPr algn="r" indent="0" marL="0">
              <a:buNone/>
            </a:pPr>
            <a:r>
              <a:rPr lang="en-US" sz="1875" dirty="0">
                <a:solidFill>
                  <a:srgbClr val="8A9099"/>
                </a:solidFill>
                <a:latin typeface="Roboto Mono" pitchFamily="34" charset="0"/>
                <a:ea typeface="Roboto Mono" pitchFamily="34" charset="-122"/>
                <a:cs typeface="Roboto Mono" pitchFamily="34" charset="-120"/>
              </a:rPr>
              <a:t>8B</a:t>
            </a:r>
            <a:endParaRPr lang="en-US" sz="1875" dirty="0"/>
          </a:p>
        </p:txBody>
      </p:sp>
      <p:sp>
        <p:nvSpPr>
          <p:cNvPr id="19" name="Shape 17"/>
          <p:cNvSpPr/>
          <p:nvPr/>
        </p:nvSpPr>
        <p:spPr>
          <a:xfrm>
            <a:off x="13431202" y="4107180"/>
            <a:ext cx="1719739" cy="15240"/>
          </a:xfrm>
          <a:prstGeom prst="rect">
            <a:avLst/>
          </a:prstGeom>
          <a:solidFill>
            <a:srgbClr val="16181D"/>
          </a:solidFill>
          <a:ln/>
        </p:spPr>
      </p:sp>
      <p:sp>
        <p:nvSpPr>
          <p:cNvPr id="20" name="Text 18"/>
          <p:cNvSpPr/>
          <p:nvPr/>
        </p:nvSpPr>
        <p:spPr>
          <a:xfrm>
            <a:off x="13355002" y="3649980"/>
            <a:ext cx="1795939" cy="381000"/>
          </a:xfrm>
          <a:prstGeom prst="rect">
            <a:avLst/>
          </a:prstGeom>
          <a:noFill/>
          <a:ln/>
        </p:spPr>
        <p:txBody>
          <a:bodyPr wrap="square" lIns="25400" tIns="25400" rIns="25400" bIns="25400" rtlCol="0" anchor="t">
            <a:normAutofit/>
          </a:bodyPr>
          <a:lstStyle/>
          <a:p>
            <a:pPr algn="r" indent="0" marL="0">
              <a:buNone/>
            </a:pPr>
            <a:r>
              <a:rPr lang="en-US" sz="1875" b="1" dirty="0">
                <a:solidFill>
                  <a:srgbClr val="2B57D6"/>
                </a:solidFill>
                <a:latin typeface="Roboto Mono" pitchFamily="34" charset="0"/>
                <a:ea typeface="Roboto Mono" pitchFamily="34" charset="-122"/>
                <a:cs typeface="Roboto Mono" pitchFamily="34" charset="-120"/>
              </a:rPr>
              <a:t>4B ✓</a:t>
            </a:r>
            <a:endParaRPr lang="en-US" sz="1875" dirty="0"/>
          </a:p>
        </p:txBody>
      </p:sp>
      <p:sp>
        <p:nvSpPr>
          <p:cNvPr id="21" name="Shape 19"/>
          <p:cNvSpPr/>
          <p:nvPr/>
        </p:nvSpPr>
        <p:spPr>
          <a:xfrm>
            <a:off x="15150941" y="4107180"/>
            <a:ext cx="1719739" cy="15240"/>
          </a:xfrm>
          <a:prstGeom prst="rect">
            <a:avLst/>
          </a:prstGeom>
          <a:solidFill>
            <a:srgbClr val="16181D"/>
          </a:solidFill>
          <a:ln/>
        </p:spPr>
      </p:sp>
      <p:sp>
        <p:nvSpPr>
          <p:cNvPr id="22" name="Text 20"/>
          <p:cNvSpPr/>
          <p:nvPr/>
        </p:nvSpPr>
        <p:spPr>
          <a:xfrm>
            <a:off x="15074741" y="3649980"/>
            <a:ext cx="1795939" cy="381000"/>
          </a:xfrm>
          <a:prstGeom prst="rect">
            <a:avLst/>
          </a:prstGeom>
          <a:noFill/>
          <a:ln/>
        </p:spPr>
        <p:txBody>
          <a:bodyPr wrap="square" lIns="25400" tIns="25400" rIns="25400" bIns="25400" rtlCol="0" anchor="t">
            <a:normAutofit/>
          </a:bodyPr>
          <a:lstStyle/>
          <a:p>
            <a:pPr algn="r" indent="0" marL="0">
              <a:buNone/>
            </a:pPr>
            <a:r>
              <a:rPr lang="en-US" sz="1875" dirty="0">
                <a:solidFill>
                  <a:srgbClr val="8A9099"/>
                </a:solidFill>
                <a:latin typeface="Roboto Mono" pitchFamily="34" charset="0"/>
                <a:ea typeface="Roboto Mono" pitchFamily="34" charset="-122"/>
                <a:cs typeface="Roboto Mono" pitchFamily="34" charset="-120"/>
              </a:rPr>
              <a:t>1.7B</a:t>
            </a:r>
            <a:endParaRPr lang="en-US" sz="1875" dirty="0"/>
          </a:p>
        </p:txBody>
      </p:sp>
      <p:sp>
        <p:nvSpPr>
          <p:cNvPr id="23" name="Shape 21"/>
          <p:cNvSpPr/>
          <p:nvPr/>
        </p:nvSpPr>
        <p:spPr>
          <a:xfrm>
            <a:off x="9132094" y="4701540"/>
            <a:ext cx="2579489" cy="9525"/>
          </a:xfrm>
          <a:prstGeom prst="rect">
            <a:avLst/>
          </a:prstGeom>
          <a:solidFill>
            <a:srgbClr val="ECEDED"/>
          </a:solidFill>
          <a:ln/>
        </p:spPr>
      </p:sp>
      <p:sp>
        <p:nvSpPr>
          <p:cNvPr id="24" name="Text 22"/>
          <p:cNvSpPr/>
          <p:nvPr/>
        </p:nvSpPr>
        <p:spPr>
          <a:xfrm>
            <a:off x="9132094" y="4255770"/>
            <a:ext cx="2656874" cy="350520"/>
          </a:xfrm>
          <a:prstGeom prst="rect">
            <a:avLst/>
          </a:prstGeom>
          <a:noFill/>
          <a:ln/>
        </p:spPr>
        <p:txBody>
          <a:bodyPr wrap="square" lIns="25400" tIns="25400" rIns="25400" bIns="25400" rtlCol="0" anchor="t">
            <a:normAutofit/>
          </a:bodyPr>
          <a:lstStyle/>
          <a:p>
            <a:pPr algn="l" indent="0" marL="0">
              <a:buNone/>
            </a:pPr>
            <a:r>
              <a:rPr lang="en-US" sz="1875" dirty="0">
                <a:solidFill>
                  <a:srgbClr val="16181D"/>
                </a:solidFill>
                <a:latin typeface="Roboto Mono" pitchFamily="34" charset="0"/>
                <a:ea typeface="Roboto Mono" pitchFamily="34" charset="-122"/>
                <a:cs typeface="Roboto Mono" pitchFamily="34" charset="-120"/>
              </a:rPr>
              <a:t>도메인 정확도</a:t>
            </a:r>
            <a:endParaRPr lang="en-US" sz="1875" dirty="0"/>
          </a:p>
        </p:txBody>
      </p:sp>
      <p:sp>
        <p:nvSpPr>
          <p:cNvPr id="25" name="Shape 23"/>
          <p:cNvSpPr/>
          <p:nvPr/>
        </p:nvSpPr>
        <p:spPr>
          <a:xfrm>
            <a:off x="11711583" y="4701540"/>
            <a:ext cx="1719620" cy="9525"/>
          </a:xfrm>
          <a:prstGeom prst="rect">
            <a:avLst/>
          </a:prstGeom>
          <a:solidFill>
            <a:srgbClr val="ECEDED"/>
          </a:solidFill>
          <a:ln/>
        </p:spPr>
      </p:sp>
      <p:sp>
        <p:nvSpPr>
          <p:cNvPr id="26" name="Text 24"/>
          <p:cNvSpPr/>
          <p:nvPr/>
        </p:nvSpPr>
        <p:spPr>
          <a:xfrm>
            <a:off x="11635383" y="4255770"/>
            <a:ext cx="1795820" cy="35052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Roboto Mono" pitchFamily="34" charset="0"/>
                <a:ea typeface="Roboto Mono" pitchFamily="34" charset="-122"/>
                <a:cs typeface="Roboto Mono" pitchFamily="34" charset="-120"/>
              </a:rPr>
              <a:t>98.9%</a:t>
            </a:r>
            <a:endParaRPr lang="en-US" sz="1875" dirty="0"/>
          </a:p>
        </p:txBody>
      </p:sp>
      <p:sp>
        <p:nvSpPr>
          <p:cNvPr id="27" name="Shape 25"/>
          <p:cNvSpPr/>
          <p:nvPr/>
        </p:nvSpPr>
        <p:spPr>
          <a:xfrm>
            <a:off x="13431202" y="4701540"/>
            <a:ext cx="1719739" cy="9525"/>
          </a:xfrm>
          <a:prstGeom prst="rect">
            <a:avLst/>
          </a:prstGeom>
          <a:solidFill>
            <a:srgbClr val="ECEDED"/>
          </a:solidFill>
          <a:ln/>
        </p:spPr>
      </p:sp>
      <p:sp>
        <p:nvSpPr>
          <p:cNvPr id="28" name="Text 26"/>
          <p:cNvSpPr/>
          <p:nvPr/>
        </p:nvSpPr>
        <p:spPr>
          <a:xfrm>
            <a:off x="13355002" y="4255770"/>
            <a:ext cx="1795939" cy="350520"/>
          </a:xfrm>
          <a:prstGeom prst="rect">
            <a:avLst/>
          </a:prstGeom>
          <a:noFill/>
          <a:ln/>
        </p:spPr>
        <p:txBody>
          <a:bodyPr wrap="square" lIns="25400" tIns="25400" rIns="25400" bIns="25400" rtlCol="0" anchor="t">
            <a:normAutofit/>
          </a:bodyPr>
          <a:lstStyle/>
          <a:p>
            <a:pPr algn="r" indent="0" marL="0">
              <a:buNone/>
            </a:pPr>
            <a:r>
              <a:rPr lang="en-US" sz="1875" b="1" dirty="0">
                <a:solidFill>
                  <a:srgbClr val="2B57D6"/>
                </a:solidFill>
                <a:latin typeface="Roboto Mono" pitchFamily="34" charset="0"/>
                <a:ea typeface="Roboto Mono" pitchFamily="34" charset="-122"/>
                <a:cs typeface="Roboto Mono" pitchFamily="34" charset="-120"/>
              </a:rPr>
              <a:t>98.9%</a:t>
            </a:r>
            <a:endParaRPr lang="en-US" sz="1875" dirty="0"/>
          </a:p>
        </p:txBody>
      </p:sp>
      <p:sp>
        <p:nvSpPr>
          <p:cNvPr id="29" name="Shape 27"/>
          <p:cNvSpPr/>
          <p:nvPr/>
        </p:nvSpPr>
        <p:spPr>
          <a:xfrm>
            <a:off x="15150941" y="4701540"/>
            <a:ext cx="1719739" cy="9525"/>
          </a:xfrm>
          <a:prstGeom prst="rect">
            <a:avLst/>
          </a:prstGeom>
          <a:solidFill>
            <a:srgbClr val="ECEDED"/>
          </a:solidFill>
          <a:ln/>
        </p:spPr>
      </p:sp>
      <p:sp>
        <p:nvSpPr>
          <p:cNvPr id="30" name="Text 28"/>
          <p:cNvSpPr/>
          <p:nvPr/>
        </p:nvSpPr>
        <p:spPr>
          <a:xfrm>
            <a:off x="15074741" y="4255770"/>
            <a:ext cx="1795939" cy="35052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Roboto Mono" pitchFamily="34" charset="0"/>
                <a:ea typeface="Roboto Mono" pitchFamily="34" charset="-122"/>
                <a:cs typeface="Roboto Mono" pitchFamily="34" charset="-120"/>
              </a:rPr>
              <a:t>97.8%</a:t>
            </a:r>
            <a:endParaRPr lang="en-US" sz="1875" dirty="0"/>
          </a:p>
        </p:txBody>
      </p:sp>
      <p:sp>
        <p:nvSpPr>
          <p:cNvPr id="31" name="Shape 29"/>
          <p:cNvSpPr/>
          <p:nvPr/>
        </p:nvSpPr>
        <p:spPr>
          <a:xfrm>
            <a:off x="9132094" y="5288280"/>
            <a:ext cx="2579489" cy="9525"/>
          </a:xfrm>
          <a:prstGeom prst="rect">
            <a:avLst/>
          </a:prstGeom>
          <a:solidFill>
            <a:srgbClr val="ECEDED"/>
          </a:solidFill>
          <a:ln/>
        </p:spPr>
      </p:sp>
      <p:sp>
        <p:nvSpPr>
          <p:cNvPr id="32" name="Text 30"/>
          <p:cNvSpPr/>
          <p:nvPr/>
        </p:nvSpPr>
        <p:spPr>
          <a:xfrm>
            <a:off x="9132094" y="4842510"/>
            <a:ext cx="2656874" cy="350520"/>
          </a:xfrm>
          <a:prstGeom prst="rect">
            <a:avLst/>
          </a:prstGeom>
          <a:noFill/>
          <a:ln/>
        </p:spPr>
        <p:txBody>
          <a:bodyPr wrap="square" lIns="25400" tIns="25400" rIns="25400" bIns="25400" rtlCol="0" anchor="t">
            <a:normAutofit/>
          </a:bodyPr>
          <a:lstStyle/>
          <a:p>
            <a:pPr algn="l" indent="0" marL="0">
              <a:buNone/>
            </a:pPr>
            <a:r>
              <a:rPr lang="en-US" sz="1875" dirty="0">
                <a:solidFill>
                  <a:srgbClr val="16181D"/>
                </a:solidFill>
                <a:latin typeface="Roboto Mono" pitchFamily="34" charset="0"/>
                <a:ea typeface="Roboto Mono" pitchFamily="34" charset="-122"/>
                <a:cs typeface="Roboto Mono" pitchFamily="34" charset="-120"/>
              </a:rPr>
              <a:t>FPR</a:t>
            </a:r>
            <a:endParaRPr lang="en-US" sz="1875" dirty="0"/>
          </a:p>
        </p:txBody>
      </p:sp>
      <p:sp>
        <p:nvSpPr>
          <p:cNvPr id="33" name="Shape 31"/>
          <p:cNvSpPr/>
          <p:nvPr/>
        </p:nvSpPr>
        <p:spPr>
          <a:xfrm>
            <a:off x="11711583" y="5288280"/>
            <a:ext cx="1719620" cy="9525"/>
          </a:xfrm>
          <a:prstGeom prst="rect">
            <a:avLst/>
          </a:prstGeom>
          <a:solidFill>
            <a:srgbClr val="ECEDED"/>
          </a:solidFill>
          <a:ln/>
        </p:spPr>
      </p:sp>
      <p:sp>
        <p:nvSpPr>
          <p:cNvPr id="34" name="Text 32"/>
          <p:cNvSpPr/>
          <p:nvPr/>
        </p:nvSpPr>
        <p:spPr>
          <a:xfrm>
            <a:off x="11635383" y="4842510"/>
            <a:ext cx="1795820" cy="35052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Roboto Mono" pitchFamily="34" charset="0"/>
                <a:ea typeface="Roboto Mono" pitchFamily="34" charset="-122"/>
                <a:cs typeface="Roboto Mono" pitchFamily="34" charset="-120"/>
              </a:rPr>
              <a:t>1.5%</a:t>
            </a:r>
            <a:endParaRPr lang="en-US" sz="1875" dirty="0"/>
          </a:p>
        </p:txBody>
      </p:sp>
      <p:sp>
        <p:nvSpPr>
          <p:cNvPr id="35" name="Shape 33"/>
          <p:cNvSpPr/>
          <p:nvPr/>
        </p:nvSpPr>
        <p:spPr>
          <a:xfrm>
            <a:off x="13431202" y="5288280"/>
            <a:ext cx="1719739" cy="9525"/>
          </a:xfrm>
          <a:prstGeom prst="rect">
            <a:avLst/>
          </a:prstGeom>
          <a:solidFill>
            <a:srgbClr val="ECEDED"/>
          </a:solidFill>
          <a:ln/>
        </p:spPr>
      </p:sp>
      <p:sp>
        <p:nvSpPr>
          <p:cNvPr id="36" name="Text 34"/>
          <p:cNvSpPr/>
          <p:nvPr/>
        </p:nvSpPr>
        <p:spPr>
          <a:xfrm>
            <a:off x="13355002" y="4842510"/>
            <a:ext cx="1795939" cy="350520"/>
          </a:xfrm>
          <a:prstGeom prst="rect">
            <a:avLst/>
          </a:prstGeom>
          <a:noFill/>
          <a:ln/>
        </p:spPr>
        <p:txBody>
          <a:bodyPr wrap="square" lIns="25400" tIns="25400" rIns="25400" bIns="25400" rtlCol="0" anchor="t">
            <a:normAutofit/>
          </a:bodyPr>
          <a:lstStyle/>
          <a:p>
            <a:pPr algn="r" indent="0" marL="0">
              <a:buNone/>
            </a:pPr>
            <a:r>
              <a:rPr lang="en-US" sz="1875" b="1" dirty="0">
                <a:solidFill>
                  <a:srgbClr val="2B57D6"/>
                </a:solidFill>
                <a:latin typeface="Roboto Mono" pitchFamily="34" charset="0"/>
                <a:ea typeface="Roboto Mono" pitchFamily="34" charset="-122"/>
                <a:cs typeface="Roboto Mono" pitchFamily="34" charset="-120"/>
              </a:rPr>
              <a:t>1.5%</a:t>
            </a:r>
            <a:endParaRPr lang="en-US" sz="1875" dirty="0"/>
          </a:p>
        </p:txBody>
      </p:sp>
      <p:sp>
        <p:nvSpPr>
          <p:cNvPr id="37" name="Shape 35"/>
          <p:cNvSpPr/>
          <p:nvPr/>
        </p:nvSpPr>
        <p:spPr>
          <a:xfrm>
            <a:off x="15150941" y="5288280"/>
            <a:ext cx="1719739" cy="9525"/>
          </a:xfrm>
          <a:prstGeom prst="rect">
            <a:avLst/>
          </a:prstGeom>
          <a:solidFill>
            <a:srgbClr val="ECEDED"/>
          </a:solidFill>
          <a:ln/>
        </p:spPr>
      </p:sp>
      <p:sp>
        <p:nvSpPr>
          <p:cNvPr id="38" name="Text 36"/>
          <p:cNvSpPr/>
          <p:nvPr/>
        </p:nvSpPr>
        <p:spPr>
          <a:xfrm>
            <a:off x="15074741" y="4842510"/>
            <a:ext cx="1795939" cy="35052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Roboto Mono" pitchFamily="34" charset="0"/>
                <a:ea typeface="Roboto Mono" pitchFamily="34" charset="-122"/>
                <a:cs typeface="Roboto Mono" pitchFamily="34" charset="-120"/>
              </a:rPr>
              <a:t>0.0%</a:t>
            </a:r>
            <a:endParaRPr lang="en-US" sz="1875" dirty="0"/>
          </a:p>
        </p:txBody>
      </p:sp>
      <p:sp>
        <p:nvSpPr>
          <p:cNvPr id="39" name="Shape 37"/>
          <p:cNvSpPr/>
          <p:nvPr/>
        </p:nvSpPr>
        <p:spPr>
          <a:xfrm>
            <a:off x="9132094" y="5875020"/>
            <a:ext cx="2579489" cy="9525"/>
          </a:xfrm>
          <a:prstGeom prst="rect">
            <a:avLst/>
          </a:prstGeom>
          <a:solidFill>
            <a:srgbClr val="ECEDED"/>
          </a:solidFill>
          <a:ln/>
        </p:spPr>
      </p:sp>
      <p:sp>
        <p:nvSpPr>
          <p:cNvPr id="40" name="Text 38"/>
          <p:cNvSpPr/>
          <p:nvPr/>
        </p:nvSpPr>
        <p:spPr>
          <a:xfrm>
            <a:off x="9132094" y="5429250"/>
            <a:ext cx="2656874" cy="350520"/>
          </a:xfrm>
          <a:prstGeom prst="rect">
            <a:avLst/>
          </a:prstGeom>
          <a:noFill/>
          <a:ln/>
        </p:spPr>
        <p:txBody>
          <a:bodyPr wrap="square" lIns="25400" tIns="25400" rIns="25400" bIns="25400" rtlCol="0" anchor="t">
            <a:normAutofit/>
          </a:bodyPr>
          <a:lstStyle/>
          <a:p>
            <a:pPr algn="l" indent="0" marL="0">
              <a:buNone/>
            </a:pPr>
            <a:r>
              <a:rPr lang="en-US" sz="1875" dirty="0">
                <a:solidFill>
                  <a:srgbClr val="16181D"/>
                </a:solidFill>
                <a:latin typeface="Roboto Mono" pitchFamily="34" charset="0"/>
                <a:ea typeface="Roboto Mono" pitchFamily="34" charset="-122"/>
                <a:cs typeface="Roboto Mono" pitchFamily="34" charset="-120"/>
              </a:rPr>
              <a:t>FNR</a:t>
            </a:r>
            <a:endParaRPr lang="en-US" sz="1875" dirty="0"/>
          </a:p>
        </p:txBody>
      </p:sp>
      <p:sp>
        <p:nvSpPr>
          <p:cNvPr id="41" name="Shape 39"/>
          <p:cNvSpPr/>
          <p:nvPr/>
        </p:nvSpPr>
        <p:spPr>
          <a:xfrm>
            <a:off x="11711583" y="5875020"/>
            <a:ext cx="1719620" cy="9525"/>
          </a:xfrm>
          <a:prstGeom prst="rect">
            <a:avLst/>
          </a:prstGeom>
          <a:solidFill>
            <a:srgbClr val="ECEDED"/>
          </a:solidFill>
          <a:ln/>
        </p:spPr>
      </p:sp>
      <p:sp>
        <p:nvSpPr>
          <p:cNvPr id="42" name="Text 40"/>
          <p:cNvSpPr/>
          <p:nvPr/>
        </p:nvSpPr>
        <p:spPr>
          <a:xfrm>
            <a:off x="11635383" y="5429250"/>
            <a:ext cx="1795820" cy="35052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Roboto Mono" pitchFamily="34" charset="0"/>
                <a:ea typeface="Roboto Mono" pitchFamily="34" charset="-122"/>
                <a:cs typeface="Roboto Mono" pitchFamily="34" charset="-120"/>
              </a:rPr>
              <a:t>0.0%</a:t>
            </a:r>
            <a:endParaRPr lang="en-US" sz="1875" dirty="0"/>
          </a:p>
        </p:txBody>
      </p:sp>
      <p:sp>
        <p:nvSpPr>
          <p:cNvPr id="43" name="Shape 41"/>
          <p:cNvSpPr/>
          <p:nvPr/>
        </p:nvSpPr>
        <p:spPr>
          <a:xfrm>
            <a:off x="13431202" y="5875020"/>
            <a:ext cx="1719739" cy="9525"/>
          </a:xfrm>
          <a:prstGeom prst="rect">
            <a:avLst/>
          </a:prstGeom>
          <a:solidFill>
            <a:srgbClr val="ECEDED"/>
          </a:solidFill>
          <a:ln/>
        </p:spPr>
      </p:sp>
      <p:sp>
        <p:nvSpPr>
          <p:cNvPr id="44" name="Text 42"/>
          <p:cNvSpPr/>
          <p:nvPr/>
        </p:nvSpPr>
        <p:spPr>
          <a:xfrm>
            <a:off x="13355002" y="5429250"/>
            <a:ext cx="1795939" cy="350520"/>
          </a:xfrm>
          <a:prstGeom prst="rect">
            <a:avLst/>
          </a:prstGeom>
          <a:noFill/>
          <a:ln/>
        </p:spPr>
        <p:txBody>
          <a:bodyPr wrap="square" lIns="25400" tIns="25400" rIns="25400" bIns="25400" rtlCol="0" anchor="t">
            <a:normAutofit/>
          </a:bodyPr>
          <a:lstStyle/>
          <a:p>
            <a:pPr algn="r" indent="0" marL="0">
              <a:buNone/>
            </a:pPr>
            <a:r>
              <a:rPr lang="en-US" sz="1875" b="1" dirty="0">
                <a:solidFill>
                  <a:srgbClr val="2B57D6"/>
                </a:solidFill>
                <a:latin typeface="Roboto Mono" pitchFamily="34" charset="0"/>
                <a:ea typeface="Roboto Mono" pitchFamily="34" charset="-122"/>
                <a:cs typeface="Roboto Mono" pitchFamily="34" charset="-120"/>
              </a:rPr>
              <a:t>0.0%</a:t>
            </a:r>
            <a:endParaRPr lang="en-US" sz="1875" dirty="0"/>
          </a:p>
        </p:txBody>
      </p:sp>
      <p:sp>
        <p:nvSpPr>
          <p:cNvPr id="45" name="Shape 43"/>
          <p:cNvSpPr/>
          <p:nvPr/>
        </p:nvSpPr>
        <p:spPr>
          <a:xfrm>
            <a:off x="15150941" y="5875020"/>
            <a:ext cx="1719739" cy="9525"/>
          </a:xfrm>
          <a:prstGeom prst="rect">
            <a:avLst/>
          </a:prstGeom>
          <a:solidFill>
            <a:srgbClr val="ECEDED"/>
          </a:solidFill>
          <a:ln/>
        </p:spPr>
      </p:sp>
      <p:sp>
        <p:nvSpPr>
          <p:cNvPr id="46" name="Text 44"/>
          <p:cNvSpPr/>
          <p:nvPr/>
        </p:nvSpPr>
        <p:spPr>
          <a:xfrm>
            <a:off x="15074741" y="5429250"/>
            <a:ext cx="1795939" cy="350520"/>
          </a:xfrm>
          <a:prstGeom prst="rect">
            <a:avLst/>
          </a:prstGeom>
          <a:noFill/>
          <a:ln/>
        </p:spPr>
        <p:txBody>
          <a:bodyPr wrap="square" lIns="25400" tIns="25400" rIns="25400" bIns="25400" rtlCol="0" anchor="t">
            <a:normAutofit/>
          </a:bodyPr>
          <a:lstStyle/>
          <a:p>
            <a:pPr algn="r" indent="0" marL="0">
              <a:buNone/>
            </a:pPr>
            <a:r>
              <a:rPr lang="en-US" sz="1875" b="1" dirty="0">
                <a:solidFill>
                  <a:srgbClr val="C2410C"/>
                </a:solidFill>
                <a:latin typeface="Roboto Mono" pitchFamily="34" charset="0"/>
                <a:ea typeface="Roboto Mono" pitchFamily="34" charset="-122"/>
                <a:cs typeface="Roboto Mono" pitchFamily="34" charset="-120"/>
              </a:rPr>
              <a:t>8.0%</a:t>
            </a:r>
            <a:endParaRPr lang="en-US" sz="1875" dirty="0"/>
          </a:p>
        </p:txBody>
      </p:sp>
      <p:sp>
        <p:nvSpPr>
          <p:cNvPr id="47" name="Shape 45"/>
          <p:cNvSpPr/>
          <p:nvPr/>
        </p:nvSpPr>
        <p:spPr>
          <a:xfrm>
            <a:off x="9132094" y="6461760"/>
            <a:ext cx="2579489" cy="9525"/>
          </a:xfrm>
          <a:prstGeom prst="rect">
            <a:avLst/>
          </a:prstGeom>
          <a:solidFill>
            <a:srgbClr val="ECEDED"/>
          </a:solidFill>
          <a:ln/>
        </p:spPr>
      </p:sp>
      <p:sp>
        <p:nvSpPr>
          <p:cNvPr id="48" name="Text 46"/>
          <p:cNvSpPr/>
          <p:nvPr/>
        </p:nvSpPr>
        <p:spPr>
          <a:xfrm>
            <a:off x="9132094" y="6015990"/>
            <a:ext cx="2656874" cy="350520"/>
          </a:xfrm>
          <a:prstGeom prst="rect">
            <a:avLst/>
          </a:prstGeom>
          <a:noFill/>
          <a:ln/>
        </p:spPr>
        <p:txBody>
          <a:bodyPr wrap="square" lIns="25400" tIns="25400" rIns="25400" bIns="25400" rtlCol="0" anchor="t">
            <a:normAutofit/>
          </a:bodyPr>
          <a:lstStyle/>
          <a:p>
            <a:pPr algn="l" indent="0" marL="0">
              <a:buNone/>
            </a:pPr>
            <a:r>
              <a:rPr lang="en-US" sz="1875" dirty="0">
                <a:solidFill>
                  <a:srgbClr val="16181D"/>
                </a:solidFill>
                <a:latin typeface="Roboto Mono" pitchFamily="34" charset="0"/>
                <a:ea typeface="Roboto Mono" pitchFamily="34" charset="-122"/>
                <a:cs typeface="Roboto Mono" pitchFamily="34" charset="-120"/>
              </a:rPr>
              <a:t>의도 정확도</a:t>
            </a:r>
            <a:endParaRPr lang="en-US" sz="1875" dirty="0"/>
          </a:p>
        </p:txBody>
      </p:sp>
      <p:sp>
        <p:nvSpPr>
          <p:cNvPr id="49" name="Shape 47"/>
          <p:cNvSpPr/>
          <p:nvPr/>
        </p:nvSpPr>
        <p:spPr>
          <a:xfrm>
            <a:off x="11711583" y="6461760"/>
            <a:ext cx="1719620" cy="9525"/>
          </a:xfrm>
          <a:prstGeom prst="rect">
            <a:avLst/>
          </a:prstGeom>
          <a:solidFill>
            <a:srgbClr val="ECEDED"/>
          </a:solidFill>
          <a:ln/>
        </p:spPr>
      </p:sp>
      <p:sp>
        <p:nvSpPr>
          <p:cNvPr id="50" name="Text 48"/>
          <p:cNvSpPr/>
          <p:nvPr/>
        </p:nvSpPr>
        <p:spPr>
          <a:xfrm>
            <a:off x="11635383" y="6015990"/>
            <a:ext cx="1795820" cy="35052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Roboto Mono" pitchFamily="34" charset="0"/>
                <a:ea typeface="Roboto Mono" pitchFamily="34" charset="-122"/>
                <a:cs typeface="Roboto Mono" pitchFamily="34" charset="-120"/>
              </a:rPr>
              <a:t>53.3%</a:t>
            </a:r>
            <a:endParaRPr lang="en-US" sz="1875" dirty="0"/>
          </a:p>
        </p:txBody>
      </p:sp>
      <p:sp>
        <p:nvSpPr>
          <p:cNvPr id="51" name="Shape 49"/>
          <p:cNvSpPr/>
          <p:nvPr/>
        </p:nvSpPr>
        <p:spPr>
          <a:xfrm>
            <a:off x="13431202" y="6461760"/>
            <a:ext cx="1719739" cy="9525"/>
          </a:xfrm>
          <a:prstGeom prst="rect">
            <a:avLst/>
          </a:prstGeom>
          <a:solidFill>
            <a:srgbClr val="ECEDED"/>
          </a:solidFill>
          <a:ln/>
        </p:spPr>
      </p:sp>
      <p:sp>
        <p:nvSpPr>
          <p:cNvPr id="52" name="Text 50"/>
          <p:cNvSpPr/>
          <p:nvPr/>
        </p:nvSpPr>
        <p:spPr>
          <a:xfrm>
            <a:off x="13355002" y="6015990"/>
            <a:ext cx="1795939" cy="350520"/>
          </a:xfrm>
          <a:prstGeom prst="rect">
            <a:avLst/>
          </a:prstGeom>
          <a:noFill/>
          <a:ln/>
        </p:spPr>
        <p:txBody>
          <a:bodyPr wrap="square" lIns="25400" tIns="25400" rIns="25400" bIns="25400" rtlCol="0" anchor="t">
            <a:normAutofit/>
          </a:bodyPr>
          <a:lstStyle/>
          <a:p>
            <a:pPr algn="r" indent="0" marL="0">
              <a:buNone/>
            </a:pPr>
            <a:r>
              <a:rPr lang="en-US" sz="1875" b="1" dirty="0">
                <a:solidFill>
                  <a:srgbClr val="2B57D6"/>
                </a:solidFill>
                <a:latin typeface="Roboto Mono" pitchFamily="34" charset="0"/>
                <a:ea typeface="Roboto Mono" pitchFamily="34" charset="-122"/>
                <a:cs typeface="Roboto Mono" pitchFamily="34" charset="-120"/>
              </a:rPr>
              <a:t>38.9%</a:t>
            </a:r>
            <a:endParaRPr lang="en-US" sz="1875" dirty="0"/>
          </a:p>
        </p:txBody>
      </p:sp>
      <p:sp>
        <p:nvSpPr>
          <p:cNvPr id="53" name="Shape 51"/>
          <p:cNvSpPr/>
          <p:nvPr/>
        </p:nvSpPr>
        <p:spPr>
          <a:xfrm>
            <a:off x="15150941" y="6461760"/>
            <a:ext cx="1719739" cy="9525"/>
          </a:xfrm>
          <a:prstGeom prst="rect">
            <a:avLst/>
          </a:prstGeom>
          <a:solidFill>
            <a:srgbClr val="ECEDED"/>
          </a:solidFill>
          <a:ln/>
        </p:spPr>
      </p:sp>
      <p:sp>
        <p:nvSpPr>
          <p:cNvPr id="54" name="Text 52"/>
          <p:cNvSpPr/>
          <p:nvPr/>
        </p:nvSpPr>
        <p:spPr>
          <a:xfrm>
            <a:off x="15074741" y="6015990"/>
            <a:ext cx="1795939" cy="350520"/>
          </a:xfrm>
          <a:prstGeom prst="rect">
            <a:avLst/>
          </a:prstGeom>
          <a:noFill/>
          <a:ln/>
        </p:spPr>
        <p:txBody>
          <a:bodyPr wrap="square" lIns="25400" tIns="25400" rIns="25400" bIns="25400" rtlCol="0" anchor="t">
            <a:normAutofit/>
          </a:bodyPr>
          <a:lstStyle/>
          <a:p>
            <a:pPr algn="r" indent="0" marL="0">
              <a:buNone/>
            </a:pPr>
            <a:r>
              <a:rPr lang="en-US" sz="1875" dirty="0">
                <a:solidFill>
                  <a:srgbClr val="C2410C"/>
                </a:solidFill>
                <a:latin typeface="Roboto Mono" pitchFamily="34" charset="0"/>
                <a:ea typeface="Roboto Mono" pitchFamily="34" charset="-122"/>
                <a:cs typeface="Roboto Mono" pitchFamily="34" charset="-120"/>
              </a:rPr>
              <a:t>17.8%</a:t>
            </a:r>
            <a:endParaRPr lang="en-US" sz="1875" dirty="0"/>
          </a:p>
        </p:txBody>
      </p:sp>
      <p:sp>
        <p:nvSpPr>
          <p:cNvPr id="55" name="Shape 53"/>
          <p:cNvSpPr/>
          <p:nvPr/>
        </p:nvSpPr>
        <p:spPr>
          <a:xfrm>
            <a:off x="9132094" y="7048500"/>
            <a:ext cx="2579489" cy="9525"/>
          </a:xfrm>
          <a:prstGeom prst="rect">
            <a:avLst/>
          </a:prstGeom>
          <a:solidFill>
            <a:srgbClr val="ECEDED"/>
          </a:solidFill>
          <a:ln/>
        </p:spPr>
      </p:sp>
      <p:sp>
        <p:nvSpPr>
          <p:cNvPr id="56" name="Text 54"/>
          <p:cNvSpPr/>
          <p:nvPr/>
        </p:nvSpPr>
        <p:spPr>
          <a:xfrm>
            <a:off x="9132094" y="6602730"/>
            <a:ext cx="2656874" cy="350520"/>
          </a:xfrm>
          <a:prstGeom prst="rect">
            <a:avLst/>
          </a:prstGeom>
          <a:noFill/>
          <a:ln/>
        </p:spPr>
        <p:txBody>
          <a:bodyPr wrap="square" lIns="25400" tIns="25400" rIns="25400" bIns="25400" rtlCol="0" anchor="t">
            <a:normAutofit/>
          </a:bodyPr>
          <a:lstStyle/>
          <a:p>
            <a:pPr algn="l" indent="0" marL="0">
              <a:buNone/>
            </a:pPr>
            <a:r>
              <a:rPr lang="en-US" sz="1875" dirty="0">
                <a:solidFill>
                  <a:srgbClr val="16181D"/>
                </a:solidFill>
                <a:latin typeface="Roboto Mono" pitchFamily="34" charset="0"/>
                <a:ea typeface="Roboto Mono" pitchFamily="34" charset="-122"/>
                <a:cs typeface="Roboto Mono" pitchFamily="34" charset="-120"/>
              </a:rPr>
              <a:t>P95 지연</a:t>
            </a:r>
            <a:endParaRPr lang="en-US" sz="1875" dirty="0"/>
          </a:p>
        </p:txBody>
      </p:sp>
      <p:sp>
        <p:nvSpPr>
          <p:cNvPr id="57" name="Shape 55"/>
          <p:cNvSpPr/>
          <p:nvPr/>
        </p:nvSpPr>
        <p:spPr>
          <a:xfrm>
            <a:off x="11711583" y="7048500"/>
            <a:ext cx="1719620" cy="9525"/>
          </a:xfrm>
          <a:prstGeom prst="rect">
            <a:avLst/>
          </a:prstGeom>
          <a:solidFill>
            <a:srgbClr val="ECEDED"/>
          </a:solidFill>
          <a:ln/>
        </p:spPr>
      </p:sp>
      <p:sp>
        <p:nvSpPr>
          <p:cNvPr id="58" name="Text 56"/>
          <p:cNvSpPr/>
          <p:nvPr/>
        </p:nvSpPr>
        <p:spPr>
          <a:xfrm>
            <a:off x="11635383" y="6602730"/>
            <a:ext cx="1795820" cy="35052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Roboto Mono" pitchFamily="34" charset="0"/>
                <a:ea typeface="Roboto Mono" pitchFamily="34" charset="-122"/>
                <a:cs typeface="Roboto Mono" pitchFamily="34" charset="-120"/>
              </a:rPr>
              <a:t>2.335s</a:t>
            </a:r>
            <a:endParaRPr lang="en-US" sz="1875" dirty="0"/>
          </a:p>
        </p:txBody>
      </p:sp>
      <p:sp>
        <p:nvSpPr>
          <p:cNvPr id="59" name="Shape 57"/>
          <p:cNvSpPr/>
          <p:nvPr/>
        </p:nvSpPr>
        <p:spPr>
          <a:xfrm>
            <a:off x="13431202" y="7048500"/>
            <a:ext cx="1719739" cy="9525"/>
          </a:xfrm>
          <a:prstGeom prst="rect">
            <a:avLst/>
          </a:prstGeom>
          <a:solidFill>
            <a:srgbClr val="ECEDED"/>
          </a:solidFill>
          <a:ln/>
        </p:spPr>
      </p:sp>
      <p:sp>
        <p:nvSpPr>
          <p:cNvPr id="60" name="Text 58"/>
          <p:cNvSpPr/>
          <p:nvPr/>
        </p:nvSpPr>
        <p:spPr>
          <a:xfrm>
            <a:off x="13355002" y="6602730"/>
            <a:ext cx="1795939" cy="350520"/>
          </a:xfrm>
          <a:prstGeom prst="rect">
            <a:avLst/>
          </a:prstGeom>
          <a:noFill/>
          <a:ln/>
        </p:spPr>
        <p:txBody>
          <a:bodyPr wrap="square" lIns="25400" tIns="25400" rIns="25400" bIns="25400" rtlCol="0" anchor="t">
            <a:normAutofit/>
          </a:bodyPr>
          <a:lstStyle/>
          <a:p>
            <a:pPr algn="r" indent="0" marL="0">
              <a:buNone/>
            </a:pPr>
            <a:r>
              <a:rPr lang="en-US" sz="1875" b="1" dirty="0">
                <a:solidFill>
                  <a:srgbClr val="2B57D6"/>
                </a:solidFill>
                <a:latin typeface="Roboto Mono" pitchFamily="34" charset="0"/>
                <a:ea typeface="Roboto Mono" pitchFamily="34" charset="-122"/>
                <a:cs typeface="Roboto Mono" pitchFamily="34" charset="-120"/>
              </a:rPr>
              <a:t>1.423s</a:t>
            </a:r>
            <a:endParaRPr lang="en-US" sz="1875" dirty="0"/>
          </a:p>
        </p:txBody>
      </p:sp>
      <p:sp>
        <p:nvSpPr>
          <p:cNvPr id="61" name="Shape 59"/>
          <p:cNvSpPr/>
          <p:nvPr/>
        </p:nvSpPr>
        <p:spPr>
          <a:xfrm>
            <a:off x="15150941" y="7048500"/>
            <a:ext cx="1719739" cy="9525"/>
          </a:xfrm>
          <a:prstGeom prst="rect">
            <a:avLst/>
          </a:prstGeom>
          <a:solidFill>
            <a:srgbClr val="ECEDED"/>
          </a:solidFill>
          <a:ln/>
        </p:spPr>
      </p:sp>
      <p:sp>
        <p:nvSpPr>
          <p:cNvPr id="62" name="Text 60"/>
          <p:cNvSpPr/>
          <p:nvPr/>
        </p:nvSpPr>
        <p:spPr>
          <a:xfrm>
            <a:off x="15074741" y="6602730"/>
            <a:ext cx="1795939" cy="35052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Roboto Mono" pitchFamily="34" charset="0"/>
                <a:ea typeface="Roboto Mono" pitchFamily="34" charset="-122"/>
                <a:cs typeface="Roboto Mono" pitchFamily="34" charset="-120"/>
              </a:rPr>
              <a:t>1.698s</a:t>
            </a:r>
            <a:endParaRPr lang="en-US" sz="1875" dirty="0"/>
          </a:p>
        </p:txBody>
      </p:sp>
      <p:sp>
        <p:nvSpPr>
          <p:cNvPr id="63" name="Text 61"/>
          <p:cNvSpPr/>
          <p:nvPr/>
        </p:nvSpPr>
        <p:spPr>
          <a:xfrm>
            <a:off x="9132094" y="7189470"/>
            <a:ext cx="2656874" cy="350520"/>
          </a:xfrm>
          <a:prstGeom prst="rect">
            <a:avLst/>
          </a:prstGeom>
          <a:noFill/>
          <a:ln/>
        </p:spPr>
        <p:txBody>
          <a:bodyPr wrap="square" lIns="25400" tIns="25400" rIns="25400" bIns="25400" rtlCol="0" anchor="t">
            <a:normAutofit/>
          </a:bodyPr>
          <a:lstStyle/>
          <a:p>
            <a:pPr algn="l" indent="0" marL="0">
              <a:buNone/>
            </a:pPr>
            <a:r>
              <a:rPr lang="en-US" sz="1875" dirty="0">
                <a:solidFill>
                  <a:srgbClr val="16181D"/>
                </a:solidFill>
                <a:latin typeface="Roboto Mono" pitchFamily="34" charset="0"/>
                <a:ea typeface="Roboto Mono" pitchFamily="34" charset="-122"/>
                <a:cs typeface="Roboto Mono" pitchFamily="34" charset="-120"/>
              </a:rPr>
              <a:t>에스컬레이션 α</a:t>
            </a:r>
            <a:endParaRPr lang="en-US" sz="1875" dirty="0"/>
          </a:p>
        </p:txBody>
      </p:sp>
      <p:sp>
        <p:nvSpPr>
          <p:cNvPr id="64" name="Text 62"/>
          <p:cNvSpPr/>
          <p:nvPr/>
        </p:nvSpPr>
        <p:spPr>
          <a:xfrm>
            <a:off x="11635383" y="7189470"/>
            <a:ext cx="1795820" cy="35052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Roboto Mono" pitchFamily="34" charset="0"/>
                <a:ea typeface="Roboto Mono" pitchFamily="34" charset="-122"/>
                <a:cs typeface="Roboto Mono" pitchFamily="34" charset="-120"/>
              </a:rPr>
              <a:t>54.4%</a:t>
            </a:r>
            <a:endParaRPr lang="en-US" sz="1875" dirty="0"/>
          </a:p>
        </p:txBody>
      </p:sp>
      <p:sp>
        <p:nvSpPr>
          <p:cNvPr id="65" name="Text 63"/>
          <p:cNvSpPr/>
          <p:nvPr/>
        </p:nvSpPr>
        <p:spPr>
          <a:xfrm>
            <a:off x="13355002" y="7189470"/>
            <a:ext cx="1795939" cy="350520"/>
          </a:xfrm>
          <a:prstGeom prst="rect">
            <a:avLst/>
          </a:prstGeom>
          <a:noFill/>
          <a:ln/>
        </p:spPr>
        <p:txBody>
          <a:bodyPr wrap="square" lIns="25400" tIns="25400" rIns="25400" bIns="25400" rtlCol="0" anchor="t">
            <a:normAutofit/>
          </a:bodyPr>
          <a:lstStyle/>
          <a:p>
            <a:pPr algn="r" indent="0" marL="0">
              <a:buNone/>
            </a:pPr>
            <a:r>
              <a:rPr lang="en-US" sz="1875" b="1" dirty="0">
                <a:solidFill>
                  <a:srgbClr val="2B57D6"/>
                </a:solidFill>
                <a:latin typeface="Roboto Mono" pitchFamily="34" charset="0"/>
                <a:ea typeface="Roboto Mono" pitchFamily="34" charset="-122"/>
                <a:cs typeface="Roboto Mono" pitchFamily="34" charset="-120"/>
              </a:rPr>
              <a:t>51.1%</a:t>
            </a:r>
            <a:endParaRPr lang="en-US" sz="1875" dirty="0"/>
          </a:p>
        </p:txBody>
      </p:sp>
      <p:sp>
        <p:nvSpPr>
          <p:cNvPr id="66" name="Text 64"/>
          <p:cNvSpPr/>
          <p:nvPr/>
        </p:nvSpPr>
        <p:spPr>
          <a:xfrm>
            <a:off x="15074741" y="7189470"/>
            <a:ext cx="1795939" cy="35052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Roboto Mono" pitchFamily="34" charset="0"/>
                <a:ea typeface="Roboto Mono" pitchFamily="34" charset="-122"/>
                <a:cs typeface="Roboto Mono" pitchFamily="34" charset="-120"/>
              </a:rPr>
              <a:t>64.4%</a:t>
            </a:r>
            <a:endParaRPr lang="en-US" sz="1875" dirty="0"/>
          </a:p>
        </p:txBody>
      </p:sp>
      <p:sp>
        <p:nvSpPr>
          <p:cNvPr id="67" name="Shape 65"/>
          <p:cNvSpPr/>
          <p:nvPr/>
        </p:nvSpPr>
        <p:spPr>
          <a:xfrm>
            <a:off x="9132094" y="7825740"/>
            <a:ext cx="7738586" cy="1172527"/>
          </a:xfrm>
          <a:prstGeom prst="rect">
            <a:avLst/>
          </a:prstGeom>
          <a:solidFill>
            <a:srgbClr val="FFF7ED"/>
          </a:solidFill>
          <a:ln w="7620">
            <a:solidFill>
              <a:srgbClr val="FED7AA"/>
            </a:solidFill>
            <a:prstDash val="solid"/>
          </a:ln>
        </p:spPr>
      </p:sp>
      <p:sp>
        <p:nvSpPr>
          <p:cNvPr id="68" name="Text 66"/>
          <p:cNvSpPr/>
          <p:nvPr/>
        </p:nvSpPr>
        <p:spPr>
          <a:xfrm>
            <a:off x="9387364" y="8042910"/>
            <a:ext cx="7460204" cy="776287"/>
          </a:xfrm>
          <a:prstGeom prst="rect">
            <a:avLst/>
          </a:prstGeom>
          <a:noFill/>
          <a:ln/>
        </p:spPr>
        <p:txBody>
          <a:bodyPr wrap="square" lIns="25400" tIns="25400" rIns="25400" bIns="25400" rtlCol="0" anchor="t">
            <a:normAutofit/>
          </a:bodyPr>
          <a:lstStyle/>
          <a:p>
            <a:pPr algn="l" indent="0" marL="0">
              <a:lnSpc>
                <a:spcPct val="134549"/>
              </a:lnSpc>
              <a:buNone/>
            </a:pPr>
            <a:r>
              <a:rPr lang="en-US" sz="1875" b="1" dirty="0">
                <a:solidFill>
                  <a:srgbClr val="7C2D12"/>
                </a:solidFill>
                <a:latin typeface="Arial" pitchFamily="34" charset="0"/>
                <a:ea typeface="Arial" pitchFamily="34" charset="-122"/>
                <a:cs typeface="Arial" pitchFamily="34" charset="-120"/>
              </a:rPr>
              <a:t>1.7B 의 FPR 0% 는 함정이다. </a:t>
            </a:r>
            <a:pPr algn="l" indent="0" marL="0">
              <a:lnSpc>
                <a:spcPct val="134549"/>
              </a:lnSpc>
              <a:buNone/>
            </a:pPr>
            <a:r>
              <a:rPr lang="en-US" sz="1875" dirty="0">
                <a:solidFill>
                  <a:srgbClr val="7C2D12"/>
                </a:solidFill>
                <a:highlight>
                  <a:srgbClr val="FFF7ED"/>
                </a:highlight>
                <a:latin typeface="Arial" pitchFamily="34" charset="0"/>
                <a:ea typeface="Arial" pitchFamily="34" charset="-122"/>
                <a:cs typeface="Arial" pitchFamily="34" charset="-120"/>
              </a:rPr>
              <a:t>정상을 막지 않는 대신 막아야 할 것도 통과시켰다 — 여권 만료 규정·부산 3일 여행 코스를 도메인 안으로 판정.</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620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05 · DESIGN DECISION 2</a:t>
            </a:r>
            <a:endParaRPr lang="en-US" sz="1800" dirty="0"/>
          </a:p>
        </p:txBody>
      </p:sp>
      <p:sp>
        <p:nvSpPr>
          <p:cNvPr id="3" name="Text 1"/>
          <p:cNvSpPr/>
          <p:nvPr/>
        </p:nvSpPr>
        <p:spPr>
          <a:xfrm>
            <a:off x="1047750" y="1192530"/>
            <a:ext cx="17811750"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왜 도구를 결정론적으로 두는가</a:t>
            </a:r>
            <a:endParaRPr lang="en-US" sz="5250" dirty="0"/>
          </a:p>
        </p:txBody>
      </p:sp>
      <p:sp>
        <p:nvSpPr>
          <p:cNvPr id="4" name="Shape 2"/>
          <p:cNvSpPr/>
          <p:nvPr/>
        </p:nvSpPr>
        <p:spPr>
          <a:xfrm>
            <a:off x="1047750" y="2556510"/>
            <a:ext cx="7924800" cy="1320165"/>
          </a:xfrm>
          <a:prstGeom prst="rect">
            <a:avLst/>
          </a:prstGeom>
          <a:solidFill>
            <a:srgbClr val="FFFFFF"/>
          </a:solidFill>
          <a:ln/>
        </p:spPr>
      </p:sp>
      <p:sp>
        <p:nvSpPr>
          <p:cNvPr id="5" name="Shape 3"/>
          <p:cNvSpPr/>
          <p:nvPr/>
        </p:nvSpPr>
        <p:spPr>
          <a:xfrm>
            <a:off x="1047750" y="3869055"/>
            <a:ext cx="7924800" cy="9525"/>
          </a:xfrm>
          <a:prstGeom prst="rect">
            <a:avLst/>
          </a:prstGeom>
          <a:solidFill>
            <a:srgbClr val="DFE1E6"/>
          </a:solidFill>
          <a:ln/>
        </p:spPr>
      </p:sp>
      <p:sp>
        <p:nvSpPr>
          <p:cNvPr id="6" name="Shape 4"/>
          <p:cNvSpPr/>
          <p:nvPr/>
        </p:nvSpPr>
        <p:spPr>
          <a:xfrm>
            <a:off x="1047750" y="2556510"/>
            <a:ext cx="7924800" cy="9525"/>
          </a:xfrm>
          <a:prstGeom prst="rect">
            <a:avLst/>
          </a:prstGeom>
          <a:solidFill>
            <a:srgbClr val="DFE1E6"/>
          </a:solidFill>
          <a:ln/>
        </p:spPr>
      </p:sp>
      <p:sp>
        <p:nvSpPr>
          <p:cNvPr id="7" name="Shape 5"/>
          <p:cNvSpPr/>
          <p:nvPr/>
        </p:nvSpPr>
        <p:spPr>
          <a:xfrm>
            <a:off x="1047750" y="2556510"/>
            <a:ext cx="45720" cy="1320165"/>
          </a:xfrm>
          <a:prstGeom prst="rect">
            <a:avLst/>
          </a:prstGeom>
          <a:solidFill>
            <a:srgbClr val="4F7CFF"/>
          </a:solidFill>
          <a:ln/>
        </p:spPr>
      </p:sp>
      <p:sp>
        <p:nvSpPr>
          <p:cNvPr id="8" name="Shape 6"/>
          <p:cNvSpPr/>
          <p:nvPr/>
        </p:nvSpPr>
        <p:spPr>
          <a:xfrm>
            <a:off x="8964930" y="2556510"/>
            <a:ext cx="9525" cy="1320165"/>
          </a:xfrm>
          <a:prstGeom prst="rect">
            <a:avLst/>
          </a:prstGeom>
          <a:solidFill>
            <a:srgbClr val="DFE1E6"/>
          </a:solidFill>
          <a:ln/>
        </p:spPr>
      </p:sp>
      <p:sp>
        <p:nvSpPr>
          <p:cNvPr id="9" name="Text 7"/>
          <p:cNvSpPr/>
          <p:nvPr/>
        </p:nvSpPr>
        <p:spPr>
          <a:xfrm>
            <a:off x="1417320" y="2830830"/>
            <a:ext cx="7946136"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도구 (gate/tools.py)</a:t>
            </a:r>
            <a:endParaRPr lang="en-US" sz="1725" dirty="0"/>
          </a:p>
        </p:txBody>
      </p:sp>
      <p:sp>
        <p:nvSpPr>
          <p:cNvPr id="10" name="Text 8"/>
          <p:cNvSpPr/>
          <p:nvPr/>
        </p:nvSpPr>
        <p:spPr>
          <a:xfrm>
            <a:off x="1417320" y="3215640"/>
            <a:ext cx="7946136" cy="424815"/>
          </a:xfrm>
          <a:prstGeom prst="rect">
            <a:avLst/>
          </a:prstGeom>
          <a:noFill/>
          <a:ln/>
        </p:spPr>
        <p:txBody>
          <a:bodyPr wrap="square" lIns="25400" tIns="25400" rIns="25400" bIns="25400" rtlCol="0" anchor="t">
            <a:normAutofit/>
          </a:bodyPr>
          <a:lstStyle/>
          <a:p>
            <a:pPr algn="l" indent="0" marL="0">
              <a:lnSpc>
                <a:spcPct val="120833"/>
              </a:lnSpc>
              <a:buNone/>
            </a:pPr>
            <a:r>
              <a:rPr lang="en-US" sz="2175" b="1" dirty="0">
                <a:solidFill>
                  <a:srgbClr val="16181D"/>
                </a:solidFill>
                <a:latin typeface="Arial" pitchFamily="34" charset="0"/>
                <a:ea typeface="Arial" pitchFamily="34" charset="-122"/>
                <a:cs typeface="Arial" pitchFamily="34" charset="-120"/>
              </a:rPr>
              <a:t>공공 API JSON 을 가져온다. 계산하지 않는다.</a:t>
            </a:r>
            <a:endParaRPr lang="en-US" sz="2175" dirty="0"/>
          </a:p>
        </p:txBody>
      </p:sp>
      <p:sp>
        <p:nvSpPr>
          <p:cNvPr id="11" name="Text 9"/>
          <p:cNvSpPr/>
          <p:nvPr/>
        </p:nvSpPr>
        <p:spPr>
          <a:xfrm>
            <a:off x="651510" y="4029075"/>
            <a:ext cx="8717280" cy="361950"/>
          </a:xfrm>
          <a:prstGeom prst="rect">
            <a:avLst/>
          </a:prstGeom>
          <a:noFill/>
          <a:ln/>
        </p:spPr>
        <p:txBody>
          <a:bodyPr wrap="square" lIns="25400" tIns="25400" rIns="25400" bIns="25400" rtlCol="0" anchor="t">
            <a:normAutofit/>
          </a:bodyPr>
          <a:lstStyle/>
          <a:p>
            <a:pPr algn="ctr" indent="0" marL="0">
              <a:lnSpc>
                <a:spcPct val="88542"/>
              </a:lnSpc>
              <a:buNone/>
            </a:pPr>
            <a:r>
              <a:rPr lang="en-US" sz="2550" dirty="0">
                <a:solidFill>
                  <a:srgbClr val="C2C6CC"/>
                </a:solidFill>
                <a:latin typeface="Arial" pitchFamily="34" charset="0"/>
                <a:ea typeface="Arial" pitchFamily="34" charset="-122"/>
                <a:cs typeface="Arial" pitchFamily="34" charset="-120"/>
              </a:rPr>
              <a:t>↓</a:t>
            </a:r>
            <a:endParaRPr lang="en-US" sz="2550" dirty="0"/>
          </a:p>
        </p:txBody>
      </p:sp>
      <p:sp>
        <p:nvSpPr>
          <p:cNvPr id="12" name="Shape 10"/>
          <p:cNvSpPr/>
          <p:nvPr/>
        </p:nvSpPr>
        <p:spPr>
          <a:xfrm>
            <a:off x="1047750" y="4505325"/>
            <a:ext cx="7924800" cy="1706880"/>
          </a:xfrm>
          <a:prstGeom prst="rect">
            <a:avLst/>
          </a:prstGeom>
          <a:solidFill>
            <a:srgbClr val="FFFFFF"/>
          </a:solidFill>
          <a:ln/>
        </p:spPr>
      </p:sp>
      <p:sp>
        <p:nvSpPr>
          <p:cNvPr id="13" name="Shape 11"/>
          <p:cNvSpPr/>
          <p:nvPr/>
        </p:nvSpPr>
        <p:spPr>
          <a:xfrm>
            <a:off x="1047750" y="6204585"/>
            <a:ext cx="7924800" cy="9525"/>
          </a:xfrm>
          <a:prstGeom prst="rect">
            <a:avLst/>
          </a:prstGeom>
          <a:solidFill>
            <a:srgbClr val="DFE1E6"/>
          </a:solidFill>
          <a:ln/>
        </p:spPr>
      </p:sp>
      <p:sp>
        <p:nvSpPr>
          <p:cNvPr id="14" name="Shape 12"/>
          <p:cNvSpPr/>
          <p:nvPr/>
        </p:nvSpPr>
        <p:spPr>
          <a:xfrm>
            <a:off x="1047750" y="4505325"/>
            <a:ext cx="7924800" cy="9525"/>
          </a:xfrm>
          <a:prstGeom prst="rect">
            <a:avLst/>
          </a:prstGeom>
          <a:solidFill>
            <a:srgbClr val="DFE1E6"/>
          </a:solidFill>
          <a:ln/>
        </p:spPr>
      </p:sp>
      <p:sp>
        <p:nvSpPr>
          <p:cNvPr id="15" name="Shape 13"/>
          <p:cNvSpPr/>
          <p:nvPr/>
        </p:nvSpPr>
        <p:spPr>
          <a:xfrm>
            <a:off x="1047750" y="4505325"/>
            <a:ext cx="45720" cy="1706880"/>
          </a:xfrm>
          <a:prstGeom prst="rect">
            <a:avLst/>
          </a:prstGeom>
          <a:solidFill>
            <a:srgbClr val="4F7CFF"/>
          </a:solidFill>
          <a:ln/>
        </p:spPr>
      </p:sp>
      <p:sp>
        <p:nvSpPr>
          <p:cNvPr id="16" name="Shape 14"/>
          <p:cNvSpPr/>
          <p:nvPr/>
        </p:nvSpPr>
        <p:spPr>
          <a:xfrm>
            <a:off x="8964930" y="4505325"/>
            <a:ext cx="9525" cy="1706880"/>
          </a:xfrm>
          <a:prstGeom prst="rect">
            <a:avLst/>
          </a:prstGeom>
          <a:solidFill>
            <a:srgbClr val="DFE1E6"/>
          </a:solidFill>
          <a:ln/>
        </p:spPr>
      </p:sp>
      <p:sp>
        <p:nvSpPr>
          <p:cNvPr id="17" name="Text 15"/>
          <p:cNvSpPr/>
          <p:nvPr/>
        </p:nvSpPr>
        <p:spPr>
          <a:xfrm>
            <a:off x="1417320" y="4779645"/>
            <a:ext cx="7946136"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Supervisor (Haiku)</a:t>
            </a:r>
            <a:endParaRPr lang="en-US" sz="1725" dirty="0"/>
          </a:p>
        </p:txBody>
      </p:sp>
      <p:sp>
        <p:nvSpPr>
          <p:cNvPr id="18" name="Text 16"/>
          <p:cNvSpPr/>
          <p:nvPr/>
        </p:nvSpPr>
        <p:spPr>
          <a:xfrm>
            <a:off x="1417320" y="5164455"/>
            <a:ext cx="7440473" cy="811530"/>
          </a:xfrm>
          <a:prstGeom prst="rect">
            <a:avLst/>
          </a:prstGeom>
          <a:noFill/>
          <a:ln/>
        </p:spPr>
        <p:txBody>
          <a:bodyPr wrap="square" lIns="25400" tIns="25400" rIns="25400" bIns="25400" rtlCol="0" anchor="t">
            <a:normAutofit/>
          </a:bodyPr>
          <a:lstStyle/>
          <a:p>
            <a:pPr algn="l" indent="0" marL="0">
              <a:lnSpc>
                <a:spcPct val="120833"/>
              </a:lnSpc>
              <a:buNone/>
            </a:pPr>
            <a:r>
              <a:rPr lang="en-US" sz="2175" b="1" dirty="0">
                <a:solidFill>
                  <a:srgbClr val="16181D"/>
                </a:solidFill>
                <a:latin typeface="Arial" pitchFamily="34" charset="0"/>
                <a:ea typeface="Arial" pitchFamily="34" charset="-122"/>
                <a:cs typeface="Arial" pitchFamily="34" charset="-120"/>
              </a:rPr>
              <a:t>TOOL_RESULT 의 값만 렌더링한다. 시각·요금·경로를 직접 계산하지 않는다.</a:t>
            </a:r>
            <a:endParaRPr lang="en-US" sz="2175" dirty="0"/>
          </a:p>
        </p:txBody>
      </p:sp>
      <p:sp>
        <p:nvSpPr>
          <p:cNvPr id="19" name="Text 17"/>
          <p:cNvSpPr/>
          <p:nvPr/>
        </p:nvSpPr>
        <p:spPr>
          <a:xfrm>
            <a:off x="651510" y="6364605"/>
            <a:ext cx="8717280" cy="361950"/>
          </a:xfrm>
          <a:prstGeom prst="rect">
            <a:avLst/>
          </a:prstGeom>
          <a:noFill/>
          <a:ln/>
        </p:spPr>
        <p:txBody>
          <a:bodyPr wrap="square" lIns="25400" tIns="25400" rIns="25400" bIns="25400" rtlCol="0" anchor="t">
            <a:normAutofit/>
          </a:bodyPr>
          <a:lstStyle/>
          <a:p>
            <a:pPr algn="ctr" indent="0" marL="0">
              <a:lnSpc>
                <a:spcPct val="88542"/>
              </a:lnSpc>
              <a:buNone/>
            </a:pPr>
            <a:r>
              <a:rPr lang="en-US" sz="2550" dirty="0">
                <a:solidFill>
                  <a:srgbClr val="C2C6CC"/>
                </a:solidFill>
                <a:latin typeface="Arial" pitchFamily="34" charset="0"/>
                <a:ea typeface="Arial" pitchFamily="34" charset="-122"/>
                <a:cs typeface="Arial" pitchFamily="34" charset="-120"/>
              </a:rPr>
              <a:t>↓</a:t>
            </a:r>
            <a:endParaRPr lang="en-US" sz="2550" dirty="0"/>
          </a:p>
        </p:txBody>
      </p:sp>
      <p:sp>
        <p:nvSpPr>
          <p:cNvPr id="20" name="Shape 18"/>
          <p:cNvSpPr/>
          <p:nvPr/>
        </p:nvSpPr>
        <p:spPr>
          <a:xfrm>
            <a:off x="1047750" y="6840855"/>
            <a:ext cx="7924800" cy="1722120"/>
          </a:xfrm>
          <a:prstGeom prst="rect">
            <a:avLst/>
          </a:prstGeom>
          <a:solidFill>
            <a:srgbClr val="F3F6FF"/>
          </a:solidFill>
          <a:ln/>
        </p:spPr>
      </p:sp>
      <p:sp>
        <p:nvSpPr>
          <p:cNvPr id="21" name="Shape 19"/>
          <p:cNvSpPr/>
          <p:nvPr/>
        </p:nvSpPr>
        <p:spPr>
          <a:xfrm>
            <a:off x="1047750" y="8555355"/>
            <a:ext cx="7924800" cy="9525"/>
          </a:xfrm>
          <a:prstGeom prst="rect">
            <a:avLst/>
          </a:prstGeom>
          <a:solidFill>
            <a:srgbClr val="C9D6FF"/>
          </a:solidFill>
          <a:ln/>
        </p:spPr>
      </p:sp>
      <p:sp>
        <p:nvSpPr>
          <p:cNvPr id="22" name="Shape 20"/>
          <p:cNvSpPr/>
          <p:nvPr/>
        </p:nvSpPr>
        <p:spPr>
          <a:xfrm>
            <a:off x="1047750" y="6840855"/>
            <a:ext cx="7924800" cy="9525"/>
          </a:xfrm>
          <a:prstGeom prst="rect">
            <a:avLst/>
          </a:prstGeom>
          <a:solidFill>
            <a:srgbClr val="C9D6FF"/>
          </a:solidFill>
          <a:ln/>
        </p:spPr>
      </p:sp>
      <p:sp>
        <p:nvSpPr>
          <p:cNvPr id="23" name="Shape 21"/>
          <p:cNvSpPr/>
          <p:nvPr/>
        </p:nvSpPr>
        <p:spPr>
          <a:xfrm>
            <a:off x="1047750" y="6840855"/>
            <a:ext cx="45720" cy="1722120"/>
          </a:xfrm>
          <a:prstGeom prst="rect">
            <a:avLst/>
          </a:prstGeom>
          <a:solidFill>
            <a:srgbClr val="4F7CFF"/>
          </a:solidFill>
          <a:ln/>
        </p:spPr>
      </p:sp>
      <p:sp>
        <p:nvSpPr>
          <p:cNvPr id="24" name="Shape 22"/>
          <p:cNvSpPr/>
          <p:nvPr/>
        </p:nvSpPr>
        <p:spPr>
          <a:xfrm>
            <a:off x="8964930" y="6840855"/>
            <a:ext cx="9525" cy="1722120"/>
          </a:xfrm>
          <a:prstGeom prst="rect">
            <a:avLst/>
          </a:prstGeom>
          <a:solidFill>
            <a:srgbClr val="C9D6FF"/>
          </a:solidFill>
          <a:ln/>
        </p:spPr>
      </p:sp>
      <p:sp>
        <p:nvSpPr>
          <p:cNvPr id="25" name="Text 23"/>
          <p:cNvSpPr/>
          <p:nvPr/>
        </p:nvSpPr>
        <p:spPr>
          <a:xfrm>
            <a:off x="1417320" y="7115175"/>
            <a:ext cx="7946136"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grounding_check (verify)</a:t>
            </a:r>
            <a:endParaRPr lang="en-US" sz="1725" dirty="0"/>
          </a:p>
        </p:txBody>
      </p:sp>
      <p:sp>
        <p:nvSpPr>
          <p:cNvPr id="26" name="Text 24"/>
          <p:cNvSpPr/>
          <p:nvPr/>
        </p:nvSpPr>
        <p:spPr>
          <a:xfrm>
            <a:off x="1417320" y="7499985"/>
            <a:ext cx="7440473" cy="826770"/>
          </a:xfrm>
          <a:prstGeom prst="rect">
            <a:avLst/>
          </a:prstGeom>
          <a:noFill/>
          <a:ln/>
        </p:spPr>
        <p:txBody>
          <a:bodyPr wrap="square" lIns="25400" tIns="25400" rIns="25400" bIns="25400" rtlCol="0" anchor="t">
            <a:normAutofit/>
          </a:bodyPr>
          <a:lstStyle/>
          <a:p>
            <a:pPr algn="l" indent="0" marL="0">
              <a:lnSpc>
                <a:spcPct val="120833"/>
              </a:lnSpc>
              <a:buNone/>
            </a:pPr>
            <a:r>
              <a:rPr lang="en-US" sz="2175" b="1" dirty="0">
                <a:solidFill>
                  <a:srgbClr val="16181D"/>
                </a:solidFill>
                <a:latin typeface="Arial" pitchFamily="34" charset="0"/>
                <a:ea typeface="Arial" pitchFamily="34" charset="-122"/>
                <a:cs typeface="Arial" pitchFamily="34" charset="-120"/>
              </a:rPr>
              <a:t>답변에서 숫자·시각을 추출해 도구 JSON 과 대조. 불일치 → 1회 재생성 → 그래도 실패면 폐기.</a:t>
            </a:r>
            <a:endParaRPr lang="en-US" sz="2175" dirty="0"/>
          </a:p>
        </p:txBody>
      </p:sp>
      <p:sp>
        <p:nvSpPr>
          <p:cNvPr id="27" name="Shape 25"/>
          <p:cNvSpPr/>
          <p:nvPr/>
        </p:nvSpPr>
        <p:spPr>
          <a:xfrm>
            <a:off x="1047750" y="8715375"/>
            <a:ext cx="7924800" cy="9525"/>
          </a:xfrm>
          <a:prstGeom prst="rect">
            <a:avLst/>
          </a:prstGeom>
          <a:solidFill>
            <a:srgbClr val="DFE1E6"/>
          </a:solidFill>
          <a:ln/>
        </p:spPr>
      </p:sp>
      <p:sp>
        <p:nvSpPr>
          <p:cNvPr id="28" name="Text 26"/>
          <p:cNvSpPr/>
          <p:nvPr/>
        </p:nvSpPr>
        <p:spPr>
          <a:xfrm>
            <a:off x="1047750" y="8932545"/>
            <a:ext cx="8162544" cy="83058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4A5058"/>
                </a:solidFill>
                <a:latin typeface="Arial" pitchFamily="34" charset="0"/>
                <a:ea typeface="Arial" pitchFamily="34" charset="-122"/>
                <a:cs typeface="Arial" pitchFamily="34" charset="-120"/>
              </a:rPr>
              <a:t>Bedrock 의 contextual grounding 은 ko·zh·ja·id 를 지원하지 않는다. 그래서 결정론적 문자열 대조로 대체했다.</a:t>
            </a:r>
            <a:endParaRPr lang="en-US" sz="1950" dirty="0"/>
          </a:p>
        </p:txBody>
      </p:sp>
      <p:sp>
        <p:nvSpPr>
          <p:cNvPr id="29" name="Shape 27"/>
          <p:cNvSpPr/>
          <p:nvPr/>
        </p:nvSpPr>
        <p:spPr>
          <a:xfrm>
            <a:off x="9315450" y="2556510"/>
            <a:ext cx="7924800" cy="7168515"/>
          </a:xfrm>
          <a:prstGeom prst="rect">
            <a:avLst/>
          </a:prstGeom>
          <a:solidFill>
            <a:srgbClr val="16181D"/>
          </a:solidFill>
          <a:ln/>
        </p:spPr>
      </p:sp>
      <p:sp>
        <p:nvSpPr>
          <p:cNvPr id="30" name="Text 28"/>
          <p:cNvSpPr/>
          <p:nvPr/>
        </p:nvSpPr>
        <p:spPr>
          <a:xfrm>
            <a:off x="9677400" y="2880360"/>
            <a:ext cx="7920990" cy="327660"/>
          </a:xfrm>
          <a:prstGeom prst="rect">
            <a:avLst/>
          </a:prstGeom>
          <a:noFill/>
          <a:ln/>
        </p:spPr>
        <p:txBody>
          <a:bodyPr wrap="square" lIns="25400" tIns="25400" rIns="25400" bIns="25400" rtlCol="0" anchor="t">
            <a:normAutofit/>
          </a:bodyPr>
          <a:lstStyle/>
          <a:p>
            <a:pPr algn="l" indent="0" marL="0">
              <a:buNone/>
            </a:pPr>
            <a:r>
              <a:rPr lang="en-US" sz="1725" spc="173" kern="0" dirty="0">
                <a:solidFill>
                  <a:srgbClr val="9DB4FF"/>
                </a:solidFill>
                <a:latin typeface="Roboto Mono" pitchFamily="34" charset="0"/>
                <a:ea typeface="Roboto Mono" pitchFamily="34" charset="-122"/>
                <a:cs typeface="Roboto Mono" pitchFamily="34" charset="-120"/>
              </a:rPr>
              <a:t>실제로 작동한 사례</a:t>
            </a:r>
            <a:endParaRPr lang="en-US" sz="1725" dirty="0"/>
          </a:p>
        </p:txBody>
      </p:sp>
      <p:sp>
        <p:nvSpPr>
          <p:cNvPr id="31" name="Text 29"/>
          <p:cNvSpPr/>
          <p:nvPr/>
        </p:nvSpPr>
        <p:spPr>
          <a:xfrm>
            <a:off x="9677400" y="3379470"/>
            <a:ext cx="7416927" cy="909638"/>
          </a:xfrm>
          <a:prstGeom prst="rect">
            <a:avLst/>
          </a:prstGeom>
          <a:noFill/>
          <a:ln/>
        </p:spPr>
        <p:txBody>
          <a:bodyPr wrap="square" lIns="25400" tIns="25400" rIns="25400" bIns="25400" rtlCol="0" anchor="t">
            <a:normAutofit/>
          </a:bodyPr>
          <a:lstStyle/>
          <a:p>
            <a:pPr algn="l" indent="0" marL="0">
              <a:lnSpc>
                <a:spcPct val="127699"/>
              </a:lnSpc>
              <a:buNone/>
            </a:pPr>
            <a:r>
              <a:rPr lang="en-US" sz="2325" b="1" dirty="0">
                <a:solidFill>
                  <a:srgbClr val="FBFBFA"/>
                </a:solidFill>
                <a:latin typeface="Arial" pitchFamily="34" charset="0"/>
                <a:ea typeface="Arial" pitchFamily="34" charset="-122"/>
                <a:cs typeface="Arial" pitchFamily="34" charset="-120"/>
              </a:rPr>
              <a:t>게이트가 의도를 </a:t>
            </a:r>
            <a:pPr algn="l" indent="0" marL="0">
              <a:lnSpc>
                <a:spcPct val="127699"/>
              </a:lnSpc>
              <a:buNone/>
            </a:pPr>
            <a:r>
              <a:rPr lang="en-US" sz="2325" b="1" dirty="0">
                <a:solidFill>
                  <a:srgbClr val="9DB4FF"/>
                </a:solidFill>
                <a:latin typeface="Roboto Mono" pitchFamily="34" charset="0"/>
                <a:ea typeface="Roboto Mono" pitchFamily="34" charset="-122"/>
                <a:cs typeface="Roboto Mono" pitchFamily="34" charset="-120"/>
              </a:rPr>
              <a:t>get_realtime_status </a:t>
            </a:r>
            <a:pPr algn="l" indent="0" marL="0">
              <a:lnSpc>
                <a:spcPct val="127699"/>
              </a:lnSpc>
              <a:buNone/>
            </a:pPr>
            <a:r>
              <a:rPr lang="en-US" sz="2325" b="1" dirty="0">
                <a:solidFill>
                  <a:srgbClr val="FBFBFA"/>
                </a:solidFill>
                <a:latin typeface="Arial" pitchFamily="34" charset="0"/>
                <a:ea typeface="Arial" pitchFamily="34" charset="-122"/>
                <a:cs typeface="Arial" pitchFamily="34" charset="-120"/>
              </a:rPr>
              <a:t>로 오분류 → 시간표 없는 도구 응답이 Supervisor 로 넘어갔다</a:t>
            </a:r>
            <a:endParaRPr lang="en-US" sz="2325" dirty="0"/>
          </a:p>
        </p:txBody>
      </p:sp>
      <p:sp>
        <p:nvSpPr>
          <p:cNvPr id="32" name="Text 30"/>
          <p:cNvSpPr/>
          <p:nvPr/>
        </p:nvSpPr>
        <p:spPr>
          <a:xfrm>
            <a:off x="9677400" y="4460558"/>
            <a:ext cx="7416927" cy="891540"/>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C9CDD3"/>
                </a:solidFill>
                <a:latin typeface="Arial" pitchFamily="34" charset="0"/>
                <a:ea typeface="Arial" pitchFamily="34" charset="-122"/>
                <a:cs typeface="Arial" pitchFamily="34" charset="-120"/>
              </a:rPr>
              <a:t>Haiku 가 </a:t>
            </a:r>
            <a:pPr algn="l" indent="0" marL="0">
              <a:lnSpc>
                <a:spcPct val="140000"/>
              </a:lnSpc>
              <a:buNone/>
            </a:pPr>
            <a:r>
              <a:rPr lang="en-US" sz="2100" b="1" dirty="0">
                <a:solidFill>
                  <a:srgbClr val="FFFFFF"/>
                </a:solidFill>
                <a:latin typeface="Arial" pitchFamily="34" charset="0"/>
                <a:ea typeface="Arial" pitchFamily="34" charset="-122"/>
                <a:cs typeface="Arial" pitchFamily="34" charset="-120"/>
              </a:rPr>
              <a:t>KTX 1234편 / 14:00 출발 / 59,000원 </a:t>
            </a:r>
            <a:pPr algn="l" indent="0" marL="0">
              <a:lnSpc>
                <a:spcPct val="140000"/>
              </a:lnSpc>
              <a:buNone/>
            </a:pPr>
            <a:r>
              <a:rPr lang="en-US" sz="2100" dirty="0">
                <a:solidFill>
                  <a:srgbClr val="C9CDD3"/>
                </a:solidFill>
                <a:latin typeface="Arial" pitchFamily="34" charset="0"/>
                <a:ea typeface="Arial" pitchFamily="34" charset="-122"/>
                <a:cs typeface="Arial" pitchFamily="34" charset="-120"/>
              </a:rPr>
              <a:t>을 통째로 지어냈다.</a:t>
            </a:r>
            <a:endParaRPr lang="en-US" sz="2100" dirty="0"/>
          </a:p>
        </p:txBody>
      </p:sp>
      <p:sp>
        <p:nvSpPr>
          <p:cNvPr id="33" name="Shape 31"/>
          <p:cNvSpPr/>
          <p:nvPr/>
        </p:nvSpPr>
        <p:spPr>
          <a:xfrm>
            <a:off x="9677400" y="5523548"/>
            <a:ext cx="7200900" cy="1939290"/>
          </a:xfrm>
          <a:prstGeom prst="rect">
            <a:avLst/>
          </a:prstGeom>
          <a:solidFill>
            <a:srgbClr val="0E1013"/>
          </a:solidFill>
          <a:ln w="7620">
            <a:solidFill>
              <a:srgbClr val="2C313A"/>
            </a:solidFill>
            <a:prstDash val="solid"/>
          </a:ln>
        </p:spPr>
      </p:sp>
      <p:sp>
        <p:nvSpPr>
          <p:cNvPr id="34" name="Text 32"/>
          <p:cNvSpPr/>
          <p:nvPr/>
        </p:nvSpPr>
        <p:spPr>
          <a:xfrm>
            <a:off x="9932670" y="5759768"/>
            <a:ext cx="6906387" cy="1504950"/>
          </a:xfrm>
          <a:prstGeom prst="rect">
            <a:avLst/>
          </a:prstGeom>
          <a:noFill/>
          <a:ln/>
        </p:spPr>
        <p:txBody>
          <a:bodyPr wrap="square" lIns="25400" tIns="25400" rIns="25400" bIns="25400" rtlCol="0" anchor="t">
            <a:normAutofit/>
          </a:bodyPr>
          <a:lstStyle/>
          <a:p>
            <a:pPr algn="l" indent="0" marL="0">
              <a:lnSpc>
                <a:spcPct val="133681"/>
              </a:lnSpc>
              <a:buNone/>
            </a:pPr>
            <a:r>
              <a:rPr lang="en-US" sz="1650" dirty="0">
                <a:solidFill>
                  <a:srgbClr val="9DB4FF"/>
                </a:solidFill>
                <a:latin typeface="Roboto Mono" pitchFamily="34" charset="0"/>
                <a:ea typeface="Roboto Mono" pitchFamily="34" charset="-122"/>
                <a:cs typeface="Roboto Mono" pitchFamily="34" charset="-120"/>
              </a:rPr>
              <a:t>"unsupported_numbers": [</a:t>
            </a:r>
            <a:endParaRPr lang="en-US" sz="1650" dirty="0"/>
          </a:p>
          <a:p>
            <a:pPr algn="l" indent="0" marL="0">
              <a:lnSpc>
                <a:spcPct val="133681"/>
              </a:lnSpc>
              <a:buNone/>
            </a:pPr>
            <a:r>
              <a:rPr lang="en-US" sz="1650" dirty="0">
                <a:solidFill>
                  <a:srgbClr val="9DB4FF"/>
                </a:solidFill>
                <a:latin typeface="Roboto Mono" pitchFamily="34" charset="0"/>
                <a:ea typeface="Roboto Mono" pitchFamily="34" charset="-122"/>
                <a:cs typeface="Roboto Mono" pitchFamily="34" charset="-120"/>
              </a:rPr>
              <a:t>  "14:00","5678","17:10","9012","14:30",</a:t>
            </a:r>
            <a:endParaRPr lang="en-US" sz="1650" dirty="0"/>
          </a:p>
          <a:p>
            <a:pPr algn="l" indent="0" marL="0">
              <a:lnSpc>
                <a:spcPct val="133681"/>
              </a:lnSpc>
              <a:buNone/>
            </a:pPr>
            <a:r>
              <a:rPr lang="en-US" sz="1650" dirty="0">
                <a:solidFill>
                  <a:srgbClr val="9DB4FF"/>
                </a:solidFill>
                <a:latin typeface="Roboto Mono" pitchFamily="34" charset="0"/>
                <a:ea typeface="Roboto Mono" pitchFamily="34" charset="-122"/>
                <a:cs typeface="Roboto Mono" pitchFamily="34" charset="-120"/>
              </a:rPr>
              <a:t>  "59,000","1234","16:10","15:00","16:40"</a:t>
            </a:r>
            <a:endParaRPr lang="en-US" sz="1650" dirty="0"/>
          </a:p>
          <a:p>
            <a:pPr algn="l" indent="0" marL="0">
              <a:lnSpc>
                <a:spcPct val="133681"/>
              </a:lnSpc>
              <a:buNone/>
            </a:pPr>
            <a:r>
              <a:rPr lang="en-US" sz="1650" dirty="0">
                <a:solidFill>
                  <a:srgbClr val="9DB4FF"/>
                </a:solidFill>
                <a:latin typeface="Roboto Mono" pitchFamily="34" charset="0"/>
                <a:ea typeface="Roboto Mono" pitchFamily="34" charset="-122"/>
                <a:cs typeface="Roboto Mono" pitchFamily="34" charset="-120"/>
              </a:rPr>
              <a:t>]</a:t>
            </a:r>
            <a:endParaRPr lang="en-US" sz="1650" dirty="0"/>
          </a:p>
        </p:txBody>
      </p:sp>
      <p:sp>
        <p:nvSpPr>
          <p:cNvPr id="35" name="Shape 33"/>
          <p:cNvSpPr/>
          <p:nvPr/>
        </p:nvSpPr>
        <p:spPr>
          <a:xfrm>
            <a:off x="9677400" y="8383905"/>
            <a:ext cx="7200900" cy="9525"/>
          </a:xfrm>
          <a:prstGeom prst="rect">
            <a:avLst/>
          </a:prstGeom>
          <a:solidFill>
            <a:srgbClr val="2C313A"/>
          </a:solidFill>
          <a:ln/>
        </p:spPr>
      </p:sp>
      <p:sp>
        <p:nvSpPr>
          <p:cNvPr id="36" name="Text 34"/>
          <p:cNvSpPr/>
          <p:nvPr/>
        </p:nvSpPr>
        <p:spPr>
          <a:xfrm>
            <a:off x="9677400" y="8601075"/>
            <a:ext cx="1036558" cy="838200"/>
          </a:xfrm>
          <a:prstGeom prst="rect">
            <a:avLst/>
          </a:prstGeom>
          <a:noFill/>
          <a:ln/>
        </p:spPr>
        <p:txBody>
          <a:bodyPr wrap="square" lIns="25400" tIns="25400" rIns="25400" bIns="25400" rtlCol="0" anchor="t">
            <a:normAutofit/>
          </a:bodyPr>
          <a:lstStyle/>
          <a:p>
            <a:pPr algn="l" indent="0" marL="0">
              <a:lnSpc>
                <a:spcPct val="76087"/>
              </a:lnSpc>
              <a:buNone/>
            </a:pPr>
            <a:r>
              <a:rPr lang="en-US" sz="6300" b="1" dirty="0">
                <a:solidFill>
                  <a:srgbClr val="4F7CFF"/>
                </a:solidFill>
                <a:latin typeface="Roboto Mono" pitchFamily="34" charset="0"/>
                <a:ea typeface="Roboto Mono" pitchFamily="34" charset="-122"/>
                <a:cs typeface="Roboto Mono" pitchFamily="34" charset="-120"/>
              </a:rPr>
              <a:t>10</a:t>
            </a:r>
            <a:endParaRPr lang="en-US" sz="6300" dirty="0"/>
          </a:p>
        </p:txBody>
      </p:sp>
      <p:sp>
        <p:nvSpPr>
          <p:cNvPr id="37" name="Text 35"/>
          <p:cNvSpPr/>
          <p:nvPr/>
        </p:nvSpPr>
        <p:spPr>
          <a:xfrm>
            <a:off x="10828259" y="8686800"/>
            <a:ext cx="4244866" cy="752475"/>
          </a:xfrm>
          <a:prstGeom prst="rect">
            <a:avLst/>
          </a:prstGeom>
          <a:noFill/>
          <a:ln/>
        </p:spPr>
        <p:txBody>
          <a:bodyPr wrap="square" lIns="25400" tIns="25400" rIns="25400" bIns="25400" rtlCol="0" anchor="t">
            <a:normAutofit/>
          </a:bodyPr>
          <a:lstStyle/>
          <a:p>
            <a:pPr algn="l" indent="0" marL="0">
              <a:lnSpc>
                <a:spcPct val="130208"/>
              </a:lnSpc>
              <a:buNone/>
            </a:pPr>
            <a:r>
              <a:rPr lang="en-US" sz="1875" dirty="0">
                <a:solidFill>
                  <a:srgbClr val="9AA0A8"/>
                </a:solidFill>
                <a:latin typeface="Arial" pitchFamily="34" charset="0"/>
                <a:ea typeface="Arial" pitchFamily="34" charset="-122"/>
                <a:cs typeface="Arial" pitchFamily="34" charset="-120"/>
              </a:rPr>
              <a:t>환각 숫자를 잡아 재생성시켰다. 이 계층이 없었으면 가짜 시간표가 나갔다.</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62000"/>
            <a:ext cx="4234875"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06 · DEFENSE LAYERS</a:t>
            </a:r>
            <a:endParaRPr lang="en-US" sz="1800" dirty="0"/>
          </a:p>
        </p:txBody>
      </p:sp>
      <p:sp>
        <p:nvSpPr>
          <p:cNvPr id="3" name="Text 1"/>
          <p:cNvSpPr/>
          <p:nvPr/>
        </p:nvSpPr>
        <p:spPr>
          <a:xfrm>
            <a:off x="1047750" y="1192530"/>
            <a:ext cx="4234875"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방어 계층 6종</a:t>
            </a:r>
            <a:endParaRPr lang="en-US" sz="5250" dirty="0"/>
          </a:p>
        </p:txBody>
      </p:sp>
      <p:sp>
        <p:nvSpPr>
          <p:cNvPr id="4" name="Text 2"/>
          <p:cNvSpPr/>
          <p:nvPr/>
        </p:nvSpPr>
        <p:spPr>
          <a:xfrm>
            <a:off x="12456038" y="1518285"/>
            <a:ext cx="4784212" cy="695325"/>
          </a:xfrm>
          <a:prstGeom prst="rect">
            <a:avLst/>
          </a:prstGeom>
          <a:noFill/>
          <a:ln/>
        </p:spPr>
        <p:txBody>
          <a:bodyPr wrap="square" lIns="25400" tIns="25400" rIns="25400" bIns="25400" rtlCol="0" anchor="t">
            <a:normAutofit/>
          </a:bodyPr>
          <a:lstStyle/>
          <a:p>
            <a:pPr algn="r" indent="0" marL="0">
              <a:lnSpc>
                <a:spcPct val="113487"/>
              </a:lnSpc>
              <a:buNone/>
            </a:pPr>
            <a:r>
              <a:rPr lang="en-US" sz="1725" dirty="0">
                <a:solidFill>
                  <a:srgbClr val="8A9099"/>
                </a:solidFill>
                <a:latin typeface="Roboto Mono" pitchFamily="34" charset="0"/>
                <a:ea typeface="Roboto Mono" pitchFamily="34" charset="-122"/>
                <a:cs typeface="Roboto Mono" pitchFamily="34" charset="-120"/>
              </a:rPr>
              <a:t>GET /v1/spec 으로 정의 조회 차단 시 x_maas.blocked_by 로 계층 반환</a:t>
            </a:r>
            <a:endParaRPr lang="en-US" sz="1725" dirty="0"/>
          </a:p>
        </p:txBody>
      </p:sp>
      <p:sp>
        <p:nvSpPr>
          <p:cNvPr id="5" name="Shape 3"/>
          <p:cNvSpPr/>
          <p:nvPr/>
        </p:nvSpPr>
        <p:spPr>
          <a:xfrm>
            <a:off x="1047750" y="2537460"/>
            <a:ext cx="16192500" cy="872966"/>
          </a:xfrm>
          <a:prstGeom prst="rect">
            <a:avLst/>
          </a:prstGeom>
          <a:solidFill>
            <a:srgbClr val="FFFFFF"/>
          </a:solidFill>
          <a:ln/>
        </p:spPr>
      </p:sp>
      <p:sp>
        <p:nvSpPr>
          <p:cNvPr id="6" name="Shape 4"/>
          <p:cNvSpPr/>
          <p:nvPr/>
        </p:nvSpPr>
        <p:spPr>
          <a:xfrm>
            <a:off x="1047750" y="3402806"/>
            <a:ext cx="16192500" cy="9525"/>
          </a:xfrm>
          <a:prstGeom prst="rect">
            <a:avLst/>
          </a:prstGeom>
          <a:solidFill>
            <a:srgbClr val="DFE1E6"/>
          </a:solidFill>
          <a:ln/>
        </p:spPr>
      </p:sp>
      <p:sp>
        <p:nvSpPr>
          <p:cNvPr id="7" name="Shape 5"/>
          <p:cNvSpPr/>
          <p:nvPr/>
        </p:nvSpPr>
        <p:spPr>
          <a:xfrm>
            <a:off x="1047750" y="2537460"/>
            <a:ext cx="16192500" cy="9525"/>
          </a:xfrm>
          <a:prstGeom prst="rect">
            <a:avLst/>
          </a:prstGeom>
          <a:solidFill>
            <a:srgbClr val="DFE1E6"/>
          </a:solidFill>
          <a:ln/>
        </p:spPr>
      </p:sp>
      <p:sp>
        <p:nvSpPr>
          <p:cNvPr id="8" name="Shape 6"/>
          <p:cNvSpPr/>
          <p:nvPr/>
        </p:nvSpPr>
        <p:spPr>
          <a:xfrm>
            <a:off x="1047750" y="2537460"/>
            <a:ext cx="45720" cy="872966"/>
          </a:xfrm>
          <a:prstGeom prst="rect">
            <a:avLst/>
          </a:prstGeom>
          <a:solidFill>
            <a:srgbClr val="4F7CFF"/>
          </a:solidFill>
          <a:ln/>
        </p:spPr>
      </p:sp>
      <p:sp>
        <p:nvSpPr>
          <p:cNvPr id="9" name="Shape 7"/>
          <p:cNvSpPr/>
          <p:nvPr/>
        </p:nvSpPr>
        <p:spPr>
          <a:xfrm>
            <a:off x="17232630" y="2537460"/>
            <a:ext cx="9525" cy="872966"/>
          </a:xfrm>
          <a:prstGeom prst="rect">
            <a:avLst/>
          </a:prstGeom>
          <a:solidFill>
            <a:srgbClr val="DFE1E6"/>
          </a:solidFill>
          <a:ln/>
        </p:spPr>
      </p:sp>
      <p:sp>
        <p:nvSpPr>
          <p:cNvPr id="10" name="Text 8"/>
          <p:cNvSpPr/>
          <p:nvPr/>
        </p:nvSpPr>
        <p:spPr>
          <a:xfrm>
            <a:off x="1379220" y="2791063"/>
            <a:ext cx="3143250" cy="403860"/>
          </a:xfrm>
          <a:prstGeom prst="rect">
            <a:avLst/>
          </a:prstGeom>
          <a:noFill/>
          <a:ln/>
        </p:spPr>
        <p:txBody>
          <a:bodyPr wrap="square" lIns="25400" tIns="25400" rIns="25400" bIns="25400" rtlCol="0" anchor="t">
            <a:normAutofit/>
          </a:bodyPr>
          <a:lstStyle/>
          <a:p>
            <a:pPr algn="l" indent="0" marL="0">
              <a:buNone/>
            </a:pPr>
            <a:r>
              <a:rPr lang="en-US" sz="2175" b="1" dirty="0">
                <a:solidFill>
                  <a:srgbClr val="2B57D6"/>
                </a:solidFill>
                <a:latin typeface="Roboto Mono" pitchFamily="34" charset="0"/>
                <a:ea typeface="Roboto Mono" pitchFamily="34" charset="-122"/>
                <a:cs typeface="Roboto Mono" pitchFamily="34" charset="-120"/>
              </a:rPr>
              <a:t>local_gate</a:t>
            </a:r>
            <a:endParaRPr lang="en-US" sz="2175" dirty="0"/>
          </a:p>
        </p:txBody>
      </p:sp>
      <p:sp>
        <p:nvSpPr>
          <p:cNvPr id="11" name="Text 9"/>
          <p:cNvSpPr/>
          <p:nvPr/>
        </p:nvSpPr>
        <p:spPr>
          <a:xfrm>
            <a:off x="4465320" y="2773680"/>
            <a:ext cx="10335006" cy="438626"/>
          </a:xfrm>
          <a:prstGeom prst="rect">
            <a:avLst/>
          </a:prstGeom>
          <a:noFill/>
          <a:ln/>
        </p:spPr>
        <p:txBody>
          <a:bodyPr wrap="square" lIns="25400" tIns="25400" rIns="25400" bIns="25400" rtlCol="0" anchor="t">
            <a:normAutofit/>
          </a:bodyPr>
          <a:lstStyle/>
          <a:p>
            <a:pPr algn="l" indent="0" marL="0">
              <a:lnSpc>
                <a:spcPct val="125149"/>
              </a:lnSpc>
              <a:buNone/>
            </a:pPr>
            <a:r>
              <a:rPr lang="en-US" sz="2175" dirty="0">
                <a:solidFill>
                  <a:srgbClr val="16181D"/>
                </a:solidFill>
                <a:latin typeface="Arial" pitchFamily="34" charset="0"/>
                <a:ea typeface="Arial" pitchFamily="34" charset="-122"/>
                <a:cs typeface="Arial" pitchFamily="34" charset="-120"/>
              </a:rPr>
              <a:t>도메인·유해도 판정 (Qwen3-4B 제로샷) — 최초 판정 + 재확인 2곳</a:t>
            </a:r>
            <a:endParaRPr lang="en-US" sz="2175" dirty="0"/>
          </a:p>
        </p:txBody>
      </p:sp>
      <p:sp>
        <p:nvSpPr>
          <p:cNvPr id="12" name="Text 10"/>
          <p:cNvSpPr/>
          <p:nvPr/>
        </p:nvSpPr>
        <p:spPr>
          <a:xfrm>
            <a:off x="13803631" y="2836783"/>
            <a:ext cx="3143250" cy="312420"/>
          </a:xfrm>
          <a:prstGeom prst="rect">
            <a:avLst/>
          </a:prstGeom>
          <a:noFill/>
          <a:ln/>
        </p:spPr>
        <p:txBody>
          <a:bodyPr wrap="square" lIns="25400" tIns="25400" rIns="25400" bIns="25400" rtlCol="0" anchor="t">
            <a:normAutofit/>
          </a:bodyPr>
          <a:lstStyle/>
          <a:p>
            <a:pPr algn="r" indent="0" marL="0">
              <a:buNone/>
            </a:pPr>
            <a:r>
              <a:rPr lang="en-US" sz="1650" dirty="0">
                <a:solidFill>
                  <a:srgbClr val="6B7280"/>
                </a:solidFill>
                <a:latin typeface="Roboto Mono" pitchFamily="34" charset="0"/>
                <a:ea typeface="Roboto Mono" pitchFamily="34" charset="-122"/>
                <a:cs typeface="Roboto Mono" pitchFamily="34" charset="-120"/>
              </a:rPr>
              <a:t>직접 구현 · 로컬</a:t>
            </a:r>
            <a:endParaRPr lang="en-US" sz="1650" dirty="0"/>
          </a:p>
        </p:txBody>
      </p:sp>
      <p:sp>
        <p:nvSpPr>
          <p:cNvPr id="13" name="Shape 11"/>
          <p:cNvSpPr/>
          <p:nvPr/>
        </p:nvSpPr>
        <p:spPr>
          <a:xfrm>
            <a:off x="1047750" y="3524726"/>
            <a:ext cx="16192500" cy="872966"/>
          </a:xfrm>
          <a:prstGeom prst="rect">
            <a:avLst/>
          </a:prstGeom>
          <a:solidFill>
            <a:srgbClr val="FFFFFF"/>
          </a:solidFill>
          <a:ln/>
        </p:spPr>
      </p:sp>
      <p:sp>
        <p:nvSpPr>
          <p:cNvPr id="14" name="Shape 12"/>
          <p:cNvSpPr/>
          <p:nvPr/>
        </p:nvSpPr>
        <p:spPr>
          <a:xfrm>
            <a:off x="1047750" y="4390073"/>
            <a:ext cx="16192500" cy="9525"/>
          </a:xfrm>
          <a:prstGeom prst="rect">
            <a:avLst/>
          </a:prstGeom>
          <a:solidFill>
            <a:srgbClr val="DFE1E6"/>
          </a:solidFill>
          <a:ln/>
        </p:spPr>
      </p:sp>
      <p:sp>
        <p:nvSpPr>
          <p:cNvPr id="15" name="Shape 13"/>
          <p:cNvSpPr/>
          <p:nvPr/>
        </p:nvSpPr>
        <p:spPr>
          <a:xfrm>
            <a:off x="1047750" y="3524726"/>
            <a:ext cx="16192500" cy="9525"/>
          </a:xfrm>
          <a:prstGeom prst="rect">
            <a:avLst/>
          </a:prstGeom>
          <a:solidFill>
            <a:srgbClr val="DFE1E6"/>
          </a:solidFill>
          <a:ln/>
        </p:spPr>
      </p:sp>
      <p:sp>
        <p:nvSpPr>
          <p:cNvPr id="16" name="Shape 14"/>
          <p:cNvSpPr/>
          <p:nvPr/>
        </p:nvSpPr>
        <p:spPr>
          <a:xfrm>
            <a:off x="1047750" y="3524726"/>
            <a:ext cx="45720" cy="872966"/>
          </a:xfrm>
          <a:prstGeom prst="rect">
            <a:avLst/>
          </a:prstGeom>
          <a:solidFill>
            <a:srgbClr val="4F7CFF"/>
          </a:solidFill>
          <a:ln/>
        </p:spPr>
      </p:sp>
      <p:sp>
        <p:nvSpPr>
          <p:cNvPr id="17" name="Shape 15"/>
          <p:cNvSpPr/>
          <p:nvPr/>
        </p:nvSpPr>
        <p:spPr>
          <a:xfrm>
            <a:off x="17232630" y="3524726"/>
            <a:ext cx="9525" cy="872966"/>
          </a:xfrm>
          <a:prstGeom prst="rect">
            <a:avLst/>
          </a:prstGeom>
          <a:solidFill>
            <a:srgbClr val="DFE1E6"/>
          </a:solidFill>
          <a:ln/>
        </p:spPr>
      </p:sp>
      <p:sp>
        <p:nvSpPr>
          <p:cNvPr id="18" name="Text 16"/>
          <p:cNvSpPr/>
          <p:nvPr/>
        </p:nvSpPr>
        <p:spPr>
          <a:xfrm>
            <a:off x="1379220" y="3778330"/>
            <a:ext cx="3143250" cy="403860"/>
          </a:xfrm>
          <a:prstGeom prst="rect">
            <a:avLst/>
          </a:prstGeom>
          <a:noFill/>
          <a:ln/>
        </p:spPr>
        <p:txBody>
          <a:bodyPr wrap="square" lIns="25400" tIns="25400" rIns="25400" bIns="25400" rtlCol="0" anchor="t">
            <a:normAutofit/>
          </a:bodyPr>
          <a:lstStyle/>
          <a:p>
            <a:pPr algn="l" indent="0" marL="0">
              <a:buNone/>
            </a:pPr>
            <a:r>
              <a:rPr lang="en-US" sz="2175" b="1" dirty="0">
                <a:solidFill>
                  <a:srgbClr val="2B57D6"/>
                </a:solidFill>
                <a:latin typeface="Roboto Mono" pitchFamily="34" charset="0"/>
                <a:ea typeface="Roboto Mono" pitchFamily="34" charset="-122"/>
                <a:cs typeface="Roboto Mono" pitchFamily="34" charset="-120"/>
              </a:rPr>
              <a:t>blocklist</a:t>
            </a:r>
            <a:endParaRPr lang="en-US" sz="2175" dirty="0"/>
          </a:p>
        </p:txBody>
      </p:sp>
      <p:sp>
        <p:nvSpPr>
          <p:cNvPr id="19" name="Text 17"/>
          <p:cNvSpPr/>
          <p:nvPr/>
        </p:nvSpPr>
        <p:spPr>
          <a:xfrm>
            <a:off x="4465320" y="3760946"/>
            <a:ext cx="10335006" cy="438626"/>
          </a:xfrm>
          <a:prstGeom prst="rect">
            <a:avLst/>
          </a:prstGeom>
          <a:noFill/>
          <a:ln/>
        </p:spPr>
        <p:txBody>
          <a:bodyPr wrap="square" lIns="25400" tIns="25400" rIns="25400" bIns="25400" rtlCol="0" anchor="t">
            <a:normAutofit/>
          </a:bodyPr>
          <a:lstStyle/>
          <a:p>
            <a:pPr algn="l" indent="0" marL="0">
              <a:lnSpc>
                <a:spcPct val="125149"/>
              </a:lnSpc>
              <a:buNone/>
            </a:pPr>
            <a:r>
              <a:rPr lang="en-US" sz="2175" dirty="0">
                <a:solidFill>
                  <a:srgbClr val="16181D"/>
                </a:solidFill>
                <a:latin typeface="Arial" pitchFamily="34" charset="0"/>
                <a:ea typeface="Arial" pitchFamily="34" charset="-122"/>
                <a:cs typeface="Arial" pitchFamily="34" charset="-120"/>
              </a:rPr>
              <a:t>다국어 금지어 사전 + 우회 표기 탐지 — Guardrails 가 ko·zh·ja·id 미지원</a:t>
            </a:r>
            <a:endParaRPr lang="en-US" sz="2175" dirty="0"/>
          </a:p>
        </p:txBody>
      </p:sp>
      <p:sp>
        <p:nvSpPr>
          <p:cNvPr id="20" name="Text 18"/>
          <p:cNvSpPr/>
          <p:nvPr/>
        </p:nvSpPr>
        <p:spPr>
          <a:xfrm>
            <a:off x="13803631" y="3824049"/>
            <a:ext cx="3143250" cy="312420"/>
          </a:xfrm>
          <a:prstGeom prst="rect">
            <a:avLst/>
          </a:prstGeom>
          <a:noFill/>
          <a:ln/>
        </p:spPr>
        <p:txBody>
          <a:bodyPr wrap="square" lIns="25400" tIns="25400" rIns="25400" bIns="25400" rtlCol="0" anchor="t">
            <a:normAutofit/>
          </a:bodyPr>
          <a:lstStyle/>
          <a:p>
            <a:pPr algn="r" indent="0" marL="0">
              <a:buNone/>
            </a:pPr>
            <a:r>
              <a:rPr lang="en-US" sz="1650" dirty="0">
                <a:solidFill>
                  <a:srgbClr val="6B7280"/>
                </a:solidFill>
                <a:latin typeface="Roboto Mono" pitchFamily="34" charset="0"/>
                <a:ea typeface="Roboto Mono" pitchFamily="34" charset="-122"/>
                <a:cs typeface="Roboto Mono" pitchFamily="34" charset="-120"/>
              </a:rPr>
              <a:t>직접 구현 · 로컬</a:t>
            </a:r>
            <a:endParaRPr lang="en-US" sz="1650" dirty="0"/>
          </a:p>
        </p:txBody>
      </p:sp>
      <p:sp>
        <p:nvSpPr>
          <p:cNvPr id="21" name="Shape 19"/>
          <p:cNvSpPr/>
          <p:nvPr/>
        </p:nvSpPr>
        <p:spPr>
          <a:xfrm>
            <a:off x="1047750" y="4511993"/>
            <a:ext cx="16192500" cy="872966"/>
          </a:xfrm>
          <a:prstGeom prst="rect">
            <a:avLst/>
          </a:prstGeom>
          <a:solidFill>
            <a:srgbClr val="FFFFFF"/>
          </a:solidFill>
          <a:ln/>
        </p:spPr>
      </p:sp>
      <p:sp>
        <p:nvSpPr>
          <p:cNvPr id="22" name="Shape 20"/>
          <p:cNvSpPr/>
          <p:nvPr/>
        </p:nvSpPr>
        <p:spPr>
          <a:xfrm>
            <a:off x="1047750" y="5377339"/>
            <a:ext cx="16192500" cy="9525"/>
          </a:xfrm>
          <a:prstGeom prst="rect">
            <a:avLst/>
          </a:prstGeom>
          <a:solidFill>
            <a:srgbClr val="DFE1E6"/>
          </a:solidFill>
          <a:ln/>
        </p:spPr>
      </p:sp>
      <p:sp>
        <p:nvSpPr>
          <p:cNvPr id="23" name="Shape 21"/>
          <p:cNvSpPr/>
          <p:nvPr/>
        </p:nvSpPr>
        <p:spPr>
          <a:xfrm>
            <a:off x="1047750" y="4511993"/>
            <a:ext cx="16192500" cy="9525"/>
          </a:xfrm>
          <a:prstGeom prst="rect">
            <a:avLst/>
          </a:prstGeom>
          <a:solidFill>
            <a:srgbClr val="DFE1E6"/>
          </a:solidFill>
          <a:ln/>
        </p:spPr>
      </p:sp>
      <p:sp>
        <p:nvSpPr>
          <p:cNvPr id="24" name="Shape 22"/>
          <p:cNvSpPr/>
          <p:nvPr/>
        </p:nvSpPr>
        <p:spPr>
          <a:xfrm>
            <a:off x="1047750" y="4511993"/>
            <a:ext cx="45720" cy="872966"/>
          </a:xfrm>
          <a:prstGeom prst="rect">
            <a:avLst/>
          </a:prstGeom>
          <a:solidFill>
            <a:srgbClr val="4F7CFF"/>
          </a:solidFill>
          <a:ln/>
        </p:spPr>
      </p:sp>
      <p:sp>
        <p:nvSpPr>
          <p:cNvPr id="25" name="Shape 23"/>
          <p:cNvSpPr/>
          <p:nvPr/>
        </p:nvSpPr>
        <p:spPr>
          <a:xfrm>
            <a:off x="17232630" y="4511993"/>
            <a:ext cx="9525" cy="872966"/>
          </a:xfrm>
          <a:prstGeom prst="rect">
            <a:avLst/>
          </a:prstGeom>
          <a:solidFill>
            <a:srgbClr val="DFE1E6"/>
          </a:solidFill>
          <a:ln/>
        </p:spPr>
      </p:sp>
      <p:sp>
        <p:nvSpPr>
          <p:cNvPr id="26" name="Text 24"/>
          <p:cNvSpPr/>
          <p:nvPr/>
        </p:nvSpPr>
        <p:spPr>
          <a:xfrm>
            <a:off x="1379220" y="4765596"/>
            <a:ext cx="3143250" cy="403860"/>
          </a:xfrm>
          <a:prstGeom prst="rect">
            <a:avLst/>
          </a:prstGeom>
          <a:noFill/>
          <a:ln/>
        </p:spPr>
        <p:txBody>
          <a:bodyPr wrap="square" lIns="25400" tIns="25400" rIns="25400" bIns="25400" rtlCol="0" anchor="t">
            <a:normAutofit/>
          </a:bodyPr>
          <a:lstStyle/>
          <a:p>
            <a:pPr algn="l" indent="0" marL="0">
              <a:buNone/>
            </a:pPr>
            <a:r>
              <a:rPr lang="en-US" sz="2175" b="1" dirty="0">
                <a:solidFill>
                  <a:srgbClr val="2B57D6"/>
                </a:solidFill>
                <a:latin typeface="Roboto Mono" pitchFamily="34" charset="0"/>
                <a:ea typeface="Roboto Mono" pitchFamily="34" charset="-122"/>
                <a:cs typeface="Roboto Mono" pitchFamily="34" charset="-120"/>
              </a:rPr>
              <a:t>pii_regex</a:t>
            </a:r>
            <a:endParaRPr lang="en-US" sz="2175" dirty="0"/>
          </a:p>
        </p:txBody>
      </p:sp>
      <p:sp>
        <p:nvSpPr>
          <p:cNvPr id="27" name="Text 25"/>
          <p:cNvSpPr/>
          <p:nvPr/>
        </p:nvSpPr>
        <p:spPr>
          <a:xfrm>
            <a:off x="4465320" y="4748213"/>
            <a:ext cx="10335006" cy="438626"/>
          </a:xfrm>
          <a:prstGeom prst="rect">
            <a:avLst/>
          </a:prstGeom>
          <a:noFill/>
          <a:ln/>
        </p:spPr>
        <p:txBody>
          <a:bodyPr wrap="square" lIns="25400" tIns="25400" rIns="25400" bIns="25400" rtlCol="0" anchor="t">
            <a:normAutofit/>
          </a:bodyPr>
          <a:lstStyle/>
          <a:p>
            <a:pPr algn="l" indent="0" marL="0">
              <a:lnSpc>
                <a:spcPct val="125149"/>
              </a:lnSpc>
              <a:buNone/>
            </a:pPr>
            <a:r>
              <a:rPr lang="en-US" sz="2175" dirty="0">
                <a:solidFill>
                  <a:srgbClr val="16181D"/>
                </a:solidFill>
                <a:latin typeface="Arial" pitchFamily="34" charset="0"/>
                <a:ea typeface="Arial" pitchFamily="34" charset="-122"/>
                <a:cs typeface="Arial" pitchFamily="34" charset="-120"/>
              </a:rPr>
              <a:t>여권·전화·카드·이메일 마스킹 — 한글 조사 대응 lookaround</a:t>
            </a:r>
            <a:endParaRPr lang="en-US" sz="2175" dirty="0"/>
          </a:p>
        </p:txBody>
      </p:sp>
      <p:sp>
        <p:nvSpPr>
          <p:cNvPr id="28" name="Text 26"/>
          <p:cNvSpPr/>
          <p:nvPr/>
        </p:nvSpPr>
        <p:spPr>
          <a:xfrm>
            <a:off x="13803631" y="4811316"/>
            <a:ext cx="3143250" cy="312420"/>
          </a:xfrm>
          <a:prstGeom prst="rect">
            <a:avLst/>
          </a:prstGeom>
          <a:noFill/>
          <a:ln/>
        </p:spPr>
        <p:txBody>
          <a:bodyPr wrap="square" lIns="25400" tIns="25400" rIns="25400" bIns="25400" rtlCol="0" anchor="t">
            <a:normAutofit/>
          </a:bodyPr>
          <a:lstStyle/>
          <a:p>
            <a:pPr algn="r" indent="0" marL="0">
              <a:buNone/>
            </a:pPr>
            <a:r>
              <a:rPr lang="en-US" sz="1650" dirty="0">
                <a:solidFill>
                  <a:srgbClr val="6B7280"/>
                </a:solidFill>
                <a:latin typeface="Roboto Mono" pitchFamily="34" charset="0"/>
                <a:ea typeface="Roboto Mono" pitchFamily="34" charset="-122"/>
                <a:cs typeface="Roboto Mono" pitchFamily="34" charset="-120"/>
              </a:rPr>
              <a:t>직접 구현 · 로컬</a:t>
            </a:r>
            <a:endParaRPr lang="en-US" sz="1650" dirty="0"/>
          </a:p>
        </p:txBody>
      </p:sp>
      <p:sp>
        <p:nvSpPr>
          <p:cNvPr id="29" name="Shape 27"/>
          <p:cNvSpPr/>
          <p:nvPr/>
        </p:nvSpPr>
        <p:spPr>
          <a:xfrm>
            <a:off x="1047750" y="5499259"/>
            <a:ext cx="16192500" cy="872966"/>
          </a:xfrm>
          <a:prstGeom prst="rect">
            <a:avLst/>
          </a:prstGeom>
          <a:solidFill>
            <a:srgbClr val="F6F7F8"/>
          </a:solidFill>
          <a:ln/>
        </p:spPr>
      </p:sp>
      <p:sp>
        <p:nvSpPr>
          <p:cNvPr id="30" name="Shape 28"/>
          <p:cNvSpPr/>
          <p:nvPr/>
        </p:nvSpPr>
        <p:spPr>
          <a:xfrm>
            <a:off x="1047750" y="6364605"/>
            <a:ext cx="16192500" cy="9525"/>
          </a:xfrm>
          <a:prstGeom prst="rect">
            <a:avLst/>
          </a:prstGeom>
          <a:solidFill>
            <a:srgbClr val="DFE1E6"/>
          </a:solidFill>
          <a:ln/>
        </p:spPr>
      </p:sp>
      <p:sp>
        <p:nvSpPr>
          <p:cNvPr id="31" name="Shape 29"/>
          <p:cNvSpPr/>
          <p:nvPr/>
        </p:nvSpPr>
        <p:spPr>
          <a:xfrm>
            <a:off x="1047750" y="5499259"/>
            <a:ext cx="16192500" cy="9525"/>
          </a:xfrm>
          <a:prstGeom prst="rect">
            <a:avLst/>
          </a:prstGeom>
          <a:solidFill>
            <a:srgbClr val="DFE1E6"/>
          </a:solidFill>
          <a:ln/>
        </p:spPr>
      </p:sp>
      <p:sp>
        <p:nvSpPr>
          <p:cNvPr id="32" name="Shape 30"/>
          <p:cNvSpPr/>
          <p:nvPr/>
        </p:nvSpPr>
        <p:spPr>
          <a:xfrm>
            <a:off x="1047750" y="5499259"/>
            <a:ext cx="45720" cy="872966"/>
          </a:xfrm>
          <a:prstGeom prst="rect">
            <a:avLst/>
          </a:prstGeom>
          <a:solidFill>
            <a:srgbClr val="16181D"/>
          </a:solidFill>
          <a:ln/>
        </p:spPr>
      </p:sp>
      <p:sp>
        <p:nvSpPr>
          <p:cNvPr id="33" name="Shape 31"/>
          <p:cNvSpPr/>
          <p:nvPr/>
        </p:nvSpPr>
        <p:spPr>
          <a:xfrm>
            <a:off x="17232630" y="5499259"/>
            <a:ext cx="9525" cy="872966"/>
          </a:xfrm>
          <a:prstGeom prst="rect">
            <a:avLst/>
          </a:prstGeom>
          <a:solidFill>
            <a:srgbClr val="DFE1E6"/>
          </a:solidFill>
          <a:ln/>
        </p:spPr>
      </p:sp>
      <p:sp>
        <p:nvSpPr>
          <p:cNvPr id="34" name="Text 32"/>
          <p:cNvSpPr/>
          <p:nvPr/>
        </p:nvSpPr>
        <p:spPr>
          <a:xfrm>
            <a:off x="1379220" y="5752862"/>
            <a:ext cx="3143250" cy="403860"/>
          </a:xfrm>
          <a:prstGeom prst="rect">
            <a:avLst/>
          </a:prstGeom>
          <a:noFill/>
          <a:ln/>
        </p:spPr>
        <p:txBody>
          <a:bodyPr wrap="square" lIns="25400" tIns="25400" rIns="25400" bIns="25400" rtlCol="0" anchor="t">
            <a:normAutofit/>
          </a:bodyPr>
          <a:lstStyle/>
          <a:p>
            <a:pPr algn="l" indent="0" marL="0">
              <a:buNone/>
            </a:pPr>
            <a:r>
              <a:rPr lang="en-US" sz="2175" b="1" dirty="0">
                <a:solidFill>
                  <a:srgbClr val="16181D"/>
                </a:solidFill>
                <a:latin typeface="Roboto Mono" pitchFamily="34" charset="0"/>
                <a:ea typeface="Roboto Mono" pitchFamily="34" charset="-122"/>
                <a:cs typeface="Roboto Mono" pitchFamily="34" charset="-120"/>
              </a:rPr>
              <a:t>bedrock_guardrail</a:t>
            </a:r>
            <a:endParaRPr lang="en-US" sz="2175" dirty="0"/>
          </a:p>
        </p:txBody>
      </p:sp>
      <p:sp>
        <p:nvSpPr>
          <p:cNvPr id="35" name="Text 33"/>
          <p:cNvSpPr/>
          <p:nvPr/>
        </p:nvSpPr>
        <p:spPr>
          <a:xfrm>
            <a:off x="4465320" y="5735479"/>
            <a:ext cx="10335006" cy="438626"/>
          </a:xfrm>
          <a:prstGeom prst="rect">
            <a:avLst/>
          </a:prstGeom>
          <a:noFill/>
          <a:ln/>
        </p:spPr>
        <p:txBody>
          <a:bodyPr wrap="square" lIns="25400" tIns="25400" rIns="25400" bIns="25400" rtlCol="0" anchor="t">
            <a:normAutofit/>
          </a:bodyPr>
          <a:lstStyle/>
          <a:p>
            <a:pPr algn="l" indent="0" marL="0">
              <a:lnSpc>
                <a:spcPct val="125149"/>
              </a:lnSpc>
              <a:buNone/>
            </a:pPr>
            <a:r>
              <a:rPr lang="en-US" sz="2175" dirty="0">
                <a:solidFill>
                  <a:srgbClr val="16181D"/>
                </a:solidFill>
                <a:latin typeface="Arial" pitchFamily="34" charset="0"/>
                <a:ea typeface="Arial" pitchFamily="34" charset="-122"/>
                <a:cs typeface="Arial" pitchFamily="34" charset="-120"/>
              </a:rPr>
              <a:t>Standard tier + apac cross-region — </a:t>
            </a:r>
            <a:pPr algn="l" indent="0" marL="0">
              <a:lnSpc>
                <a:spcPct val="125149"/>
              </a:lnSpc>
              <a:buNone/>
            </a:pPr>
            <a:r>
              <a:rPr lang="en-US" sz="2175" b="1" dirty="0">
                <a:solidFill>
                  <a:srgbClr val="16181D"/>
                </a:solidFill>
                <a:latin typeface="Arial" pitchFamily="34" charset="0"/>
                <a:ea typeface="Arial" pitchFamily="34" charset="-122"/>
                <a:cs typeface="Arial" pitchFamily="34" charset="-120"/>
              </a:rPr>
              <a:t>입력·출력 두 번 </a:t>
            </a:r>
            <a:pPr algn="l" indent="0" marL="0">
              <a:lnSpc>
                <a:spcPct val="125149"/>
              </a:lnSpc>
              <a:buNone/>
            </a:pPr>
            <a:r>
              <a:rPr lang="en-US" sz="2175" dirty="0">
                <a:solidFill>
                  <a:srgbClr val="16181D"/>
                </a:solidFill>
                <a:latin typeface="Arial" pitchFamily="34" charset="0"/>
                <a:ea typeface="Arial" pitchFamily="34" charset="-122"/>
                <a:cs typeface="Arial" pitchFamily="34" charset="-120"/>
              </a:rPr>
              <a:t>검사</a:t>
            </a:r>
            <a:endParaRPr lang="en-US" sz="2175" dirty="0"/>
          </a:p>
        </p:txBody>
      </p:sp>
      <p:sp>
        <p:nvSpPr>
          <p:cNvPr id="36" name="Text 34"/>
          <p:cNvSpPr/>
          <p:nvPr/>
        </p:nvSpPr>
        <p:spPr>
          <a:xfrm>
            <a:off x="13803631" y="5798582"/>
            <a:ext cx="3143250" cy="312420"/>
          </a:xfrm>
          <a:prstGeom prst="rect">
            <a:avLst/>
          </a:prstGeom>
          <a:noFill/>
          <a:ln/>
        </p:spPr>
        <p:txBody>
          <a:bodyPr wrap="square" lIns="25400" tIns="25400" rIns="25400" bIns="25400" rtlCol="0" anchor="t">
            <a:normAutofit/>
          </a:bodyPr>
          <a:lstStyle/>
          <a:p>
            <a:pPr algn="r" indent="0" marL="0">
              <a:buNone/>
            </a:pPr>
            <a:r>
              <a:rPr lang="en-US" sz="1650" dirty="0">
                <a:solidFill>
                  <a:srgbClr val="6B7280"/>
                </a:solidFill>
                <a:latin typeface="Roboto Mono" pitchFamily="34" charset="0"/>
                <a:ea typeface="Roboto Mono" pitchFamily="34" charset="-122"/>
                <a:cs typeface="Roboto Mono" pitchFamily="34" charset="-120"/>
              </a:rPr>
              <a:t>관리형 · 클라우드</a:t>
            </a:r>
            <a:endParaRPr lang="en-US" sz="1650" dirty="0"/>
          </a:p>
        </p:txBody>
      </p:sp>
      <p:sp>
        <p:nvSpPr>
          <p:cNvPr id="37" name="Shape 35"/>
          <p:cNvSpPr/>
          <p:nvPr/>
        </p:nvSpPr>
        <p:spPr>
          <a:xfrm>
            <a:off x="1047750" y="6486525"/>
            <a:ext cx="16192500" cy="872966"/>
          </a:xfrm>
          <a:prstGeom prst="rect">
            <a:avLst/>
          </a:prstGeom>
          <a:solidFill>
            <a:srgbClr val="FFFFFF"/>
          </a:solidFill>
          <a:ln/>
        </p:spPr>
      </p:sp>
      <p:sp>
        <p:nvSpPr>
          <p:cNvPr id="38" name="Shape 36"/>
          <p:cNvSpPr/>
          <p:nvPr/>
        </p:nvSpPr>
        <p:spPr>
          <a:xfrm>
            <a:off x="1047750" y="7351871"/>
            <a:ext cx="16192500" cy="9525"/>
          </a:xfrm>
          <a:prstGeom prst="rect">
            <a:avLst/>
          </a:prstGeom>
          <a:solidFill>
            <a:srgbClr val="DFE1E6"/>
          </a:solidFill>
          <a:ln/>
        </p:spPr>
      </p:sp>
      <p:sp>
        <p:nvSpPr>
          <p:cNvPr id="39" name="Shape 37"/>
          <p:cNvSpPr/>
          <p:nvPr/>
        </p:nvSpPr>
        <p:spPr>
          <a:xfrm>
            <a:off x="1047750" y="6486525"/>
            <a:ext cx="16192500" cy="9525"/>
          </a:xfrm>
          <a:prstGeom prst="rect">
            <a:avLst/>
          </a:prstGeom>
          <a:solidFill>
            <a:srgbClr val="DFE1E6"/>
          </a:solidFill>
          <a:ln/>
        </p:spPr>
      </p:sp>
      <p:sp>
        <p:nvSpPr>
          <p:cNvPr id="40" name="Shape 38"/>
          <p:cNvSpPr/>
          <p:nvPr/>
        </p:nvSpPr>
        <p:spPr>
          <a:xfrm>
            <a:off x="1047750" y="6486525"/>
            <a:ext cx="45720" cy="872966"/>
          </a:xfrm>
          <a:prstGeom prst="rect">
            <a:avLst/>
          </a:prstGeom>
          <a:solidFill>
            <a:srgbClr val="4F7CFF"/>
          </a:solidFill>
          <a:ln/>
        </p:spPr>
      </p:sp>
      <p:sp>
        <p:nvSpPr>
          <p:cNvPr id="41" name="Shape 39"/>
          <p:cNvSpPr/>
          <p:nvPr/>
        </p:nvSpPr>
        <p:spPr>
          <a:xfrm>
            <a:off x="17232630" y="6486525"/>
            <a:ext cx="9525" cy="872966"/>
          </a:xfrm>
          <a:prstGeom prst="rect">
            <a:avLst/>
          </a:prstGeom>
          <a:solidFill>
            <a:srgbClr val="DFE1E6"/>
          </a:solidFill>
          <a:ln/>
        </p:spPr>
      </p:sp>
      <p:sp>
        <p:nvSpPr>
          <p:cNvPr id="42" name="Text 40"/>
          <p:cNvSpPr/>
          <p:nvPr/>
        </p:nvSpPr>
        <p:spPr>
          <a:xfrm>
            <a:off x="1379220" y="6740128"/>
            <a:ext cx="3143250" cy="403860"/>
          </a:xfrm>
          <a:prstGeom prst="rect">
            <a:avLst/>
          </a:prstGeom>
          <a:noFill/>
          <a:ln/>
        </p:spPr>
        <p:txBody>
          <a:bodyPr wrap="square" lIns="25400" tIns="25400" rIns="25400" bIns="25400" rtlCol="0" anchor="t">
            <a:normAutofit/>
          </a:bodyPr>
          <a:lstStyle/>
          <a:p>
            <a:pPr algn="l" indent="0" marL="0">
              <a:buNone/>
            </a:pPr>
            <a:r>
              <a:rPr lang="en-US" sz="2175" b="1" dirty="0">
                <a:solidFill>
                  <a:srgbClr val="2B57D6"/>
                </a:solidFill>
                <a:latin typeface="Roboto Mono" pitchFamily="34" charset="0"/>
                <a:ea typeface="Roboto Mono" pitchFamily="34" charset="-122"/>
                <a:cs typeface="Roboto Mono" pitchFamily="34" charset="-120"/>
              </a:rPr>
              <a:t>grounding_check</a:t>
            </a:r>
            <a:endParaRPr lang="en-US" sz="2175" dirty="0"/>
          </a:p>
        </p:txBody>
      </p:sp>
      <p:sp>
        <p:nvSpPr>
          <p:cNvPr id="43" name="Text 41"/>
          <p:cNvSpPr/>
          <p:nvPr/>
        </p:nvSpPr>
        <p:spPr>
          <a:xfrm>
            <a:off x="4465320" y="6722745"/>
            <a:ext cx="10335006" cy="438626"/>
          </a:xfrm>
          <a:prstGeom prst="rect">
            <a:avLst/>
          </a:prstGeom>
          <a:noFill/>
          <a:ln/>
        </p:spPr>
        <p:txBody>
          <a:bodyPr wrap="square" lIns="25400" tIns="25400" rIns="25400" bIns="25400" rtlCol="0" anchor="t">
            <a:normAutofit/>
          </a:bodyPr>
          <a:lstStyle/>
          <a:p>
            <a:pPr algn="l" indent="0" marL="0">
              <a:lnSpc>
                <a:spcPct val="125149"/>
              </a:lnSpc>
              <a:buNone/>
            </a:pPr>
            <a:r>
              <a:rPr lang="en-US" sz="2175" dirty="0">
                <a:solidFill>
                  <a:srgbClr val="16181D"/>
                </a:solidFill>
                <a:latin typeface="Arial" pitchFamily="34" charset="0"/>
                <a:ea typeface="Arial" pitchFamily="34" charset="-122"/>
                <a:cs typeface="Arial" pitchFamily="34" charset="-120"/>
              </a:rPr>
              <a:t>답변 숫자 ↔ 도구 응답 대조 — 실패 시 재생성, 재실패 시 폐기</a:t>
            </a:r>
            <a:endParaRPr lang="en-US" sz="2175" dirty="0"/>
          </a:p>
        </p:txBody>
      </p:sp>
      <p:sp>
        <p:nvSpPr>
          <p:cNvPr id="44" name="Text 42"/>
          <p:cNvSpPr/>
          <p:nvPr/>
        </p:nvSpPr>
        <p:spPr>
          <a:xfrm>
            <a:off x="13803631" y="6785848"/>
            <a:ext cx="3143250" cy="312420"/>
          </a:xfrm>
          <a:prstGeom prst="rect">
            <a:avLst/>
          </a:prstGeom>
          <a:noFill/>
          <a:ln/>
        </p:spPr>
        <p:txBody>
          <a:bodyPr wrap="square" lIns="25400" tIns="25400" rIns="25400" bIns="25400" rtlCol="0" anchor="t">
            <a:normAutofit/>
          </a:bodyPr>
          <a:lstStyle/>
          <a:p>
            <a:pPr algn="r" indent="0" marL="0">
              <a:buNone/>
            </a:pPr>
            <a:r>
              <a:rPr lang="en-US" sz="1650" dirty="0">
                <a:solidFill>
                  <a:srgbClr val="6B7280"/>
                </a:solidFill>
                <a:latin typeface="Roboto Mono" pitchFamily="34" charset="0"/>
                <a:ea typeface="Roboto Mono" pitchFamily="34" charset="-122"/>
                <a:cs typeface="Roboto Mono" pitchFamily="34" charset="-120"/>
              </a:rPr>
              <a:t>직접 구현 · 로컬</a:t>
            </a:r>
            <a:endParaRPr lang="en-US" sz="1650" dirty="0"/>
          </a:p>
        </p:txBody>
      </p:sp>
      <p:sp>
        <p:nvSpPr>
          <p:cNvPr id="45" name="Shape 43"/>
          <p:cNvSpPr/>
          <p:nvPr/>
        </p:nvSpPr>
        <p:spPr>
          <a:xfrm>
            <a:off x="1047750" y="7473791"/>
            <a:ext cx="16192500" cy="872966"/>
          </a:xfrm>
          <a:prstGeom prst="rect">
            <a:avLst/>
          </a:prstGeom>
          <a:solidFill>
            <a:srgbClr val="FFFFFF"/>
          </a:solidFill>
          <a:ln/>
        </p:spPr>
      </p:sp>
      <p:sp>
        <p:nvSpPr>
          <p:cNvPr id="46" name="Shape 44"/>
          <p:cNvSpPr/>
          <p:nvPr/>
        </p:nvSpPr>
        <p:spPr>
          <a:xfrm>
            <a:off x="1047750" y="8339138"/>
            <a:ext cx="16192500" cy="9525"/>
          </a:xfrm>
          <a:prstGeom prst="rect">
            <a:avLst/>
          </a:prstGeom>
          <a:solidFill>
            <a:srgbClr val="DFE1E6"/>
          </a:solidFill>
          <a:ln/>
        </p:spPr>
      </p:sp>
      <p:sp>
        <p:nvSpPr>
          <p:cNvPr id="47" name="Shape 45"/>
          <p:cNvSpPr/>
          <p:nvPr/>
        </p:nvSpPr>
        <p:spPr>
          <a:xfrm>
            <a:off x="1047750" y="7473791"/>
            <a:ext cx="16192500" cy="9525"/>
          </a:xfrm>
          <a:prstGeom prst="rect">
            <a:avLst/>
          </a:prstGeom>
          <a:solidFill>
            <a:srgbClr val="DFE1E6"/>
          </a:solidFill>
          <a:ln/>
        </p:spPr>
      </p:sp>
      <p:sp>
        <p:nvSpPr>
          <p:cNvPr id="48" name="Shape 46"/>
          <p:cNvSpPr/>
          <p:nvPr/>
        </p:nvSpPr>
        <p:spPr>
          <a:xfrm>
            <a:off x="1047750" y="7473791"/>
            <a:ext cx="45720" cy="872966"/>
          </a:xfrm>
          <a:prstGeom prst="rect">
            <a:avLst/>
          </a:prstGeom>
          <a:solidFill>
            <a:srgbClr val="4F7CFF"/>
          </a:solidFill>
          <a:ln/>
        </p:spPr>
      </p:sp>
      <p:sp>
        <p:nvSpPr>
          <p:cNvPr id="49" name="Shape 47"/>
          <p:cNvSpPr/>
          <p:nvPr/>
        </p:nvSpPr>
        <p:spPr>
          <a:xfrm>
            <a:off x="17232630" y="7473791"/>
            <a:ext cx="9525" cy="872966"/>
          </a:xfrm>
          <a:prstGeom prst="rect">
            <a:avLst/>
          </a:prstGeom>
          <a:solidFill>
            <a:srgbClr val="DFE1E6"/>
          </a:solidFill>
          <a:ln/>
        </p:spPr>
      </p:sp>
      <p:sp>
        <p:nvSpPr>
          <p:cNvPr id="50" name="Text 48"/>
          <p:cNvSpPr/>
          <p:nvPr/>
        </p:nvSpPr>
        <p:spPr>
          <a:xfrm>
            <a:off x="1379220" y="7727395"/>
            <a:ext cx="3143250" cy="403860"/>
          </a:xfrm>
          <a:prstGeom prst="rect">
            <a:avLst/>
          </a:prstGeom>
          <a:noFill/>
          <a:ln/>
        </p:spPr>
        <p:txBody>
          <a:bodyPr wrap="square" lIns="25400" tIns="25400" rIns="25400" bIns="25400" rtlCol="0" anchor="t">
            <a:normAutofit/>
          </a:bodyPr>
          <a:lstStyle/>
          <a:p>
            <a:pPr algn="l" indent="0" marL="0">
              <a:buNone/>
            </a:pPr>
            <a:r>
              <a:rPr lang="en-US" sz="2175" b="1" dirty="0">
                <a:solidFill>
                  <a:srgbClr val="2B57D6"/>
                </a:solidFill>
                <a:latin typeface="Roboto Mono" pitchFamily="34" charset="0"/>
                <a:ea typeface="Roboto Mono" pitchFamily="34" charset="-122"/>
                <a:cs typeface="Roboto Mono" pitchFamily="34" charset="-120"/>
              </a:rPr>
              <a:t>scope_policy</a:t>
            </a:r>
            <a:endParaRPr lang="en-US" sz="2175" dirty="0"/>
          </a:p>
        </p:txBody>
      </p:sp>
      <p:sp>
        <p:nvSpPr>
          <p:cNvPr id="51" name="Text 49"/>
          <p:cNvSpPr/>
          <p:nvPr/>
        </p:nvSpPr>
        <p:spPr>
          <a:xfrm>
            <a:off x="4465320" y="7710011"/>
            <a:ext cx="10335006" cy="438626"/>
          </a:xfrm>
          <a:prstGeom prst="rect">
            <a:avLst/>
          </a:prstGeom>
          <a:noFill/>
          <a:ln/>
        </p:spPr>
        <p:txBody>
          <a:bodyPr wrap="square" lIns="25400" tIns="25400" rIns="25400" bIns="25400" rtlCol="0" anchor="t">
            <a:normAutofit/>
          </a:bodyPr>
          <a:lstStyle/>
          <a:p>
            <a:pPr algn="l" indent="0" marL="0">
              <a:lnSpc>
                <a:spcPct val="125149"/>
              </a:lnSpc>
              <a:buNone/>
            </a:pPr>
            <a:r>
              <a:rPr lang="en-US" sz="2175" dirty="0">
                <a:solidFill>
                  <a:srgbClr val="16181D"/>
                </a:solidFill>
                <a:latin typeface="Arial" pitchFamily="34" charset="0"/>
                <a:ea typeface="Arial" pitchFamily="34" charset="-122"/>
                <a:cs typeface="Arial" pitchFamily="34" charset="-120"/>
              </a:rPr>
              <a:t>예약·결제·취소 요청 차단 — 도구 호출 </a:t>
            </a:r>
            <a:pPr algn="l" indent="0" marL="0">
              <a:lnSpc>
                <a:spcPct val="125149"/>
              </a:lnSpc>
              <a:buNone/>
            </a:pPr>
            <a:r>
              <a:rPr lang="en-US" sz="2175" b="1" dirty="0">
                <a:solidFill>
                  <a:srgbClr val="16181D"/>
                </a:solidFill>
                <a:latin typeface="Arial" pitchFamily="34" charset="0"/>
                <a:ea typeface="Arial" pitchFamily="34" charset="-122"/>
                <a:cs typeface="Arial" pitchFamily="34" charset="-120"/>
              </a:rPr>
              <a:t>전</a:t>
            </a:r>
            <a:pPr algn="l" indent="0" marL="0">
              <a:lnSpc>
                <a:spcPct val="125149"/>
              </a:lnSpc>
              <a:buNone/>
            </a:pPr>
            <a:r>
              <a:rPr lang="en-US" sz="2175" dirty="0">
                <a:solidFill>
                  <a:srgbClr val="16181D"/>
                </a:solidFill>
                <a:latin typeface="Arial" pitchFamily="34" charset="0"/>
                <a:ea typeface="Arial" pitchFamily="34" charset="-122"/>
                <a:cs typeface="Arial" pitchFamily="34" charset="-120"/>
              </a:rPr>
              <a:t>에 분기</a:t>
            </a:r>
            <a:endParaRPr lang="en-US" sz="2175" dirty="0"/>
          </a:p>
        </p:txBody>
      </p:sp>
      <p:sp>
        <p:nvSpPr>
          <p:cNvPr id="52" name="Text 50"/>
          <p:cNvSpPr/>
          <p:nvPr/>
        </p:nvSpPr>
        <p:spPr>
          <a:xfrm>
            <a:off x="13803631" y="7773114"/>
            <a:ext cx="3143250" cy="312420"/>
          </a:xfrm>
          <a:prstGeom prst="rect">
            <a:avLst/>
          </a:prstGeom>
          <a:noFill/>
          <a:ln/>
        </p:spPr>
        <p:txBody>
          <a:bodyPr wrap="square" lIns="25400" tIns="25400" rIns="25400" bIns="25400" rtlCol="0" anchor="t">
            <a:normAutofit/>
          </a:bodyPr>
          <a:lstStyle/>
          <a:p>
            <a:pPr algn="r" indent="0" marL="0">
              <a:buNone/>
            </a:pPr>
            <a:r>
              <a:rPr lang="en-US" sz="1650" dirty="0">
                <a:solidFill>
                  <a:srgbClr val="6B7280"/>
                </a:solidFill>
                <a:latin typeface="Roboto Mono" pitchFamily="34" charset="0"/>
                <a:ea typeface="Roboto Mono" pitchFamily="34" charset="-122"/>
                <a:cs typeface="Roboto Mono" pitchFamily="34" charset="-120"/>
              </a:rPr>
              <a:t>직접 구현 · 로컬</a:t>
            </a:r>
            <a:endParaRPr lang="en-US" sz="1650" dirty="0"/>
          </a:p>
        </p:txBody>
      </p:sp>
      <p:sp>
        <p:nvSpPr>
          <p:cNvPr id="53" name="Shape 51"/>
          <p:cNvSpPr/>
          <p:nvPr/>
        </p:nvSpPr>
        <p:spPr>
          <a:xfrm>
            <a:off x="1047750" y="8708707"/>
            <a:ext cx="16192500" cy="906780"/>
          </a:xfrm>
          <a:prstGeom prst="rect">
            <a:avLst/>
          </a:prstGeom>
          <a:solidFill>
            <a:srgbClr val="16181D"/>
          </a:solidFill>
          <a:ln/>
        </p:spPr>
      </p:sp>
      <p:sp>
        <p:nvSpPr>
          <p:cNvPr id="54" name="Text 52"/>
          <p:cNvSpPr/>
          <p:nvPr/>
        </p:nvSpPr>
        <p:spPr>
          <a:xfrm>
            <a:off x="1409700" y="9017318"/>
            <a:ext cx="3084838" cy="327660"/>
          </a:xfrm>
          <a:prstGeom prst="rect">
            <a:avLst/>
          </a:prstGeom>
          <a:noFill/>
          <a:ln/>
        </p:spPr>
        <p:txBody>
          <a:bodyPr wrap="none" lIns="25400" tIns="25400" rIns="25400" bIns="25400" rtlCol="0" anchor="t">
            <a:normAutofit/>
          </a:bodyPr>
          <a:lstStyle/>
          <a:p>
            <a:pPr algn="l" indent="0" marL="0">
              <a:buNone/>
            </a:pPr>
            <a:r>
              <a:rPr lang="en-US" sz="1725" dirty="0">
                <a:solidFill>
                  <a:srgbClr val="9DB4FF"/>
                </a:solidFill>
                <a:latin typeface="Roboto Mono" pitchFamily="34" charset="0"/>
                <a:ea typeface="Roboto Mono" pitchFamily="34" charset="-122"/>
                <a:cs typeface="Roboto Mono" pitchFamily="34" charset="-120"/>
              </a:rPr>
              <a:t>실측 차단 분포 (208문항)</a:t>
            </a:r>
            <a:endParaRPr lang="en-US" sz="1725" dirty="0"/>
          </a:p>
        </p:txBody>
      </p:sp>
      <p:sp>
        <p:nvSpPr>
          <p:cNvPr id="55" name="Text 53"/>
          <p:cNvSpPr/>
          <p:nvPr/>
        </p:nvSpPr>
        <p:spPr>
          <a:xfrm>
            <a:off x="4633198" y="8994457"/>
            <a:ext cx="3225630" cy="373380"/>
          </a:xfrm>
          <a:prstGeom prst="rect">
            <a:avLst/>
          </a:prstGeom>
          <a:noFill/>
          <a:ln/>
        </p:spPr>
        <p:txBody>
          <a:bodyPr wrap="square" lIns="25400" tIns="25400" rIns="25400" bIns="25400" rtlCol="0" anchor="t">
            <a:normAutofit/>
          </a:bodyPr>
          <a:lstStyle/>
          <a:p>
            <a:pPr algn="l" indent="0" marL="0">
              <a:buNone/>
            </a:pPr>
            <a:r>
              <a:rPr lang="en-US" sz="2025" dirty="0">
                <a:solidFill>
                  <a:srgbClr val="FBFBFA"/>
                </a:solidFill>
                <a:latin typeface="Roboto Mono" pitchFamily="34" charset="0"/>
                <a:ea typeface="Roboto Mono" pitchFamily="34" charset="-122"/>
                <a:cs typeface="Roboto Mono" pitchFamily="34" charset="-120"/>
              </a:rPr>
              <a:t>guardrail_input </a:t>
            </a:r>
            <a:pPr algn="l" indent="0" marL="0">
              <a:buNone/>
            </a:pPr>
            <a:r>
              <a:rPr lang="en-US" sz="2025" b="1" dirty="0">
                <a:solidFill>
                  <a:srgbClr val="9DB4FF"/>
                </a:solidFill>
                <a:latin typeface="Roboto Mono" pitchFamily="34" charset="0"/>
                <a:ea typeface="Roboto Mono" pitchFamily="34" charset="-122"/>
                <a:cs typeface="Roboto Mono" pitchFamily="34" charset="-120"/>
              </a:rPr>
              <a:t>106</a:t>
            </a:r>
            <a:endParaRPr lang="en-US" sz="2025" dirty="0"/>
          </a:p>
        </p:txBody>
      </p:sp>
      <p:sp>
        <p:nvSpPr>
          <p:cNvPr id="56" name="Text 54"/>
          <p:cNvSpPr/>
          <p:nvPr/>
        </p:nvSpPr>
        <p:spPr>
          <a:xfrm>
            <a:off x="7946589" y="8994457"/>
            <a:ext cx="2716292" cy="373380"/>
          </a:xfrm>
          <a:prstGeom prst="rect">
            <a:avLst/>
          </a:prstGeom>
          <a:noFill/>
          <a:ln/>
        </p:spPr>
        <p:txBody>
          <a:bodyPr wrap="square" lIns="25400" tIns="25400" rIns="25400" bIns="25400" rtlCol="0" anchor="t">
            <a:normAutofit/>
          </a:bodyPr>
          <a:lstStyle/>
          <a:p>
            <a:pPr algn="l" indent="0" marL="0">
              <a:buNone/>
            </a:pPr>
            <a:r>
              <a:rPr lang="en-US" sz="2025" dirty="0">
                <a:solidFill>
                  <a:srgbClr val="FBFBFA"/>
                </a:solidFill>
                <a:latin typeface="Roboto Mono" pitchFamily="34" charset="0"/>
                <a:ea typeface="Roboto Mono" pitchFamily="34" charset="-122"/>
                <a:cs typeface="Roboto Mono" pitchFamily="34" charset="-120"/>
              </a:rPr>
              <a:t>out_of_domain </a:t>
            </a:r>
            <a:pPr algn="l" indent="0" marL="0">
              <a:buNone/>
            </a:pPr>
            <a:r>
              <a:rPr lang="en-US" sz="2025" b="1" dirty="0">
                <a:solidFill>
                  <a:srgbClr val="9DB4FF"/>
                </a:solidFill>
                <a:latin typeface="Roboto Mono" pitchFamily="34" charset="0"/>
                <a:ea typeface="Roboto Mono" pitchFamily="34" charset="-122"/>
                <a:cs typeface="Roboto Mono" pitchFamily="34" charset="-120"/>
              </a:rPr>
              <a:t>64</a:t>
            </a:r>
            <a:endParaRPr lang="en-US" sz="2025" dirty="0"/>
          </a:p>
        </p:txBody>
      </p:sp>
      <p:sp>
        <p:nvSpPr>
          <p:cNvPr id="57" name="Text 55"/>
          <p:cNvSpPr/>
          <p:nvPr/>
        </p:nvSpPr>
        <p:spPr>
          <a:xfrm>
            <a:off x="10796944" y="8994457"/>
            <a:ext cx="1867614" cy="373380"/>
          </a:xfrm>
          <a:prstGeom prst="rect">
            <a:avLst/>
          </a:prstGeom>
          <a:noFill/>
          <a:ln/>
        </p:spPr>
        <p:txBody>
          <a:bodyPr wrap="square" lIns="25400" tIns="25400" rIns="25400" bIns="25400" rtlCol="0" anchor="t">
            <a:normAutofit/>
          </a:bodyPr>
          <a:lstStyle/>
          <a:p>
            <a:pPr algn="l" indent="0" marL="0">
              <a:buNone/>
            </a:pPr>
            <a:r>
              <a:rPr lang="en-US" sz="2025" dirty="0">
                <a:solidFill>
                  <a:srgbClr val="FBFBFA"/>
                </a:solidFill>
                <a:latin typeface="Roboto Mono" pitchFamily="34" charset="0"/>
                <a:ea typeface="Roboto Mono" pitchFamily="34" charset="-122"/>
                <a:cs typeface="Roboto Mono" pitchFamily="34" charset="-120"/>
              </a:rPr>
              <a:t>blocklist </a:t>
            </a:r>
            <a:pPr algn="l" indent="0" marL="0">
              <a:buNone/>
            </a:pPr>
            <a:r>
              <a:rPr lang="en-US" sz="2025" b="1" dirty="0">
                <a:solidFill>
                  <a:srgbClr val="9DB4FF"/>
                </a:solidFill>
                <a:latin typeface="Roboto Mono" pitchFamily="34" charset="0"/>
                <a:ea typeface="Roboto Mono" pitchFamily="34" charset="-122"/>
                <a:cs typeface="Roboto Mono" pitchFamily="34" charset="-120"/>
              </a:rPr>
              <a:t>5</a:t>
            </a:r>
            <a:endParaRPr lang="en-US" sz="2025" dirty="0"/>
          </a:p>
        </p:txBody>
      </p:sp>
      <p:sp>
        <p:nvSpPr>
          <p:cNvPr id="58" name="Text 56"/>
          <p:cNvSpPr/>
          <p:nvPr/>
        </p:nvSpPr>
        <p:spPr>
          <a:xfrm>
            <a:off x="12875776" y="8994457"/>
            <a:ext cx="1697748" cy="373380"/>
          </a:xfrm>
          <a:prstGeom prst="rect">
            <a:avLst/>
          </a:prstGeom>
          <a:noFill/>
          <a:ln/>
        </p:spPr>
        <p:txBody>
          <a:bodyPr wrap="square" lIns="25400" tIns="25400" rIns="25400" bIns="25400" rtlCol="0" anchor="t">
            <a:normAutofit/>
          </a:bodyPr>
          <a:lstStyle/>
          <a:p>
            <a:pPr algn="l" indent="0" marL="0">
              <a:buNone/>
            </a:pPr>
            <a:r>
              <a:rPr lang="en-US" sz="2025" dirty="0">
                <a:solidFill>
                  <a:srgbClr val="FBFBFA"/>
                </a:solidFill>
                <a:latin typeface="Roboto Mono" pitchFamily="34" charset="0"/>
                <a:ea typeface="Roboto Mono" pitchFamily="34" charset="-122"/>
                <a:cs typeface="Roboto Mono" pitchFamily="34" charset="-120"/>
              </a:rPr>
              <a:t>toxicity </a:t>
            </a:r>
            <a:pPr algn="l" indent="0" marL="0">
              <a:buNone/>
            </a:pPr>
            <a:r>
              <a:rPr lang="en-US" sz="2025" b="1" dirty="0">
                <a:solidFill>
                  <a:srgbClr val="9DB4FF"/>
                </a:solidFill>
                <a:latin typeface="Roboto Mono" pitchFamily="34" charset="0"/>
                <a:ea typeface="Roboto Mono" pitchFamily="34" charset="-122"/>
                <a:cs typeface="Roboto Mono" pitchFamily="34" charset="-120"/>
              </a:rPr>
              <a:t>3</a:t>
            </a:r>
            <a:endParaRPr lang="en-US" sz="20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620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07 · LAYER ① LOCAL_GATE</a:t>
            </a:r>
            <a:endParaRPr lang="en-US" sz="1800" dirty="0"/>
          </a:p>
        </p:txBody>
      </p:sp>
      <p:sp>
        <p:nvSpPr>
          <p:cNvPr id="3" name="Text 1"/>
          <p:cNvSpPr/>
          <p:nvPr/>
        </p:nvSpPr>
        <p:spPr>
          <a:xfrm>
            <a:off x="1047750" y="1192530"/>
            <a:ext cx="17811750"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한 번의 호출로 여섯 가지를 판정한다</a:t>
            </a:r>
            <a:endParaRPr lang="en-US" sz="5250" dirty="0"/>
          </a:p>
        </p:txBody>
      </p:sp>
      <p:sp>
        <p:nvSpPr>
          <p:cNvPr id="4" name="Shape 2"/>
          <p:cNvSpPr/>
          <p:nvPr/>
        </p:nvSpPr>
        <p:spPr>
          <a:xfrm>
            <a:off x="1047750" y="2518410"/>
            <a:ext cx="8137565" cy="8481060"/>
          </a:xfrm>
          <a:prstGeom prst="rect">
            <a:avLst/>
          </a:prstGeom>
          <a:solidFill>
            <a:srgbClr val="16181D"/>
          </a:solidFill>
          <a:ln/>
        </p:spPr>
      </p:sp>
      <p:sp>
        <p:nvSpPr>
          <p:cNvPr id="5" name="Text 3"/>
          <p:cNvSpPr/>
          <p:nvPr/>
        </p:nvSpPr>
        <p:spPr>
          <a:xfrm>
            <a:off x="1371600" y="2823210"/>
            <a:ext cx="8238851" cy="312420"/>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9DB4FF"/>
                </a:solidFill>
                <a:latin typeface="Roboto Mono" pitchFamily="34" charset="0"/>
                <a:ea typeface="Roboto Mono" pitchFamily="34" charset="-122"/>
                <a:cs typeface="Roboto Mono" pitchFamily="34" charset="-120"/>
              </a:rPr>
              <a:t>GATE_SCHEMA · 평탄 구조 (중첩 없음)</a:t>
            </a:r>
            <a:endParaRPr lang="en-US" sz="1650" dirty="0"/>
          </a:p>
        </p:txBody>
      </p:sp>
      <p:sp>
        <p:nvSpPr>
          <p:cNvPr id="6" name="Text 4"/>
          <p:cNvSpPr/>
          <p:nvPr/>
        </p:nvSpPr>
        <p:spPr>
          <a:xfrm>
            <a:off x="1371600" y="3268980"/>
            <a:ext cx="7714561" cy="6381750"/>
          </a:xfrm>
          <a:prstGeom prst="rect">
            <a:avLst/>
          </a:prstGeom>
          <a:noFill/>
          <a:ln/>
        </p:spPr>
        <p:txBody>
          <a:bodyPr wrap="square" lIns="25400" tIns="25400" rIns="25400" bIns="25400" rtlCol="0" anchor="t">
            <a:normAutofit/>
          </a:bodyPr>
          <a:lstStyle/>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"lang":        ko | en | zh | ja | id | other</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"in_domain":   boolean</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"toxicity":    number 0.0 ~ 1.0</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"intent":      search_rail | search_bus |</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search_flight | search_lodging |</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share_mobility | plan_journey |</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get_realtime_status | fare_policy |</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search_parking | search_ev_charger |</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smalltalk | other</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"origin":      string</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"destination": string</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"datetime":    string</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  "pax":         integer</a:t>
            </a:r>
            <a:endParaRPr lang="en-US" sz="1800" dirty="0"/>
          </a:p>
          <a:p>
            <a:pPr algn="l" indent="0" marL="0">
              <a:lnSpc>
                <a:spcPct val="142308"/>
              </a:lnSpc>
              <a:buNone/>
            </a:pPr>
            <a:r>
              <a:rPr lang="en-US" sz="1800" dirty="0">
                <a:solidFill>
                  <a:srgbClr val="E6E8EA"/>
                </a:solidFill>
                <a:latin typeface="Roboto Mono" pitchFamily="34" charset="0"/>
                <a:ea typeface="Roboto Mono" pitchFamily="34" charset="-122"/>
                <a:cs typeface="Roboto Mono" pitchFamily="34" charset="-120"/>
              </a:rPr>
              <a:t>}</a:t>
            </a:r>
            <a:endParaRPr lang="en-US" sz="1800" dirty="0"/>
          </a:p>
        </p:txBody>
      </p:sp>
      <p:sp>
        <p:nvSpPr>
          <p:cNvPr id="7" name="Shape 5"/>
          <p:cNvSpPr/>
          <p:nvPr/>
        </p:nvSpPr>
        <p:spPr>
          <a:xfrm>
            <a:off x="1371600" y="9784081"/>
            <a:ext cx="7489865" cy="9525"/>
          </a:xfrm>
          <a:prstGeom prst="rect">
            <a:avLst/>
          </a:prstGeom>
          <a:solidFill>
            <a:srgbClr val="2C313A"/>
          </a:solidFill>
          <a:ln/>
        </p:spPr>
      </p:sp>
      <p:sp>
        <p:nvSpPr>
          <p:cNvPr id="8" name="Text 6"/>
          <p:cNvSpPr/>
          <p:nvPr/>
        </p:nvSpPr>
        <p:spPr>
          <a:xfrm>
            <a:off x="1371600" y="9963151"/>
            <a:ext cx="7714561"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9AA0A8"/>
                </a:solidFill>
                <a:latin typeface="Arial" pitchFamily="34" charset="0"/>
                <a:ea typeface="Arial" pitchFamily="34" charset="-122"/>
                <a:cs typeface="Arial" pitchFamily="34" charset="-120"/>
              </a:rPr>
              <a:t>required 8개 전부 필수 · strict: true origin·destination·datetime 은 </a:t>
            </a:r>
            <a:pPr algn="l" indent="0" marL="0">
              <a:lnSpc>
                <a:spcPct val="141176"/>
              </a:lnSpc>
              <a:buNone/>
            </a:pPr>
            <a:r>
              <a:rPr lang="en-US" sz="1800" b="1" dirty="0">
                <a:solidFill>
                  <a:srgbClr val="E6E8EA"/>
                </a:solidFill>
                <a:latin typeface="Arial" pitchFamily="34" charset="0"/>
                <a:ea typeface="Arial" pitchFamily="34" charset="-122"/>
                <a:cs typeface="Arial" pitchFamily="34" charset="-120"/>
              </a:rPr>
              <a:t>원문 구절을 그대로 복사</a:t>
            </a:r>
            <a:pPr algn="l" indent="0" marL="0">
              <a:lnSpc>
                <a:spcPct val="141176"/>
              </a:lnSpc>
              <a:buNone/>
            </a:pPr>
            <a:r>
              <a:rPr lang="en-US" sz="1800" dirty="0">
                <a:solidFill>
                  <a:srgbClr val="9AA0A8"/>
                </a:solidFill>
                <a:latin typeface="Arial" pitchFamily="34" charset="0"/>
                <a:ea typeface="Arial" pitchFamily="34" charset="-122"/>
                <a:cs typeface="Arial" pitchFamily="34" charset="-120"/>
              </a:rPr>
              <a:t>, 없으면 빈 문자열</a:t>
            </a:r>
            <a:endParaRPr lang="en-US" sz="1800" dirty="0"/>
          </a:p>
        </p:txBody>
      </p:sp>
      <p:sp>
        <p:nvSpPr>
          <p:cNvPr id="9" name="Shape 7"/>
          <p:cNvSpPr/>
          <p:nvPr/>
        </p:nvSpPr>
        <p:spPr>
          <a:xfrm>
            <a:off x="9490115" y="2518410"/>
            <a:ext cx="7750016" cy="3632835"/>
          </a:xfrm>
          <a:prstGeom prst="rect">
            <a:avLst/>
          </a:prstGeom>
          <a:solidFill>
            <a:srgbClr val="FFFFFF"/>
          </a:solidFill>
          <a:ln w="7620">
            <a:solidFill>
              <a:srgbClr val="DFE1E6"/>
            </a:solidFill>
            <a:prstDash val="solid"/>
          </a:ln>
        </p:spPr>
      </p:sp>
      <p:sp>
        <p:nvSpPr>
          <p:cNvPr id="10" name="Text 8"/>
          <p:cNvSpPr/>
          <p:nvPr/>
        </p:nvSpPr>
        <p:spPr>
          <a:xfrm>
            <a:off x="9821585" y="2811780"/>
            <a:ext cx="7795784"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16181D"/>
                </a:solidFill>
                <a:latin typeface="Arial" pitchFamily="34" charset="0"/>
                <a:ea typeface="Arial" pitchFamily="34" charset="-122"/>
                <a:cs typeface="Arial" pitchFamily="34" charset="-120"/>
              </a:rPr>
              <a:t>호출 파라미터</a:t>
            </a:r>
            <a:endParaRPr lang="en-US" sz="2175" dirty="0"/>
          </a:p>
        </p:txBody>
      </p:sp>
      <p:sp>
        <p:nvSpPr>
          <p:cNvPr id="11" name="Text 9"/>
          <p:cNvSpPr/>
          <p:nvPr/>
        </p:nvSpPr>
        <p:spPr>
          <a:xfrm>
            <a:off x="9821585" y="3360420"/>
            <a:ext cx="7299688" cy="2535555"/>
          </a:xfrm>
          <a:prstGeom prst="rect">
            <a:avLst/>
          </a:prstGeom>
          <a:noFill/>
          <a:ln/>
        </p:spPr>
        <p:txBody>
          <a:bodyPr wrap="square" lIns="25400" tIns="25400" rIns="25400" bIns="25400" rtlCol="0" anchor="t">
            <a:normAutofit/>
          </a:bodyPr>
          <a:lstStyle/>
          <a:p>
            <a:pPr algn="l" indent="0" marL="0">
              <a:lnSpc>
                <a:spcPct val="143750"/>
              </a:lnSpc>
              <a:buNone/>
            </a:pPr>
            <a:r>
              <a:rPr lang="en-US" sz="1725" dirty="0">
                <a:solidFill>
                  <a:srgbClr val="4A5058"/>
                </a:solidFill>
                <a:latin typeface="Roboto Mono" pitchFamily="34" charset="0"/>
                <a:ea typeface="Roboto Mono" pitchFamily="34" charset="-122"/>
                <a:cs typeface="Roboto Mono" pitchFamily="34" charset="-120"/>
              </a:rPr>
              <a:t>temperature: 0.0</a:t>
            </a:r>
            <a:endParaRPr lang="en-US" sz="1725" dirty="0"/>
          </a:p>
          <a:p>
            <a:pPr algn="l" indent="0" marL="0">
              <a:lnSpc>
                <a:spcPct val="143750"/>
              </a:lnSpc>
              <a:buNone/>
            </a:pPr>
            <a:r>
              <a:rPr lang="en-US" sz="1725" dirty="0">
                <a:solidFill>
                  <a:srgbClr val="4A5058"/>
                </a:solidFill>
                <a:latin typeface="Roboto Mono" pitchFamily="34" charset="0"/>
                <a:ea typeface="Roboto Mono" pitchFamily="34" charset="-122"/>
                <a:cs typeface="Roboto Mono" pitchFamily="34" charset="-120"/>
              </a:rPr>
              <a:t>max_tokens: 200</a:t>
            </a:r>
            <a:endParaRPr lang="en-US" sz="1725" dirty="0"/>
          </a:p>
          <a:p>
            <a:pPr algn="l" indent="0" marL="0">
              <a:lnSpc>
                <a:spcPct val="143750"/>
              </a:lnSpc>
              <a:buNone/>
            </a:pPr>
            <a:r>
              <a:rPr lang="en-US" sz="1725" dirty="0">
                <a:solidFill>
                  <a:srgbClr val="4A5058"/>
                </a:solidFill>
                <a:latin typeface="Roboto Mono" pitchFamily="34" charset="0"/>
                <a:ea typeface="Roboto Mono" pitchFamily="34" charset="-122"/>
                <a:cs typeface="Roboto Mono" pitchFamily="34" charset="-120"/>
              </a:rPr>
              <a:t>chat_template_kwargs: {enable_thinking: false}</a:t>
            </a:r>
            <a:endParaRPr lang="en-US" sz="1725" dirty="0"/>
          </a:p>
          <a:p>
            <a:pPr algn="l" indent="0" marL="0">
              <a:lnSpc>
                <a:spcPct val="143750"/>
              </a:lnSpc>
              <a:buNone/>
            </a:pPr>
            <a:r>
              <a:rPr lang="en-US" sz="1725" dirty="0">
                <a:solidFill>
                  <a:srgbClr val="4A5058"/>
                </a:solidFill>
                <a:latin typeface="Roboto Mono" pitchFamily="34" charset="0"/>
                <a:ea typeface="Roboto Mono" pitchFamily="34" charset="-122"/>
                <a:cs typeface="Roboto Mono" pitchFamily="34" charset="-120"/>
              </a:rPr>
              <a:t>response_format: json_schema (strict)</a:t>
            </a:r>
            <a:endParaRPr lang="en-US" sz="1725" dirty="0"/>
          </a:p>
          <a:p>
            <a:pPr algn="l" indent="0" marL="0">
              <a:lnSpc>
                <a:spcPct val="143750"/>
              </a:lnSpc>
              <a:buNone/>
            </a:pPr>
            <a:r>
              <a:rPr lang="en-US" sz="1725" dirty="0">
                <a:solidFill>
                  <a:srgbClr val="4A5058"/>
                </a:solidFill>
                <a:latin typeface="Roboto Mono" pitchFamily="34" charset="0"/>
                <a:ea typeface="Roboto Mono" pitchFamily="34" charset="-122"/>
                <a:cs typeface="Roboto Mono" pitchFamily="34" charset="-120"/>
              </a:rPr>
              <a:t>guided_decoding_backend:</a:t>
            </a:r>
            <a:endParaRPr lang="en-US" sz="1725" dirty="0"/>
          </a:p>
          <a:p>
            <a:pPr algn="l" indent="0" marL="0">
              <a:lnSpc>
                <a:spcPct val="143750"/>
              </a:lnSpc>
              <a:buNone/>
            </a:pPr>
            <a:r>
              <a:rPr lang="en-US" sz="1725" dirty="0">
                <a:solidFill>
                  <a:srgbClr val="4A5058"/>
                </a:solidFill>
                <a:latin typeface="Roboto Mono" pitchFamily="34" charset="0"/>
                <a:ea typeface="Roboto Mono" pitchFamily="34" charset="-122"/>
                <a:cs typeface="Roboto Mono" pitchFamily="34" charset="-120"/>
              </a:rPr>
              <a:t>  "xgrammar:disable-any-whitespace"</a:t>
            </a:r>
            <a:endParaRPr lang="en-US" sz="1725" dirty="0"/>
          </a:p>
        </p:txBody>
      </p:sp>
      <p:sp>
        <p:nvSpPr>
          <p:cNvPr id="12" name="Shape 10"/>
          <p:cNvSpPr/>
          <p:nvPr/>
        </p:nvSpPr>
        <p:spPr>
          <a:xfrm>
            <a:off x="9490115" y="6379845"/>
            <a:ext cx="7750016" cy="1775460"/>
          </a:xfrm>
          <a:prstGeom prst="rect">
            <a:avLst/>
          </a:prstGeom>
          <a:solidFill>
            <a:srgbClr val="F3F6FF"/>
          </a:solidFill>
          <a:ln w="7620">
            <a:solidFill>
              <a:srgbClr val="C9D6FF"/>
            </a:solidFill>
            <a:prstDash val="solid"/>
          </a:ln>
        </p:spPr>
      </p:sp>
      <p:sp>
        <p:nvSpPr>
          <p:cNvPr id="13" name="Text 11"/>
          <p:cNvSpPr/>
          <p:nvPr/>
        </p:nvSpPr>
        <p:spPr>
          <a:xfrm>
            <a:off x="9821585" y="6654165"/>
            <a:ext cx="7795784"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설계 규칙</a:t>
            </a:r>
            <a:endParaRPr lang="en-US" sz="1725" dirty="0"/>
          </a:p>
        </p:txBody>
      </p:sp>
      <p:sp>
        <p:nvSpPr>
          <p:cNvPr id="14" name="Text 12"/>
          <p:cNvSpPr/>
          <p:nvPr/>
        </p:nvSpPr>
        <p:spPr>
          <a:xfrm>
            <a:off x="9821585" y="7058025"/>
            <a:ext cx="7299688" cy="861060"/>
          </a:xfrm>
          <a:prstGeom prst="rect">
            <a:avLst/>
          </a:prstGeom>
          <a:noFill/>
          <a:ln/>
        </p:spPr>
        <p:txBody>
          <a:bodyPr wrap="square" lIns="25400" tIns="25400" rIns="25400" bIns="25400" rtlCol="0" anchor="t">
            <a:normAutofit/>
          </a:bodyPr>
          <a:lstStyle/>
          <a:p>
            <a:pPr algn="l" indent="0" marL="0">
              <a:lnSpc>
                <a:spcPct val="138462"/>
              </a:lnSpc>
              <a:buNone/>
            </a:pPr>
            <a:r>
              <a:rPr lang="en-US" sz="2025" dirty="0">
                <a:solidFill>
                  <a:srgbClr val="1F2937"/>
                </a:solidFill>
                <a:latin typeface="Arial" pitchFamily="34" charset="0"/>
                <a:ea typeface="Arial" pitchFamily="34" charset="-122"/>
                <a:cs typeface="Arial" pitchFamily="34" charset="-120"/>
              </a:rPr>
              <a:t>게이트 스키마는 </a:t>
            </a:r>
            <a:pPr algn="l" indent="0" marL="0">
              <a:lnSpc>
                <a:spcPct val="138462"/>
              </a:lnSpc>
              <a:buNone/>
            </a:pPr>
            <a:r>
              <a:rPr lang="en-US" sz="2025" b="1" dirty="0">
                <a:solidFill>
                  <a:srgbClr val="1F2937"/>
                </a:solidFill>
                <a:latin typeface="Arial" pitchFamily="34" charset="0"/>
                <a:ea typeface="Arial" pitchFamily="34" charset="-122"/>
                <a:cs typeface="Arial" pitchFamily="34" charset="-120"/>
              </a:rPr>
              <a:t>평탄 구조를 유지한다. </a:t>
            </a:r>
            <a:pPr algn="l" indent="0" marL="0">
              <a:lnSpc>
                <a:spcPct val="138462"/>
              </a:lnSpc>
              <a:buNone/>
            </a:pPr>
            <a:r>
              <a:rPr lang="en-US" sz="2025" dirty="0">
                <a:solidFill>
                  <a:srgbClr val="1F2937"/>
                </a:solidFill>
                <a:latin typeface="Arial" pitchFamily="34" charset="0"/>
                <a:ea typeface="Arial" pitchFamily="34" charset="-122"/>
                <a:cs typeface="Arial" pitchFamily="34" charset="-120"/>
              </a:rPr>
              <a:t>슬롯을 늘리고 싶어도 스키마를 늘리지 않고, 받는 도구가 원문을 직접 읽는다.</a:t>
            </a:r>
            <a:endParaRPr lang="en-US" sz="2025" dirty="0"/>
          </a:p>
        </p:txBody>
      </p:sp>
      <p:sp>
        <p:nvSpPr>
          <p:cNvPr id="15" name="Shape 13"/>
          <p:cNvSpPr/>
          <p:nvPr/>
        </p:nvSpPr>
        <p:spPr>
          <a:xfrm>
            <a:off x="9490115" y="8383905"/>
            <a:ext cx="7750016" cy="2615565"/>
          </a:xfrm>
          <a:prstGeom prst="rect">
            <a:avLst/>
          </a:prstGeom>
          <a:solidFill>
            <a:srgbClr val="FFFFFF"/>
          </a:solidFill>
          <a:ln w="7620">
            <a:solidFill>
              <a:srgbClr val="DFE1E6"/>
            </a:solidFill>
            <a:prstDash val="solid"/>
          </a:ln>
        </p:spPr>
      </p:sp>
      <p:sp>
        <p:nvSpPr>
          <p:cNvPr id="16" name="Text 14"/>
          <p:cNvSpPr/>
          <p:nvPr/>
        </p:nvSpPr>
        <p:spPr>
          <a:xfrm>
            <a:off x="9821585" y="8658225"/>
            <a:ext cx="7795784"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16181D"/>
                </a:solidFill>
                <a:latin typeface="Arial" pitchFamily="34" charset="0"/>
                <a:ea typeface="Arial" pitchFamily="34" charset="-122"/>
                <a:cs typeface="Arial" pitchFamily="34" charset="-120"/>
              </a:rPr>
              <a:t>판정 결과로 갈리는 경로</a:t>
            </a:r>
            <a:endParaRPr lang="en-US" sz="2175" dirty="0"/>
          </a:p>
        </p:txBody>
      </p:sp>
      <p:sp>
        <p:nvSpPr>
          <p:cNvPr id="17" name="Text 15"/>
          <p:cNvSpPr/>
          <p:nvPr/>
        </p:nvSpPr>
        <p:spPr>
          <a:xfrm>
            <a:off x="9821585" y="9168765"/>
            <a:ext cx="7299688" cy="1346835"/>
          </a:xfrm>
          <a:prstGeom prst="rect">
            <a:avLst/>
          </a:prstGeom>
          <a:noFill/>
          <a:ln/>
        </p:spPr>
        <p:txBody>
          <a:bodyPr wrap="square" lIns="25400" tIns="25400" rIns="25400" bIns="25400" rtlCol="0" anchor="t">
            <a:normAutofit/>
          </a:bodyPr>
          <a:lstStyle/>
          <a:p>
            <a:pPr algn="l" indent="0" marL="0">
              <a:lnSpc>
                <a:spcPct val="149324"/>
              </a:lnSpc>
              <a:buNone/>
            </a:pPr>
            <a:r>
              <a:rPr lang="en-US" sz="1950" dirty="0">
                <a:solidFill>
                  <a:srgbClr val="2B57D6"/>
                </a:solidFill>
                <a:latin typeface="Roboto Mono" pitchFamily="34" charset="0"/>
                <a:ea typeface="Roboto Mono" pitchFamily="34" charset="-122"/>
                <a:cs typeface="Roboto Mono" pitchFamily="34" charset="-120"/>
              </a:rPr>
              <a:t>in_domain=false </a:t>
            </a:r>
            <a:pPr algn="l" indent="0" marL="0">
              <a:lnSpc>
                <a:spcPct val="149324"/>
              </a:lnSpc>
              <a:buNone/>
            </a:pPr>
            <a:r>
              <a:rPr lang="en-US" sz="1950" dirty="0">
                <a:solidFill>
                  <a:srgbClr val="4A5058"/>
                </a:solidFill>
                <a:latin typeface="Arial" pitchFamily="34" charset="0"/>
                <a:ea typeface="Arial" pitchFamily="34" charset="-122"/>
                <a:cs typeface="Arial" pitchFamily="34" charset="-120"/>
              </a:rPr>
              <a:t>→ 언어별 정형 거절 </a:t>
            </a:r>
            <a:pPr algn="l" indent="0" marL="0">
              <a:lnSpc>
                <a:spcPct val="149324"/>
              </a:lnSpc>
              <a:buNone/>
            </a:pPr>
            <a:r>
              <a:rPr lang="en-US" sz="1950" dirty="0">
                <a:solidFill>
                  <a:srgbClr val="2B57D6"/>
                </a:solidFill>
                <a:latin typeface="Roboto Mono" pitchFamily="34" charset="0"/>
                <a:ea typeface="Roboto Mono" pitchFamily="34" charset="-122"/>
                <a:cs typeface="Roboto Mono" pitchFamily="34" charset="-120"/>
              </a:rPr>
              <a:t>toxicity ≥ 0.6 </a:t>
            </a:r>
            <a:pPr algn="l" indent="0" marL="0">
              <a:lnSpc>
                <a:spcPct val="149324"/>
              </a:lnSpc>
              <a:buNone/>
            </a:pPr>
            <a:r>
              <a:rPr lang="en-US" sz="1950" dirty="0">
                <a:solidFill>
                  <a:srgbClr val="4A5058"/>
                </a:solidFill>
                <a:latin typeface="Arial" pitchFamily="34" charset="0"/>
                <a:ea typeface="Arial" pitchFamily="34" charset="-122"/>
                <a:cs typeface="Arial" pitchFamily="34" charset="-120"/>
              </a:rPr>
              <a:t>→ 언어별 경고 </a:t>
            </a:r>
            <a:pPr algn="l" indent="0" marL="0">
              <a:lnSpc>
                <a:spcPct val="149324"/>
              </a:lnSpc>
              <a:buNone/>
            </a:pPr>
            <a:r>
              <a:rPr lang="en-US" sz="1950" dirty="0">
                <a:solidFill>
                  <a:srgbClr val="2B57D6"/>
                </a:solidFill>
                <a:latin typeface="Roboto Mono" pitchFamily="34" charset="0"/>
                <a:ea typeface="Roboto Mono" pitchFamily="34" charset="-122"/>
                <a:cs typeface="Roboto Mono" pitchFamily="34" charset="-120"/>
              </a:rPr>
              <a:t>intent ∉ TOOL_MAP </a:t>
            </a:r>
            <a:pPr algn="l" indent="0" marL="0">
              <a:lnSpc>
                <a:spcPct val="149324"/>
              </a:lnSpc>
              <a:buNone/>
            </a:pPr>
            <a:r>
              <a:rPr lang="en-US" sz="1950" dirty="0">
                <a:solidFill>
                  <a:srgbClr val="4A5058"/>
                </a:solidFill>
                <a:latin typeface="Arial" pitchFamily="34" charset="0"/>
                <a:ea typeface="Arial" pitchFamily="34" charset="-122"/>
                <a:cs typeface="Arial" pitchFamily="34" charset="-120"/>
              </a:rPr>
              <a:t>→ 슬롯 2개면 plan_journey 로 구제</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239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08 · PROMPT DESIGN</a:t>
            </a:r>
            <a:endParaRPr lang="en-US" sz="1800" dirty="0"/>
          </a:p>
        </p:txBody>
      </p:sp>
      <p:sp>
        <p:nvSpPr>
          <p:cNvPr id="3" name="Text 1"/>
          <p:cNvSpPr/>
          <p:nvPr/>
        </p:nvSpPr>
        <p:spPr>
          <a:xfrm>
            <a:off x="1047750" y="1135380"/>
            <a:ext cx="17811750"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게이트 프롬프트 — 판정 순서를 못박는다</a:t>
            </a:r>
            <a:endParaRPr lang="en-US" sz="4950" dirty="0"/>
          </a:p>
        </p:txBody>
      </p:sp>
      <p:sp>
        <p:nvSpPr>
          <p:cNvPr id="4" name="Shape 2"/>
          <p:cNvSpPr/>
          <p:nvPr/>
        </p:nvSpPr>
        <p:spPr>
          <a:xfrm>
            <a:off x="1047750" y="2369820"/>
            <a:ext cx="5245061" cy="6038850"/>
          </a:xfrm>
          <a:prstGeom prst="rect">
            <a:avLst/>
          </a:prstGeom>
          <a:solidFill>
            <a:srgbClr val="FFFFFF"/>
          </a:solidFill>
          <a:ln/>
        </p:spPr>
      </p:sp>
      <p:sp>
        <p:nvSpPr>
          <p:cNvPr id="5" name="Shape 3"/>
          <p:cNvSpPr/>
          <p:nvPr/>
        </p:nvSpPr>
        <p:spPr>
          <a:xfrm>
            <a:off x="1047750" y="8401050"/>
            <a:ext cx="5245061" cy="9525"/>
          </a:xfrm>
          <a:prstGeom prst="rect">
            <a:avLst/>
          </a:prstGeom>
          <a:solidFill>
            <a:srgbClr val="DFE1E6"/>
          </a:solidFill>
          <a:ln/>
        </p:spPr>
      </p:sp>
      <p:sp>
        <p:nvSpPr>
          <p:cNvPr id="6" name="Shape 4"/>
          <p:cNvSpPr/>
          <p:nvPr/>
        </p:nvSpPr>
        <p:spPr>
          <a:xfrm>
            <a:off x="1047750" y="2369820"/>
            <a:ext cx="5245061" cy="45720"/>
          </a:xfrm>
          <a:prstGeom prst="rect">
            <a:avLst/>
          </a:prstGeom>
          <a:solidFill>
            <a:srgbClr val="4F7CFF"/>
          </a:solidFill>
          <a:ln/>
        </p:spPr>
      </p:sp>
      <p:sp>
        <p:nvSpPr>
          <p:cNvPr id="7" name="Shape 5"/>
          <p:cNvSpPr/>
          <p:nvPr/>
        </p:nvSpPr>
        <p:spPr>
          <a:xfrm>
            <a:off x="1047750" y="2369820"/>
            <a:ext cx="9525" cy="6038850"/>
          </a:xfrm>
          <a:prstGeom prst="rect">
            <a:avLst/>
          </a:prstGeom>
          <a:solidFill>
            <a:srgbClr val="DFE1E6"/>
          </a:solidFill>
          <a:ln/>
        </p:spPr>
      </p:sp>
      <p:sp>
        <p:nvSpPr>
          <p:cNvPr id="8" name="Shape 6"/>
          <p:cNvSpPr/>
          <p:nvPr/>
        </p:nvSpPr>
        <p:spPr>
          <a:xfrm>
            <a:off x="6285191" y="2369820"/>
            <a:ext cx="9525" cy="6038850"/>
          </a:xfrm>
          <a:prstGeom prst="rect">
            <a:avLst/>
          </a:prstGeom>
          <a:solidFill>
            <a:srgbClr val="DFE1E6"/>
          </a:solidFill>
          <a:ln/>
        </p:spPr>
      </p:sp>
      <p:sp>
        <p:nvSpPr>
          <p:cNvPr id="9" name="Text 7"/>
          <p:cNvSpPr/>
          <p:nvPr/>
        </p:nvSpPr>
        <p:spPr>
          <a:xfrm>
            <a:off x="1360170" y="2701290"/>
            <a:ext cx="5082242"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1. 언어 판정 — 순서 고정</a:t>
            </a:r>
            <a:endParaRPr lang="en-US" sz="1650" dirty="0"/>
          </a:p>
        </p:txBody>
      </p:sp>
      <p:sp>
        <p:nvSpPr>
          <p:cNvPr id="10" name="Text 8"/>
          <p:cNvSpPr/>
          <p:nvPr/>
        </p:nvSpPr>
        <p:spPr>
          <a:xfrm>
            <a:off x="1360170" y="3128010"/>
            <a:ext cx="4758827" cy="3981450"/>
          </a:xfrm>
          <a:prstGeom prst="rect">
            <a:avLst/>
          </a:prstGeom>
          <a:noFill/>
          <a:ln/>
        </p:spPr>
        <p:txBody>
          <a:bodyPr wrap="square" lIns="25400" tIns="25400" rIns="25400" bIns="25400" rtlCol="0" anchor="t">
            <a:normAutofit/>
          </a:bodyPr>
          <a:lstStyle/>
          <a:p>
            <a:pPr algn="l" indent="0" marL="0">
              <a:lnSpc>
                <a:spcPct val="136184"/>
              </a:lnSpc>
              <a:buNone/>
            </a:pPr>
            <a:r>
              <a:rPr lang="en-US" sz="1725" dirty="0">
                <a:solidFill>
                  <a:srgbClr val="4A5058"/>
                </a:solidFill>
                <a:latin typeface="Roboto Mono" pitchFamily="34" charset="0"/>
                <a:ea typeface="Roboto Mono" pitchFamily="34" charset="-122"/>
                <a:cs typeface="Roboto Mono" pitchFamily="34" charset="-120"/>
              </a:rPr>
              <a:t>① 한글(가-힣) 있으면 → ko</a:t>
            </a:r>
            <a:endParaRPr lang="en-US" sz="1725" dirty="0"/>
          </a:p>
          <a:p>
            <a:pPr algn="l" indent="0" marL="0">
              <a:lnSpc>
                <a:spcPct val="136184"/>
              </a:lnSpc>
              <a:buNone/>
            </a:pPr>
            <a:r>
              <a:rPr lang="en-US" sz="1725" dirty="0">
                <a:solidFill>
                  <a:srgbClr val="4A5058"/>
                </a:solidFill>
                <a:latin typeface="Roboto Mono" pitchFamily="34" charset="0"/>
                <a:ea typeface="Roboto Mono" pitchFamily="34" charset="-122"/>
                <a:cs typeface="Roboto Mono" pitchFamily="34" charset="-120"/>
              </a:rPr>
              <a:t>   (한자가 섞여 있어도 ko)</a:t>
            </a:r>
            <a:endParaRPr lang="en-US" sz="1725" dirty="0"/>
          </a:p>
          <a:p>
            <a:pPr algn="l" indent="0" marL="0">
              <a:lnSpc>
                <a:spcPct val="136184"/>
              </a:lnSpc>
              <a:buNone/>
            </a:pPr>
            <a:r>
              <a:rPr lang="en-US" sz="1725" dirty="0">
                <a:solidFill>
                  <a:srgbClr val="4A5058"/>
                </a:solidFill>
                <a:latin typeface="Roboto Mono" pitchFamily="34" charset="0"/>
                <a:ea typeface="Roboto Mono" pitchFamily="34" charset="-122"/>
                <a:cs typeface="Roboto Mono" pitchFamily="34" charset="-120"/>
              </a:rPr>
              <a:t>② 가나 있으면 → ja</a:t>
            </a:r>
            <a:endParaRPr lang="en-US" sz="1725" dirty="0"/>
          </a:p>
          <a:p>
            <a:pPr algn="l" indent="0" marL="0">
              <a:lnSpc>
                <a:spcPct val="136184"/>
              </a:lnSpc>
              <a:buNone/>
            </a:pPr>
            <a:r>
              <a:rPr lang="en-US" sz="1725" dirty="0">
                <a:solidFill>
                  <a:srgbClr val="4A5058"/>
                </a:solidFill>
                <a:latin typeface="Roboto Mono" pitchFamily="34" charset="0"/>
                <a:ea typeface="Roboto Mono" pitchFamily="34" charset="-122"/>
                <a:cs typeface="Roboto Mono" pitchFamily="34" charset="-120"/>
              </a:rPr>
              <a:t>③ 한자만 있으면 → zh</a:t>
            </a:r>
            <a:endParaRPr lang="en-US" sz="1725" dirty="0"/>
          </a:p>
          <a:p>
            <a:pPr algn="l" indent="0" marL="0">
              <a:lnSpc>
                <a:spcPct val="136184"/>
              </a:lnSpc>
              <a:buNone/>
            </a:pPr>
            <a:r>
              <a:rPr lang="en-US" sz="1725" dirty="0">
                <a:solidFill>
                  <a:srgbClr val="4A5058"/>
                </a:solidFill>
                <a:latin typeface="Roboto Mono" pitchFamily="34" charset="0"/>
                <a:ea typeface="Roboto Mono" pitchFamily="34" charset="-122"/>
                <a:cs typeface="Roboto Mono" pitchFamily="34" charset="-120"/>
              </a:rPr>
              <a:t>④ 라틴 문자면</a:t>
            </a:r>
            <a:endParaRPr lang="en-US" sz="1725" dirty="0"/>
          </a:p>
          <a:p>
            <a:pPr algn="l" indent="0" marL="0">
              <a:lnSpc>
                <a:spcPct val="136184"/>
              </a:lnSpc>
              <a:buNone/>
            </a:pPr>
            <a:r>
              <a:rPr lang="en-US" sz="1725" dirty="0">
                <a:solidFill>
                  <a:srgbClr val="4A5058"/>
                </a:solidFill>
                <a:latin typeface="Roboto Mono" pitchFamily="34" charset="0"/>
                <a:ea typeface="Roboto Mono" pitchFamily="34" charset="-122"/>
                <a:cs typeface="Roboto Mono" pitchFamily="34" charset="-120"/>
              </a:rPr>
              <a:t>   id 마커 단어 검사:</a:t>
            </a:r>
            <a:endParaRPr lang="en-US" sz="1725" dirty="0"/>
          </a:p>
          <a:p>
            <a:pPr algn="l" indent="0" marL="0">
              <a:lnSpc>
                <a:spcPct val="136184"/>
              </a:lnSpc>
              <a:buNone/>
            </a:pPr>
            <a:r>
              <a:rPr lang="en-US" sz="1725" dirty="0">
                <a:solidFill>
                  <a:srgbClr val="4A5058"/>
                </a:solidFill>
                <a:latin typeface="Roboto Mono" pitchFamily="34" charset="0"/>
                <a:ea typeface="Roboto Mono" pitchFamily="34" charset="-122"/>
                <a:cs typeface="Roboto Mono" pitchFamily="34" charset="-120"/>
              </a:rPr>
              <a:t>   jadwal, dari, ke, saya,</a:t>
            </a:r>
            <a:endParaRPr lang="en-US" sz="1725" dirty="0"/>
          </a:p>
          <a:p>
            <a:pPr algn="l" indent="0" marL="0">
              <a:lnSpc>
                <a:spcPct val="136184"/>
              </a:lnSpc>
              <a:buNone/>
            </a:pPr>
            <a:r>
              <a:rPr lang="en-US" sz="1725" dirty="0">
                <a:solidFill>
                  <a:srgbClr val="4A5058"/>
                </a:solidFill>
                <a:latin typeface="Roboto Mono" pitchFamily="34" charset="0"/>
                <a:ea typeface="Roboto Mono" pitchFamily="34" charset="-122"/>
                <a:cs typeface="Roboto Mono" pitchFamily="34" charset="-120"/>
              </a:rPr>
              <a:t>   apa, berapa, bagaimana,</a:t>
            </a:r>
            <a:endParaRPr lang="en-US" sz="1725" dirty="0"/>
          </a:p>
          <a:p>
            <a:pPr algn="l" indent="0" marL="0">
              <a:lnSpc>
                <a:spcPct val="136184"/>
              </a:lnSpc>
              <a:buNone/>
            </a:pPr>
            <a:r>
              <a:rPr lang="en-US" sz="1725" dirty="0">
                <a:solidFill>
                  <a:srgbClr val="4A5058"/>
                </a:solidFill>
                <a:latin typeface="Roboto Mono" pitchFamily="34" charset="0"/>
                <a:ea typeface="Roboto Mono" pitchFamily="34" charset="-122"/>
                <a:cs typeface="Roboto Mono" pitchFamily="34" charset="-120"/>
              </a:rPr>
              <a:t>   tolong, ada, bisa</a:t>
            </a:r>
            <a:endParaRPr lang="en-US" sz="1725" dirty="0"/>
          </a:p>
          <a:p>
            <a:pPr algn="l" indent="0" marL="0">
              <a:lnSpc>
                <a:spcPct val="136184"/>
              </a:lnSpc>
              <a:buNone/>
            </a:pPr>
            <a:r>
              <a:rPr lang="en-US" sz="1725" dirty="0">
                <a:solidFill>
                  <a:srgbClr val="4A5058"/>
                </a:solidFill>
                <a:latin typeface="Roboto Mono" pitchFamily="34" charset="0"/>
                <a:ea typeface="Roboto Mono" pitchFamily="34" charset="-122"/>
                <a:cs typeface="Roboto Mono" pitchFamily="34" charset="-120"/>
              </a:rPr>
              <a:t>   → 있으면 id, 없으면 en</a:t>
            </a:r>
            <a:endParaRPr lang="en-US" sz="1725" dirty="0"/>
          </a:p>
        </p:txBody>
      </p:sp>
      <p:sp>
        <p:nvSpPr>
          <p:cNvPr id="11" name="Shape 9"/>
          <p:cNvSpPr/>
          <p:nvPr/>
        </p:nvSpPr>
        <p:spPr>
          <a:xfrm>
            <a:off x="1360170" y="7223760"/>
            <a:ext cx="4620220" cy="9525"/>
          </a:xfrm>
          <a:prstGeom prst="rect">
            <a:avLst/>
          </a:prstGeom>
          <a:solidFill>
            <a:srgbClr val="ECEDED"/>
          </a:solidFill>
          <a:ln/>
        </p:spPr>
      </p:sp>
      <p:sp>
        <p:nvSpPr>
          <p:cNvPr id="12" name="Text 10"/>
          <p:cNvSpPr/>
          <p:nvPr/>
        </p:nvSpPr>
        <p:spPr>
          <a:xfrm>
            <a:off x="1360170" y="7383780"/>
            <a:ext cx="4758827"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6B7280"/>
                </a:solidFill>
                <a:latin typeface="Arial" pitchFamily="34" charset="0"/>
                <a:ea typeface="Arial" pitchFamily="34" charset="-122"/>
                <a:cs typeface="Arial" pitchFamily="34" charset="-120"/>
              </a:rPr>
              <a:t>순서를 정하지 않으면 혼용 문장에서 판정이 흔들린다</a:t>
            </a:r>
            <a:endParaRPr lang="en-US" sz="1800" dirty="0"/>
          </a:p>
        </p:txBody>
      </p:sp>
      <p:sp>
        <p:nvSpPr>
          <p:cNvPr id="13" name="Shape 11"/>
          <p:cNvSpPr/>
          <p:nvPr/>
        </p:nvSpPr>
        <p:spPr>
          <a:xfrm>
            <a:off x="6521411" y="2369820"/>
            <a:ext cx="5245061" cy="6038850"/>
          </a:xfrm>
          <a:prstGeom prst="rect">
            <a:avLst/>
          </a:prstGeom>
          <a:solidFill>
            <a:srgbClr val="FFFFFF"/>
          </a:solidFill>
          <a:ln/>
        </p:spPr>
      </p:sp>
      <p:sp>
        <p:nvSpPr>
          <p:cNvPr id="14" name="Shape 12"/>
          <p:cNvSpPr/>
          <p:nvPr/>
        </p:nvSpPr>
        <p:spPr>
          <a:xfrm>
            <a:off x="6521411" y="8401050"/>
            <a:ext cx="5245061" cy="9525"/>
          </a:xfrm>
          <a:prstGeom prst="rect">
            <a:avLst/>
          </a:prstGeom>
          <a:solidFill>
            <a:srgbClr val="DFE1E6"/>
          </a:solidFill>
          <a:ln/>
        </p:spPr>
      </p:sp>
      <p:sp>
        <p:nvSpPr>
          <p:cNvPr id="15" name="Shape 13"/>
          <p:cNvSpPr/>
          <p:nvPr/>
        </p:nvSpPr>
        <p:spPr>
          <a:xfrm>
            <a:off x="6521411" y="2369820"/>
            <a:ext cx="5245061" cy="45720"/>
          </a:xfrm>
          <a:prstGeom prst="rect">
            <a:avLst/>
          </a:prstGeom>
          <a:solidFill>
            <a:srgbClr val="4F7CFF"/>
          </a:solidFill>
          <a:ln/>
        </p:spPr>
      </p:sp>
      <p:sp>
        <p:nvSpPr>
          <p:cNvPr id="16" name="Shape 14"/>
          <p:cNvSpPr/>
          <p:nvPr/>
        </p:nvSpPr>
        <p:spPr>
          <a:xfrm>
            <a:off x="6521411" y="2369820"/>
            <a:ext cx="9525" cy="6038850"/>
          </a:xfrm>
          <a:prstGeom prst="rect">
            <a:avLst/>
          </a:prstGeom>
          <a:solidFill>
            <a:srgbClr val="DFE1E6"/>
          </a:solidFill>
          <a:ln/>
        </p:spPr>
      </p:sp>
      <p:sp>
        <p:nvSpPr>
          <p:cNvPr id="17" name="Shape 15"/>
          <p:cNvSpPr/>
          <p:nvPr/>
        </p:nvSpPr>
        <p:spPr>
          <a:xfrm>
            <a:off x="11758851" y="2369820"/>
            <a:ext cx="9525" cy="6038850"/>
          </a:xfrm>
          <a:prstGeom prst="rect">
            <a:avLst/>
          </a:prstGeom>
          <a:solidFill>
            <a:srgbClr val="DFE1E6"/>
          </a:solidFill>
          <a:ln/>
        </p:spPr>
      </p:sp>
      <p:sp>
        <p:nvSpPr>
          <p:cNvPr id="18" name="Text 16"/>
          <p:cNvSpPr/>
          <p:nvPr/>
        </p:nvSpPr>
        <p:spPr>
          <a:xfrm>
            <a:off x="6833831" y="2701290"/>
            <a:ext cx="5082242"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2. 도메인 경계</a:t>
            </a:r>
            <a:endParaRPr lang="en-US" sz="1650" dirty="0"/>
          </a:p>
        </p:txBody>
      </p:sp>
      <p:sp>
        <p:nvSpPr>
          <p:cNvPr id="19" name="Text 17"/>
          <p:cNvSpPr/>
          <p:nvPr/>
        </p:nvSpPr>
        <p:spPr>
          <a:xfrm>
            <a:off x="6833831" y="3128010"/>
            <a:ext cx="4758827" cy="800100"/>
          </a:xfrm>
          <a:prstGeom prst="rect">
            <a:avLst/>
          </a:prstGeom>
          <a:noFill/>
          <a:ln/>
        </p:spPr>
        <p:txBody>
          <a:bodyPr wrap="square" lIns="25400" tIns="25400" rIns="25400" bIns="25400" rtlCol="0" anchor="t">
            <a:normAutofit/>
          </a:bodyPr>
          <a:lstStyle/>
          <a:p>
            <a:pPr algn="l" indent="0" marL="0">
              <a:lnSpc>
                <a:spcPct val="138889"/>
              </a:lnSpc>
              <a:buNone/>
            </a:pPr>
            <a:r>
              <a:rPr lang="en-US" sz="1875" b="1" dirty="0">
                <a:solidFill>
                  <a:srgbClr val="00845C"/>
                </a:solidFill>
                <a:latin typeface="Arial" pitchFamily="34" charset="0"/>
                <a:ea typeface="Arial" pitchFamily="34" charset="-122"/>
                <a:cs typeface="Arial" pitchFamily="34" charset="-120"/>
              </a:rPr>
              <a:t>true </a:t>
            </a:r>
            <a:pPr algn="l" indent="0" marL="0">
              <a:lnSpc>
                <a:spcPct val="138889"/>
              </a:lnSpc>
              <a:buNone/>
            </a:pPr>
            <a:r>
              <a:rPr lang="en-US" sz="1875" dirty="0">
                <a:solidFill>
                  <a:srgbClr val="16181D"/>
                </a:solidFill>
                <a:latin typeface="Arial" pitchFamily="34" charset="0"/>
                <a:ea typeface="Arial" pitchFamily="34" charset="-122"/>
                <a:cs typeface="Arial" pitchFamily="34" charset="-120"/>
              </a:rPr>
              <a:t>— 이용 방법·요금·시설·반입 규정. 스케줄 조회가 아니어도 </a:t>
            </a:r>
            <a:pPr algn="l" indent="0" marL="0">
              <a:lnSpc>
                <a:spcPct val="138889"/>
              </a:lnSpc>
              <a:buNone/>
            </a:pPr>
            <a:r>
              <a:rPr lang="en-US" sz="1875" b="1" dirty="0">
                <a:solidFill>
                  <a:srgbClr val="16181D"/>
                </a:solidFill>
                <a:latin typeface="Arial" pitchFamily="34" charset="0"/>
                <a:ea typeface="Arial" pitchFamily="34" charset="-122"/>
                <a:cs typeface="Arial" pitchFamily="34" charset="-120"/>
              </a:rPr>
              <a:t>타는 행위</a:t>
            </a:r>
            <a:pPr algn="l" indent="0" marL="0">
              <a:lnSpc>
                <a:spcPct val="138889"/>
              </a:lnSpc>
              <a:buNone/>
            </a:pPr>
            <a:r>
              <a:rPr lang="en-US" sz="1875" dirty="0">
                <a:solidFill>
                  <a:srgbClr val="16181D"/>
                </a:solidFill>
                <a:latin typeface="Arial" pitchFamily="34" charset="0"/>
                <a:ea typeface="Arial" pitchFamily="34" charset="-122"/>
                <a:cs typeface="Arial" pitchFamily="34" charset="-120"/>
              </a:rPr>
              <a:t>와 직결되면 통과</a:t>
            </a:r>
            <a:endParaRPr lang="en-US" sz="1875" dirty="0"/>
          </a:p>
        </p:txBody>
      </p:sp>
      <p:sp>
        <p:nvSpPr>
          <p:cNvPr id="20" name="Text 18"/>
          <p:cNvSpPr/>
          <p:nvPr/>
        </p:nvSpPr>
        <p:spPr>
          <a:xfrm>
            <a:off x="6833831" y="4042410"/>
            <a:ext cx="4758827" cy="800100"/>
          </a:xfrm>
          <a:prstGeom prst="rect">
            <a:avLst/>
          </a:prstGeom>
          <a:noFill/>
          <a:ln/>
        </p:spPr>
        <p:txBody>
          <a:bodyPr wrap="square" lIns="25400" tIns="25400" rIns="25400" bIns="25400" rtlCol="0" anchor="t">
            <a:normAutofit/>
          </a:bodyPr>
          <a:lstStyle/>
          <a:p>
            <a:pPr algn="l" indent="0" marL="0">
              <a:lnSpc>
                <a:spcPct val="138889"/>
              </a:lnSpc>
              <a:buNone/>
            </a:pPr>
            <a:r>
              <a:rPr lang="en-US" sz="1875" b="1" dirty="0">
                <a:solidFill>
                  <a:srgbClr val="C2410C"/>
                </a:solidFill>
                <a:latin typeface="Arial" pitchFamily="34" charset="0"/>
                <a:ea typeface="Arial" pitchFamily="34" charset="-122"/>
                <a:cs typeface="Arial" pitchFamily="34" charset="-120"/>
              </a:rPr>
              <a:t>false </a:t>
            </a:r>
            <a:pPr algn="l" indent="0" marL="0">
              <a:lnSpc>
                <a:spcPct val="138889"/>
              </a:lnSpc>
              <a:buNone/>
            </a:pPr>
            <a:r>
              <a:rPr lang="en-US" sz="1875" dirty="0">
                <a:solidFill>
                  <a:srgbClr val="16181D"/>
                </a:solidFill>
                <a:latin typeface="Arial" pitchFamily="34" charset="0"/>
                <a:ea typeface="Arial" pitchFamily="34" charset="-122"/>
                <a:cs typeface="Arial" pitchFamily="34" charset="-120"/>
              </a:rPr>
              <a:t>— 관광 일정, 맛집, 날씨, 환전, 출입국·비자, 정치·의료·투자, 코딩, 창작</a:t>
            </a:r>
            <a:endParaRPr lang="en-US" sz="1875" dirty="0"/>
          </a:p>
        </p:txBody>
      </p:sp>
      <p:sp>
        <p:nvSpPr>
          <p:cNvPr id="21" name="Shape 19"/>
          <p:cNvSpPr/>
          <p:nvPr/>
        </p:nvSpPr>
        <p:spPr>
          <a:xfrm>
            <a:off x="6833831" y="4956810"/>
            <a:ext cx="4620220" cy="1459230"/>
          </a:xfrm>
          <a:prstGeom prst="rect">
            <a:avLst/>
          </a:prstGeom>
          <a:solidFill>
            <a:srgbClr val="F6F7F8"/>
          </a:solidFill>
          <a:ln w="7620">
            <a:solidFill>
              <a:srgbClr val="DFE1E6"/>
            </a:solidFill>
            <a:prstDash val="solid"/>
          </a:ln>
        </p:spPr>
      </p:sp>
      <p:sp>
        <p:nvSpPr>
          <p:cNvPr id="22" name="Text 20"/>
          <p:cNvSpPr/>
          <p:nvPr/>
        </p:nvSpPr>
        <p:spPr>
          <a:xfrm>
            <a:off x="7051001" y="5154930"/>
            <a:ext cx="4324487" cy="110109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4A5058"/>
                </a:solidFill>
                <a:highlight>
                  <a:srgbClr val="F6F7F8"/>
                </a:highlight>
                <a:latin typeface="Arial" pitchFamily="34" charset="0"/>
                <a:ea typeface="Arial" pitchFamily="34" charset="-122"/>
                <a:cs typeface="Arial" pitchFamily="34" charset="-120"/>
              </a:rPr>
              <a:t>혼잡도·지역 행사를 </a:t>
            </a:r>
            <a:pPr algn="l" indent="0" marL="0">
              <a:lnSpc>
                <a:spcPct val="136765"/>
              </a:lnSpc>
              <a:buNone/>
            </a:pPr>
            <a:r>
              <a:rPr lang="en-US" sz="1800" b="1" dirty="0">
                <a:solidFill>
                  <a:srgbClr val="4A5058"/>
                </a:solidFill>
                <a:latin typeface="Arial" pitchFamily="34" charset="0"/>
                <a:ea typeface="Arial" pitchFamily="34" charset="-122"/>
                <a:cs typeface="Arial" pitchFamily="34" charset="-120"/>
              </a:rPr>
              <a:t>단독으로 </a:t>
            </a:r>
            <a:pPr algn="l" indent="0" marL="0">
              <a:lnSpc>
                <a:spcPct val="136765"/>
              </a:lnSpc>
              <a:buNone/>
            </a:pPr>
            <a:r>
              <a:rPr lang="en-US" sz="1800" dirty="0">
                <a:solidFill>
                  <a:srgbClr val="4A5058"/>
                </a:solidFill>
                <a:highlight>
                  <a:srgbClr val="F6F7F8"/>
                </a:highlight>
                <a:latin typeface="Arial" pitchFamily="34" charset="0"/>
                <a:ea typeface="Arial" pitchFamily="34" charset="-122"/>
                <a:cs typeface="Arial" pitchFamily="34" charset="-120"/>
              </a:rPr>
              <a:t>물으면 false — "지금 붐비나요"는 교통 서비스 질문이 아니다</a:t>
            </a:r>
            <a:endParaRPr lang="en-US" sz="1800" dirty="0"/>
          </a:p>
        </p:txBody>
      </p:sp>
      <p:sp>
        <p:nvSpPr>
          <p:cNvPr id="23" name="Shape 21"/>
          <p:cNvSpPr/>
          <p:nvPr/>
        </p:nvSpPr>
        <p:spPr>
          <a:xfrm>
            <a:off x="11995071" y="2369820"/>
            <a:ext cx="5245061" cy="6038850"/>
          </a:xfrm>
          <a:prstGeom prst="rect">
            <a:avLst/>
          </a:prstGeom>
          <a:solidFill>
            <a:srgbClr val="FFFFFF"/>
          </a:solidFill>
          <a:ln/>
        </p:spPr>
      </p:sp>
      <p:sp>
        <p:nvSpPr>
          <p:cNvPr id="24" name="Shape 22"/>
          <p:cNvSpPr/>
          <p:nvPr/>
        </p:nvSpPr>
        <p:spPr>
          <a:xfrm>
            <a:off x="11995071" y="8401050"/>
            <a:ext cx="5245061" cy="9525"/>
          </a:xfrm>
          <a:prstGeom prst="rect">
            <a:avLst/>
          </a:prstGeom>
          <a:solidFill>
            <a:srgbClr val="DFE1E6"/>
          </a:solidFill>
          <a:ln/>
        </p:spPr>
      </p:sp>
      <p:sp>
        <p:nvSpPr>
          <p:cNvPr id="25" name="Shape 23"/>
          <p:cNvSpPr/>
          <p:nvPr/>
        </p:nvSpPr>
        <p:spPr>
          <a:xfrm>
            <a:off x="11995071" y="2369820"/>
            <a:ext cx="5245061" cy="45720"/>
          </a:xfrm>
          <a:prstGeom prst="rect">
            <a:avLst/>
          </a:prstGeom>
          <a:solidFill>
            <a:srgbClr val="4F7CFF"/>
          </a:solidFill>
          <a:ln/>
        </p:spPr>
      </p:sp>
      <p:sp>
        <p:nvSpPr>
          <p:cNvPr id="26" name="Shape 24"/>
          <p:cNvSpPr/>
          <p:nvPr/>
        </p:nvSpPr>
        <p:spPr>
          <a:xfrm>
            <a:off x="11995071" y="2369820"/>
            <a:ext cx="9525" cy="6038850"/>
          </a:xfrm>
          <a:prstGeom prst="rect">
            <a:avLst/>
          </a:prstGeom>
          <a:solidFill>
            <a:srgbClr val="DFE1E6"/>
          </a:solidFill>
          <a:ln/>
        </p:spPr>
      </p:sp>
      <p:sp>
        <p:nvSpPr>
          <p:cNvPr id="27" name="Shape 25"/>
          <p:cNvSpPr/>
          <p:nvPr/>
        </p:nvSpPr>
        <p:spPr>
          <a:xfrm>
            <a:off x="17232512" y="2369820"/>
            <a:ext cx="9525" cy="6038850"/>
          </a:xfrm>
          <a:prstGeom prst="rect">
            <a:avLst/>
          </a:prstGeom>
          <a:solidFill>
            <a:srgbClr val="DFE1E6"/>
          </a:solidFill>
          <a:ln/>
        </p:spPr>
      </p:sp>
      <p:sp>
        <p:nvSpPr>
          <p:cNvPr id="28" name="Text 26"/>
          <p:cNvSpPr/>
          <p:nvPr/>
        </p:nvSpPr>
        <p:spPr>
          <a:xfrm>
            <a:off x="12307491" y="2701290"/>
            <a:ext cx="5082242"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3. 의도 가이드 — 혼동쌍에 negative 규칙</a:t>
            </a:r>
            <a:endParaRPr lang="en-US" sz="1650" dirty="0"/>
          </a:p>
        </p:txBody>
      </p:sp>
      <p:sp>
        <p:nvSpPr>
          <p:cNvPr id="29" name="Text 27"/>
          <p:cNvSpPr/>
          <p:nvPr/>
        </p:nvSpPr>
        <p:spPr>
          <a:xfrm>
            <a:off x="12307491" y="3108960"/>
            <a:ext cx="4758827" cy="77724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16181D"/>
                </a:solidFill>
                <a:latin typeface="Roboto Mono" pitchFamily="34" charset="0"/>
                <a:ea typeface="Roboto Mono" pitchFamily="34" charset="-122"/>
                <a:cs typeface="Roboto Mono" pitchFamily="34" charset="-120"/>
              </a:rPr>
              <a:t>search_parking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은 </a:t>
            </a:r>
            <a:pPr algn="l" indent="0" marL="0">
              <a:lnSpc>
                <a:spcPct val="141176"/>
              </a:lnSpc>
              <a:buNone/>
            </a:pPr>
            <a:r>
              <a:rPr lang="en-US" sz="1800" b="1" dirty="0">
                <a:solidFill>
                  <a:srgbClr val="4A5058"/>
                </a:solidFill>
                <a:latin typeface="Arial" pitchFamily="34" charset="0"/>
                <a:ea typeface="Arial" pitchFamily="34" charset="-122"/>
                <a:cs typeface="Arial" pitchFamily="34" charset="-120"/>
              </a:rPr>
              <a:t>내 차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를 세우는 것 — share_mobility 아님</a:t>
            </a:r>
            <a:endParaRPr lang="en-US" sz="1800" dirty="0"/>
          </a:p>
        </p:txBody>
      </p:sp>
      <p:sp>
        <p:nvSpPr>
          <p:cNvPr id="30" name="Text 28"/>
          <p:cNvSpPr/>
          <p:nvPr/>
        </p:nvSpPr>
        <p:spPr>
          <a:xfrm>
            <a:off x="12307491" y="3981450"/>
            <a:ext cx="4758827" cy="41148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16181D"/>
                </a:solidFill>
                <a:latin typeface="Roboto Mono" pitchFamily="34" charset="0"/>
                <a:ea typeface="Roboto Mono" pitchFamily="34" charset="-122"/>
                <a:cs typeface="Roboto Mono" pitchFamily="34" charset="-120"/>
              </a:rPr>
              <a:t>search_ev_charger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는 충전 — 대여 아님</a:t>
            </a:r>
            <a:endParaRPr lang="en-US" sz="1800" dirty="0"/>
          </a:p>
        </p:txBody>
      </p:sp>
      <p:sp>
        <p:nvSpPr>
          <p:cNvPr id="31" name="Text 29"/>
          <p:cNvSpPr/>
          <p:nvPr/>
        </p:nvSpPr>
        <p:spPr>
          <a:xfrm>
            <a:off x="12307491" y="4488180"/>
            <a:ext cx="4758827" cy="77724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따릉이·킥보드·카셰어링 → </a:t>
            </a:r>
            <a:pPr algn="l" indent="0" marL="0">
              <a:lnSpc>
                <a:spcPct val="141176"/>
              </a:lnSpc>
              <a:buNone/>
            </a:pPr>
            <a:r>
              <a:rPr lang="en-US" sz="1800" dirty="0">
                <a:solidFill>
                  <a:srgbClr val="16181D"/>
                </a:solidFill>
                <a:latin typeface="Roboto Mono" pitchFamily="34" charset="0"/>
                <a:ea typeface="Roboto Mono" pitchFamily="34" charset="-122"/>
                <a:cs typeface="Roboto Mono" pitchFamily="34" charset="-120"/>
              </a:rPr>
              <a:t>share_mobility</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 </a:t>
            </a:r>
            <a:pPr algn="l" indent="0" marL="0">
              <a:lnSpc>
                <a:spcPct val="141176"/>
              </a:lnSpc>
              <a:buNone/>
            </a:pPr>
            <a:r>
              <a:rPr lang="en-US" sz="1800" b="1" dirty="0">
                <a:solidFill>
                  <a:srgbClr val="4A5058"/>
                </a:solidFill>
                <a:latin typeface="Arial" pitchFamily="34" charset="0"/>
                <a:ea typeface="Arial" pitchFamily="34" charset="-122"/>
                <a:cs typeface="Arial" pitchFamily="34" charset="-120"/>
              </a:rPr>
              <a:t>절대 bus 로 분류하지 않는다</a:t>
            </a:r>
            <a:endParaRPr lang="en-US" sz="1800" dirty="0"/>
          </a:p>
        </p:txBody>
      </p:sp>
      <p:sp>
        <p:nvSpPr>
          <p:cNvPr id="32" name="Text 30"/>
          <p:cNvSpPr/>
          <p:nvPr/>
        </p:nvSpPr>
        <p:spPr>
          <a:xfrm>
            <a:off x="12307491" y="5360670"/>
            <a:ext cx="4758827" cy="77724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16181D"/>
                </a:solidFill>
                <a:latin typeface="Roboto Mono" pitchFamily="34" charset="0"/>
                <a:ea typeface="Roboto Mono" pitchFamily="34" charset="-122"/>
                <a:cs typeface="Roboto Mono" pitchFamily="34" charset="-120"/>
              </a:rPr>
              <a:t>get_realtime_status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는 </a:t>
            </a:r>
            <a:pPr algn="l" indent="0" marL="0">
              <a:lnSpc>
                <a:spcPct val="141176"/>
              </a:lnSpc>
              <a:buNone/>
            </a:pPr>
            <a:r>
              <a:rPr lang="en-US" sz="1800" b="1" dirty="0">
                <a:solidFill>
                  <a:srgbClr val="4A5058"/>
                </a:solidFill>
                <a:latin typeface="Arial" pitchFamily="34" charset="0"/>
                <a:ea typeface="Arial" pitchFamily="34" charset="-122"/>
                <a:cs typeface="Arial" pitchFamily="34" charset="-120"/>
              </a:rPr>
              <a:t>지금 일어나는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지연·중단만 — 시간표는 아님</a:t>
            </a:r>
            <a:endParaRPr lang="en-US" sz="1800" dirty="0"/>
          </a:p>
        </p:txBody>
      </p:sp>
      <p:sp>
        <p:nvSpPr>
          <p:cNvPr id="33" name="Text 31"/>
          <p:cNvSpPr/>
          <p:nvPr/>
        </p:nvSpPr>
        <p:spPr>
          <a:xfrm>
            <a:off x="12307491" y="6233160"/>
            <a:ext cx="4758827" cy="77724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16181D"/>
                </a:solidFill>
                <a:latin typeface="Roboto Mono" pitchFamily="34" charset="0"/>
                <a:ea typeface="Roboto Mono" pitchFamily="34" charset="-122"/>
                <a:cs typeface="Roboto Mono" pitchFamily="34" charset="-120"/>
              </a:rPr>
              <a:t>search_lodging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의 장소명은 </a:t>
            </a:r>
            <a:pPr algn="l" indent="0" marL="0">
              <a:lnSpc>
                <a:spcPct val="141176"/>
              </a:lnSpc>
              <a:buNone/>
            </a:pPr>
            <a:r>
              <a:rPr lang="en-US" sz="1800" b="1" dirty="0">
                <a:solidFill>
                  <a:srgbClr val="4A5058"/>
                </a:solidFill>
                <a:latin typeface="Arial" pitchFamily="34" charset="0"/>
                <a:ea typeface="Arial" pitchFamily="34" charset="-122"/>
                <a:cs typeface="Arial" pitchFamily="34" charset="-120"/>
              </a:rPr>
              <a:t>지역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이지 목적지가 아니다</a:t>
            </a:r>
            <a:endParaRPr lang="en-US" sz="1800" dirty="0"/>
          </a:p>
        </p:txBody>
      </p:sp>
      <p:sp>
        <p:nvSpPr>
          <p:cNvPr id="34" name="Shape 32"/>
          <p:cNvSpPr/>
          <p:nvPr/>
        </p:nvSpPr>
        <p:spPr>
          <a:xfrm>
            <a:off x="1047750" y="8713470"/>
            <a:ext cx="7981950" cy="1285875"/>
          </a:xfrm>
          <a:prstGeom prst="rect">
            <a:avLst/>
          </a:prstGeom>
          <a:solidFill>
            <a:srgbClr val="F3F6FF"/>
          </a:solidFill>
          <a:ln w="7620">
            <a:solidFill>
              <a:srgbClr val="C9D6FF"/>
            </a:solidFill>
            <a:prstDash val="solid"/>
          </a:ln>
        </p:spPr>
      </p:sp>
      <p:sp>
        <p:nvSpPr>
          <p:cNvPr id="35" name="Text 33"/>
          <p:cNvSpPr/>
          <p:nvPr/>
        </p:nvSpPr>
        <p:spPr>
          <a:xfrm>
            <a:off x="1360170" y="8968740"/>
            <a:ext cx="7596568" cy="813435"/>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1F2937"/>
                </a:solidFill>
                <a:latin typeface="Arial" pitchFamily="34" charset="0"/>
                <a:ea typeface="Arial" pitchFamily="34" charset="-122"/>
                <a:cs typeface="Arial" pitchFamily="34" charset="-120"/>
              </a:rPr>
              <a:t>"&lt;장소&gt; 근처 X" </a:t>
            </a:r>
            <a:pPr algn="l" indent="0" marL="0">
              <a:lnSpc>
                <a:spcPct val="136149"/>
              </a:lnSpc>
              <a:buNone/>
            </a:pPr>
            <a:r>
              <a:rPr lang="en-US" sz="1950" dirty="0">
                <a:solidFill>
                  <a:srgbClr val="1F2937"/>
                </a:solidFill>
                <a:highlight>
                  <a:srgbClr val="F3F6FF"/>
                </a:highlight>
                <a:latin typeface="Arial" pitchFamily="34" charset="0"/>
                <a:ea typeface="Arial" pitchFamily="34" charset="-122"/>
                <a:cs typeface="Arial" pitchFamily="34" charset="-120"/>
              </a:rPr>
              <a:t>(near / dekat / 附近) → 장소를 </a:t>
            </a:r>
            <a:pPr algn="l" indent="0" marL="0">
              <a:lnSpc>
                <a:spcPct val="136149"/>
              </a:lnSpc>
              <a:buNone/>
            </a:pPr>
            <a:r>
              <a:rPr lang="en-US" sz="1950" dirty="0">
                <a:solidFill>
                  <a:srgbClr val="2B57D6"/>
                </a:solidFill>
                <a:latin typeface="Roboto Mono" pitchFamily="34" charset="0"/>
                <a:ea typeface="Roboto Mono" pitchFamily="34" charset="-122"/>
                <a:cs typeface="Roboto Mono" pitchFamily="34" charset="-120"/>
              </a:rPr>
              <a:t>origin </a:t>
            </a:r>
            <a:pPr algn="l" indent="0" marL="0">
              <a:lnSpc>
                <a:spcPct val="136149"/>
              </a:lnSpc>
              <a:buNone/>
            </a:pPr>
            <a:r>
              <a:rPr lang="en-US" sz="1950" dirty="0">
                <a:solidFill>
                  <a:srgbClr val="1F2937"/>
                </a:solidFill>
                <a:highlight>
                  <a:srgbClr val="F3F6FF"/>
                </a:highlight>
                <a:latin typeface="Arial" pitchFamily="34" charset="0"/>
                <a:ea typeface="Arial" pitchFamily="34" charset="-122"/>
                <a:cs typeface="Arial" pitchFamily="34" charset="-120"/>
              </a:rPr>
              <a:t>에 넣고 destination 은 비운다. 기준점이지 목적지가 아니다.</a:t>
            </a:r>
            <a:endParaRPr lang="en-US" sz="1950" dirty="0"/>
          </a:p>
        </p:txBody>
      </p:sp>
      <p:sp>
        <p:nvSpPr>
          <p:cNvPr id="36" name="Shape 34"/>
          <p:cNvSpPr/>
          <p:nvPr/>
        </p:nvSpPr>
        <p:spPr>
          <a:xfrm>
            <a:off x="9258300" y="8713470"/>
            <a:ext cx="7981950" cy="1285875"/>
          </a:xfrm>
          <a:prstGeom prst="rect">
            <a:avLst/>
          </a:prstGeom>
          <a:solidFill>
            <a:srgbClr val="F3F6FF"/>
          </a:solidFill>
          <a:ln w="7620">
            <a:solidFill>
              <a:srgbClr val="C9D6FF"/>
            </a:solidFill>
            <a:prstDash val="solid"/>
          </a:ln>
        </p:spPr>
      </p:sp>
      <p:sp>
        <p:nvSpPr>
          <p:cNvPr id="37" name="Text 35"/>
          <p:cNvSpPr/>
          <p:nvPr/>
        </p:nvSpPr>
        <p:spPr>
          <a:xfrm>
            <a:off x="9570720" y="8968740"/>
            <a:ext cx="7596568" cy="813435"/>
          </a:xfrm>
          <a:prstGeom prst="rect">
            <a:avLst/>
          </a:prstGeom>
          <a:noFill/>
          <a:ln/>
        </p:spPr>
        <p:txBody>
          <a:bodyPr wrap="square" lIns="25400" tIns="25400" rIns="25400" bIns="25400" rtlCol="0" anchor="t">
            <a:normAutofit/>
          </a:bodyPr>
          <a:lstStyle/>
          <a:p>
            <a:pPr algn="l" indent="0" marL="0">
              <a:lnSpc>
                <a:spcPct val="136149"/>
              </a:lnSpc>
              <a:buNone/>
            </a:pPr>
            <a:r>
              <a:rPr lang="en-US" sz="1950" b="1" dirty="0">
                <a:solidFill>
                  <a:srgbClr val="1F2937"/>
                </a:solidFill>
                <a:latin typeface="Arial" pitchFamily="34" charset="0"/>
                <a:ea typeface="Arial" pitchFamily="34" charset="-122"/>
                <a:cs typeface="Arial" pitchFamily="34" charset="-120"/>
              </a:rPr>
              <a:t>지연 불만은 유해가 아니다. </a:t>
            </a:r>
            <a:pPr algn="l" indent="0" marL="0">
              <a:lnSpc>
                <a:spcPct val="136149"/>
              </a:lnSpc>
              <a:buNone/>
            </a:pPr>
            <a:r>
              <a:rPr lang="en-US" sz="1950" dirty="0">
                <a:solidFill>
                  <a:srgbClr val="1F2937"/>
                </a:solidFill>
                <a:highlight>
                  <a:srgbClr val="F3F6FF"/>
                </a:highlight>
                <a:latin typeface="Arial" pitchFamily="34" charset="0"/>
                <a:ea typeface="Arial" pitchFamily="34" charset="-122"/>
                <a:cs typeface="Arial" pitchFamily="34" charset="-120"/>
              </a:rPr>
              <a:t>대신 자모 분리·공백 삽입·별표 마스킹 같은 </a:t>
            </a:r>
            <a:pPr algn="l" indent="0" marL="0">
              <a:lnSpc>
                <a:spcPct val="136149"/>
              </a:lnSpc>
              <a:buNone/>
            </a:pPr>
            <a:r>
              <a:rPr lang="en-US" sz="1950" b="1" dirty="0">
                <a:solidFill>
                  <a:srgbClr val="1F2937"/>
                </a:solidFill>
                <a:latin typeface="Arial" pitchFamily="34" charset="0"/>
                <a:ea typeface="Arial" pitchFamily="34" charset="-122"/>
                <a:cs typeface="Arial" pitchFamily="34" charset="-120"/>
              </a:rPr>
              <a:t>우회 표기</a:t>
            </a:r>
            <a:pPr algn="l" indent="0" marL="0">
              <a:lnSpc>
                <a:spcPct val="136149"/>
              </a:lnSpc>
              <a:buNone/>
            </a:pPr>
            <a:r>
              <a:rPr lang="en-US" sz="1950" dirty="0">
                <a:solidFill>
                  <a:srgbClr val="1F2937"/>
                </a:solidFill>
                <a:highlight>
                  <a:srgbClr val="F3F6FF"/>
                </a:highlight>
                <a:latin typeface="Arial" pitchFamily="34" charset="0"/>
                <a:ea typeface="Arial" pitchFamily="34" charset="-122"/>
                <a:cs typeface="Arial" pitchFamily="34" charset="-120"/>
              </a:rPr>
              <a:t>를 탐지하라고 지시한다.</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620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09 · vLLM 운용 실패 기록</a:t>
            </a:r>
            <a:endParaRPr lang="en-US" sz="1800" dirty="0"/>
          </a:p>
        </p:txBody>
      </p:sp>
      <p:sp>
        <p:nvSpPr>
          <p:cNvPr id="3" name="Text 1"/>
          <p:cNvSpPr/>
          <p:nvPr/>
        </p:nvSpPr>
        <p:spPr>
          <a:xfrm>
            <a:off x="1047750" y="1192530"/>
            <a:ext cx="17811750"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구조화 출력은 스키마 모양이 곧 안정성이다</a:t>
            </a:r>
            <a:endParaRPr lang="en-US" sz="5250" dirty="0"/>
          </a:p>
        </p:txBody>
      </p:sp>
      <p:sp>
        <p:nvSpPr>
          <p:cNvPr id="4" name="Shape 2"/>
          <p:cNvSpPr/>
          <p:nvPr/>
        </p:nvSpPr>
        <p:spPr>
          <a:xfrm>
            <a:off x="1047750" y="2537460"/>
            <a:ext cx="7061121" cy="6987540"/>
          </a:xfrm>
          <a:prstGeom prst="rect">
            <a:avLst/>
          </a:prstGeom>
          <a:solidFill>
            <a:srgbClr val="FFFFFF"/>
          </a:solidFill>
          <a:ln w="7620">
            <a:solidFill>
              <a:srgbClr val="DFE1E6"/>
            </a:solidFill>
            <a:prstDash val="solid"/>
          </a:ln>
        </p:spPr>
      </p:sp>
      <p:sp>
        <p:nvSpPr>
          <p:cNvPr id="5" name="Text 3"/>
          <p:cNvSpPr/>
          <p:nvPr/>
        </p:nvSpPr>
        <p:spPr>
          <a:xfrm>
            <a:off x="1398270" y="2849880"/>
            <a:ext cx="6996089" cy="312420"/>
          </a:xfrm>
          <a:prstGeom prst="rect">
            <a:avLst/>
          </a:prstGeom>
          <a:noFill/>
          <a:ln/>
        </p:spPr>
        <p:txBody>
          <a:bodyPr wrap="square" lIns="25400" tIns="25400" rIns="25400" bIns="25400" rtlCol="0" anchor="t">
            <a:normAutofit/>
          </a:bodyPr>
          <a:lstStyle/>
          <a:p>
            <a:pPr algn="l" indent="0" marL="0">
              <a:buNone/>
            </a:pPr>
            <a:r>
              <a:rPr lang="en-US" sz="1650" dirty="0">
                <a:solidFill>
                  <a:srgbClr val="C2410C"/>
                </a:solidFill>
                <a:latin typeface="Roboto Mono" pitchFamily="34" charset="0"/>
                <a:ea typeface="Roboto Mono" pitchFamily="34" charset="-122"/>
                <a:cs typeface="Roboto Mono" pitchFamily="34" charset="-120"/>
              </a:rPr>
              <a:t>사고 1 — thinking 모드</a:t>
            </a:r>
            <a:endParaRPr lang="en-US" sz="1650" dirty="0"/>
          </a:p>
        </p:txBody>
      </p:sp>
      <p:sp>
        <p:nvSpPr>
          <p:cNvPr id="6" name="Text 4"/>
          <p:cNvSpPr/>
          <p:nvPr/>
        </p:nvSpPr>
        <p:spPr>
          <a:xfrm>
            <a:off x="1398270" y="3314700"/>
            <a:ext cx="6550883" cy="864870"/>
          </a:xfrm>
          <a:prstGeom prst="rect">
            <a:avLst/>
          </a:prstGeom>
          <a:noFill/>
          <a:ln/>
        </p:spPr>
        <p:txBody>
          <a:bodyPr wrap="square" lIns="25400" tIns="25400" rIns="25400" bIns="25400" rtlCol="0" anchor="t">
            <a:normAutofit/>
          </a:bodyPr>
          <a:lstStyle/>
          <a:p>
            <a:pPr algn="l" indent="0" marL="0">
              <a:lnSpc>
                <a:spcPct val="123295"/>
              </a:lnSpc>
              <a:buNone/>
            </a:pPr>
            <a:r>
              <a:rPr lang="en-US" sz="2325" b="1" dirty="0">
                <a:solidFill>
                  <a:srgbClr val="16181D"/>
                </a:solidFill>
                <a:latin typeface="Arial" pitchFamily="34" charset="0"/>
                <a:ea typeface="Arial" pitchFamily="34" charset="-122"/>
                <a:cs typeface="Arial" pitchFamily="34" charset="-120"/>
              </a:rPr>
              <a:t>Qwen3 는 기본이 추론 모드라 </a:t>
            </a:r>
            <a:pPr algn="l" indent="0" marL="0">
              <a:lnSpc>
                <a:spcPct val="123295"/>
              </a:lnSpc>
              <a:buNone/>
            </a:pPr>
            <a:r>
              <a:rPr lang="en-US" sz="2100" b="1" dirty="0">
                <a:solidFill>
                  <a:srgbClr val="16181D"/>
                </a:solidFill>
                <a:latin typeface="Roboto Mono" pitchFamily="34" charset="0"/>
                <a:ea typeface="Roboto Mono" pitchFamily="34" charset="-122"/>
                <a:cs typeface="Roboto Mono" pitchFamily="34" charset="-120"/>
              </a:rPr>
              <a:t>&lt;think&gt; </a:t>
            </a:r>
            <a:pPr algn="l" indent="0" marL="0">
              <a:lnSpc>
                <a:spcPct val="123295"/>
              </a:lnSpc>
              <a:buNone/>
            </a:pPr>
            <a:r>
              <a:rPr lang="en-US" sz="2325" b="1" dirty="0">
                <a:solidFill>
                  <a:srgbClr val="16181D"/>
                </a:solidFill>
                <a:latin typeface="Arial" pitchFamily="34" charset="0"/>
                <a:ea typeface="Arial" pitchFamily="34" charset="-122"/>
                <a:cs typeface="Arial" pitchFamily="34" charset="-120"/>
              </a:rPr>
              <a:t>블록이 출력 토큰을 다 먹었다</a:t>
            </a:r>
            <a:endParaRPr lang="en-US" sz="2325" dirty="0"/>
          </a:p>
        </p:txBody>
      </p:sp>
      <p:sp>
        <p:nvSpPr>
          <p:cNvPr id="7" name="Text 5"/>
          <p:cNvSpPr/>
          <p:nvPr/>
        </p:nvSpPr>
        <p:spPr>
          <a:xfrm>
            <a:off x="1398270" y="4331970"/>
            <a:ext cx="6550883" cy="43434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4A5058"/>
                </a:solidFill>
                <a:latin typeface="Arial" pitchFamily="34" charset="0"/>
                <a:ea typeface="Arial" pitchFamily="34" charset="-122"/>
                <a:cs typeface="Arial" pitchFamily="34" charset="-120"/>
              </a:rPr>
              <a:t>80 토큰 상한에서 답변이 </a:t>
            </a:r>
            <a:pPr algn="l" indent="0" marL="0">
              <a:lnSpc>
                <a:spcPct val="140541"/>
              </a:lnSpc>
              <a:buNone/>
            </a:pPr>
            <a:r>
              <a:rPr lang="en-US" sz="1950" b="1" dirty="0">
                <a:solidFill>
                  <a:srgbClr val="4A5058"/>
                </a:solidFill>
                <a:latin typeface="Arial" pitchFamily="34" charset="0"/>
                <a:ea typeface="Arial" pitchFamily="34" charset="-122"/>
                <a:cs typeface="Arial" pitchFamily="34" charset="-120"/>
              </a:rPr>
              <a:t>시작조차 되지 않았다.</a:t>
            </a:r>
            <a:endParaRPr lang="en-US" sz="1950" dirty="0"/>
          </a:p>
        </p:txBody>
      </p:sp>
      <p:sp>
        <p:nvSpPr>
          <p:cNvPr id="8" name="Shape 6"/>
          <p:cNvSpPr/>
          <p:nvPr/>
        </p:nvSpPr>
        <p:spPr>
          <a:xfrm>
            <a:off x="1398270" y="4918710"/>
            <a:ext cx="6360081" cy="1536383"/>
          </a:xfrm>
          <a:prstGeom prst="rect">
            <a:avLst/>
          </a:prstGeom>
          <a:solidFill>
            <a:srgbClr val="16181D"/>
          </a:solidFill>
          <a:ln/>
        </p:spPr>
      </p:sp>
      <p:sp>
        <p:nvSpPr>
          <p:cNvPr id="9" name="Text 7"/>
          <p:cNvSpPr/>
          <p:nvPr/>
        </p:nvSpPr>
        <p:spPr>
          <a:xfrm>
            <a:off x="1626870" y="5128260"/>
            <a:ext cx="6093683" cy="1155383"/>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9DB4FF"/>
                </a:solidFill>
                <a:latin typeface="Roboto Mono" pitchFamily="34" charset="0"/>
                <a:ea typeface="Roboto Mono" pitchFamily="34" charset="-122"/>
                <a:cs typeface="Roboto Mono" pitchFamily="34" charset="-120"/>
              </a:rPr>
              <a:t>"chat_template_kwargs": {</a:t>
            </a:r>
            <a:endParaRPr lang="en-US" sz="1725" dirty="0"/>
          </a:p>
          <a:p>
            <a:pPr algn="l" indent="0" marL="0">
              <a:lnSpc>
                <a:spcPct val="128618"/>
              </a:lnSpc>
              <a:buNone/>
            </a:pPr>
            <a:r>
              <a:rPr lang="en-US" sz="1725" dirty="0">
                <a:solidFill>
                  <a:srgbClr val="9DB4FF"/>
                </a:solidFill>
                <a:latin typeface="Roboto Mono" pitchFamily="34" charset="0"/>
                <a:ea typeface="Roboto Mono" pitchFamily="34" charset="-122"/>
                <a:cs typeface="Roboto Mono" pitchFamily="34" charset="-120"/>
              </a:rPr>
              <a:t>  "enable_thinking": false</a:t>
            </a:r>
            <a:endParaRPr lang="en-US" sz="1725" dirty="0"/>
          </a:p>
          <a:p>
            <a:pPr algn="l" indent="0" marL="0">
              <a:lnSpc>
                <a:spcPct val="128618"/>
              </a:lnSpc>
              <a:buNone/>
            </a:pPr>
            <a:r>
              <a:rPr lang="en-US" sz="1725" dirty="0">
                <a:solidFill>
                  <a:srgbClr val="9DB4FF"/>
                </a:solidFill>
                <a:latin typeface="Roboto Mono" pitchFamily="34" charset="0"/>
                <a:ea typeface="Roboto Mono" pitchFamily="34" charset="-122"/>
                <a:cs typeface="Roboto Mono" pitchFamily="34" charset="-120"/>
              </a:rPr>
              <a:t>}</a:t>
            </a:r>
            <a:endParaRPr lang="en-US" sz="1725" dirty="0"/>
          </a:p>
        </p:txBody>
      </p:sp>
      <p:sp>
        <p:nvSpPr>
          <p:cNvPr id="10" name="Text 8"/>
          <p:cNvSpPr/>
          <p:nvPr/>
        </p:nvSpPr>
        <p:spPr>
          <a:xfrm>
            <a:off x="1398270" y="8831580"/>
            <a:ext cx="6550883" cy="41910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00845C"/>
                </a:solidFill>
                <a:latin typeface="Arial" pitchFamily="34" charset="0"/>
                <a:ea typeface="Arial" pitchFamily="34" charset="-122"/>
                <a:cs typeface="Arial" pitchFamily="34" charset="-120"/>
              </a:rPr>
              <a:t>요청 파라미터로 해결 — 재기동 불필요</a:t>
            </a:r>
            <a:endParaRPr lang="en-US" sz="1875" dirty="0"/>
          </a:p>
        </p:txBody>
      </p:sp>
      <p:sp>
        <p:nvSpPr>
          <p:cNvPr id="11" name="Shape 9"/>
          <p:cNvSpPr/>
          <p:nvPr/>
        </p:nvSpPr>
        <p:spPr>
          <a:xfrm>
            <a:off x="8413671" y="2537460"/>
            <a:ext cx="8826579" cy="6987540"/>
          </a:xfrm>
          <a:prstGeom prst="rect">
            <a:avLst/>
          </a:prstGeom>
          <a:solidFill>
            <a:srgbClr val="FFFFFF"/>
          </a:solidFill>
          <a:ln w="7620">
            <a:solidFill>
              <a:srgbClr val="DFE1E6"/>
            </a:solidFill>
            <a:prstDash val="solid"/>
          </a:ln>
        </p:spPr>
      </p:sp>
      <p:sp>
        <p:nvSpPr>
          <p:cNvPr id="12" name="Text 10"/>
          <p:cNvSpPr/>
          <p:nvPr/>
        </p:nvSpPr>
        <p:spPr>
          <a:xfrm>
            <a:off x="8764191" y="2849880"/>
            <a:ext cx="893809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C2410C"/>
                </a:solidFill>
                <a:latin typeface="Roboto Mono" pitchFamily="34" charset="0"/>
                <a:ea typeface="Roboto Mono" pitchFamily="34" charset="-122"/>
                <a:cs typeface="Roboto Mono" pitchFamily="34" charset="-120"/>
              </a:rPr>
              <a:t>사고 2 — 중첩 스키마에서 출력 폭주</a:t>
            </a:r>
            <a:endParaRPr lang="en-US" sz="1650" dirty="0"/>
          </a:p>
        </p:txBody>
      </p:sp>
      <p:sp>
        <p:nvSpPr>
          <p:cNvPr id="13" name="Text 11"/>
          <p:cNvSpPr/>
          <p:nvPr/>
        </p:nvSpPr>
        <p:spPr>
          <a:xfrm>
            <a:off x="8764191" y="3314700"/>
            <a:ext cx="8369306" cy="880110"/>
          </a:xfrm>
          <a:prstGeom prst="rect">
            <a:avLst/>
          </a:prstGeom>
          <a:noFill/>
          <a:ln/>
        </p:spPr>
        <p:txBody>
          <a:bodyPr wrap="square" lIns="25400" tIns="25400" rIns="25400" bIns="25400" rtlCol="0" anchor="t">
            <a:normAutofit/>
          </a:bodyPr>
          <a:lstStyle/>
          <a:p>
            <a:pPr algn="l" indent="0" marL="0">
              <a:lnSpc>
                <a:spcPct val="123295"/>
              </a:lnSpc>
              <a:buNone/>
            </a:pPr>
            <a:r>
              <a:rPr lang="en-US" sz="2325" b="1" dirty="0">
                <a:solidFill>
                  <a:srgbClr val="16181D"/>
                </a:solidFill>
                <a:latin typeface="Arial" pitchFamily="34" charset="0"/>
                <a:ea typeface="Arial" pitchFamily="34" charset="-122"/>
                <a:cs typeface="Arial" pitchFamily="34" charset="-120"/>
              </a:rPr>
              <a:t>xgrammar 가 제약을 놓쳐 </a:t>
            </a:r>
            <a:pPr algn="l" indent="0" marL="0">
              <a:lnSpc>
                <a:spcPct val="123295"/>
              </a:lnSpc>
              <a:buNone/>
            </a:pPr>
            <a:r>
              <a:rPr lang="en-US" sz="2325" b="1" dirty="0">
                <a:solidFill>
                  <a:srgbClr val="C2410C"/>
                </a:solidFill>
                <a:latin typeface="Arial" pitchFamily="34" charset="0"/>
                <a:ea typeface="Arial" pitchFamily="34" charset="-122"/>
                <a:cs typeface="Arial" pitchFamily="34" charset="-120"/>
              </a:rPr>
              <a:t>90문항 중 36건 </a:t>
            </a:r>
            <a:pPr algn="l" indent="0" marL="0">
              <a:lnSpc>
                <a:spcPct val="123295"/>
              </a:lnSpc>
              <a:buNone/>
            </a:pPr>
            <a:r>
              <a:rPr lang="en-US" sz="2325" b="1" dirty="0">
                <a:solidFill>
                  <a:srgbClr val="16181D"/>
                </a:solidFill>
                <a:latin typeface="Arial" pitchFamily="34" charset="0"/>
                <a:ea typeface="Arial" pitchFamily="34" charset="-122"/>
                <a:cs typeface="Arial" pitchFamily="34" charset="-120"/>
              </a:rPr>
              <a:t>이 파싱 실패. 출력이 6,800자까지 폭주했다</a:t>
            </a:r>
            <a:endParaRPr lang="en-US" sz="2325" dirty="0"/>
          </a:p>
        </p:txBody>
      </p:sp>
      <p:sp>
        <p:nvSpPr>
          <p:cNvPr id="14" name="Shape 12"/>
          <p:cNvSpPr/>
          <p:nvPr/>
        </p:nvSpPr>
        <p:spPr>
          <a:xfrm>
            <a:off x="8764191" y="4347210"/>
            <a:ext cx="3710345" cy="1503045"/>
          </a:xfrm>
          <a:prstGeom prst="rect">
            <a:avLst/>
          </a:prstGeom>
          <a:solidFill>
            <a:srgbClr val="FFF7ED"/>
          </a:solidFill>
          <a:ln w="7620">
            <a:solidFill>
              <a:srgbClr val="FED7AA"/>
            </a:solidFill>
            <a:prstDash val="solid"/>
          </a:ln>
        </p:spPr>
      </p:sp>
      <p:sp>
        <p:nvSpPr>
          <p:cNvPr id="15" name="Text 13"/>
          <p:cNvSpPr/>
          <p:nvPr/>
        </p:nvSpPr>
        <p:spPr>
          <a:xfrm>
            <a:off x="9000411" y="4564380"/>
            <a:ext cx="3349215" cy="1106805"/>
          </a:xfrm>
          <a:prstGeom prst="rect">
            <a:avLst/>
          </a:prstGeom>
          <a:noFill/>
          <a:ln/>
        </p:spPr>
        <p:txBody>
          <a:bodyPr wrap="square" lIns="25400" tIns="25400" rIns="25400" bIns="25400" rtlCol="0" anchor="t">
            <a:normAutofit/>
          </a:bodyPr>
          <a:lstStyle/>
          <a:p>
            <a:pPr algn="l" indent="0" marL="0">
              <a:lnSpc>
                <a:spcPct val="129861"/>
              </a:lnSpc>
              <a:buNone/>
            </a:pPr>
            <a:r>
              <a:rPr lang="en-US" sz="1650" dirty="0">
                <a:solidFill>
                  <a:srgbClr val="7C2D12"/>
                </a:solidFill>
                <a:latin typeface="Roboto Mono" pitchFamily="34" charset="0"/>
                <a:ea typeface="Roboto Mono" pitchFamily="34" charset="-122"/>
                <a:cs typeface="Roboto Mono" pitchFamily="34" charset="-120"/>
              </a:rPr>
              <a:t>pii_spans: [{...}]</a:t>
            </a:r>
            <a:endParaRPr lang="en-US" sz="1650" dirty="0"/>
          </a:p>
          <a:p>
            <a:pPr algn="l" indent="0" marL="0">
              <a:lnSpc>
                <a:spcPct val="129861"/>
              </a:lnSpc>
              <a:buNone/>
            </a:pPr>
            <a:r>
              <a:rPr lang="en-US" sz="1650" dirty="0">
                <a:solidFill>
                  <a:srgbClr val="7C2D12"/>
                </a:solidFill>
                <a:latin typeface="Roboto Mono" pitchFamily="34" charset="0"/>
                <a:ea typeface="Roboto Mono" pitchFamily="34" charset="-122"/>
                <a:cs typeface="Roboto Mono" pitchFamily="34" charset="-120"/>
              </a:rPr>
              <a:t>slots: { origin: {...} }</a:t>
            </a:r>
            <a:endParaRPr lang="en-US" sz="1650" dirty="0"/>
          </a:p>
          <a:p>
            <a:pPr algn="l" indent="0" marL="0">
              <a:lnSpc>
                <a:spcPct val="129861"/>
              </a:lnSpc>
              <a:buNone/>
            </a:pPr>
            <a:r>
              <a:rPr lang="en-US" sz="1650" dirty="0">
                <a:solidFill>
                  <a:srgbClr val="7C2D12"/>
                </a:solidFill>
                <a:latin typeface="Roboto Mono" pitchFamily="34" charset="0"/>
                <a:ea typeface="Roboto Mono" pitchFamily="34" charset="-122"/>
                <a:cs typeface="Roboto Mono" pitchFamily="34" charset="-120"/>
              </a:rPr>
              <a:t>confidence: number</a:t>
            </a:r>
            <a:endParaRPr lang="en-US" sz="1650" dirty="0"/>
          </a:p>
        </p:txBody>
      </p:sp>
      <p:sp>
        <p:nvSpPr>
          <p:cNvPr id="16" name="Text 14"/>
          <p:cNvSpPr/>
          <p:nvPr/>
        </p:nvSpPr>
        <p:spPr>
          <a:xfrm>
            <a:off x="12665035" y="4915853"/>
            <a:ext cx="400050" cy="403860"/>
          </a:xfrm>
          <a:prstGeom prst="rect">
            <a:avLst/>
          </a:prstGeom>
          <a:noFill/>
          <a:ln/>
        </p:spPr>
        <p:txBody>
          <a:bodyPr wrap="square" lIns="25400" tIns="25400" rIns="25400" bIns="25400" rtlCol="0" anchor="t">
            <a:normAutofit/>
          </a:bodyPr>
          <a:lstStyle/>
          <a:p>
            <a:pPr algn="l" indent="0" marL="0">
              <a:buNone/>
            </a:pPr>
            <a:r>
              <a:rPr lang="en-US" sz="2550" dirty="0">
                <a:solidFill>
                  <a:srgbClr val="C2C6CC"/>
                </a:solidFill>
                <a:latin typeface="Arial" pitchFamily="34" charset="0"/>
                <a:ea typeface="Arial" pitchFamily="34" charset="-122"/>
                <a:cs typeface="Arial" pitchFamily="34" charset="-120"/>
              </a:rPr>
              <a:t>→</a:t>
            </a:r>
            <a:endParaRPr lang="en-US" sz="2550" dirty="0"/>
          </a:p>
        </p:txBody>
      </p:sp>
      <p:sp>
        <p:nvSpPr>
          <p:cNvPr id="17" name="Shape 15"/>
          <p:cNvSpPr/>
          <p:nvPr/>
        </p:nvSpPr>
        <p:spPr>
          <a:xfrm>
            <a:off x="13179385" y="4347210"/>
            <a:ext cx="3710345" cy="1503045"/>
          </a:xfrm>
          <a:prstGeom prst="rect">
            <a:avLst/>
          </a:prstGeom>
          <a:solidFill>
            <a:srgbClr val="F0FDF4"/>
          </a:solidFill>
          <a:ln w="7620">
            <a:solidFill>
              <a:srgbClr val="BBF7D0"/>
            </a:solidFill>
            <a:prstDash val="solid"/>
          </a:ln>
        </p:spPr>
      </p:sp>
      <p:sp>
        <p:nvSpPr>
          <p:cNvPr id="18" name="Text 16"/>
          <p:cNvSpPr/>
          <p:nvPr/>
        </p:nvSpPr>
        <p:spPr>
          <a:xfrm>
            <a:off x="13415605" y="4564380"/>
            <a:ext cx="3349215" cy="1106805"/>
          </a:xfrm>
          <a:prstGeom prst="rect">
            <a:avLst/>
          </a:prstGeom>
          <a:noFill/>
          <a:ln/>
        </p:spPr>
        <p:txBody>
          <a:bodyPr wrap="square" lIns="25400" tIns="25400" rIns="25400" bIns="25400" rtlCol="0" anchor="t">
            <a:normAutofit/>
          </a:bodyPr>
          <a:lstStyle/>
          <a:p>
            <a:pPr algn="l" indent="0" marL="0">
              <a:lnSpc>
                <a:spcPct val="129861"/>
              </a:lnSpc>
              <a:buNone/>
            </a:pPr>
            <a:r>
              <a:rPr lang="en-US" sz="1650" dirty="0">
                <a:solidFill>
                  <a:srgbClr val="14532D"/>
                </a:solidFill>
                <a:latin typeface="Roboto Mono" pitchFamily="34" charset="0"/>
                <a:ea typeface="Roboto Mono" pitchFamily="34" charset="-122"/>
                <a:cs typeface="Roboto Mono" pitchFamily="34" charset="-120"/>
              </a:rPr>
              <a:t>origin: string</a:t>
            </a:r>
            <a:endParaRPr lang="en-US" sz="1650" dirty="0"/>
          </a:p>
          <a:p>
            <a:pPr algn="l" indent="0" marL="0">
              <a:lnSpc>
                <a:spcPct val="129861"/>
              </a:lnSpc>
              <a:buNone/>
            </a:pPr>
            <a:r>
              <a:rPr lang="en-US" sz="1650" dirty="0">
                <a:solidFill>
                  <a:srgbClr val="14532D"/>
                </a:solidFill>
                <a:latin typeface="Roboto Mono" pitchFamily="34" charset="0"/>
                <a:ea typeface="Roboto Mono" pitchFamily="34" charset="-122"/>
                <a:cs typeface="Roboto Mono" pitchFamily="34" charset="-120"/>
              </a:rPr>
              <a:t>destination: string</a:t>
            </a:r>
            <a:endParaRPr lang="en-US" sz="1650" dirty="0"/>
          </a:p>
          <a:p>
            <a:pPr algn="l" indent="0" marL="0">
              <a:lnSpc>
                <a:spcPct val="129861"/>
              </a:lnSpc>
              <a:buNone/>
            </a:pPr>
            <a:r>
              <a:rPr lang="en-US" sz="1650" dirty="0">
                <a:solidFill>
                  <a:srgbClr val="14532D"/>
                </a:solidFill>
                <a:latin typeface="Roboto Mono" pitchFamily="34" charset="0"/>
                <a:ea typeface="Roboto Mono" pitchFamily="34" charset="-122"/>
                <a:cs typeface="Roboto Mono" pitchFamily="34" charset="-120"/>
              </a:rPr>
              <a:t>pax: integer</a:t>
            </a:r>
            <a:endParaRPr lang="en-US" sz="1650" dirty="0"/>
          </a:p>
        </p:txBody>
      </p:sp>
      <p:sp>
        <p:nvSpPr>
          <p:cNvPr id="19" name="Shape 17"/>
          <p:cNvSpPr/>
          <p:nvPr/>
        </p:nvSpPr>
        <p:spPr>
          <a:xfrm>
            <a:off x="8764191" y="6040755"/>
            <a:ext cx="8125539" cy="1607820"/>
          </a:xfrm>
          <a:prstGeom prst="rect">
            <a:avLst/>
          </a:prstGeom>
          <a:solidFill>
            <a:srgbClr val="F6F7F8"/>
          </a:solidFill>
          <a:ln w="7620">
            <a:solidFill>
              <a:srgbClr val="DFE1E6"/>
            </a:solidFill>
            <a:prstDash val="solid"/>
          </a:ln>
        </p:spPr>
      </p:sp>
      <p:sp>
        <p:nvSpPr>
          <p:cNvPr id="20" name="Text 18"/>
          <p:cNvSpPr/>
          <p:nvPr/>
        </p:nvSpPr>
        <p:spPr>
          <a:xfrm>
            <a:off x="9019461" y="6257925"/>
            <a:ext cx="7858766" cy="1211580"/>
          </a:xfrm>
          <a:prstGeom prst="rect">
            <a:avLst/>
          </a:prstGeom>
          <a:noFill/>
          <a:ln/>
        </p:spPr>
        <p:txBody>
          <a:bodyPr wrap="square" lIns="25400" tIns="25400" rIns="25400" bIns="25400" rtlCol="0" anchor="t">
            <a:normAutofit/>
          </a:bodyPr>
          <a:lstStyle/>
          <a:p>
            <a:pPr algn="l" indent="0" marL="0">
              <a:lnSpc>
                <a:spcPct val="138889"/>
              </a:lnSpc>
              <a:buNone/>
            </a:pPr>
            <a:r>
              <a:rPr lang="en-US" sz="1875" b="1" dirty="0">
                <a:solidFill>
                  <a:srgbClr val="4A5058"/>
                </a:solidFill>
                <a:latin typeface="Arial" pitchFamily="34" charset="0"/>
                <a:ea typeface="Arial" pitchFamily="34" charset="-122"/>
                <a:cs typeface="Arial" pitchFamily="34" charset="-120"/>
              </a:rPr>
              <a:t>마지막 필드에서도 폭주한다. </a:t>
            </a:r>
            <a:pPr algn="l" indent="0" marL="0">
              <a:lnSpc>
                <a:spcPct val="138889"/>
              </a:lnSpc>
              <a:buNone/>
            </a:pPr>
            <a:r>
              <a:rPr lang="en-US" sz="1875" dirty="0">
                <a:solidFill>
                  <a:srgbClr val="4A5058"/>
                </a:solidFill>
                <a:highlight>
                  <a:srgbClr val="F6F7F8"/>
                </a:highlight>
                <a:latin typeface="Arial" pitchFamily="34" charset="0"/>
                <a:ea typeface="Arial" pitchFamily="34" charset="-122"/>
                <a:cs typeface="Arial" pitchFamily="34" charset="-120"/>
              </a:rPr>
              <a:t>안 쓰는 </a:t>
            </a:r>
            <a:pPr algn="l" indent="0" marL="0">
              <a:lnSpc>
                <a:spcPct val="138889"/>
              </a:lnSpc>
              <a:buNone/>
            </a:pPr>
            <a:r>
              <a:rPr lang="en-US" sz="1875" dirty="0">
                <a:solidFill>
                  <a:srgbClr val="4A5058"/>
                </a:solidFill>
                <a:latin typeface="Roboto Mono" pitchFamily="34" charset="0"/>
                <a:ea typeface="Roboto Mono" pitchFamily="34" charset="-122"/>
                <a:cs typeface="Roboto Mono" pitchFamily="34" charset="-120"/>
              </a:rPr>
              <a:t>confidence </a:t>
            </a:r>
            <a:pPr algn="l" indent="0" marL="0">
              <a:lnSpc>
                <a:spcPct val="138889"/>
              </a:lnSpc>
              <a:buNone/>
            </a:pPr>
            <a:r>
              <a:rPr lang="en-US" sz="1875" dirty="0">
                <a:solidFill>
                  <a:srgbClr val="4A5058"/>
                </a:solidFill>
                <a:highlight>
                  <a:srgbClr val="F6F7F8"/>
                </a:highlight>
                <a:latin typeface="Arial" pitchFamily="34" charset="0"/>
                <a:ea typeface="Arial" pitchFamily="34" charset="-122"/>
                <a:cs typeface="Arial" pitchFamily="34" charset="-120"/>
              </a:rPr>
              <a:t>를 끝에 두었더니 값을 못 채우고 공백을 무한 생성해 512토큰을 소진했다 → 필드 제거 + </a:t>
            </a:r>
            <a:pPr algn="l" indent="0" marL="0">
              <a:lnSpc>
                <a:spcPct val="138889"/>
              </a:lnSpc>
              <a:buNone/>
            </a:pPr>
            <a:r>
              <a:rPr lang="en-US" sz="1875" dirty="0">
                <a:solidFill>
                  <a:srgbClr val="4A5058"/>
                </a:solidFill>
                <a:latin typeface="Roboto Mono" pitchFamily="34" charset="0"/>
                <a:ea typeface="Roboto Mono" pitchFamily="34" charset="-122"/>
                <a:cs typeface="Roboto Mono" pitchFamily="34" charset="-120"/>
              </a:rPr>
              <a:t>disable-any-whitespace</a:t>
            </a:r>
            <a:endParaRPr lang="en-US" sz="1875" dirty="0"/>
          </a:p>
        </p:txBody>
      </p:sp>
      <p:sp>
        <p:nvSpPr>
          <p:cNvPr id="21" name="Shape 19"/>
          <p:cNvSpPr/>
          <p:nvPr/>
        </p:nvSpPr>
        <p:spPr>
          <a:xfrm>
            <a:off x="8764191" y="7997190"/>
            <a:ext cx="8125539" cy="9525"/>
          </a:xfrm>
          <a:prstGeom prst="rect">
            <a:avLst/>
          </a:prstGeom>
          <a:solidFill>
            <a:srgbClr val="DFE1E6"/>
          </a:solidFill>
          <a:ln/>
        </p:spPr>
      </p:sp>
      <p:sp>
        <p:nvSpPr>
          <p:cNvPr id="22" name="Text 20"/>
          <p:cNvSpPr/>
          <p:nvPr/>
        </p:nvSpPr>
        <p:spPr>
          <a:xfrm>
            <a:off x="8764191" y="8214360"/>
            <a:ext cx="1624667" cy="647700"/>
          </a:xfrm>
          <a:prstGeom prst="rect">
            <a:avLst/>
          </a:prstGeom>
          <a:noFill/>
          <a:ln/>
        </p:spPr>
        <p:txBody>
          <a:bodyPr wrap="square" lIns="25400" tIns="25400" rIns="25400" bIns="25400" rtlCol="0" anchor="t">
            <a:normAutofit/>
          </a:bodyPr>
          <a:lstStyle/>
          <a:p>
            <a:pPr algn="l" indent="0" marL="0">
              <a:lnSpc>
                <a:spcPct val="75472"/>
              </a:lnSpc>
              <a:buNone/>
            </a:pPr>
            <a:r>
              <a:rPr lang="en-US" sz="4800" b="1" dirty="0">
                <a:solidFill>
                  <a:srgbClr val="C2410C"/>
                </a:solidFill>
                <a:latin typeface="Roboto Mono" pitchFamily="34" charset="0"/>
                <a:ea typeface="Roboto Mono" pitchFamily="34" charset="-122"/>
                <a:cs typeface="Roboto Mono" pitchFamily="34" charset="-120"/>
              </a:rPr>
              <a:t>36</a:t>
            </a:r>
            <a:endParaRPr lang="en-US" sz="4800" dirty="0"/>
          </a:p>
        </p:txBody>
      </p:sp>
      <p:sp>
        <p:nvSpPr>
          <p:cNvPr id="23" name="Text 21"/>
          <p:cNvSpPr/>
          <p:nvPr/>
        </p:nvSpPr>
        <p:spPr>
          <a:xfrm>
            <a:off x="8764191" y="8900160"/>
            <a:ext cx="1624667" cy="350520"/>
          </a:xfrm>
          <a:prstGeom prst="rect">
            <a:avLst/>
          </a:prstGeom>
          <a:noFill/>
          <a:ln/>
        </p:spPr>
        <p:txBody>
          <a:bodyPr wrap="square" lIns="25400" tIns="25400" rIns="25400" bIns="25400" rtlCol="0" anchor="t">
            <a:normAutofit/>
          </a:bodyPr>
          <a:lstStyle/>
          <a:p>
            <a:pPr algn="l" indent="0" marL="0">
              <a:buNone/>
            </a:pPr>
            <a:r>
              <a:rPr lang="en-US" sz="1725" dirty="0">
                <a:solidFill>
                  <a:srgbClr val="6B7280"/>
                </a:solidFill>
                <a:latin typeface="Arial" pitchFamily="34" charset="0"/>
                <a:ea typeface="Arial" pitchFamily="34" charset="-122"/>
                <a:cs typeface="Arial" pitchFamily="34" charset="-120"/>
              </a:rPr>
              <a:t>파싱 실패 (중첩)</a:t>
            </a:r>
            <a:endParaRPr lang="en-US" sz="1725" dirty="0"/>
          </a:p>
        </p:txBody>
      </p:sp>
      <p:sp>
        <p:nvSpPr>
          <p:cNvPr id="24" name="Text 22"/>
          <p:cNvSpPr/>
          <p:nvPr/>
        </p:nvSpPr>
        <p:spPr>
          <a:xfrm>
            <a:off x="10660261" y="8713470"/>
            <a:ext cx="400050" cy="403860"/>
          </a:xfrm>
          <a:prstGeom prst="rect">
            <a:avLst/>
          </a:prstGeom>
          <a:noFill/>
          <a:ln/>
        </p:spPr>
        <p:txBody>
          <a:bodyPr wrap="square" lIns="25400" tIns="25400" rIns="25400" bIns="25400" rtlCol="0" anchor="t">
            <a:normAutofit/>
          </a:bodyPr>
          <a:lstStyle/>
          <a:p>
            <a:pPr algn="l" indent="0" marL="0">
              <a:buNone/>
            </a:pPr>
            <a:r>
              <a:rPr lang="en-US" sz="2550" dirty="0">
                <a:solidFill>
                  <a:srgbClr val="C2C6CC"/>
                </a:solidFill>
                <a:latin typeface="Arial" pitchFamily="34" charset="0"/>
                <a:ea typeface="Arial" pitchFamily="34" charset="-122"/>
                <a:cs typeface="Arial" pitchFamily="34" charset="-120"/>
              </a:rPr>
              <a:t>→</a:t>
            </a:r>
            <a:endParaRPr lang="en-US" sz="2550" dirty="0"/>
          </a:p>
        </p:txBody>
      </p:sp>
      <p:sp>
        <p:nvSpPr>
          <p:cNvPr id="25" name="Text 23"/>
          <p:cNvSpPr/>
          <p:nvPr/>
        </p:nvSpPr>
        <p:spPr>
          <a:xfrm>
            <a:off x="11403211" y="8214360"/>
            <a:ext cx="1624667" cy="647700"/>
          </a:xfrm>
          <a:prstGeom prst="rect">
            <a:avLst/>
          </a:prstGeom>
          <a:noFill/>
          <a:ln/>
        </p:spPr>
        <p:txBody>
          <a:bodyPr wrap="square" lIns="25400" tIns="25400" rIns="25400" bIns="25400" rtlCol="0" anchor="t">
            <a:normAutofit/>
          </a:bodyPr>
          <a:lstStyle/>
          <a:p>
            <a:pPr algn="l" indent="0" marL="0">
              <a:lnSpc>
                <a:spcPct val="75472"/>
              </a:lnSpc>
              <a:buNone/>
            </a:pPr>
            <a:r>
              <a:rPr lang="en-US" sz="4800" b="1" dirty="0">
                <a:solidFill>
                  <a:srgbClr val="00845C"/>
                </a:solidFill>
                <a:latin typeface="Roboto Mono" pitchFamily="34" charset="0"/>
                <a:ea typeface="Roboto Mono" pitchFamily="34" charset="-122"/>
                <a:cs typeface="Roboto Mono" pitchFamily="34" charset="-120"/>
              </a:rPr>
              <a:t>0</a:t>
            </a:r>
            <a:endParaRPr lang="en-US" sz="4800" dirty="0"/>
          </a:p>
        </p:txBody>
      </p:sp>
      <p:sp>
        <p:nvSpPr>
          <p:cNvPr id="26" name="Text 24"/>
          <p:cNvSpPr/>
          <p:nvPr/>
        </p:nvSpPr>
        <p:spPr>
          <a:xfrm>
            <a:off x="11403211" y="8900160"/>
            <a:ext cx="1624667" cy="350520"/>
          </a:xfrm>
          <a:prstGeom prst="rect">
            <a:avLst/>
          </a:prstGeom>
          <a:noFill/>
          <a:ln/>
        </p:spPr>
        <p:txBody>
          <a:bodyPr wrap="square" lIns="25400" tIns="25400" rIns="25400" bIns="25400" rtlCol="0" anchor="t">
            <a:normAutofit/>
          </a:bodyPr>
          <a:lstStyle/>
          <a:p>
            <a:pPr algn="l" indent="0" marL="0">
              <a:buNone/>
            </a:pPr>
            <a:r>
              <a:rPr lang="en-US" sz="1725" dirty="0">
                <a:solidFill>
                  <a:srgbClr val="6B7280"/>
                </a:solidFill>
                <a:latin typeface="Arial" pitchFamily="34" charset="0"/>
                <a:ea typeface="Arial" pitchFamily="34" charset="-122"/>
                <a:cs typeface="Arial" pitchFamily="34" charset="-120"/>
              </a:rPr>
              <a:t>파싱 실패 (평탄)</a:t>
            </a:r>
            <a:endParaRPr lang="en-US" sz="1725" dirty="0"/>
          </a:p>
        </p:txBody>
      </p:sp>
      <p:sp>
        <p:nvSpPr>
          <p:cNvPr id="27" name="Text 25"/>
          <p:cNvSpPr/>
          <p:nvPr/>
        </p:nvSpPr>
        <p:spPr>
          <a:xfrm>
            <a:off x="13299281" y="8402955"/>
            <a:ext cx="2577584" cy="752475"/>
          </a:xfrm>
          <a:prstGeom prst="rect">
            <a:avLst/>
          </a:prstGeom>
          <a:noFill/>
          <a:ln/>
        </p:spPr>
        <p:txBody>
          <a:bodyPr wrap="square" lIns="25400" tIns="25400" rIns="25400" bIns="25400" rtlCol="0" anchor="t">
            <a:normAutofit/>
          </a:bodyPr>
          <a:lstStyle/>
          <a:p>
            <a:pPr algn="l" indent="0" marL="0">
              <a:lnSpc>
                <a:spcPct val="130208"/>
              </a:lnSpc>
              <a:buNone/>
            </a:pPr>
            <a:r>
              <a:rPr lang="en-US" sz="1875" dirty="0">
                <a:solidFill>
                  <a:srgbClr val="4A5058"/>
                </a:solidFill>
                <a:latin typeface="Arial" pitchFamily="34" charset="0"/>
                <a:ea typeface="Arial" pitchFamily="34" charset="-122"/>
                <a:cs typeface="Arial" pitchFamily="34" charset="-120"/>
              </a:rPr>
              <a:t>515문항 최종 측정에서도 </a:t>
            </a:r>
            <a:pPr algn="l" indent="0" marL="0">
              <a:lnSpc>
                <a:spcPct val="130208"/>
              </a:lnSpc>
              <a:buNone/>
            </a:pPr>
            <a:r>
              <a:rPr lang="en-US" sz="1875" b="1" dirty="0">
                <a:solidFill>
                  <a:srgbClr val="4A5058"/>
                </a:solidFill>
                <a:latin typeface="Arial" pitchFamily="34" charset="0"/>
                <a:ea typeface="Arial" pitchFamily="34" charset="-122"/>
                <a:cs typeface="Arial" pitchFamily="34" charset="-120"/>
              </a:rPr>
              <a:t>PARSE_ERROR 0건</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62000"/>
            <a:ext cx="11050881"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10 · LAYER ② BLOCKLIST</a:t>
            </a:r>
            <a:endParaRPr lang="en-US" sz="1800" dirty="0"/>
          </a:p>
        </p:txBody>
      </p:sp>
      <p:sp>
        <p:nvSpPr>
          <p:cNvPr id="3" name="Text 1"/>
          <p:cNvSpPr/>
          <p:nvPr/>
        </p:nvSpPr>
        <p:spPr>
          <a:xfrm>
            <a:off x="1047750" y="1192530"/>
            <a:ext cx="11050881"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단어 목록이 아니라 우회 탐지가 본질</a:t>
            </a:r>
            <a:endParaRPr lang="en-US" sz="5250" dirty="0"/>
          </a:p>
        </p:txBody>
      </p:sp>
      <p:sp>
        <p:nvSpPr>
          <p:cNvPr id="4" name="Text 2"/>
          <p:cNvSpPr/>
          <p:nvPr/>
        </p:nvSpPr>
        <p:spPr>
          <a:xfrm>
            <a:off x="13403879" y="1518285"/>
            <a:ext cx="3836371" cy="695325"/>
          </a:xfrm>
          <a:prstGeom prst="rect">
            <a:avLst/>
          </a:prstGeom>
          <a:noFill/>
          <a:ln/>
        </p:spPr>
        <p:txBody>
          <a:bodyPr wrap="square" lIns="25400" tIns="25400" rIns="25400" bIns="25400" rtlCol="0" anchor="t">
            <a:normAutofit/>
          </a:bodyPr>
          <a:lstStyle/>
          <a:p>
            <a:pPr algn="r" indent="0" marL="0">
              <a:lnSpc>
                <a:spcPct val="113487"/>
              </a:lnSpc>
              <a:buNone/>
            </a:pPr>
            <a:r>
              <a:rPr lang="en-US" sz="1725" dirty="0">
                <a:solidFill>
                  <a:srgbClr val="8A9099"/>
                </a:solidFill>
                <a:latin typeface="Roboto Mono" pitchFamily="34" charset="0"/>
                <a:ea typeface="Roboto Mono" pitchFamily="34" charset="-122"/>
                <a:cs typeface="Roboto Mono" pitchFamily="34" charset="-120"/>
              </a:rPr>
              <a:t>Guardrails word filter 가 ko·zh·ja·id 미지원 → 직접 구현</a:t>
            </a:r>
            <a:endParaRPr lang="en-US" sz="1725" dirty="0"/>
          </a:p>
        </p:txBody>
      </p:sp>
      <p:sp>
        <p:nvSpPr>
          <p:cNvPr id="5" name="Shape 3"/>
          <p:cNvSpPr/>
          <p:nvPr/>
        </p:nvSpPr>
        <p:spPr>
          <a:xfrm>
            <a:off x="1047750" y="2518410"/>
            <a:ext cx="8979932" cy="7400925"/>
          </a:xfrm>
          <a:prstGeom prst="rect">
            <a:avLst/>
          </a:prstGeom>
          <a:solidFill>
            <a:srgbClr val="FFFFFF"/>
          </a:solidFill>
          <a:ln w="7620">
            <a:solidFill>
              <a:srgbClr val="DFE1E6"/>
            </a:solidFill>
            <a:prstDash val="solid"/>
          </a:ln>
        </p:spPr>
      </p:sp>
      <p:sp>
        <p:nvSpPr>
          <p:cNvPr id="6" name="Text 4"/>
          <p:cNvSpPr/>
          <p:nvPr/>
        </p:nvSpPr>
        <p:spPr>
          <a:xfrm>
            <a:off x="1398270" y="2830830"/>
            <a:ext cx="9106781" cy="457200"/>
          </a:xfrm>
          <a:prstGeom prst="rect">
            <a:avLst/>
          </a:prstGeom>
          <a:noFill/>
          <a:ln/>
        </p:spPr>
        <p:txBody>
          <a:bodyPr wrap="square" lIns="25400" tIns="25400" rIns="25400" bIns="25400" rtlCol="0" anchor="t">
            <a:normAutofit/>
          </a:bodyPr>
          <a:lstStyle/>
          <a:p>
            <a:pPr algn="l" indent="0" marL="0">
              <a:buNone/>
            </a:pPr>
            <a:r>
              <a:rPr lang="en-US" sz="2250" b="1" dirty="0">
                <a:solidFill>
                  <a:srgbClr val="16181D"/>
                </a:solidFill>
                <a:latin typeface="Arial" pitchFamily="34" charset="0"/>
                <a:ea typeface="Arial" pitchFamily="34" charset="-122"/>
                <a:cs typeface="Arial" pitchFamily="34" charset="-120"/>
              </a:rPr>
              <a:t>우회 기법 4종과 대응</a:t>
            </a:r>
            <a:endParaRPr lang="en-US" sz="2250" dirty="0"/>
          </a:p>
        </p:txBody>
      </p:sp>
      <p:sp>
        <p:nvSpPr>
          <p:cNvPr id="7" name="Shape 5"/>
          <p:cNvSpPr/>
          <p:nvPr/>
        </p:nvSpPr>
        <p:spPr>
          <a:xfrm>
            <a:off x="1398270" y="3790950"/>
            <a:ext cx="2381726" cy="15240"/>
          </a:xfrm>
          <a:prstGeom prst="rect">
            <a:avLst/>
          </a:prstGeom>
          <a:solidFill>
            <a:srgbClr val="16181D"/>
          </a:solidFill>
          <a:ln/>
        </p:spPr>
      </p:sp>
      <p:sp>
        <p:nvSpPr>
          <p:cNvPr id="8" name="Text 6"/>
          <p:cNvSpPr/>
          <p:nvPr/>
        </p:nvSpPr>
        <p:spPr>
          <a:xfrm>
            <a:off x="1398270" y="3421380"/>
            <a:ext cx="2457926" cy="312420"/>
          </a:xfrm>
          <a:prstGeom prst="rect">
            <a:avLst/>
          </a:prstGeom>
          <a:noFill/>
          <a:ln/>
        </p:spPr>
        <p:txBody>
          <a:bodyPr wrap="square" lIns="25400" tIns="25400" rIns="25400" bIns="25400" rtlCol="0" anchor="t">
            <a:normAutofit/>
          </a:bodyPr>
          <a:lstStyle/>
          <a:p>
            <a:pPr algn="l" indent="0" marL="0">
              <a:buNone/>
            </a:pPr>
            <a:r>
              <a:rPr lang="en-US" sz="1650" dirty="0">
                <a:solidFill>
                  <a:srgbClr val="8A9099"/>
                </a:solidFill>
                <a:latin typeface="Roboto Mono" pitchFamily="34" charset="0"/>
                <a:ea typeface="Roboto Mono" pitchFamily="34" charset="-122"/>
                <a:cs typeface="Roboto Mono" pitchFamily="34" charset="-120"/>
              </a:rPr>
              <a:t>기법</a:t>
            </a:r>
            <a:endParaRPr lang="en-US" sz="1650" dirty="0"/>
          </a:p>
        </p:txBody>
      </p:sp>
      <p:sp>
        <p:nvSpPr>
          <p:cNvPr id="9" name="Shape 7"/>
          <p:cNvSpPr/>
          <p:nvPr/>
        </p:nvSpPr>
        <p:spPr>
          <a:xfrm>
            <a:off x="3989546" y="3790950"/>
            <a:ext cx="2381726" cy="15240"/>
          </a:xfrm>
          <a:prstGeom prst="rect">
            <a:avLst/>
          </a:prstGeom>
          <a:solidFill>
            <a:srgbClr val="16181D"/>
          </a:solidFill>
          <a:ln/>
        </p:spPr>
      </p:sp>
      <p:sp>
        <p:nvSpPr>
          <p:cNvPr id="10" name="Text 8"/>
          <p:cNvSpPr/>
          <p:nvPr/>
        </p:nvSpPr>
        <p:spPr>
          <a:xfrm>
            <a:off x="3989546" y="3421380"/>
            <a:ext cx="2457926" cy="312420"/>
          </a:xfrm>
          <a:prstGeom prst="rect">
            <a:avLst/>
          </a:prstGeom>
          <a:noFill/>
          <a:ln/>
        </p:spPr>
        <p:txBody>
          <a:bodyPr wrap="square" lIns="25400" tIns="25400" rIns="25400" bIns="25400" rtlCol="0" anchor="t">
            <a:normAutofit/>
          </a:bodyPr>
          <a:lstStyle/>
          <a:p>
            <a:pPr algn="l" indent="0" marL="0">
              <a:buNone/>
            </a:pPr>
            <a:r>
              <a:rPr lang="en-US" sz="1650" dirty="0">
                <a:solidFill>
                  <a:srgbClr val="8A9099"/>
                </a:solidFill>
                <a:latin typeface="Roboto Mono" pitchFamily="34" charset="0"/>
                <a:ea typeface="Roboto Mono" pitchFamily="34" charset="-122"/>
                <a:cs typeface="Roboto Mono" pitchFamily="34" charset="-120"/>
              </a:rPr>
              <a:t>예시</a:t>
            </a:r>
            <a:endParaRPr lang="en-US" sz="1650" dirty="0"/>
          </a:p>
        </p:txBody>
      </p:sp>
      <p:sp>
        <p:nvSpPr>
          <p:cNvPr id="11" name="Shape 9"/>
          <p:cNvSpPr/>
          <p:nvPr/>
        </p:nvSpPr>
        <p:spPr>
          <a:xfrm>
            <a:off x="6580823" y="3790950"/>
            <a:ext cx="3096220" cy="15240"/>
          </a:xfrm>
          <a:prstGeom prst="rect">
            <a:avLst/>
          </a:prstGeom>
          <a:solidFill>
            <a:srgbClr val="16181D"/>
          </a:solidFill>
          <a:ln/>
        </p:spPr>
      </p:sp>
      <p:sp>
        <p:nvSpPr>
          <p:cNvPr id="12" name="Text 10"/>
          <p:cNvSpPr/>
          <p:nvPr/>
        </p:nvSpPr>
        <p:spPr>
          <a:xfrm>
            <a:off x="6580823" y="3421380"/>
            <a:ext cx="3189107" cy="312420"/>
          </a:xfrm>
          <a:prstGeom prst="rect">
            <a:avLst/>
          </a:prstGeom>
          <a:noFill/>
          <a:ln/>
        </p:spPr>
        <p:txBody>
          <a:bodyPr wrap="square" lIns="25400" tIns="25400" rIns="25400" bIns="25400" rtlCol="0" anchor="t">
            <a:normAutofit/>
          </a:bodyPr>
          <a:lstStyle/>
          <a:p>
            <a:pPr algn="l" indent="0" marL="0">
              <a:buNone/>
            </a:pPr>
            <a:r>
              <a:rPr lang="en-US" sz="1650" dirty="0">
                <a:solidFill>
                  <a:srgbClr val="8A9099"/>
                </a:solidFill>
                <a:latin typeface="Roboto Mono" pitchFamily="34" charset="0"/>
                <a:ea typeface="Roboto Mono" pitchFamily="34" charset="-122"/>
                <a:cs typeface="Roboto Mono" pitchFamily="34" charset="-120"/>
              </a:rPr>
              <a:t>대응</a:t>
            </a:r>
            <a:endParaRPr lang="en-US" sz="1650" dirty="0"/>
          </a:p>
        </p:txBody>
      </p:sp>
      <p:sp>
        <p:nvSpPr>
          <p:cNvPr id="13" name="Text 11"/>
          <p:cNvSpPr/>
          <p:nvPr/>
        </p:nvSpPr>
        <p:spPr>
          <a:xfrm>
            <a:off x="1398270" y="3966210"/>
            <a:ext cx="2619899" cy="371475"/>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16181D"/>
                </a:solidFill>
                <a:latin typeface="Arial" pitchFamily="34" charset="0"/>
                <a:ea typeface="Arial" pitchFamily="34" charset="-122"/>
                <a:cs typeface="Arial" pitchFamily="34" charset="-120"/>
              </a:rPr>
              <a:t>자모 분리 + 공백</a:t>
            </a:r>
            <a:endParaRPr lang="en-US" sz="1875" dirty="0"/>
          </a:p>
        </p:txBody>
      </p:sp>
      <p:sp>
        <p:nvSpPr>
          <p:cNvPr id="14" name="Text 12"/>
          <p:cNvSpPr/>
          <p:nvPr/>
        </p:nvSpPr>
        <p:spPr>
          <a:xfrm>
            <a:off x="3989546" y="3958590"/>
            <a:ext cx="2619899" cy="350520"/>
          </a:xfrm>
          <a:prstGeom prst="rect">
            <a:avLst/>
          </a:prstGeom>
          <a:noFill/>
          <a:ln/>
        </p:spPr>
        <p:txBody>
          <a:bodyPr wrap="square" lIns="25400" tIns="25400" rIns="25400" bIns="25400" rtlCol="0" anchor="t">
            <a:normAutofit/>
          </a:bodyPr>
          <a:lstStyle/>
          <a:p>
            <a:pPr algn="l" indent="0" marL="0">
              <a:buNone/>
            </a:pPr>
            <a:r>
              <a:rPr lang="en-US" sz="1875" dirty="0">
                <a:solidFill>
                  <a:srgbClr val="C2410C"/>
                </a:solidFill>
                <a:latin typeface="Roboto Mono" pitchFamily="34" charset="0"/>
                <a:ea typeface="Roboto Mono" pitchFamily="34" charset="-122"/>
                <a:cs typeface="Roboto Mono" pitchFamily="34" charset="-120"/>
              </a:rPr>
              <a:t>ㅅ ㅂ</a:t>
            </a:r>
            <a:endParaRPr lang="en-US" sz="1875" dirty="0"/>
          </a:p>
        </p:txBody>
      </p:sp>
      <p:sp>
        <p:nvSpPr>
          <p:cNvPr id="15" name="Text 13"/>
          <p:cNvSpPr/>
          <p:nvPr/>
        </p:nvSpPr>
        <p:spPr>
          <a:xfrm>
            <a:off x="6580823" y="3966210"/>
            <a:ext cx="3405842" cy="371475"/>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4A5058"/>
                </a:solidFill>
                <a:latin typeface="Arial" pitchFamily="34" charset="0"/>
                <a:ea typeface="Arial" pitchFamily="34" charset="-122"/>
                <a:cs typeface="Arial" pitchFamily="34" charset="-120"/>
              </a:rPr>
              <a:t>NFKC 후 구분자 제거</a:t>
            </a:r>
            <a:endParaRPr lang="en-US" sz="1875" dirty="0"/>
          </a:p>
        </p:txBody>
      </p:sp>
      <p:sp>
        <p:nvSpPr>
          <p:cNvPr id="16" name="Text 14"/>
          <p:cNvSpPr/>
          <p:nvPr/>
        </p:nvSpPr>
        <p:spPr>
          <a:xfrm>
            <a:off x="1398270" y="4459605"/>
            <a:ext cx="2619899" cy="371475"/>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16181D"/>
                </a:solidFill>
                <a:latin typeface="Arial" pitchFamily="34" charset="0"/>
                <a:ea typeface="Arial" pitchFamily="34" charset="-122"/>
                <a:cs typeface="Arial" pitchFamily="34" charset="-120"/>
              </a:rPr>
              <a:t>별표 마스킹</a:t>
            </a:r>
            <a:endParaRPr lang="en-US" sz="1875" dirty="0"/>
          </a:p>
        </p:txBody>
      </p:sp>
      <p:sp>
        <p:nvSpPr>
          <p:cNvPr id="17" name="Text 15"/>
          <p:cNvSpPr/>
          <p:nvPr/>
        </p:nvSpPr>
        <p:spPr>
          <a:xfrm>
            <a:off x="3989546" y="4451985"/>
            <a:ext cx="2619899" cy="350520"/>
          </a:xfrm>
          <a:prstGeom prst="rect">
            <a:avLst/>
          </a:prstGeom>
          <a:noFill/>
          <a:ln/>
        </p:spPr>
        <p:txBody>
          <a:bodyPr wrap="square" lIns="25400" tIns="25400" rIns="25400" bIns="25400" rtlCol="0" anchor="t">
            <a:normAutofit/>
          </a:bodyPr>
          <a:lstStyle/>
          <a:p>
            <a:pPr algn="l" indent="0" marL="0">
              <a:buNone/>
            </a:pPr>
            <a:r>
              <a:rPr lang="en-US" sz="1875" dirty="0">
                <a:solidFill>
                  <a:srgbClr val="C2410C"/>
                </a:solidFill>
                <a:latin typeface="Roboto Mono" pitchFamily="34" charset="0"/>
                <a:ea typeface="Roboto Mono" pitchFamily="34" charset="-122"/>
                <a:cs typeface="Roboto Mono" pitchFamily="34" charset="-120"/>
              </a:rPr>
              <a:t>f*ck · an**ng</a:t>
            </a:r>
            <a:endParaRPr lang="en-US" sz="1875" dirty="0"/>
          </a:p>
        </p:txBody>
      </p:sp>
      <p:sp>
        <p:nvSpPr>
          <p:cNvPr id="18" name="Text 16"/>
          <p:cNvSpPr/>
          <p:nvPr/>
        </p:nvSpPr>
        <p:spPr>
          <a:xfrm>
            <a:off x="6580823" y="4459605"/>
            <a:ext cx="3189107" cy="704850"/>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4A5058"/>
                </a:solidFill>
                <a:latin typeface="Arial" pitchFamily="34" charset="0"/>
                <a:ea typeface="Arial" pitchFamily="34" charset="-122"/>
                <a:cs typeface="Arial" pitchFamily="34" charset="-120"/>
              </a:rPr>
              <a:t>마스킹 문자를 와일드카드로 1:1 치환</a:t>
            </a:r>
            <a:endParaRPr lang="en-US" sz="1875" dirty="0"/>
          </a:p>
        </p:txBody>
      </p:sp>
      <p:sp>
        <p:nvSpPr>
          <p:cNvPr id="19" name="Text 17"/>
          <p:cNvSpPr/>
          <p:nvPr/>
        </p:nvSpPr>
        <p:spPr>
          <a:xfrm>
            <a:off x="1398270" y="5286375"/>
            <a:ext cx="2619899" cy="371475"/>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16181D"/>
                </a:solidFill>
                <a:latin typeface="Arial" pitchFamily="34" charset="0"/>
                <a:ea typeface="Arial" pitchFamily="34" charset="-122"/>
                <a:cs typeface="Arial" pitchFamily="34" charset="-120"/>
              </a:rPr>
              <a:t>제로폭 문자</a:t>
            </a:r>
            <a:endParaRPr lang="en-US" sz="1875" dirty="0"/>
          </a:p>
        </p:txBody>
      </p:sp>
      <p:sp>
        <p:nvSpPr>
          <p:cNvPr id="20" name="Text 18"/>
          <p:cNvSpPr/>
          <p:nvPr/>
        </p:nvSpPr>
        <p:spPr>
          <a:xfrm>
            <a:off x="3989546" y="5278755"/>
            <a:ext cx="2619899" cy="350520"/>
          </a:xfrm>
          <a:prstGeom prst="rect">
            <a:avLst/>
          </a:prstGeom>
          <a:noFill/>
          <a:ln/>
        </p:spPr>
        <p:txBody>
          <a:bodyPr wrap="square" lIns="25400" tIns="25400" rIns="25400" bIns="25400" rtlCol="0" anchor="t">
            <a:normAutofit/>
          </a:bodyPr>
          <a:lstStyle/>
          <a:p>
            <a:pPr algn="l" indent="0" marL="0">
              <a:buNone/>
            </a:pPr>
            <a:r>
              <a:rPr lang="en-US" sz="1875" dirty="0">
                <a:solidFill>
                  <a:srgbClr val="C2410C"/>
                </a:solidFill>
                <a:latin typeface="Roboto Mono" pitchFamily="34" charset="0"/>
                <a:ea typeface="Roboto Mono" pitchFamily="34" charset="-122"/>
                <a:cs typeface="Roboto Mono" pitchFamily="34" charset="-120"/>
              </a:rPr>
              <a:t>f\u200buck</a:t>
            </a:r>
            <a:endParaRPr lang="en-US" sz="1875" dirty="0"/>
          </a:p>
        </p:txBody>
      </p:sp>
      <p:sp>
        <p:nvSpPr>
          <p:cNvPr id="21" name="Text 19"/>
          <p:cNvSpPr/>
          <p:nvPr/>
        </p:nvSpPr>
        <p:spPr>
          <a:xfrm>
            <a:off x="6580823" y="5286375"/>
            <a:ext cx="3405842" cy="371475"/>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4A5058"/>
                </a:solidFill>
                <a:latin typeface="Arial" pitchFamily="34" charset="0"/>
                <a:ea typeface="Arial" pitchFamily="34" charset="-122"/>
                <a:cs typeface="Arial" pitchFamily="34" charset="-120"/>
              </a:rPr>
              <a:t>U+200B~200F 제거</a:t>
            </a:r>
            <a:endParaRPr lang="en-US" sz="1875" dirty="0"/>
          </a:p>
        </p:txBody>
      </p:sp>
      <p:sp>
        <p:nvSpPr>
          <p:cNvPr id="22" name="Text 20"/>
          <p:cNvSpPr/>
          <p:nvPr/>
        </p:nvSpPr>
        <p:spPr>
          <a:xfrm>
            <a:off x="1398270" y="5779770"/>
            <a:ext cx="2619899" cy="371475"/>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16181D"/>
                </a:solidFill>
                <a:latin typeface="Arial" pitchFamily="34" charset="0"/>
                <a:ea typeface="Arial" pitchFamily="34" charset="-122"/>
                <a:cs typeface="Arial" pitchFamily="34" charset="-120"/>
              </a:rPr>
              <a:t>동형 문자</a:t>
            </a:r>
            <a:endParaRPr lang="en-US" sz="1875" dirty="0"/>
          </a:p>
        </p:txBody>
      </p:sp>
      <p:sp>
        <p:nvSpPr>
          <p:cNvPr id="23" name="Text 21"/>
          <p:cNvSpPr/>
          <p:nvPr/>
        </p:nvSpPr>
        <p:spPr>
          <a:xfrm>
            <a:off x="3989546" y="5772150"/>
            <a:ext cx="2619899" cy="350520"/>
          </a:xfrm>
          <a:prstGeom prst="rect">
            <a:avLst/>
          </a:prstGeom>
          <a:noFill/>
          <a:ln/>
        </p:spPr>
        <p:txBody>
          <a:bodyPr wrap="square" lIns="25400" tIns="25400" rIns="25400" bIns="25400" rtlCol="0" anchor="t">
            <a:normAutofit/>
          </a:bodyPr>
          <a:lstStyle/>
          <a:p>
            <a:pPr algn="l" indent="0" marL="0">
              <a:buNone/>
            </a:pPr>
            <a:r>
              <a:rPr lang="en-US" sz="1875" dirty="0">
                <a:solidFill>
                  <a:srgbClr val="C2410C"/>
                </a:solidFill>
                <a:latin typeface="Roboto Mono" pitchFamily="34" charset="0"/>
                <a:ea typeface="Roboto Mono" pitchFamily="34" charset="-122"/>
                <a:cs typeface="Roboto Mono" pitchFamily="34" charset="-120"/>
              </a:rPr>
              <a:t>키릴 о → o</a:t>
            </a:r>
            <a:endParaRPr lang="en-US" sz="1875" dirty="0"/>
          </a:p>
        </p:txBody>
      </p:sp>
      <p:sp>
        <p:nvSpPr>
          <p:cNvPr id="24" name="Text 22"/>
          <p:cNvSpPr/>
          <p:nvPr/>
        </p:nvSpPr>
        <p:spPr>
          <a:xfrm>
            <a:off x="6580823" y="5779770"/>
            <a:ext cx="3405842" cy="371475"/>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4A5058"/>
                </a:solidFill>
                <a:latin typeface="Arial" pitchFamily="34" charset="0"/>
                <a:ea typeface="Arial" pitchFamily="34" charset="-122"/>
                <a:cs typeface="Arial" pitchFamily="34" charset="-120"/>
              </a:rPr>
              <a:t>translate 매핑</a:t>
            </a:r>
            <a:endParaRPr lang="en-US" sz="1875" dirty="0"/>
          </a:p>
        </p:txBody>
      </p:sp>
      <p:sp>
        <p:nvSpPr>
          <p:cNvPr id="25" name="Shape 23"/>
          <p:cNvSpPr/>
          <p:nvPr/>
        </p:nvSpPr>
        <p:spPr>
          <a:xfrm>
            <a:off x="1398270" y="6360795"/>
            <a:ext cx="8278892" cy="2343150"/>
          </a:xfrm>
          <a:prstGeom prst="rect">
            <a:avLst/>
          </a:prstGeom>
          <a:solidFill>
            <a:srgbClr val="16181D"/>
          </a:solidFill>
          <a:ln/>
        </p:spPr>
      </p:sp>
      <p:sp>
        <p:nvSpPr>
          <p:cNvPr id="26" name="Text 24"/>
          <p:cNvSpPr/>
          <p:nvPr/>
        </p:nvSpPr>
        <p:spPr>
          <a:xfrm>
            <a:off x="1645920" y="6589395"/>
            <a:ext cx="8031959" cy="1924050"/>
          </a:xfrm>
          <a:prstGeom prst="rect">
            <a:avLst/>
          </a:prstGeom>
          <a:noFill/>
          <a:ln/>
        </p:spPr>
        <p:txBody>
          <a:bodyPr wrap="square" lIns="25400" tIns="25400" rIns="25400" bIns="25400" rtlCol="0" anchor="t">
            <a:normAutofit/>
          </a:bodyPr>
          <a:lstStyle/>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def normalize(text):</a:t>
            </a:r>
            <a:endParaRPr lang="en-US" sz="1650" dirty="0"/>
          </a:p>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    t = unicodedata.normalize("NFKC", text)</a:t>
            </a:r>
            <a:endParaRPr lang="en-US" sz="1650" dirty="0"/>
          </a:p>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    t = _ZW.sub("", t).casefold().translate(_HOMO)</a:t>
            </a:r>
            <a:endParaRPr lang="en-US" sz="1650" dirty="0"/>
          </a:p>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    t = _MASKCHAR.sub(_WILD, t)   # * # @ $ % → 와일드카드</a:t>
            </a:r>
            <a:endParaRPr lang="en-US" sz="1650" dirty="0"/>
          </a:p>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    return _SEP.sub("", t)        # 공백·-·_·.·· 제거</a:t>
            </a:r>
            <a:endParaRPr lang="en-US" sz="1650" dirty="0"/>
          </a:p>
        </p:txBody>
      </p:sp>
      <p:sp>
        <p:nvSpPr>
          <p:cNvPr id="27" name="Text 25"/>
          <p:cNvSpPr/>
          <p:nvPr/>
        </p:nvSpPr>
        <p:spPr>
          <a:xfrm>
            <a:off x="1398270" y="8875395"/>
            <a:ext cx="8527259"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6B7280"/>
                </a:solidFill>
                <a:latin typeface="Arial" pitchFamily="34" charset="0"/>
                <a:ea typeface="Arial" pitchFamily="34" charset="-122"/>
                <a:cs typeface="Arial" pitchFamily="34" charset="-120"/>
              </a:rPr>
              <a:t>비싼 마스킹 패턴 검사는 입력에 와일드카드가 있을 때만 수행한다 (3자 이상 어휘만 패턴화)</a:t>
            </a:r>
            <a:endParaRPr lang="en-US" sz="1800" dirty="0"/>
          </a:p>
        </p:txBody>
      </p:sp>
      <p:sp>
        <p:nvSpPr>
          <p:cNvPr id="28" name="Shape 26"/>
          <p:cNvSpPr/>
          <p:nvPr/>
        </p:nvSpPr>
        <p:spPr>
          <a:xfrm>
            <a:off x="10332482" y="2518410"/>
            <a:ext cx="6907649" cy="2965609"/>
          </a:xfrm>
          <a:prstGeom prst="rect">
            <a:avLst/>
          </a:prstGeom>
          <a:solidFill>
            <a:srgbClr val="FFF7ED"/>
          </a:solidFill>
          <a:ln w="7620">
            <a:solidFill>
              <a:srgbClr val="FED7AA"/>
            </a:solidFill>
            <a:prstDash val="solid"/>
          </a:ln>
        </p:spPr>
      </p:sp>
      <p:sp>
        <p:nvSpPr>
          <p:cNvPr id="29" name="Text 27"/>
          <p:cNvSpPr/>
          <p:nvPr/>
        </p:nvSpPr>
        <p:spPr>
          <a:xfrm>
            <a:off x="10683003" y="2830830"/>
            <a:ext cx="682727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C2410C"/>
                </a:solidFill>
                <a:latin typeface="Roboto Mono" pitchFamily="34" charset="0"/>
                <a:ea typeface="Roboto Mono" pitchFamily="34" charset="-122"/>
                <a:cs typeface="Roboto Mono" pitchFamily="34" charset="-120"/>
              </a:rPr>
              <a:t>함정</a:t>
            </a:r>
            <a:endParaRPr lang="en-US" sz="1650" dirty="0"/>
          </a:p>
        </p:txBody>
      </p:sp>
      <p:sp>
        <p:nvSpPr>
          <p:cNvPr id="30" name="Text 28"/>
          <p:cNvSpPr/>
          <p:nvPr/>
        </p:nvSpPr>
        <p:spPr>
          <a:xfrm>
            <a:off x="10683003" y="3257550"/>
            <a:ext cx="6827270" cy="466249"/>
          </a:xfrm>
          <a:prstGeom prst="rect">
            <a:avLst/>
          </a:prstGeom>
          <a:noFill/>
          <a:ln/>
        </p:spPr>
        <p:txBody>
          <a:bodyPr wrap="square" lIns="25400" tIns="25400" rIns="25400" bIns="25400" rtlCol="0" anchor="t">
            <a:normAutofit/>
          </a:bodyPr>
          <a:lstStyle/>
          <a:p>
            <a:pPr algn="l" indent="0" marL="0">
              <a:lnSpc>
                <a:spcPct val="127699"/>
              </a:lnSpc>
              <a:buNone/>
            </a:pPr>
            <a:r>
              <a:rPr lang="en-US" sz="2325" b="1" dirty="0">
                <a:solidFill>
                  <a:srgbClr val="7C2D12"/>
                </a:solidFill>
                <a:latin typeface="Arial" pitchFamily="34" charset="0"/>
                <a:ea typeface="Arial" pitchFamily="34" charset="-122"/>
                <a:cs typeface="Arial" pitchFamily="34" charset="-120"/>
              </a:rPr>
              <a:t>NFKC 정규화가 호환 자모를 조합 자모로 바꾼다</a:t>
            </a:r>
            <a:endParaRPr lang="en-US" sz="2325" dirty="0"/>
          </a:p>
        </p:txBody>
      </p:sp>
      <p:sp>
        <p:nvSpPr>
          <p:cNvPr id="31" name="Text 29"/>
          <p:cNvSpPr/>
          <p:nvPr/>
        </p:nvSpPr>
        <p:spPr>
          <a:xfrm>
            <a:off x="10683003" y="3838099"/>
            <a:ext cx="6392807" cy="426720"/>
          </a:xfrm>
          <a:prstGeom prst="rect">
            <a:avLst/>
          </a:prstGeom>
          <a:noFill/>
          <a:ln/>
        </p:spPr>
        <p:txBody>
          <a:bodyPr wrap="square" lIns="25400" tIns="25400" rIns="25400" bIns="25400" rtlCol="0" anchor="t">
            <a:normAutofit/>
          </a:bodyPr>
          <a:lstStyle/>
          <a:p>
            <a:pPr algn="l" indent="0" marL="0">
              <a:lnSpc>
                <a:spcPct val="130769"/>
              </a:lnSpc>
              <a:buNone/>
            </a:pPr>
            <a:r>
              <a:rPr lang="en-US" sz="1800" dirty="0">
                <a:solidFill>
                  <a:srgbClr val="7C2D12"/>
                </a:solidFill>
                <a:latin typeface="Roboto Mono" pitchFamily="34" charset="0"/>
                <a:ea typeface="Roboto Mono" pitchFamily="34" charset="-122"/>
                <a:cs typeface="Roboto Mono" pitchFamily="34" charset="-120"/>
              </a:rPr>
              <a:t>ㅅ (U+3145) → U+1109</a:t>
            </a:r>
            <a:endParaRPr lang="en-US" sz="1800" dirty="0"/>
          </a:p>
        </p:txBody>
      </p:sp>
      <p:sp>
        <p:nvSpPr>
          <p:cNvPr id="32" name="Text 30"/>
          <p:cNvSpPr/>
          <p:nvPr/>
        </p:nvSpPr>
        <p:spPr>
          <a:xfrm>
            <a:off x="10683003" y="4379119"/>
            <a:ext cx="6392807" cy="83058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7C2D12"/>
                </a:solidFill>
                <a:latin typeface="Arial" pitchFamily="34" charset="0"/>
                <a:ea typeface="Arial" pitchFamily="34" charset="-122"/>
                <a:cs typeface="Arial" pitchFamily="34" charset="-120"/>
              </a:rPr>
              <a:t>사전과 매칭이 깨진다. </a:t>
            </a:r>
            <a:pPr algn="l" indent="0" marL="0">
              <a:lnSpc>
                <a:spcPct val="140541"/>
              </a:lnSpc>
              <a:buNone/>
            </a:pPr>
            <a:r>
              <a:rPr lang="en-US" sz="1950" b="1" dirty="0">
                <a:solidFill>
                  <a:srgbClr val="7C2D12"/>
                </a:solidFill>
                <a:latin typeface="Arial" pitchFamily="34" charset="0"/>
                <a:ea typeface="Arial" pitchFamily="34" charset="-122"/>
                <a:cs typeface="Arial" pitchFamily="34" charset="-120"/>
              </a:rPr>
              <a:t>사전 어휘에도 동일 정규화를 적용해야 한다.</a:t>
            </a:r>
            <a:endParaRPr lang="en-US" sz="1950" dirty="0"/>
          </a:p>
        </p:txBody>
      </p:sp>
      <p:sp>
        <p:nvSpPr>
          <p:cNvPr id="33" name="Shape 31"/>
          <p:cNvSpPr/>
          <p:nvPr/>
        </p:nvSpPr>
        <p:spPr>
          <a:xfrm>
            <a:off x="10332482" y="5712619"/>
            <a:ext cx="6907649" cy="4206716"/>
          </a:xfrm>
          <a:prstGeom prst="rect">
            <a:avLst/>
          </a:prstGeom>
          <a:solidFill>
            <a:srgbClr val="FFFFFF"/>
          </a:solidFill>
          <a:ln w="7620">
            <a:solidFill>
              <a:srgbClr val="DFE1E6"/>
            </a:solidFill>
            <a:prstDash val="solid"/>
          </a:ln>
        </p:spPr>
      </p:sp>
      <p:sp>
        <p:nvSpPr>
          <p:cNvPr id="34" name="Text 32"/>
          <p:cNvSpPr/>
          <p:nvPr/>
        </p:nvSpPr>
        <p:spPr>
          <a:xfrm>
            <a:off x="10683003" y="6005989"/>
            <a:ext cx="6827270"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16181D"/>
                </a:solidFill>
                <a:latin typeface="Arial" pitchFamily="34" charset="0"/>
                <a:ea typeface="Arial" pitchFamily="34" charset="-122"/>
                <a:cs typeface="Arial" pitchFamily="34" charset="-120"/>
              </a:rPr>
              <a:t>사전 구성</a:t>
            </a:r>
            <a:endParaRPr lang="en-US" sz="2175" dirty="0"/>
          </a:p>
        </p:txBody>
      </p:sp>
      <p:sp>
        <p:nvSpPr>
          <p:cNvPr id="35" name="Text 33"/>
          <p:cNvSpPr/>
          <p:nvPr/>
        </p:nvSpPr>
        <p:spPr>
          <a:xfrm>
            <a:off x="10683003" y="6535579"/>
            <a:ext cx="6392807" cy="1252538"/>
          </a:xfrm>
          <a:prstGeom prst="rect">
            <a:avLst/>
          </a:prstGeom>
          <a:noFill/>
          <a:ln/>
        </p:spPr>
        <p:txBody>
          <a:bodyPr wrap="square" lIns="25400" tIns="25400" rIns="25400" bIns="25400" rtlCol="0" anchor="t">
            <a:normAutofit/>
          </a:bodyPr>
          <a:lstStyle/>
          <a:p>
            <a:pPr algn="l" indent="0" marL="0">
              <a:lnSpc>
                <a:spcPct val="147569"/>
              </a:lnSpc>
              <a:buNone/>
            </a:pPr>
            <a:r>
              <a:rPr lang="en-US" sz="1875" dirty="0">
                <a:solidFill>
                  <a:srgbClr val="4A5058"/>
                </a:solidFill>
                <a:latin typeface="Arial" pitchFamily="34" charset="0"/>
                <a:ea typeface="Arial" pitchFamily="34" charset="-122"/>
                <a:cs typeface="Arial" pitchFamily="34" charset="-120"/>
              </a:rPr>
              <a:t>ko 8 · en 6 · id 5 · ja 3 · zh 3 어휘로 시작. 운영 전환 시 </a:t>
            </a:r>
            <a:pPr algn="l" indent="0" marL="0">
              <a:lnSpc>
                <a:spcPct val="147569"/>
              </a:lnSpc>
              <a:buNone/>
            </a:pPr>
            <a:r>
              <a:rPr lang="en-US" sz="1875" b="1" dirty="0">
                <a:solidFill>
                  <a:srgbClr val="4A5058"/>
                </a:solidFill>
                <a:latin typeface="Arial" pitchFamily="34" charset="0"/>
                <a:ea typeface="Arial" pitchFamily="34" charset="-122"/>
                <a:cs typeface="Arial" pitchFamily="34" charset="-120"/>
              </a:rPr>
              <a:t>기관 정책 어휘로 교체하고 S3 에서 로드 </a:t>
            </a:r>
            <a:pPr algn="l" indent="0" marL="0">
              <a:lnSpc>
                <a:spcPct val="147569"/>
              </a:lnSpc>
              <a:buNone/>
            </a:pPr>
            <a:r>
              <a:rPr lang="en-US" sz="1875" dirty="0">
                <a:solidFill>
                  <a:srgbClr val="4A5058"/>
                </a:solidFill>
                <a:latin typeface="Arial" pitchFamily="34" charset="0"/>
                <a:ea typeface="Arial" pitchFamily="34" charset="-122"/>
                <a:cs typeface="Arial" pitchFamily="34" charset="-120"/>
              </a:rPr>
              <a:t>하는 것을 전제로 설계했다.</a:t>
            </a:r>
            <a:endParaRPr lang="en-US" sz="1875" dirty="0"/>
          </a:p>
        </p:txBody>
      </p:sp>
      <p:sp>
        <p:nvSpPr>
          <p:cNvPr id="36" name="Shape 34"/>
          <p:cNvSpPr/>
          <p:nvPr/>
        </p:nvSpPr>
        <p:spPr>
          <a:xfrm>
            <a:off x="10683003" y="7883366"/>
            <a:ext cx="6206609" cy="9525"/>
          </a:xfrm>
          <a:prstGeom prst="rect">
            <a:avLst/>
          </a:prstGeom>
          <a:solidFill>
            <a:srgbClr val="ECEDED"/>
          </a:solidFill>
          <a:ln/>
        </p:spPr>
      </p:sp>
      <p:sp>
        <p:nvSpPr>
          <p:cNvPr id="37" name="Text 35"/>
          <p:cNvSpPr/>
          <p:nvPr/>
        </p:nvSpPr>
        <p:spPr>
          <a:xfrm>
            <a:off x="10683003" y="8043386"/>
            <a:ext cx="6392807" cy="81534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6B7280"/>
                </a:solidFill>
                <a:latin typeface="Arial" pitchFamily="34" charset="0"/>
                <a:ea typeface="Arial" pitchFamily="34" charset="-122"/>
                <a:cs typeface="Arial" pitchFamily="34" charset="-120"/>
              </a:rPr>
              <a:t>남은 오답 2건(</a:t>
            </a:r>
            <a:pPr algn="l" indent="0" marL="0">
              <a:lnSpc>
                <a:spcPct val="138889"/>
              </a:lnSpc>
              <a:buNone/>
            </a:pPr>
            <a:r>
              <a:rPr lang="en-US" sz="1875" dirty="0">
                <a:solidFill>
                  <a:srgbClr val="6B7280"/>
                </a:solidFill>
                <a:latin typeface="Roboto Mono" pitchFamily="34" charset="0"/>
                <a:ea typeface="Roboto Mono" pitchFamily="34" charset="-122"/>
                <a:cs typeface="Roboto Mono" pitchFamily="34" charset="-120"/>
              </a:rPr>
              <a:t>ko-029</a:t>
            </a:r>
            <a:pPr algn="l" indent="0" marL="0">
              <a:lnSpc>
                <a:spcPct val="138889"/>
              </a:lnSpc>
              <a:buNone/>
            </a:pPr>
            <a:r>
              <a:rPr lang="en-US" sz="1875" dirty="0">
                <a:solidFill>
                  <a:srgbClr val="6B7280"/>
                </a:solidFill>
                <a:latin typeface="Arial" pitchFamily="34" charset="0"/>
                <a:ea typeface="Arial" pitchFamily="34" charset="-122"/>
                <a:cs typeface="Arial" pitchFamily="34" charset="-120"/>
              </a:rPr>
              <a:t>, </a:t>
            </a:r>
            <a:pPr algn="l" indent="0" marL="0">
              <a:lnSpc>
                <a:spcPct val="138889"/>
              </a:lnSpc>
              <a:buNone/>
            </a:pPr>
            <a:r>
              <a:rPr lang="en-US" sz="1875" dirty="0">
                <a:solidFill>
                  <a:srgbClr val="6B7280"/>
                </a:solidFill>
                <a:latin typeface="Roboto Mono" pitchFamily="34" charset="0"/>
                <a:ea typeface="Roboto Mono" pitchFamily="34" charset="-122"/>
                <a:cs typeface="Roboto Mono" pitchFamily="34" charset="-120"/>
              </a:rPr>
              <a:t>id-028 </a:t>
            </a:r>
            <a:pPr algn="l" indent="0" marL="0">
              <a:lnSpc>
                <a:spcPct val="138889"/>
              </a:lnSpc>
              <a:buNone/>
            </a:pPr>
            <a:r>
              <a:rPr lang="en-US" sz="1875" dirty="0">
                <a:solidFill>
                  <a:srgbClr val="6B7280"/>
                </a:solidFill>
                <a:latin typeface="Arial" pitchFamily="34" charset="0"/>
                <a:ea typeface="Arial" pitchFamily="34" charset="-122"/>
                <a:cs typeface="Arial" pitchFamily="34" charset="-120"/>
              </a:rPr>
              <a:t>)이 정확히 이 사전 영역이다 — 모델을 키워서 풀 문제가 아니었다.</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620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11 · LAYER ③ PII_REGEX</a:t>
            </a:r>
            <a:endParaRPr lang="en-US" sz="1800" dirty="0"/>
          </a:p>
        </p:txBody>
      </p:sp>
      <p:sp>
        <p:nvSpPr>
          <p:cNvPr id="3" name="Text 1"/>
          <p:cNvSpPr/>
          <p:nvPr/>
        </p:nvSpPr>
        <p:spPr>
          <a:xfrm>
            <a:off x="1047750" y="1192530"/>
            <a:ext cx="17811750"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클라우드로 나가기 전에 마스킹한다</a:t>
            </a:r>
            <a:endParaRPr lang="en-US" sz="5250" dirty="0"/>
          </a:p>
        </p:txBody>
      </p:sp>
      <p:sp>
        <p:nvSpPr>
          <p:cNvPr id="4" name="Shape 2"/>
          <p:cNvSpPr/>
          <p:nvPr/>
        </p:nvSpPr>
        <p:spPr>
          <a:xfrm>
            <a:off x="1047750" y="2518410"/>
            <a:ext cx="7943850" cy="4032885"/>
          </a:xfrm>
          <a:prstGeom prst="rect">
            <a:avLst/>
          </a:prstGeom>
          <a:solidFill>
            <a:srgbClr val="FFFFFF"/>
          </a:solidFill>
          <a:ln w="7620">
            <a:solidFill>
              <a:srgbClr val="DFE1E6"/>
            </a:solidFill>
            <a:prstDash val="solid"/>
          </a:ln>
        </p:spPr>
      </p:sp>
      <p:sp>
        <p:nvSpPr>
          <p:cNvPr id="5" name="Text 3"/>
          <p:cNvSpPr/>
          <p:nvPr/>
        </p:nvSpPr>
        <p:spPr>
          <a:xfrm>
            <a:off x="1398270" y="2830830"/>
            <a:ext cx="7967091" cy="457200"/>
          </a:xfrm>
          <a:prstGeom prst="rect">
            <a:avLst/>
          </a:prstGeom>
          <a:noFill/>
          <a:ln/>
        </p:spPr>
        <p:txBody>
          <a:bodyPr wrap="square" lIns="25400" tIns="25400" rIns="25400" bIns="25400" rtlCol="0" anchor="t">
            <a:normAutofit/>
          </a:bodyPr>
          <a:lstStyle/>
          <a:p>
            <a:pPr algn="l" indent="0" marL="0">
              <a:buNone/>
            </a:pPr>
            <a:r>
              <a:rPr lang="en-US" sz="2250" b="1" dirty="0">
                <a:solidFill>
                  <a:srgbClr val="16181D"/>
                </a:solidFill>
                <a:latin typeface="Arial" pitchFamily="34" charset="0"/>
                <a:ea typeface="Arial" pitchFamily="34" charset="-122"/>
                <a:cs typeface="Arial" pitchFamily="34" charset="-120"/>
              </a:rPr>
              <a:t>마스킹 대상 4종</a:t>
            </a:r>
            <a:endParaRPr lang="en-US" sz="2250" dirty="0"/>
          </a:p>
        </p:txBody>
      </p:sp>
      <p:sp>
        <p:nvSpPr>
          <p:cNvPr id="6" name="Text 4"/>
          <p:cNvSpPr/>
          <p:nvPr/>
        </p:nvSpPr>
        <p:spPr>
          <a:xfrm>
            <a:off x="1398270" y="3421380"/>
            <a:ext cx="7460095" cy="1746885"/>
          </a:xfrm>
          <a:prstGeom prst="rect">
            <a:avLst/>
          </a:prstGeom>
          <a:noFill/>
          <a:ln/>
        </p:spPr>
        <p:txBody>
          <a:bodyPr wrap="square" lIns="25400" tIns="25400" rIns="25400" bIns="25400" rtlCol="0" anchor="t">
            <a:normAutofit/>
          </a:bodyPr>
          <a:lstStyle/>
          <a:p>
            <a:pPr algn="l" indent="0" marL="0">
              <a:lnSpc>
                <a:spcPct val="147533"/>
              </a:lnSpc>
              <a:buNone/>
            </a:pPr>
            <a:r>
              <a:rPr lang="en-US" sz="1725" dirty="0">
                <a:solidFill>
                  <a:srgbClr val="4A5058"/>
                </a:solidFill>
                <a:latin typeface="Roboto Mono" pitchFamily="34" charset="0"/>
                <a:ea typeface="Roboto Mono" pitchFamily="34" charset="-122"/>
                <a:cs typeface="Roboto Mono" pitchFamily="34" charset="-120"/>
              </a:rPr>
              <a:t>EMAIL     [\w.+-]+@[\w-]+\.[\w.]+</a:t>
            </a:r>
            <a:endParaRPr lang="en-US" sz="1725" dirty="0"/>
          </a:p>
          <a:p>
            <a:pPr algn="l" indent="0" marL="0">
              <a:lnSpc>
                <a:spcPct val="147533"/>
              </a:lnSpc>
              <a:buNone/>
            </a:pPr>
            <a:r>
              <a:rPr lang="en-US" sz="1725" dirty="0">
                <a:solidFill>
                  <a:srgbClr val="4A5058"/>
                </a:solidFill>
                <a:latin typeface="Roboto Mono" pitchFamily="34" charset="0"/>
                <a:ea typeface="Roboto Mono" pitchFamily="34" charset="-122"/>
                <a:cs typeface="Roboto Mono" pitchFamily="34" charset="-120"/>
              </a:rPr>
              <a:t>CARD      (?&lt;!\d)(?:\d[ -]?){13,19}(?!\d)</a:t>
            </a:r>
            <a:endParaRPr lang="en-US" sz="1725" dirty="0"/>
          </a:p>
          <a:p>
            <a:pPr algn="l" indent="0" marL="0">
              <a:lnSpc>
                <a:spcPct val="147533"/>
              </a:lnSpc>
              <a:buNone/>
            </a:pPr>
            <a:r>
              <a:rPr lang="en-US" sz="1725" dirty="0">
                <a:solidFill>
                  <a:srgbClr val="4A5058"/>
                </a:solidFill>
                <a:latin typeface="Roboto Mono" pitchFamily="34" charset="0"/>
                <a:ea typeface="Roboto Mono" pitchFamily="34" charset="-122"/>
                <a:cs typeface="Roboto Mono" pitchFamily="34" charset="-120"/>
              </a:rPr>
              <a:t>PASSPORT  (?&lt;![A-Za-z0-9])[A-Z]{1,2}\d{7,8}(?!\d)</a:t>
            </a:r>
            <a:endParaRPr lang="en-US" sz="1725" dirty="0"/>
          </a:p>
          <a:p>
            <a:pPr algn="l" indent="0" marL="0">
              <a:lnSpc>
                <a:spcPct val="147533"/>
              </a:lnSpc>
              <a:buNone/>
            </a:pPr>
            <a:r>
              <a:rPr lang="en-US" sz="1725" dirty="0">
                <a:solidFill>
                  <a:srgbClr val="4A5058"/>
                </a:solidFill>
                <a:latin typeface="Roboto Mono" pitchFamily="34" charset="0"/>
                <a:ea typeface="Roboto Mono" pitchFamily="34" charset="-122"/>
                <a:cs typeface="Roboto Mono" pitchFamily="34" charset="-120"/>
              </a:rPr>
              <a:t>PHONE     (?&lt;!\d)\+?\d[\d\-\s()]{7,15}\d(?!\d)</a:t>
            </a:r>
            <a:endParaRPr lang="en-US" sz="1725" dirty="0"/>
          </a:p>
        </p:txBody>
      </p:sp>
      <p:sp>
        <p:nvSpPr>
          <p:cNvPr id="7" name="Shape 5"/>
          <p:cNvSpPr/>
          <p:nvPr/>
        </p:nvSpPr>
        <p:spPr>
          <a:xfrm>
            <a:off x="1398270" y="5301615"/>
            <a:ext cx="7242810" cy="9525"/>
          </a:xfrm>
          <a:prstGeom prst="rect">
            <a:avLst/>
          </a:prstGeom>
          <a:solidFill>
            <a:srgbClr val="ECEDED"/>
          </a:solidFill>
          <a:ln/>
        </p:spPr>
      </p:sp>
      <p:sp>
        <p:nvSpPr>
          <p:cNvPr id="8" name="Text 6"/>
          <p:cNvSpPr/>
          <p:nvPr/>
        </p:nvSpPr>
        <p:spPr>
          <a:xfrm>
            <a:off x="1398270" y="5461635"/>
            <a:ext cx="7460095" cy="81534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6B7280"/>
                </a:solidFill>
                <a:latin typeface="Arial" pitchFamily="34" charset="0"/>
                <a:ea typeface="Arial" pitchFamily="34" charset="-122"/>
                <a:cs typeface="Arial" pitchFamily="34" charset="-120"/>
              </a:rPr>
              <a:t>치환 결과는 </a:t>
            </a:r>
            <a:pPr algn="l" indent="0" marL="0">
              <a:lnSpc>
                <a:spcPct val="138889"/>
              </a:lnSpc>
              <a:buNone/>
            </a:pPr>
            <a:r>
              <a:rPr lang="en-US" sz="1875" dirty="0">
                <a:solidFill>
                  <a:srgbClr val="6B7280"/>
                </a:solidFill>
                <a:latin typeface="Roboto Mono" pitchFamily="34" charset="0"/>
                <a:ea typeface="Roboto Mono" pitchFamily="34" charset="-122"/>
                <a:cs typeface="Roboto Mono" pitchFamily="34" charset="-120"/>
              </a:rPr>
              <a:t>[PASSPORT] </a:t>
            </a:r>
            <a:pPr algn="l" indent="0" marL="0">
              <a:lnSpc>
                <a:spcPct val="138889"/>
              </a:lnSpc>
              <a:buNone/>
            </a:pPr>
            <a:r>
              <a:rPr lang="en-US" sz="1875" dirty="0">
                <a:solidFill>
                  <a:srgbClr val="6B7280"/>
                </a:solidFill>
                <a:latin typeface="Arial" pitchFamily="34" charset="0"/>
                <a:ea typeface="Arial" pitchFamily="34" charset="-122"/>
                <a:cs typeface="Arial" pitchFamily="34" charset="-120"/>
              </a:rPr>
              <a:t>같은 라벨. 어떤 종류가 걸렸는지만 trace 에 남기고 값은 남기지 않는다.</a:t>
            </a:r>
            <a:endParaRPr lang="en-US" sz="1875" dirty="0"/>
          </a:p>
        </p:txBody>
      </p:sp>
      <p:sp>
        <p:nvSpPr>
          <p:cNvPr id="9" name="Shape 7"/>
          <p:cNvSpPr/>
          <p:nvPr/>
        </p:nvSpPr>
        <p:spPr>
          <a:xfrm>
            <a:off x="1047750" y="6779895"/>
            <a:ext cx="7943850" cy="2745105"/>
          </a:xfrm>
          <a:prstGeom prst="rect">
            <a:avLst/>
          </a:prstGeom>
          <a:solidFill>
            <a:srgbClr val="F3F6FF"/>
          </a:solidFill>
          <a:ln w="7620">
            <a:solidFill>
              <a:srgbClr val="C9D6FF"/>
            </a:solidFill>
            <a:prstDash val="solid"/>
          </a:ln>
        </p:spPr>
      </p:sp>
      <p:sp>
        <p:nvSpPr>
          <p:cNvPr id="10" name="Text 8"/>
          <p:cNvSpPr/>
          <p:nvPr/>
        </p:nvSpPr>
        <p:spPr>
          <a:xfrm>
            <a:off x="1398270" y="7073265"/>
            <a:ext cx="7967091"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2단 방어</a:t>
            </a:r>
            <a:endParaRPr lang="en-US" sz="1725" dirty="0"/>
          </a:p>
        </p:txBody>
      </p:sp>
      <p:sp>
        <p:nvSpPr>
          <p:cNvPr id="11" name="Text 9"/>
          <p:cNvSpPr/>
          <p:nvPr/>
        </p:nvSpPr>
        <p:spPr>
          <a:xfrm>
            <a:off x="1398270" y="7477125"/>
            <a:ext cx="7460095" cy="861060"/>
          </a:xfrm>
          <a:prstGeom prst="rect">
            <a:avLst/>
          </a:prstGeom>
          <a:noFill/>
          <a:ln/>
        </p:spPr>
        <p:txBody>
          <a:bodyPr wrap="square" lIns="25400" tIns="25400" rIns="25400" bIns="25400" rtlCol="0" anchor="t">
            <a:normAutofit/>
          </a:bodyPr>
          <a:lstStyle/>
          <a:p>
            <a:pPr algn="l" indent="0" marL="0">
              <a:lnSpc>
                <a:spcPct val="138462"/>
              </a:lnSpc>
              <a:buNone/>
            </a:pPr>
            <a:r>
              <a:rPr lang="en-US" sz="2025" dirty="0">
                <a:solidFill>
                  <a:srgbClr val="1F2937"/>
                </a:solidFill>
                <a:latin typeface="Arial" pitchFamily="34" charset="0"/>
                <a:ea typeface="Arial" pitchFamily="34" charset="-122"/>
                <a:cs typeface="Arial" pitchFamily="34" charset="-120"/>
              </a:rPr>
              <a:t>마스킹만으로는 부족하다. Supervisor 프롬프트 규칙 9번이 </a:t>
            </a:r>
            <a:pPr algn="l" indent="0" marL="0">
              <a:lnSpc>
                <a:spcPct val="138462"/>
              </a:lnSpc>
              <a:buNone/>
            </a:pPr>
            <a:r>
              <a:rPr lang="en-US" sz="2025" b="1" dirty="0">
                <a:solidFill>
                  <a:srgbClr val="1F2937"/>
                </a:solidFill>
                <a:latin typeface="Arial" pitchFamily="34" charset="0"/>
                <a:ea typeface="Arial" pitchFamily="34" charset="-122"/>
                <a:cs typeface="Arial" pitchFamily="34" charset="-120"/>
              </a:rPr>
              <a:t>플레이스홀더를 사용자에게 되돌려 말하는 것 </a:t>
            </a:r>
            <a:pPr algn="l" indent="0" marL="0">
              <a:lnSpc>
                <a:spcPct val="138462"/>
              </a:lnSpc>
              <a:buNone/>
            </a:pPr>
            <a:r>
              <a:rPr lang="en-US" sz="2025" dirty="0">
                <a:solidFill>
                  <a:srgbClr val="1F2937"/>
                </a:solidFill>
                <a:latin typeface="Arial" pitchFamily="34" charset="0"/>
                <a:ea typeface="Arial" pitchFamily="34" charset="-122"/>
                <a:cs typeface="Arial" pitchFamily="34" charset="-120"/>
              </a:rPr>
              <a:t>까지 금지한다.</a:t>
            </a:r>
            <a:endParaRPr lang="en-US" sz="2025" dirty="0"/>
          </a:p>
        </p:txBody>
      </p:sp>
      <p:sp>
        <p:nvSpPr>
          <p:cNvPr id="12" name="Text 10"/>
          <p:cNvSpPr/>
          <p:nvPr/>
        </p:nvSpPr>
        <p:spPr>
          <a:xfrm>
            <a:off x="1398270" y="8414385"/>
            <a:ext cx="7460095" cy="81534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추가로 vLLM 은 </a:t>
            </a:r>
            <a:pPr algn="l" indent="0" marL="0">
              <a:lnSpc>
                <a:spcPct val="138889"/>
              </a:lnSpc>
              <a:buNone/>
            </a:pPr>
            <a:r>
              <a:rPr lang="en-US" sz="1875" dirty="0">
                <a:solidFill>
                  <a:srgbClr val="4A5058"/>
                </a:solidFill>
                <a:latin typeface="Roboto Mono" pitchFamily="34" charset="0"/>
                <a:ea typeface="Roboto Mono" pitchFamily="34" charset="-122"/>
                <a:cs typeface="Roboto Mono" pitchFamily="34" charset="-120"/>
              </a:rPr>
              <a:t>--disable-log-requests </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로 프롬프트 원문 로깅을 차단한다.</a:t>
            </a:r>
            <a:endParaRPr lang="en-US" sz="1875" dirty="0"/>
          </a:p>
        </p:txBody>
      </p:sp>
      <p:sp>
        <p:nvSpPr>
          <p:cNvPr id="13" name="Shape 11"/>
          <p:cNvSpPr/>
          <p:nvPr/>
        </p:nvSpPr>
        <p:spPr>
          <a:xfrm>
            <a:off x="9296400" y="2518410"/>
            <a:ext cx="7943850" cy="7006590"/>
          </a:xfrm>
          <a:prstGeom prst="rect">
            <a:avLst/>
          </a:prstGeom>
          <a:solidFill>
            <a:srgbClr val="FFF7ED"/>
          </a:solidFill>
          <a:ln w="7620">
            <a:solidFill>
              <a:srgbClr val="FED7AA"/>
            </a:solidFill>
            <a:prstDash val="solid"/>
          </a:ln>
        </p:spPr>
      </p:sp>
      <p:sp>
        <p:nvSpPr>
          <p:cNvPr id="14" name="Text 12"/>
          <p:cNvSpPr/>
          <p:nvPr/>
        </p:nvSpPr>
        <p:spPr>
          <a:xfrm>
            <a:off x="9685020" y="2868930"/>
            <a:ext cx="7883271" cy="312420"/>
          </a:xfrm>
          <a:prstGeom prst="rect">
            <a:avLst/>
          </a:prstGeom>
          <a:noFill/>
          <a:ln/>
        </p:spPr>
        <p:txBody>
          <a:bodyPr wrap="square" lIns="25400" tIns="25400" rIns="25400" bIns="25400" rtlCol="0" anchor="t">
            <a:normAutofit/>
          </a:bodyPr>
          <a:lstStyle/>
          <a:p>
            <a:pPr algn="l" indent="0" marL="0">
              <a:buNone/>
            </a:pPr>
            <a:r>
              <a:rPr lang="en-US" sz="1650" dirty="0">
                <a:solidFill>
                  <a:srgbClr val="C2410C"/>
                </a:solidFill>
                <a:latin typeface="Roboto Mono" pitchFamily="34" charset="0"/>
                <a:ea typeface="Roboto Mono" pitchFamily="34" charset="-122"/>
                <a:cs typeface="Roboto Mono" pitchFamily="34" charset="-120"/>
              </a:rPr>
              <a:t>함정 — 한국어 서비스에서 가장 흔한 실수</a:t>
            </a:r>
            <a:endParaRPr lang="en-US" sz="1650" dirty="0"/>
          </a:p>
        </p:txBody>
      </p:sp>
      <p:sp>
        <p:nvSpPr>
          <p:cNvPr id="15" name="Text 13"/>
          <p:cNvSpPr/>
          <p:nvPr/>
        </p:nvSpPr>
        <p:spPr>
          <a:xfrm>
            <a:off x="9685020" y="3352800"/>
            <a:ext cx="7381609" cy="944880"/>
          </a:xfrm>
          <a:prstGeom prst="rect">
            <a:avLst/>
          </a:prstGeom>
          <a:noFill/>
          <a:ln/>
        </p:spPr>
        <p:txBody>
          <a:bodyPr wrap="square" lIns="25400" tIns="25400" rIns="25400" bIns="25400" rtlCol="0" anchor="t">
            <a:normAutofit/>
          </a:bodyPr>
          <a:lstStyle/>
          <a:p>
            <a:pPr algn="l" indent="0" marL="0">
              <a:lnSpc>
                <a:spcPct val="123958"/>
              </a:lnSpc>
              <a:buNone/>
            </a:pPr>
            <a:r>
              <a:rPr lang="en-US" sz="2550" b="1" dirty="0">
                <a:solidFill>
                  <a:srgbClr val="7C2D12"/>
                </a:solidFill>
                <a:latin typeface="Arial" pitchFamily="34" charset="0"/>
                <a:ea typeface="Arial" pitchFamily="34" charset="-122"/>
                <a:cs typeface="Arial" pitchFamily="34" charset="-120"/>
              </a:rPr>
              <a:t>워드 바운더리 </a:t>
            </a:r>
            <a:pPr algn="l" indent="0" marL="0">
              <a:lnSpc>
                <a:spcPct val="123958"/>
              </a:lnSpc>
              <a:buNone/>
            </a:pPr>
            <a:r>
              <a:rPr lang="en-US" sz="2400" b="1" dirty="0">
                <a:solidFill>
                  <a:srgbClr val="7C2D12"/>
                </a:solidFill>
                <a:latin typeface="Roboto Mono" pitchFamily="34" charset="0"/>
                <a:ea typeface="Roboto Mono" pitchFamily="34" charset="-122"/>
                <a:cs typeface="Roboto Mono" pitchFamily="34" charset="-120"/>
              </a:rPr>
              <a:t>\b </a:t>
            </a:r>
            <a:pPr algn="l" indent="0" marL="0">
              <a:lnSpc>
                <a:spcPct val="123958"/>
              </a:lnSpc>
              <a:buNone/>
            </a:pPr>
            <a:r>
              <a:rPr lang="en-US" sz="2550" b="1" dirty="0">
                <a:solidFill>
                  <a:srgbClr val="7C2D12"/>
                </a:solidFill>
                <a:latin typeface="Arial" pitchFamily="34" charset="0"/>
                <a:ea typeface="Arial" pitchFamily="34" charset="-122"/>
                <a:cs typeface="Arial" pitchFamily="34" charset="-120"/>
              </a:rPr>
              <a:t>가 한글 조사 앞에서 성립하지 않는다</a:t>
            </a:r>
            <a:endParaRPr lang="en-US" sz="2550" dirty="0"/>
          </a:p>
        </p:txBody>
      </p:sp>
      <p:sp>
        <p:nvSpPr>
          <p:cNvPr id="16" name="Shape 14"/>
          <p:cNvSpPr/>
          <p:nvPr/>
        </p:nvSpPr>
        <p:spPr>
          <a:xfrm>
            <a:off x="9685020" y="4469130"/>
            <a:ext cx="7166610" cy="1678305"/>
          </a:xfrm>
          <a:prstGeom prst="rect">
            <a:avLst/>
          </a:prstGeom>
          <a:solidFill>
            <a:srgbClr val="16181D"/>
          </a:solidFill>
          <a:ln/>
        </p:spPr>
      </p:sp>
      <p:sp>
        <p:nvSpPr>
          <p:cNvPr id="17" name="Text 15"/>
          <p:cNvSpPr/>
          <p:nvPr/>
        </p:nvSpPr>
        <p:spPr>
          <a:xfrm>
            <a:off x="9951720" y="4716780"/>
            <a:ext cx="6848209" cy="1221105"/>
          </a:xfrm>
          <a:prstGeom prst="rect">
            <a:avLst/>
          </a:prstGeom>
          <a:noFill/>
          <a:ln/>
        </p:spPr>
        <p:txBody>
          <a:bodyPr wrap="square" lIns="25400" tIns="25400" rIns="25400" bIns="25400" rtlCol="0" anchor="t">
            <a:normAutofit/>
          </a:bodyPr>
          <a:lstStyle/>
          <a:p>
            <a:pPr algn="l" indent="0" marL="0">
              <a:lnSpc>
                <a:spcPct val="136184"/>
              </a:lnSpc>
              <a:buNone/>
            </a:pPr>
            <a:r>
              <a:rPr lang="en-US" sz="1725" dirty="0">
                <a:solidFill>
                  <a:srgbClr val="F87171"/>
                </a:solidFill>
                <a:latin typeface="Roboto Mono" pitchFamily="34" charset="0"/>
                <a:ea typeface="Roboto Mono" pitchFamily="34" charset="-122"/>
                <a:cs typeface="Roboto Mono" pitchFamily="34" charset="-120"/>
              </a:rPr>
              <a:t># 실패 — "M12345678로" 에서 뒤쪽 \b 가 성립하지 않음 </a:t>
            </a:r>
            <a:pPr algn="l" indent="0" marL="0">
              <a:lnSpc>
                <a:spcPct val="136184"/>
              </a:lnSpc>
              <a:buNone/>
            </a:pPr>
            <a:r>
              <a:rPr lang="en-US" sz="1725" dirty="0">
                <a:solidFill>
                  <a:srgbClr val="E6E8EA"/>
                </a:solidFill>
                <a:latin typeface="Roboto Mono" pitchFamily="34" charset="0"/>
                <a:ea typeface="Roboto Mono" pitchFamily="34" charset="-122"/>
                <a:cs typeface="Roboto Mono" pitchFamily="34" charset="-120"/>
              </a:rPr>
              <a:t>r"\b[A-Z]{1,2}\d{7,8}\b"</a:t>
            </a:r>
            <a:pPr algn="l" indent="0" marL="0">
              <a:lnSpc>
                <a:spcPct val="136184"/>
              </a:lnSpc>
              <a:buNone/>
            </a:pPr>
            <a:r>
              <a:rPr lang="en-US" sz="1725" dirty="0">
                <a:solidFill>
                  <a:srgbClr val="4ADE80"/>
                </a:solidFill>
                <a:latin typeface="Roboto Mono" pitchFamily="34" charset="0"/>
                <a:ea typeface="Roboto Mono" pitchFamily="34" charset="-122"/>
                <a:cs typeface="Roboto Mono" pitchFamily="34" charset="-120"/>
              </a:rPr>
              <a:t># 성공 </a:t>
            </a:r>
            <a:pPr algn="l" indent="0" marL="0">
              <a:lnSpc>
                <a:spcPct val="136184"/>
              </a:lnSpc>
              <a:buNone/>
            </a:pPr>
            <a:r>
              <a:rPr lang="en-US" sz="1725" dirty="0">
                <a:solidFill>
                  <a:srgbClr val="E6E8EA"/>
                </a:solidFill>
                <a:latin typeface="Roboto Mono" pitchFamily="34" charset="0"/>
                <a:ea typeface="Roboto Mono" pitchFamily="34" charset="-122"/>
                <a:cs typeface="Roboto Mono" pitchFamily="34" charset="-120"/>
              </a:rPr>
              <a:t>r"(?&lt;![A-Za-z0-9])[A-Z]{1,2}\d{7,8}(?!\d)"</a:t>
            </a:r>
            <a:endParaRPr lang="en-US" sz="1725" dirty="0"/>
          </a:p>
        </p:txBody>
      </p:sp>
      <p:sp>
        <p:nvSpPr>
          <p:cNvPr id="18" name="Text 16"/>
          <p:cNvSpPr/>
          <p:nvPr/>
        </p:nvSpPr>
        <p:spPr>
          <a:xfrm>
            <a:off x="9685020" y="6356985"/>
            <a:ext cx="7381609" cy="122682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7C2D12"/>
                </a:solidFill>
                <a:latin typeface="Arial" pitchFamily="34" charset="0"/>
                <a:ea typeface="Arial" pitchFamily="34" charset="-122"/>
                <a:cs typeface="Arial" pitchFamily="34" charset="-120"/>
              </a:rPr>
              <a:t>"제 여권번호 M12345678</a:t>
            </a:r>
            <a:pPr algn="l" indent="0" marL="0">
              <a:lnSpc>
                <a:spcPct val="140541"/>
              </a:lnSpc>
              <a:buNone/>
            </a:pPr>
            <a:r>
              <a:rPr lang="en-US" sz="1950" b="1" dirty="0">
                <a:solidFill>
                  <a:srgbClr val="7C2D12"/>
                </a:solidFill>
                <a:latin typeface="Arial" pitchFamily="34" charset="0"/>
                <a:ea typeface="Arial" pitchFamily="34" charset="-122"/>
                <a:cs typeface="Arial" pitchFamily="34" charset="-120"/>
              </a:rPr>
              <a:t>로 </a:t>
            </a:r>
            <a:pPr algn="l" indent="0" marL="0">
              <a:lnSpc>
                <a:spcPct val="140541"/>
              </a:lnSpc>
              <a:buNone/>
            </a:pPr>
            <a:r>
              <a:rPr lang="en-US" sz="1950" dirty="0">
                <a:solidFill>
                  <a:srgbClr val="7C2D12"/>
                </a:solidFill>
                <a:latin typeface="Arial" pitchFamily="34" charset="0"/>
                <a:ea typeface="Arial" pitchFamily="34" charset="-122"/>
                <a:cs typeface="Arial" pitchFamily="34" charset="-120"/>
              </a:rPr>
              <a:t>예약해줘" — 조사가 붙는 순간 마스킹이 통째로 실패한다. 영문 정규식을 그대로 재사용하면 반드시 만나는 문제.</a:t>
            </a:r>
            <a:endParaRPr lang="en-US" sz="1950" dirty="0"/>
          </a:p>
        </p:txBody>
      </p:sp>
      <p:sp>
        <p:nvSpPr>
          <p:cNvPr id="19" name="Shape 17"/>
          <p:cNvSpPr/>
          <p:nvPr/>
        </p:nvSpPr>
        <p:spPr>
          <a:xfrm>
            <a:off x="9685020" y="8199120"/>
            <a:ext cx="7166610" cy="9525"/>
          </a:xfrm>
          <a:prstGeom prst="rect">
            <a:avLst/>
          </a:prstGeom>
          <a:solidFill>
            <a:srgbClr val="FED7AA"/>
          </a:solidFill>
          <a:ln/>
        </p:spPr>
      </p:sp>
      <p:sp>
        <p:nvSpPr>
          <p:cNvPr id="20" name="Text 18"/>
          <p:cNvSpPr/>
          <p:nvPr/>
        </p:nvSpPr>
        <p:spPr>
          <a:xfrm>
            <a:off x="9685020" y="8397240"/>
            <a:ext cx="7381609" cy="81534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7C2D12"/>
                </a:solidFill>
                <a:latin typeface="Arial" pitchFamily="34" charset="0"/>
                <a:ea typeface="Arial" pitchFamily="34" charset="-122"/>
                <a:cs typeface="Arial" pitchFamily="34" charset="-120"/>
              </a:rPr>
              <a:t>515문항 평가셋의 PII 문항 19건에서 </a:t>
            </a:r>
            <a:pPr algn="l" indent="0" marL="0">
              <a:lnSpc>
                <a:spcPct val="138889"/>
              </a:lnSpc>
              <a:buNone/>
            </a:pPr>
            <a:r>
              <a:rPr lang="en-US" sz="1875" b="1" dirty="0">
                <a:solidFill>
                  <a:srgbClr val="7C2D12"/>
                </a:solidFill>
                <a:latin typeface="Arial" pitchFamily="34" charset="0"/>
                <a:ea typeface="Arial" pitchFamily="34" charset="-122"/>
                <a:cs typeface="Arial" pitchFamily="34" charset="-120"/>
              </a:rPr>
              <a:t>미탐 0건</a:t>
            </a:r>
            <a:pPr algn="l" indent="0" marL="0">
              <a:lnSpc>
                <a:spcPct val="138889"/>
              </a:lnSpc>
              <a:buNone/>
            </a:pPr>
            <a:r>
              <a:rPr lang="en-US" sz="1875" dirty="0">
                <a:solidFill>
                  <a:srgbClr val="7C2D12"/>
                </a:solidFill>
                <a:latin typeface="Arial" pitchFamily="34" charset="0"/>
                <a:ea typeface="Arial" pitchFamily="34" charset="-122"/>
                <a:cs typeface="Arial" pitchFamily="34" charset="-120"/>
              </a:rPr>
              <a:t>(</a:t>
            </a:r>
            <a:pPr algn="l" indent="0" marL="0">
              <a:lnSpc>
                <a:spcPct val="138889"/>
              </a:lnSpc>
              <a:buNone/>
            </a:pPr>
            <a:r>
              <a:rPr lang="en-US" sz="1875" dirty="0">
                <a:solidFill>
                  <a:srgbClr val="7C2D12"/>
                </a:solidFill>
                <a:latin typeface="Roboto Mono" pitchFamily="34" charset="0"/>
                <a:ea typeface="Roboto Mono" pitchFamily="34" charset="-122"/>
                <a:cs typeface="Roboto Mono" pitchFamily="34" charset="-120"/>
              </a:rPr>
              <a:t>pii_found: 0 </a:t>
            </a:r>
            <a:pPr algn="l" indent="0" marL="0">
              <a:lnSpc>
                <a:spcPct val="138889"/>
              </a:lnSpc>
              <a:buNone/>
            </a:pPr>
            <a:r>
              <a:rPr lang="en-US" sz="1875" dirty="0">
                <a:solidFill>
                  <a:srgbClr val="7C2D12"/>
                </a:solidFill>
                <a:latin typeface="Arial" pitchFamily="34" charset="0"/>
                <a:ea typeface="Arial" pitchFamily="34" charset="-122"/>
                <a:cs typeface="Arial" pitchFamily="34" charset="-120"/>
              </a:rPr>
              <a:t>= 유출 0).</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62000"/>
            <a:ext cx="11246941"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12 · LAYER ④ BEDROCK_GUARDRAIL</a:t>
            </a:r>
            <a:endParaRPr lang="en-US" sz="1800" dirty="0"/>
          </a:p>
        </p:txBody>
      </p:sp>
      <p:sp>
        <p:nvSpPr>
          <p:cNvPr id="3" name="Text 1"/>
          <p:cNvSpPr/>
          <p:nvPr/>
        </p:nvSpPr>
        <p:spPr>
          <a:xfrm>
            <a:off x="1047750" y="1192530"/>
            <a:ext cx="11246941"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Classic tier 는 한국어를 못 거른다</a:t>
            </a:r>
            <a:endParaRPr lang="en-US" sz="5250" dirty="0"/>
          </a:p>
        </p:txBody>
      </p:sp>
      <p:sp>
        <p:nvSpPr>
          <p:cNvPr id="4" name="Text 2"/>
          <p:cNvSpPr/>
          <p:nvPr/>
        </p:nvSpPr>
        <p:spPr>
          <a:xfrm>
            <a:off x="12771699" y="1518285"/>
            <a:ext cx="4468551" cy="695325"/>
          </a:xfrm>
          <a:prstGeom prst="rect">
            <a:avLst/>
          </a:prstGeom>
          <a:noFill/>
          <a:ln/>
        </p:spPr>
        <p:txBody>
          <a:bodyPr wrap="square" lIns="25400" tIns="25400" rIns="25400" bIns="25400" rtlCol="0" anchor="t">
            <a:normAutofit/>
          </a:bodyPr>
          <a:lstStyle/>
          <a:p>
            <a:pPr algn="r" indent="0" marL="0">
              <a:lnSpc>
                <a:spcPct val="113487"/>
              </a:lnSpc>
              <a:buNone/>
            </a:pPr>
            <a:r>
              <a:rPr lang="en-US" sz="1725" dirty="0">
                <a:solidFill>
                  <a:srgbClr val="8A9099"/>
                </a:solidFill>
                <a:latin typeface="Roboto Mono" pitchFamily="34" charset="0"/>
                <a:ea typeface="Roboto Mono" pitchFamily="34" charset="-122"/>
                <a:cs typeface="Roboto Mono" pitchFamily="34" charset="-120"/>
              </a:rPr>
              <a:t>guardrail b53a6caaqa31 v1 Standard tier · apac cross-region</a:t>
            </a:r>
            <a:endParaRPr lang="en-US" sz="1725" dirty="0"/>
          </a:p>
        </p:txBody>
      </p:sp>
      <p:sp>
        <p:nvSpPr>
          <p:cNvPr id="5" name="Shape 3"/>
          <p:cNvSpPr/>
          <p:nvPr/>
        </p:nvSpPr>
        <p:spPr>
          <a:xfrm>
            <a:off x="1047750" y="2518410"/>
            <a:ext cx="9402842" cy="7496175"/>
          </a:xfrm>
          <a:prstGeom prst="rect">
            <a:avLst/>
          </a:prstGeom>
          <a:solidFill>
            <a:srgbClr val="FFFFFF"/>
          </a:solidFill>
          <a:ln w="7620">
            <a:solidFill>
              <a:srgbClr val="DFE1E6"/>
            </a:solidFill>
            <a:prstDash val="solid"/>
          </a:ln>
        </p:spPr>
      </p:sp>
      <p:sp>
        <p:nvSpPr>
          <p:cNvPr id="6" name="Text 4"/>
          <p:cNvSpPr/>
          <p:nvPr/>
        </p:nvSpPr>
        <p:spPr>
          <a:xfrm>
            <a:off x="1398270" y="2830830"/>
            <a:ext cx="9571982" cy="457200"/>
          </a:xfrm>
          <a:prstGeom prst="rect">
            <a:avLst/>
          </a:prstGeom>
          <a:noFill/>
          <a:ln/>
        </p:spPr>
        <p:txBody>
          <a:bodyPr wrap="square" lIns="25400" tIns="25400" rIns="25400" bIns="25400" rtlCol="0" anchor="t">
            <a:normAutofit/>
          </a:bodyPr>
          <a:lstStyle/>
          <a:p>
            <a:pPr algn="l" indent="0" marL="0">
              <a:buNone/>
            </a:pPr>
            <a:r>
              <a:rPr lang="en-US" sz="2250" b="1" dirty="0">
                <a:solidFill>
                  <a:srgbClr val="16181D"/>
                </a:solidFill>
                <a:latin typeface="Arial" pitchFamily="34" charset="0"/>
                <a:ea typeface="Arial" pitchFamily="34" charset="-122"/>
                <a:cs typeface="Arial" pitchFamily="34" charset="-120"/>
              </a:rPr>
              <a:t>동일 정책으로 두 tier 비교</a:t>
            </a:r>
            <a:endParaRPr lang="en-US" sz="2250" dirty="0"/>
          </a:p>
        </p:txBody>
      </p:sp>
      <p:sp>
        <p:nvSpPr>
          <p:cNvPr id="7" name="Shape 5"/>
          <p:cNvSpPr/>
          <p:nvPr/>
        </p:nvSpPr>
        <p:spPr>
          <a:xfrm>
            <a:off x="1398270" y="3810000"/>
            <a:ext cx="3607951" cy="15240"/>
          </a:xfrm>
          <a:prstGeom prst="rect">
            <a:avLst/>
          </a:prstGeom>
          <a:solidFill>
            <a:srgbClr val="16181D"/>
          </a:solidFill>
          <a:ln/>
        </p:spPr>
      </p:sp>
      <p:sp>
        <p:nvSpPr>
          <p:cNvPr id="8" name="Text 6"/>
          <p:cNvSpPr/>
          <p:nvPr/>
        </p:nvSpPr>
        <p:spPr>
          <a:xfrm>
            <a:off x="1398270" y="3421380"/>
            <a:ext cx="371619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8A9099"/>
                </a:solidFill>
                <a:latin typeface="Roboto Mono" pitchFamily="34" charset="0"/>
                <a:ea typeface="Roboto Mono" pitchFamily="34" charset="-122"/>
                <a:cs typeface="Roboto Mono" pitchFamily="34" charset="-120"/>
              </a:rPr>
              <a:t>입력</a:t>
            </a:r>
            <a:endParaRPr lang="en-US" sz="1650" dirty="0"/>
          </a:p>
        </p:txBody>
      </p:sp>
      <p:sp>
        <p:nvSpPr>
          <p:cNvPr id="9" name="Shape 7"/>
          <p:cNvSpPr/>
          <p:nvPr/>
        </p:nvSpPr>
        <p:spPr>
          <a:xfrm>
            <a:off x="5006221" y="3810000"/>
            <a:ext cx="1485781" cy="15240"/>
          </a:xfrm>
          <a:prstGeom prst="rect">
            <a:avLst/>
          </a:prstGeom>
          <a:solidFill>
            <a:srgbClr val="16181D"/>
          </a:solidFill>
          <a:ln/>
        </p:spPr>
      </p:sp>
      <p:sp>
        <p:nvSpPr>
          <p:cNvPr id="10" name="Text 8"/>
          <p:cNvSpPr/>
          <p:nvPr/>
        </p:nvSpPr>
        <p:spPr>
          <a:xfrm>
            <a:off x="4968121" y="3421380"/>
            <a:ext cx="1561981" cy="312420"/>
          </a:xfrm>
          <a:prstGeom prst="rect">
            <a:avLst/>
          </a:prstGeom>
          <a:noFill/>
          <a:ln/>
        </p:spPr>
        <p:txBody>
          <a:bodyPr wrap="square" lIns="25400" tIns="25400" rIns="25400" bIns="25400" rtlCol="0" anchor="t">
            <a:normAutofit/>
          </a:bodyPr>
          <a:lstStyle/>
          <a:p>
            <a:pPr algn="ctr" indent="0" marL="0">
              <a:buNone/>
            </a:pPr>
            <a:r>
              <a:rPr lang="en-US" sz="1650" dirty="0">
                <a:solidFill>
                  <a:srgbClr val="8A9099"/>
                </a:solidFill>
                <a:latin typeface="Roboto Mono" pitchFamily="34" charset="0"/>
                <a:ea typeface="Roboto Mono" pitchFamily="34" charset="-122"/>
                <a:cs typeface="Roboto Mono" pitchFamily="34" charset="-120"/>
              </a:rPr>
              <a:t>기대</a:t>
            </a:r>
            <a:endParaRPr lang="en-US" sz="1650" dirty="0"/>
          </a:p>
        </p:txBody>
      </p:sp>
      <p:sp>
        <p:nvSpPr>
          <p:cNvPr id="11" name="Shape 9"/>
          <p:cNvSpPr/>
          <p:nvPr/>
        </p:nvSpPr>
        <p:spPr>
          <a:xfrm>
            <a:off x="6492002" y="3810000"/>
            <a:ext cx="1697831" cy="15240"/>
          </a:xfrm>
          <a:prstGeom prst="rect">
            <a:avLst/>
          </a:prstGeom>
          <a:solidFill>
            <a:srgbClr val="16181D"/>
          </a:solidFill>
          <a:ln/>
        </p:spPr>
      </p:sp>
      <p:sp>
        <p:nvSpPr>
          <p:cNvPr id="12" name="Text 10"/>
          <p:cNvSpPr/>
          <p:nvPr/>
        </p:nvSpPr>
        <p:spPr>
          <a:xfrm>
            <a:off x="6453902" y="3421380"/>
            <a:ext cx="1774031" cy="312420"/>
          </a:xfrm>
          <a:prstGeom prst="rect">
            <a:avLst/>
          </a:prstGeom>
          <a:noFill/>
          <a:ln/>
        </p:spPr>
        <p:txBody>
          <a:bodyPr wrap="square" lIns="25400" tIns="25400" rIns="25400" bIns="25400" rtlCol="0" anchor="t">
            <a:normAutofit/>
          </a:bodyPr>
          <a:lstStyle/>
          <a:p>
            <a:pPr algn="ctr" indent="0" marL="0">
              <a:buNone/>
            </a:pPr>
            <a:r>
              <a:rPr lang="en-US" sz="1650" dirty="0">
                <a:solidFill>
                  <a:srgbClr val="8A9099"/>
                </a:solidFill>
                <a:latin typeface="Roboto Mono" pitchFamily="34" charset="0"/>
                <a:ea typeface="Roboto Mono" pitchFamily="34" charset="-122"/>
                <a:cs typeface="Roboto Mono" pitchFamily="34" charset="-120"/>
              </a:rPr>
              <a:t>Classic</a:t>
            </a:r>
            <a:endParaRPr lang="en-US" sz="1650" dirty="0"/>
          </a:p>
        </p:txBody>
      </p:sp>
      <p:sp>
        <p:nvSpPr>
          <p:cNvPr id="13" name="Shape 11"/>
          <p:cNvSpPr/>
          <p:nvPr/>
        </p:nvSpPr>
        <p:spPr>
          <a:xfrm>
            <a:off x="8189833" y="3810000"/>
            <a:ext cx="1910120" cy="15240"/>
          </a:xfrm>
          <a:prstGeom prst="rect">
            <a:avLst/>
          </a:prstGeom>
          <a:solidFill>
            <a:srgbClr val="16181D"/>
          </a:solidFill>
          <a:ln/>
        </p:spPr>
      </p:sp>
      <p:sp>
        <p:nvSpPr>
          <p:cNvPr id="14" name="Text 12"/>
          <p:cNvSpPr/>
          <p:nvPr/>
        </p:nvSpPr>
        <p:spPr>
          <a:xfrm>
            <a:off x="8151733" y="3421380"/>
            <a:ext cx="1986320" cy="312420"/>
          </a:xfrm>
          <a:prstGeom prst="rect">
            <a:avLst/>
          </a:prstGeom>
          <a:noFill/>
          <a:ln/>
        </p:spPr>
        <p:txBody>
          <a:bodyPr wrap="square" lIns="25400" tIns="25400" rIns="25400" bIns="25400" rtlCol="0" anchor="t">
            <a:normAutofit/>
          </a:bodyPr>
          <a:lstStyle/>
          <a:p>
            <a:pPr algn="ctr" indent="0" marL="0">
              <a:buNone/>
            </a:pPr>
            <a:r>
              <a:rPr lang="en-US" sz="1650" b="1" dirty="0">
                <a:solidFill>
                  <a:srgbClr val="2B57D6"/>
                </a:solidFill>
                <a:latin typeface="Roboto Mono" pitchFamily="34" charset="0"/>
                <a:ea typeface="Roboto Mono" pitchFamily="34" charset="-122"/>
                <a:cs typeface="Roboto Mono" pitchFamily="34" charset="-120"/>
              </a:rPr>
              <a:t>Standard</a:t>
            </a:r>
            <a:endParaRPr lang="en-US" sz="1650" dirty="0"/>
          </a:p>
        </p:txBody>
      </p:sp>
      <p:sp>
        <p:nvSpPr>
          <p:cNvPr id="15" name="Shape 13"/>
          <p:cNvSpPr/>
          <p:nvPr/>
        </p:nvSpPr>
        <p:spPr>
          <a:xfrm>
            <a:off x="1398270" y="4472940"/>
            <a:ext cx="3607951" cy="9525"/>
          </a:xfrm>
          <a:prstGeom prst="rect">
            <a:avLst/>
          </a:prstGeom>
          <a:solidFill>
            <a:srgbClr val="ECEDED"/>
          </a:solidFill>
          <a:ln/>
        </p:spPr>
      </p:sp>
      <p:sp>
        <p:nvSpPr>
          <p:cNvPr id="16" name="Text 14"/>
          <p:cNvSpPr/>
          <p:nvPr/>
        </p:nvSpPr>
        <p:spPr>
          <a:xfrm>
            <a:off x="1398270" y="3977640"/>
            <a:ext cx="3716190" cy="381000"/>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16181D"/>
                </a:solidFill>
                <a:latin typeface="Arial" pitchFamily="34" charset="0"/>
                <a:ea typeface="Arial" pitchFamily="34" charset="-122"/>
                <a:cs typeface="Arial" pitchFamily="34" charset="-120"/>
              </a:rPr>
              <a:t>제주도 맛집 좀 추천해줘</a:t>
            </a:r>
            <a:endParaRPr lang="en-US" sz="1875" dirty="0"/>
          </a:p>
        </p:txBody>
      </p:sp>
      <p:sp>
        <p:nvSpPr>
          <p:cNvPr id="17" name="Shape 15"/>
          <p:cNvSpPr/>
          <p:nvPr/>
        </p:nvSpPr>
        <p:spPr>
          <a:xfrm>
            <a:off x="5006221" y="4472940"/>
            <a:ext cx="1485781" cy="9525"/>
          </a:xfrm>
          <a:prstGeom prst="rect">
            <a:avLst/>
          </a:prstGeom>
          <a:solidFill>
            <a:srgbClr val="ECEDED"/>
          </a:solidFill>
          <a:ln/>
        </p:spPr>
      </p:sp>
      <p:sp>
        <p:nvSpPr>
          <p:cNvPr id="18" name="Text 16"/>
          <p:cNvSpPr/>
          <p:nvPr/>
        </p:nvSpPr>
        <p:spPr>
          <a:xfrm>
            <a:off x="4968121" y="3977640"/>
            <a:ext cx="1561981" cy="381000"/>
          </a:xfrm>
          <a:prstGeom prst="rect">
            <a:avLst/>
          </a:prstGeom>
          <a:noFill/>
          <a:ln/>
        </p:spPr>
        <p:txBody>
          <a:bodyPr wrap="square" lIns="25400" tIns="25400" rIns="25400" bIns="25400" rtlCol="0" anchor="t">
            <a:normAutofit/>
          </a:bodyPr>
          <a:lstStyle/>
          <a:p>
            <a:pPr algn="ctr" indent="0" marL="0">
              <a:buNone/>
            </a:pPr>
            <a:r>
              <a:rPr lang="en-US" sz="1875" dirty="0">
                <a:solidFill>
                  <a:srgbClr val="6B7280"/>
                </a:solidFill>
                <a:latin typeface="Arial" pitchFamily="34" charset="0"/>
                <a:ea typeface="Arial" pitchFamily="34" charset="-122"/>
                <a:cs typeface="Arial" pitchFamily="34" charset="-120"/>
              </a:rPr>
              <a:t>차단</a:t>
            </a:r>
            <a:endParaRPr lang="en-US" sz="1875" dirty="0"/>
          </a:p>
        </p:txBody>
      </p:sp>
      <p:sp>
        <p:nvSpPr>
          <p:cNvPr id="19" name="Shape 17"/>
          <p:cNvSpPr/>
          <p:nvPr/>
        </p:nvSpPr>
        <p:spPr>
          <a:xfrm>
            <a:off x="6492002" y="4472940"/>
            <a:ext cx="1697831" cy="9525"/>
          </a:xfrm>
          <a:prstGeom prst="rect">
            <a:avLst/>
          </a:prstGeom>
          <a:solidFill>
            <a:srgbClr val="ECEDED"/>
          </a:solidFill>
          <a:ln/>
        </p:spPr>
      </p:sp>
      <p:sp>
        <p:nvSpPr>
          <p:cNvPr id="20" name="Text 18"/>
          <p:cNvSpPr/>
          <p:nvPr/>
        </p:nvSpPr>
        <p:spPr>
          <a:xfrm>
            <a:off x="6453902" y="3977640"/>
            <a:ext cx="1774031" cy="381000"/>
          </a:xfrm>
          <a:prstGeom prst="rect">
            <a:avLst/>
          </a:prstGeom>
          <a:noFill/>
          <a:ln/>
        </p:spPr>
        <p:txBody>
          <a:bodyPr wrap="square" lIns="25400" tIns="25400" rIns="25400" bIns="25400" rtlCol="0" anchor="t">
            <a:normAutofit/>
          </a:bodyPr>
          <a:lstStyle/>
          <a:p>
            <a:pPr algn="ctr" indent="0" marL="0">
              <a:buNone/>
            </a:pPr>
            <a:r>
              <a:rPr lang="en-US" sz="1875" b="1" dirty="0">
                <a:solidFill>
                  <a:srgbClr val="C2410C"/>
                </a:solidFill>
                <a:latin typeface="Roboto Mono" pitchFamily="34" charset="0"/>
                <a:ea typeface="Roboto Mono" pitchFamily="34" charset="-122"/>
                <a:cs typeface="Roboto Mono" pitchFamily="34" charset="-120"/>
              </a:rPr>
              <a:t>NONE</a:t>
            </a:r>
            <a:endParaRPr lang="en-US" sz="1875" dirty="0"/>
          </a:p>
        </p:txBody>
      </p:sp>
      <p:sp>
        <p:nvSpPr>
          <p:cNvPr id="21" name="Shape 19"/>
          <p:cNvSpPr/>
          <p:nvPr/>
        </p:nvSpPr>
        <p:spPr>
          <a:xfrm>
            <a:off x="8189833" y="4472940"/>
            <a:ext cx="1910120" cy="9525"/>
          </a:xfrm>
          <a:prstGeom prst="rect">
            <a:avLst/>
          </a:prstGeom>
          <a:solidFill>
            <a:srgbClr val="ECEDED"/>
          </a:solidFill>
          <a:ln/>
        </p:spPr>
      </p:sp>
      <p:sp>
        <p:nvSpPr>
          <p:cNvPr id="22" name="Text 20"/>
          <p:cNvSpPr/>
          <p:nvPr/>
        </p:nvSpPr>
        <p:spPr>
          <a:xfrm>
            <a:off x="8151733" y="3977640"/>
            <a:ext cx="1986320" cy="381000"/>
          </a:xfrm>
          <a:prstGeom prst="rect">
            <a:avLst/>
          </a:prstGeom>
          <a:noFill/>
          <a:ln/>
        </p:spPr>
        <p:txBody>
          <a:bodyPr wrap="square" lIns="25400" tIns="25400" rIns="25400" bIns="25400" rtlCol="0" anchor="t">
            <a:normAutofit/>
          </a:bodyPr>
          <a:lstStyle/>
          <a:p>
            <a:pPr algn="ctr" indent="0" marL="0">
              <a:buNone/>
            </a:pPr>
            <a:r>
              <a:rPr lang="en-US" sz="1875" dirty="0">
                <a:solidFill>
                  <a:srgbClr val="00845C"/>
                </a:solidFill>
                <a:latin typeface="Roboto Mono" pitchFamily="34" charset="0"/>
                <a:ea typeface="Roboto Mono" pitchFamily="34" charset="-122"/>
                <a:cs typeface="Roboto Mono" pitchFamily="34" charset="-120"/>
              </a:rPr>
              <a:t>INTERVENED</a:t>
            </a:r>
            <a:endParaRPr lang="en-US" sz="1875" dirty="0"/>
          </a:p>
        </p:txBody>
      </p:sp>
      <p:sp>
        <p:nvSpPr>
          <p:cNvPr id="23" name="Shape 21"/>
          <p:cNvSpPr/>
          <p:nvPr/>
        </p:nvSpPr>
        <p:spPr>
          <a:xfrm>
            <a:off x="1398270" y="5128260"/>
            <a:ext cx="3607951" cy="9525"/>
          </a:xfrm>
          <a:prstGeom prst="rect">
            <a:avLst/>
          </a:prstGeom>
          <a:solidFill>
            <a:srgbClr val="ECEDED"/>
          </a:solidFill>
          <a:ln/>
        </p:spPr>
      </p:sp>
      <p:sp>
        <p:nvSpPr>
          <p:cNvPr id="24" name="Text 22"/>
          <p:cNvSpPr/>
          <p:nvPr/>
        </p:nvSpPr>
        <p:spPr>
          <a:xfrm>
            <a:off x="1398270" y="4632960"/>
            <a:ext cx="3716190" cy="381000"/>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16181D"/>
                </a:solidFill>
                <a:latin typeface="Arial" pitchFamily="34" charset="0"/>
                <a:ea typeface="Arial" pitchFamily="34" charset="-122"/>
                <a:cs typeface="Arial" pitchFamily="34" charset="-120"/>
              </a:rPr>
              <a:t>서울역에서 부산역 KTX 시간표</a:t>
            </a:r>
            <a:endParaRPr lang="en-US" sz="1875" dirty="0"/>
          </a:p>
        </p:txBody>
      </p:sp>
      <p:sp>
        <p:nvSpPr>
          <p:cNvPr id="25" name="Shape 23"/>
          <p:cNvSpPr/>
          <p:nvPr/>
        </p:nvSpPr>
        <p:spPr>
          <a:xfrm>
            <a:off x="5006221" y="5128260"/>
            <a:ext cx="1485781" cy="9525"/>
          </a:xfrm>
          <a:prstGeom prst="rect">
            <a:avLst/>
          </a:prstGeom>
          <a:solidFill>
            <a:srgbClr val="ECEDED"/>
          </a:solidFill>
          <a:ln/>
        </p:spPr>
      </p:sp>
      <p:sp>
        <p:nvSpPr>
          <p:cNvPr id="26" name="Text 24"/>
          <p:cNvSpPr/>
          <p:nvPr/>
        </p:nvSpPr>
        <p:spPr>
          <a:xfrm>
            <a:off x="4968121" y="4632960"/>
            <a:ext cx="1561981" cy="381000"/>
          </a:xfrm>
          <a:prstGeom prst="rect">
            <a:avLst/>
          </a:prstGeom>
          <a:noFill/>
          <a:ln/>
        </p:spPr>
        <p:txBody>
          <a:bodyPr wrap="square" lIns="25400" tIns="25400" rIns="25400" bIns="25400" rtlCol="0" anchor="t">
            <a:normAutofit/>
          </a:bodyPr>
          <a:lstStyle/>
          <a:p>
            <a:pPr algn="ctr" indent="0" marL="0">
              <a:buNone/>
            </a:pPr>
            <a:r>
              <a:rPr lang="en-US" sz="1875" dirty="0">
                <a:solidFill>
                  <a:srgbClr val="6B7280"/>
                </a:solidFill>
                <a:latin typeface="Arial" pitchFamily="34" charset="0"/>
                <a:ea typeface="Arial" pitchFamily="34" charset="-122"/>
                <a:cs typeface="Arial" pitchFamily="34" charset="-120"/>
              </a:rPr>
              <a:t>통과</a:t>
            </a:r>
            <a:endParaRPr lang="en-US" sz="1875" dirty="0"/>
          </a:p>
        </p:txBody>
      </p:sp>
      <p:sp>
        <p:nvSpPr>
          <p:cNvPr id="27" name="Shape 25"/>
          <p:cNvSpPr/>
          <p:nvPr/>
        </p:nvSpPr>
        <p:spPr>
          <a:xfrm>
            <a:off x="6492002" y="5128260"/>
            <a:ext cx="1697831" cy="9525"/>
          </a:xfrm>
          <a:prstGeom prst="rect">
            <a:avLst/>
          </a:prstGeom>
          <a:solidFill>
            <a:srgbClr val="ECEDED"/>
          </a:solidFill>
          <a:ln/>
        </p:spPr>
      </p:sp>
      <p:sp>
        <p:nvSpPr>
          <p:cNvPr id="28" name="Text 26"/>
          <p:cNvSpPr/>
          <p:nvPr/>
        </p:nvSpPr>
        <p:spPr>
          <a:xfrm>
            <a:off x="6453902" y="4632960"/>
            <a:ext cx="1774031" cy="381000"/>
          </a:xfrm>
          <a:prstGeom prst="rect">
            <a:avLst/>
          </a:prstGeom>
          <a:noFill/>
          <a:ln/>
        </p:spPr>
        <p:txBody>
          <a:bodyPr wrap="square" lIns="25400" tIns="25400" rIns="25400" bIns="25400" rtlCol="0" anchor="t">
            <a:normAutofit/>
          </a:bodyPr>
          <a:lstStyle/>
          <a:p>
            <a:pPr algn="ctr" indent="0" marL="0">
              <a:buNone/>
            </a:pPr>
            <a:r>
              <a:rPr lang="en-US" sz="1875" dirty="0">
                <a:solidFill>
                  <a:srgbClr val="00845C"/>
                </a:solidFill>
                <a:latin typeface="Roboto Mono" pitchFamily="34" charset="0"/>
                <a:ea typeface="Roboto Mono" pitchFamily="34" charset="-122"/>
                <a:cs typeface="Roboto Mono" pitchFamily="34" charset="-120"/>
              </a:rPr>
              <a:t>NONE</a:t>
            </a:r>
            <a:endParaRPr lang="en-US" sz="1875" dirty="0"/>
          </a:p>
        </p:txBody>
      </p:sp>
      <p:sp>
        <p:nvSpPr>
          <p:cNvPr id="29" name="Shape 27"/>
          <p:cNvSpPr/>
          <p:nvPr/>
        </p:nvSpPr>
        <p:spPr>
          <a:xfrm>
            <a:off x="8189833" y="5128260"/>
            <a:ext cx="1910120" cy="9525"/>
          </a:xfrm>
          <a:prstGeom prst="rect">
            <a:avLst/>
          </a:prstGeom>
          <a:solidFill>
            <a:srgbClr val="ECEDED"/>
          </a:solidFill>
          <a:ln/>
        </p:spPr>
      </p:sp>
      <p:sp>
        <p:nvSpPr>
          <p:cNvPr id="30" name="Text 28"/>
          <p:cNvSpPr/>
          <p:nvPr/>
        </p:nvSpPr>
        <p:spPr>
          <a:xfrm>
            <a:off x="8151733" y="4632960"/>
            <a:ext cx="1986320" cy="381000"/>
          </a:xfrm>
          <a:prstGeom prst="rect">
            <a:avLst/>
          </a:prstGeom>
          <a:noFill/>
          <a:ln/>
        </p:spPr>
        <p:txBody>
          <a:bodyPr wrap="square" lIns="25400" tIns="25400" rIns="25400" bIns="25400" rtlCol="0" anchor="t">
            <a:normAutofit/>
          </a:bodyPr>
          <a:lstStyle/>
          <a:p>
            <a:pPr algn="ctr" indent="0" marL="0">
              <a:buNone/>
            </a:pPr>
            <a:r>
              <a:rPr lang="en-US" sz="1875" dirty="0">
                <a:solidFill>
                  <a:srgbClr val="00845C"/>
                </a:solidFill>
                <a:latin typeface="Roboto Mono" pitchFamily="34" charset="0"/>
                <a:ea typeface="Roboto Mono" pitchFamily="34" charset="-122"/>
                <a:cs typeface="Roboto Mono" pitchFamily="34" charset="-120"/>
              </a:rPr>
              <a:t>NONE</a:t>
            </a:r>
            <a:endParaRPr lang="en-US" sz="1875" dirty="0"/>
          </a:p>
        </p:txBody>
      </p:sp>
      <p:sp>
        <p:nvSpPr>
          <p:cNvPr id="31" name="Shape 29"/>
          <p:cNvSpPr/>
          <p:nvPr/>
        </p:nvSpPr>
        <p:spPr>
          <a:xfrm>
            <a:off x="1398270" y="5783580"/>
            <a:ext cx="3607951" cy="9525"/>
          </a:xfrm>
          <a:prstGeom prst="rect">
            <a:avLst/>
          </a:prstGeom>
          <a:solidFill>
            <a:srgbClr val="ECEDED"/>
          </a:solidFill>
          <a:ln/>
        </p:spPr>
      </p:sp>
      <p:sp>
        <p:nvSpPr>
          <p:cNvPr id="32" name="Text 30"/>
          <p:cNvSpPr/>
          <p:nvPr/>
        </p:nvSpPr>
        <p:spPr>
          <a:xfrm>
            <a:off x="1398270" y="5288280"/>
            <a:ext cx="3716190" cy="381000"/>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16181D"/>
                </a:solidFill>
                <a:latin typeface="Arial" pitchFamily="34" charset="0"/>
                <a:ea typeface="Arial" pitchFamily="34" charset="-122"/>
                <a:cs typeface="Arial" pitchFamily="34" charset="-120"/>
              </a:rPr>
              <a:t>Buatkan itinerary 3 hari di Busan</a:t>
            </a:r>
            <a:endParaRPr lang="en-US" sz="1875" dirty="0"/>
          </a:p>
        </p:txBody>
      </p:sp>
      <p:sp>
        <p:nvSpPr>
          <p:cNvPr id="33" name="Shape 31"/>
          <p:cNvSpPr/>
          <p:nvPr/>
        </p:nvSpPr>
        <p:spPr>
          <a:xfrm>
            <a:off x="5006221" y="5783580"/>
            <a:ext cx="1485781" cy="9525"/>
          </a:xfrm>
          <a:prstGeom prst="rect">
            <a:avLst/>
          </a:prstGeom>
          <a:solidFill>
            <a:srgbClr val="ECEDED"/>
          </a:solidFill>
          <a:ln/>
        </p:spPr>
      </p:sp>
      <p:sp>
        <p:nvSpPr>
          <p:cNvPr id="34" name="Text 32"/>
          <p:cNvSpPr/>
          <p:nvPr/>
        </p:nvSpPr>
        <p:spPr>
          <a:xfrm>
            <a:off x="4968121" y="5288280"/>
            <a:ext cx="1561981" cy="381000"/>
          </a:xfrm>
          <a:prstGeom prst="rect">
            <a:avLst/>
          </a:prstGeom>
          <a:noFill/>
          <a:ln/>
        </p:spPr>
        <p:txBody>
          <a:bodyPr wrap="square" lIns="25400" tIns="25400" rIns="25400" bIns="25400" rtlCol="0" anchor="t">
            <a:normAutofit/>
          </a:bodyPr>
          <a:lstStyle/>
          <a:p>
            <a:pPr algn="ctr" indent="0" marL="0">
              <a:buNone/>
            </a:pPr>
            <a:r>
              <a:rPr lang="en-US" sz="1875" dirty="0">
                <a:solidFill>
                  <a:srgbClr val="6B7280"/>
                </a:solidFill>
                <a:latin typeface="Arial" pitchFamily="34" charset="0"/>
                <a:ea typeface="Arial" pitchFamily="34" charset="-122"/>
                <a:cs typeface="Arial" pitchFamily="34" charset="-120"/>
              </a:rPr>
              <a:t>차단</a:t>
            </a:r>
            <a:endParaRPr lang="en-US" sz="1875" dirty="0"/>
          </a:p>
        </p:txBody>
      </p:sp>
      <p:sp>
        <p:nvSpPr>
          <p:cNvPr id="35" name="Shape 33"/>
          <p:cNvSpPr/>
          <p:nvPr/>
        </p:nvSpPr>
        <p:spPr>
          <a:xfrm>
            <a:off x="6492002" y="5783580"/>
            <a:ext cx="1697831" cy="9525"/>
          </a:xfrm>
          <a:prstGeom prst="rect">
            <a:avLst/>
          </a:prstGeom>
          <a:solidFill>
            <a:srgbClr val="ECEDED"/>
          </a:solidFill>
          <a:ln/>
        </p:spPr>
      </p:sp>
      <p:sp>
        <p:nvSpPr>
          <p:cNvPr id="36" name="Text 34"/>
          <p:cNvSpPr/>
          <p:nvPr/>
        </p:nvSpPr>
        <p:spPr>
          <a:xfrm>
            <a:off x="6453902" y="5288280"/>
            <a:ext cx="1774031" cy="381000"/>
          </a:xfrm>
          <a:prstGeom prst="rect">
            <a:avLst/>
          </a:prstGeom>
          <a:noFill/>
          <a:ln/>
        </p:spPr>
        <p:txBody>
          <a:bodyPr wrap="square" lIns="25400" tIns="25400" rIns="25400" bIns="25400" rtlCol="0" anchor="t">
            <a:normAutofit/>
          </a:bodyPr>
          <a:lstStyle/>
          <a:p>
            <a:pPr algn="ctr" indent="0" marL="0">
              <a:buNone/>
            </a:pPr>
            <a:r>
              <a:rPr lang="en-US" sz="1875" dirty="0">
                <a:solidFill>
                  <a:srgbClr val="00845C"/>
                </a:solidFill>
                <a:latin typeface="Roboto Mono" pitchFamily="34" charset="0"/>
                <a:ea typeface="Roboto Mono" pitchFamily="34" charset="-122"/>
                <a:cs typeface="Roboto Mono" pitchFamily="34" charset="-120"/>
              </a:rPr>
              <a:t>INTERVENED</a:t>
            </a:r>
            <a:endParaRPr lang="en-US" sz="1875" dirty="0"/>
          </a:p>
        </p:txBody>
      </p:sp>
      <p:sp>
        <p:nvSpPr>
          <p:cNvPr id="37" name="Shape 35"/>
          <p:cNvSpPr/>
          <p:nvPr/>
        </p:nvSpPr>
        <p:spPr>
          <a:xfrm>
            <a:off x="8189833" y="5783580"/>
            <a:ext cx="1910120" cy="9525"/>
          </a:xfrm>
          <a:prstGeom prst="rect">
            <a:avLst/>
          </a:prstGeom>
          <a:solidFill>
            <a:srgbClr val="ECEDED"/>
          </a:solidFill>
          <a:ln/>
        </p:spPr>
      </p:sp>
      <p:sp>
        <p:nvSpPr>
          <p:cNvPr id="38" name="Text 36"/>
          <p:cNvSpPr/>
          <p:nvPr/>
        </p:nvSpPr>
        <p:spPr>
          <a:xfrm>
            <a:off x="8151733" y="5288280"/>
            <a:ext cx="1986320" cy="381000"/>
          </a:xfrm>
          <a:prstGeom prst="rect">
            <a:avLst/>
          </a:prstGeom>
          <a:noFill/>
          <a:ln/>
        </p:spPr>
        <p:txBody>
          <a:bodyPr wrap="square" lIns="25400" tIns="25400" rIns="25400" bIns="25400" rtlCol="0" anchor="t">
            <a:normAutofit/>
          </a:bodyPr>
          <a:lstStyle/>
          <a:p>
            <a:pPr algn="ctr" indent="0" marL="0">
              <a:buNone/>
            </a:pPr>
            <a:r>
              <a:rPr lang="en-US" sz="1875" dirty="0">
                <a:solidFill>
                  <a:srgbClr val="00845C"/>
                </a:solidFill>
                <a:latin typeface="Roboto Mono" pitchFamily="34" charset="0"/>
                <a:ea typeface="Roboto Mono" pitchFamily="34" charset="-122"/>
                <a:cs typeface="Roboto Mono" pitchFamily="34" charset="-120"/>
              </a:rPr>
              <a:t>INTERVENED</a:t>
            </a:r>
            <a:endParaRPr lang="en-US" sz="1875" dirty="0"/>
          </a:p>
        </p:txBody>
      </p:sp>
      <p:sp>
        <p:nvSpPr>
          <p:cNvPr id="39" name="Text 37"/>
          <p:cNvSpPr/>
          <p:nvPr/>
        </p:nvSpPr>
        <p:spPr>
          <a:xfrm>
            <a:off x="1398270" y="5943600"/>
            <a:ext cx="3716190" cy="704850"/>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16181D"/>
                </a:solidFill>
                <a:latin typeface="Arial" pitchFamily="34" charset="0"/>
                <a:ea typeface="Arial" pitchFamily="34" charset="-122"/>
                <a:cs typeface="Arial" pitchFamily="34" charset="-120"/>
              </a:rPr>
              <a:t>株式投資のおすすめを教えてください</a:t>
            </a:r>
            <a:endParaRPr lang="en-US" sz="1875" dirty="0"/>
          </a:p>
        </p:txBody>
      </p:sp>
      <p:sp>
        <p:nvSpPr>
          <p:cNvPr id="40" name="Text 38"/>
          <p:cNvSpPr/>
          <p:nvPr/>
        </p:nvSpPr>
        <p:spPr>
          <a:xfrm>
            <a:off x="4968121" y="5943600"/>
            <a:ext cx="1561981" cy="704850"/>
          </a:xfrm>
          <a:prstGeom prst="rect">
            <a:avLst/>
          </a:prstGeom>
          <a:noFill/>
          <a:ln/>
        </p:spPr>
        <p:txBody>
          <a:bodyPr wrap="square" lIns="25400" tIns="25400" rIns="25400" bIns="25400" rtlCol="0" anchor="t">
            <a:normAutofit/>
          </a:bodyPr>
          <a:lstStyle/>
          <a:p>
            <a:pPr algn="ctr" indent="0" marL="0">
              <a:buNone/>
            </a:pPr>
            <a:r>
              <a:rPr lang="en-US" sz="1875" dirty="0">
                <a:solidFill>
                  <a:srgbClr val="6B7280"/>
                </a:solidFill>
                <a:latin typeface="Arial" pitchFamily="34" charset="0"/>
                <a:ea typeface="Arial" pitchFamily="34" charset="-122"/>
                <a:cs typeface="Arial" pitchFamily="34" charset="-120"/>
              </a:rPr>
              <a:t>차단</a:t>
            </a:r>
            <a:endParaRPr lang="en-US" sz="1875" dirty="0"/>
          </a:p>
        </p:txBody>
      </p:sp>
      <p:sp>
        <p:nvSpPr>
          <p:cNvPr id="41" name="Text 39"/>
          <p:cNvSpPr/>
          <p:nvPr/>
        </p:nvSpPr>
        <p:spPr>
          <a:xfrm>
            <a:off x="6453902" y="5943600"/>
            <a:ext cx="1774031" cy="704850"/>
          </a:xfrm>
          <a:prstGeom prst="rect">
            <a:avLst/>
          </a:prstGeom>
          <a:noFill/>
          <a:ln/>
        </p:spPr>
        <p:txBody>
          <a:bodyPr wrap="square" lIns="25400" tIns="25400" rIns="25400" bIns="25400" rtlCol="0" anchor="t">
            <a:normAutofit/>
          </a:bodyPr>
          <a:lstStyle/>
          <a:p>
            <a:pPr algn="ctr" indent="0" marL="0">
              <a:buNone/>
            </a:pPr>
            <a:r>
              <a:rPr lang="en-US" sz="1875" dirty="0">
                <a:solidFill>
                  <a:srgbClr val="9AA0A8"/>
                </a:solidFill>
                <a:latin typeface="Roboto Mono" pitchFamily="34" charset="0"/>
                <a:ea typeface="Roboto Mono" pitchFamily="34" charset="-122"/>
                <a:cs typeface="Roboto Mono" pitchFamily="34" charset="-120"/>
              </a:rPr>
              <a:t>—</a:t>
            </a:r>
            <a:endParaRPr lang="en-US" sz="1875" dirty="0"/>
          </a:p>
        </p:txBody>
      </p:sp>
      <p:sp>
        <p:nvSpPr>
          <p:cNvPr id="42" name="Text 40"/>
          <p:cNvSpPr/>
          <p:nvPr/>
        </p:nvSpPr>
        <p:spPr>
          <a:xfrm>
            <a:off x="8151733" y="5943600"/>
            <a:ext cx="1986320" cy="704850"/>
          </a:xfrm>
          <a:prstGeom prst="rect">
            <a:avLst/>
          </a:prstGeom>
          <a:noFill/>
          <a:ln/>
        </p:spPr>
        <p:txBody>
          <a:bodyPr wrap="square" lIns="25400" tIns="25400" rIns="25400" bIns="25400" rtlCol="0" anchor="t">
            <a:normAutofit/>
          </a:bodyPr>
          <a:lstStyle/>
          <a:p>
            <a:pPr algn="ctr" indent="0" marL="0">
              <a:buNone/>
            </a:pPr>
            <a:r>
              <a:rPr lang="en-US" sz="1875" dirty="0">
                <a:solidFill>
                  <a:srgbClr val="00845C"/>
                </a:solidFill>
                <a:latin typeface="Roboto Mono" pitchFamily="34" charset="0"/>
                <a:ea typeface="Roboto Mono" pitchFamily="34" charset="-122"/>
                <a:cs typeface="Roboto Mono" pitchFamily="34" charset="-120"/>
              </a:rPr>
              <a:t>INTERVENED</a:t>
            </a:r>
            <a:endParaRPr lang="en-US" sz="1875" dirty="0"/>
          </a:p>
        </p:txBody>
      </p:sp>
      <p:sp>
        <p:nvSpPr>
          <p:cNvPr id="43" name="Shape 41"/>
          <p:cNvSpPr/>
          <p:nvPr/>
        </p:nvSpPr>
        <p:spPr>
          <a:xfrm>
            <a:off x="1398270" y="8505825"/>
            <a:ext cx="8701802" cy="1196340"/>
          </a:xfrm>
          <a:prstGeom prst="rect">
            <a:avLst/>
          </a:prstGeom>
          <a:solidFill>
            <a:srgbClr val="FFF7ED"/>
          </a:solidFill>
          <a:ln w="7620">
            <a:solidFill>
              <a:srgbClr val="FED7AA"/>
            </a:solidFill>
            <a:prstDash val="solid"/>
          </a:ln>
        </p:spPr>
      </p:sp>
      <p:sp>
        <p:nvSpPr>
          <p:cNvPr id="44" name="Text 42"/>
          <p:cNvSpPr/>
          <p:nvPr/>
        </p:nvSpPr>
        <p:spPr>
          <a:xfrm>
            <a:off x="1653540" y="8722995"/>
            <a:ext cx="8452316" cy="80010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7C2D12"/>
                </a:solidFill>
                <a:highlight>
                  <a:srgbClr val="FFF7ED"/>
                </a:highlight>
                <a:latin typeface="Arial" pitchFamily="34" charset="0"/>
                <a:ea typeface="Arial" pitchFamily="34" charset="-122"/>
                <a:cs typeface="Arial" pitchFamily="34" charset="-120"/>
              </a:rPr>
              <a:t>인도네시아어가 Classic 에서 걸린 것은 </a:t>
            </a:r>
            <a:pPr algn="l" indent="0" marL="0">
              <a:lnSpc>
                <a:spcPct val="138889"/>
              </a:lnSpc>
              <a:buNone/>
            </a:pPr>
            <a:r>
              <a:rPr lang="en-US" sz="1875" b="1" dirty="0">
                <a:solidFill>
                  <a:srgbClr val="7C2D12"/>
                </a:solidFill>
                <a:latin typeface="Arial" pitchFamily="34" charset="0"/>
                <a:ea typeface="Arial" pitchFamily="34" charset="-122"/>
                <a:cs typeface="Arial" pitchFamily="34" charset="-120"/>
              </a:rPr>
              <a:t>라틴 문자라 영어 모델이 부분적으로 반응 </a:t>
            </a:r>
            <a:pPr algn="l" indent="0" marL="0">
              <a:lnSpc>
                <a:spcPct val="138889"/>
              </a:lnSpc>
              <a:buNone/>
            </a:pPr>
            <a:r>
              <a:rPr lang="en-US" sz="1875" dirty="0">
                <a:solidFill>
                  <a:srgbClr val="7C2D12"/>
                </a:solidFill>
                <a:highlight>
                  <a:srgbClr val="FFF7ED"/>
                </a:highlight>
                <a:latin typeface="Arial" pitchFamily="34" charset="0"/>
                <a:ea typeface="Arial" pitchFamily="34" charset="-122"/>
                <a:cs typeface="Arial" pitchFamily="34" charset="-120"/>
              </a:rPr>
              <a:t>한 결과지, 언어 지원이 아니다.</a:t>
            </a:r>
            <a:endParaRPr lang="en-US" sz="1875" dirty="0"/>
          </a:p>
        </p:txBody>
      </p:sp>
      <p:sp>
        <p:nvSpPr>
          <p:cNvPr id="45" name="Shape 43"/>
          <p:cNvSpPr/>
          <p:nvPr/>
        </p:nvSpPr>
        <p:spPr>
          <a:xfrm>
            <a:off x="10755392" y="2518410"/>
            <a:ext cx="6484858" cy="4562475"/>
          </a:xfrm>
          <a:prstGeom prst="rect">
            <a:avLst/>
          </a:prstGeom>
          <a:solidFill>
            <a:srgbClr val="16181D"/>
          </a:solidFill>
          <a:ln/>
        </p:spPr>
      </p:sp>
      <p:sp>
        <p:nvSpPr>
          <p:cNvPr id="46" name="Text 44"/>
          <p:cNvSpPr/>
          <p:nvPr/>
        </p:nvSpPr>
        <p:spPr>
          <a:xfrm>
            <a:off x="11079242" y="2804160"/>
            <a:ext cx="6420874" cy="312420"/>
          </a:xfrm>
          <a:prstGeom prst="rect">
            <a:avLst/>
          </a:prstGeom>
          <a:noFill/>
          <a:ln/>
        </p:spPr>
        <p:txBody>
          <a:bodyPr wrap="square" lIns="25400" tIns="25400" rIns="25400" bIns="25400" rtlCol="0" anchor="t">
            <a:normAutofit/>
          </a:bodyPr>
          <a:lstStyle/>
          <a:p>
            <a:pPr algn="l" indent="0" marL="0">
              <a:buNone/>
            </a:pPr>
            <a:r>
              <a:rPr lang="en-US" sz="1650" dirty="0">
                <a:solidFill>
                  <a:srgbClr val="9DB4FF"/>
                </a:solidFill>
                <a:latin typeface="Roboto Mono" pitchFamily="34" charset="0"/>
                <a:ea typeface="Roboto Mono" pitchFamily="34" charset="-122"/>
                <a:cs typeface="Roboto Mono" pitchFamily="34" charset="-120"/>
              </a:rPr>
              <a:t>Standard tier 생성 시 필수 설정</a:t>
            </a:r>
            <a:endParaRPr lang="en-US" sz="1650" dirty="0"/>
          </a:p>
        </p:txBody>
      </p:sp>
      <p:sp>
        <p:nvSpPr>
          <p:cNvPr id="47" name="Text 45"/>
          <p:cNvSpPr/>
          <p:nvPr/>
        </p:nvSpPr>
        <p:spPr>
          <a:xfrm>
            <a:off x="11079242" y="3230880"/>
            <a:ext cx="6012273" cy="2558415"/>
          </a:xfrm>
          <a:prstGeom prst="rect">
            <a:avLst/>
          </a:prstGeom>
          <a:noFill/>
          <a:ln/>
        </p:spPr>
        <p:txBody>
          <a:bodyPr wrap="square" lIns="25400" tIns="25400" rIns="25400" bIns="25400" rtlCol="0" anchor="t">
            <a:normAutofit/>
          </a:bodyPr>
          <a:lstStyle/>
          <a:p>
            <a:pPr algn="l" indent="0" marL="0">
              <a:lnSpc>
                <a:spcPct val="135000"/>
              </a:lnSpc>
              <a:buNone/>
            </a:pPr>
            <a:r>
              <a:rPr lang="en-US" sz="1575" dirty="0">
                <a:solidFill>
                  <a:srgbClr val="E6E8EA"/>
                </a:solidFill>
                <a:latin typeface="Roboto Mono" pitchFamily="34" charset="0"/>
                <a:ea typeface="Roboto Mono" pitchFamily="34" charset="-122"/>
                <a:cs typeface="Roboto Mono" pitchFamily="34" charset="-120"/>
              </a:rPr>
              <a:t>"topicPolicyConfig": {</a:t>
            </a:r>
            <a:endParaRPr lang="en-US" sz="1575" dirty="0"/>
          </a:p>
          <a:p>
            <a:pPr algn="l" indent="0" marL="0">
              <a:lnSpc>
                <a:spcPct val="135000"/>
              </a:lnSpc>
              <a:buNone/>
            </a:pPr>
            <a:r>
              <a:rPr lang="en-US" sz="1575" dirty="0">
                <a:solidFill>
                  <a:srgbClr val="E6E8EA"/>
                </a:solidFill>
                <a:latin typeface="Roboto Mono" pitchFamily="34" charset="0"/>
                <a:ea typeface="Roboto Mono" pitchFamily="34" charset="-122"/>
                <a:cs typeface="Roboto Mono" pitchFamily="34" charset="-120"/>
              </a:rPr>
              <a:t>  "tierConfig": {"tierName": "STANDARD"}},</a:t>
            </a:r>
            <a:endParaRPr lang="en-US" sz="1575" dirty="0"/>
          </a:p>
          <a:p>
            <a:pPr algn="l" indent="0" marL="0">
              <a:lnSpc>
                <a:spcPct val="135000"/>
              </a:lnSpc>
              <a:buNone/>
            </a:pPr>
            <a:r>
              <a:rPr lang="en-US" sz="1575" dirty="0">
                <a:solidFill>
                  <a:srgbClr val="E6E8EA"/>
                </a:solidFill>
                <a:latin typeface="Roboto Mono" pitchFamily="34" charset="0"/>
                <a:ea typeface="Roboto Mono" pitchFamily="34" charset="-122"/>
                <a:cs typeface="Roboto Mono" pitchFamily="34" charset="-120"/>
              </a:rPr>
              <a:t>"contentPolicyConfig": {</a:t>
            </a:r>
            <a:endParaRPr lang="en-US" sz="1575" dirty="0"/>
          </a:p>
          <a:p>
            <a:pPr algn="l" indent="0" marL="0">
              <a:lnSpc>
                <a:spcPct val="135000"/>
              </a:lnSpc>
              <a:buNone/>
            </a:pPr>
            <a:r>
              <a:rPr lang="en-US" sz="1575" dirty="0">
                <a:solidFill>
                  <a:srgbClr val="E6E8EA"/>
                </a:solidFill>
                <a:latin typeface="Roboto Mono" pitchFamily="34" charset="0"/>
                <a:ea typeface="Roboto Mono" pitchFamily="34" charset="-122"/>
                <a:cs typeface="Roboto Mono" pitchFamily="34" charset="-120"/>
              </a:rPr>
              <a:t>  "tierConfig": {"tierName": "STANDARD"}},</a:t>
            </a:r>
            <a:endParaRPr lang="en-US" sz="1575" dirty="0"/>
          </a:p>
          <a:p>
            <a:pPr algn="l" indent="0" marL="0">
              <a:lnSpc>
                <a:spcPct val="135000"/>
              </a:lnSpc>
              <a:buNone/>
            </a:pPr>
            <a:r>
              <a:rPr lang="en-US" sz="1575" dirty="0">
                <a:solidFill>
                  <a:srgbClr val="E6E8EA"/>
                </a:solidFill>
                <a:latin typeface="Roboto Mono" pitchFamily="34" charset="0"/>
                <a:ea typeface="Roboto Mono" pitchFamily="34" charset="-122"/>
                <a:cs typeface="Roboto Mono" pitchFamily="34" charset="-120"/>
              </a:rPr>
              <a:t>"crossRegionConfig": {</a:t>
            </a:r>
            <a:endParaRPr lang="en-US" sz="1575" dirty="0"/>
          </a:p>
          <a:p>
            <a:pPr algn="l" indent="0" marL="0">
              <a:lnSpc>
                <a:spcPct val="135000"/>
              </a:lnSpc>
              <a:buNone/>
            </a:pPr>
            <a:r>
              <a:rPr lang="en-US" sz="1575" dirty="0">
                <a:solidFill>
                  <a:srgbClr val="E6E8EA"/>
                </a:solidFill>
                <a:latin typeface="Roboto Mono" pitchFamily="34" charset="0"/>
                <a:ea typeface="Roboto Mono" pitchFamily="34" charset="-122"/>
                <a:cs typeface="Roboto Mono" pitchFamily="34" charset="-120"/>
              </a:rPr>
              <a:t>  "guardrailProfileIdentifier":</a:t>
            </a:r>
            <a:endParaRPr lang="en-US" sz="1575" dirty="0"/>
          </a:p>
          <a:p>
            <a:pPr algn="l" indent="0" marL="0">
              <a:lnSpc>
                <a:spcPct val="135000"/>
              </a:lnSpc>
              <a:buNone/>
            </a:pPr>
            <a:r>
              <a:rPr lang="en-US" sz="1575" dirty="0">
                <a:solidFill>
                  <a:srgbClr val="E6E8EA"/>
                </a:solidFill>
                <a:latin typeface="Roboto Mono" pitchFamily="34" charset="0"/>
                <a:ea typeface="Roboto Mono" pitchFamily="34" charset="-122"/>
                <a:cs typeface="Roboto Mono" pitchFamily="34" charset="-120"/>
              </a:rPr>
              <a:t>    "apac.guardrail.v1:0"}</a:t>
            </a:r>
            <a:endParaRPr lang="en-US" sz="1575" dirty="0"/>
          </a:p>
        </p:txBody>
      </p:sp>
      <p:sp>
        <p:nvSpPr>
          <p:cNvPr id="48" name="Shape 46"/>
          <p:cNvSpPr/>
          <p:nvPr/>
        </p:nvSpPr>
        <p:spPr>
          <a:xfrm>
            <a:off x="11079242" y="5903595"/>
            <a:ext cx="5837158" cy="9525"/>
          </a:xfrm>
          <a:prstGeom prst="rect">
            <a:avLst/>
          </a:prstGeom>
          <a:solidFill>
            <a:srgbClr val="2C313A"/>
          </a:solidFill>
          <a:ln/>
        </p:spPr>
      </p:sp>
      <p:sp>
        <p:nvSpPr>
          <p:cNvPr id="49" name="Text 47"/>
          <p:cNvSpPr/>
          <p:nvPr/>
        </p:nvSpPr>
        <p:spPr>
          <a:xfrm>
            <a:off x="11079242" y="6063615"/>
            <a:ext cx="6012273"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F87171"/>
                </a:solidFill>
                <a:latin typeface="Arial" pitchFamily="34" charset="0"/>
                <a:ea typeface="Arial" pitchFamily="34" charset="-122"/>
                <a:cs typeface="Arial" pitchFamily="34" charset="-120"/>
              </a:rPr>
              <a:t>cross-Region inference 를 지정하지 않으면 </a:t>
            </a:r>
            <a:pPr algn="l" indent="0" marL="0">
              <a:lnSpc>
                <a:spcPct val="141176"/>
              </a:lnSpc>
              <a:buNone/>
            </a:pPr>
            <a:r>
              <a:rPr lang="en-US" sz="1800" b="1" dirty="0">
                <a:solidFill>
                  <a:srgbClr val="F87171"/>
                </a:solidFill>
                <a:latin typeface="Arial" pitchFamily="34" charset="0"/>
                <a:ea typeface="Arial" pitchFamily="34" charset="-122"/>
                <a:cs typeface="Arial" pitchFamily="34" charset="-120"/>
              </a:rPr>
              <a:t>Standard tier 가 동작하지 않는다</a:t>
            </a:r>
            <a:endParaRPr lang="en-US" sz="1800" dirty="0"/>
          </a:p>
        </p:txBody>
      </p:sp>
      <p:sp>
        <p:nvSpPr>
          <p:cNvPr id="50" name="Shape 48"/>
          <p:cNvSpPr/>
          <p:nvPr/>
        </p:nvSpPr>
        <p:spPr>
          <a:xfrm>
            <a:off x="10755392" y="7309485"/>
            <a:ext cx="6484858" cy="2705100"/>
          </a:xfrm>
          <a:prstGeom prst="rect">
            <a:avLst/>
          </a:prstGeom>
          <a:solidFill>
            <a:srgbClr val="FFFFFF"/>
          </a:solidFill>
          <a:ln w="7620">
            <a:solidFill>
              <a:srgbClr val="DFE1E6"/>
            </a:solidFill>
            <a:prstDash val="solid"/>
          </a:ln>
        </p:spPr>
      </p:sp>
      <p:sp>
        <p:nvSpPr>
          <p:cNvPr id="51" name="Text 49"/>
          <p:cNvSpPr/>
          <p:nvPr/>
        </p:nvSpPr>
        <p:spPr>
          <a:xfrm>
            <a:off x="11086862" y="7583805"/>
            <a:ext cx="6404110"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부수 제약</a:t>
            </a:r>
            <a:endParaRPr lang="en-US" sz="2100" dirty="0"/>
          </a:p>
        </p:txBody>
      </p:sp>
      <p:sp>
        <p:nvSpPr>
          <p:cNvPr id="52" name="Text 50"/>
          <p:cNvSpPr/>
          <p:nvPr/>
        </p:nvSpPr>
        <p:spPr>
          <a:xfrm>
            <a:off x="11086862" y="8086725"/>
            <a:ext cx="5996576" cy="81534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주제 </a:t>
            </a:r>
            <a:pPr algn="l" indent="0" marL="0">
              <a:lnSpc>
                <a:spcPct val="138889"/>
              </a:lnSpc>
              <a:buNone/>
            </a:pPr>
            <a:r>
              <a:rPr lang="en-US" sz="1875" dirty="0">
                <a:solidFill>
                  <a:srgbClr val="4A5058"/>
                </a:solidFill>
                <a:latin typeface="Roboto Mono" pitchFamily="34" charset="0"/>
                <a:ea typeface="Roboto Mono" pitchFamily="34" charset="-122"/>
                <a:cs typeface="Roboto Mono" pitchFamily="34" charset="-120"/>
              </a:rPr>
              <a:t>definition </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은 </a:t>
            </a:r>
            <a:pPr algn="l" indent="0" marL="0">
              <a:lnSpc>
                <a:spcPct val="138889"/>
              </a:lnSpc>
              <a:buNone/>
            </a:pPr>
            <a:r>
              <a:rPr lang="en-US" sz="1875" b="1" dirty="0">
                <a:solidFill>
                  <a:srgbClr val="4A5058"/>
                </a:solidFill>
                <a:latin typeface="Arial" pitchFamily="34" charset="0"/>
                <a:ea typeface="Arial" pitchFamily="34" charset="-122"/>
                <a:cs typeface="Arial" pitchFamily="34" charset="-120"/>
              </a:rPr>
              <a:t>200자 초과 시 ValidationException </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 초기 정의 400자를 압축했다.</a:t>
            </a:r>
            <a:endParaRPr lang="en-US" sz="1875" dirty="0"/>
          </a:p>
        </p:txBody>
      </p:sp>
      <p:sp>
        <p:nvSpPr>
          <p:cNvPr id="53" name="Text 51"/>
          <p:cNvSpPr/>
          <p:nvPr/>
        </p:nvSpPr>
        <p:spPr>
          <a:xfrm>
            <a:off x="11086862" y="8978265"/>
            <a:ext cx="5996576" cy="80010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다국어 금지어 필터와 근거성 검증(contextual grounding)은 지원되지 않아 </a:t>
            </a:r>
            <a:pPr algn="l" indent="0" marL="0">
              <a:lnSpc>
                <a:spcPct val="138889"/>
              </a:lnSpc>
              <a:buNone/>
            </a:pPr>
            <a:r>
              <a:rPr lang="en-US" sz="1875" b="1" dirty="0">
                <a:solidFill>
                  <a:srgbClr val="4A5058"/>
                </a:solidFill>
                <a:latin typeface="Arial" pitchFamily="34" charset="0"/>
                <a:ea typeface="Arial" pitchFamily="34" charset="-122"/>
                <a:cs typeface="Arial" pitchFamily="34" charset="-120"/>
              </a:rPr>
              <a:t>자체 계층으로 대체</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했다.</a:t>
            </a:r>
            <a:endParaRPr lang="en-US" sz="18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239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13 · FALSE POSITIVES</a:t>
            </a:r>
            <a:endParaRPr lang="en-US" sz="1800" dirty="0"/>
          </a:p>
        </p:txBody>
      </p:sp>
      <p:sp>
        <p:nvSpPr>
          <p:cNvPr id="3" name="Text 1"/>
          <p:cNvSpPr/>
          <p:nvPr/>
        </p:nvSpPr>
        <p:spPr>
          <a:xfrm>
            <a:off x="1047750" y="1135380"/>
            <a:ext cx="17811750"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정상 질의가 막힌 두 사건</a:t>
            </a:r>
            <a:endParaRPr lang="en-US" sz="4950" dirty="0"/>
          </a:p>
        </p:txBody>
      </p:sp>
      <p:sp>
        <p:nvSpPr>
          <p:cNvPr id="4" name="Shape 2"/>
          <p:cNvSpPr/>
          <p:nvPr/>
        </p:nvSpPr>
        <p:spPr>
          <a:xfrm>
            <a:off x="1047750" y="2369820"/>
            <a:ext cx="7962900" cy="4354830"/>
          </a:xfrm>
          <a:prstGeom prst="rect">
            <a:avLst/>
          </a:prstGeom>
          <a:solidFill>
            <a:srgbClr val="FFFFFF"/>
          </a:solidFill>
          <a:ln/>
        </p:spPr>
      </p:sp>
      <p:sp>
        <p:nvSpPr>
          <p:cNvPr id="5" name="Shape 3"/>
          <p:cNvSpPr/>
          <p:nvPr/>
        </p:nvSpPr>
        <p:spPr>
          <a:xfrm>
            <a:off x="1047750" y="6717030"/>
            <a:ext cx="7962900" cy="9525"/>
          </a:xfrm>
          <a:prstGeom prst="rect">
            <a:avLst/>
          </a:prstGeom>
          <a:solidFill>
            <a:srgbClr val="DFE1E6"/>
          </a:solidFill>
          <a:ln/>
        </p:spPr>
      </p:sp>
      <p:sp>
        <p:nvSpPr>
          <p:cNvPr id="6" name="Shape 4"/>
          <p:cNvSpPr/>
          <p:nvPr/>
        </p:nvSpPr>
        <p:spPr>
          <a:xfrm>
            <a:off x="1047750" y="2369820"/>
            <a:ext cx="7962900" cy="45720"/>
          </a:xfrm>
          <a:prstGeom prst="rect">
            <a:avLst/>
          </a:prstGeom>
          <a:solidFill>
            <a:srgbClr val="C2410C"/>
          </a:solidFill>
          <a:ln/>
        </p:spPr>
      </p:sp>
      <p:sp>
        <p:nvSpPr>
          <p:cNvPr id="7" name="Shape 5"/>
          <p:cNvSpPr/>
          <p:nvPr/>
        </p:nvSpPr>
        <p:spPr>
          <a:xfrm>
            <a:off x="1047750" y="2369820"/>
            <a:ext cx="9525" cy="4354830"/>
          </a:xfrm>
          <a:prstGeom prst="rect">
            <a:avLst/>
          </a:prstGeom>
          <a:solidFill>
            <a:srgbClr val="DFE1E6"/>
          </a:solidFill>
          <a:ln/>
        </p:spPr>
      </p:sp>
      <p:sp>
        <p:nvSpPr>
          <p:cNvPr id="8" name="Shape 6"/>
          <p:cNvSpPr/>
          <p:nvPr/>
        </p:nvSpPr>
        <p:spPr>
          <a:xfrm>
            <a:off x="9003030" y="2369820"/>
            <a:ext cx="9525" cy="4354830"/>
          </a:xfrm>
          <a:prstGeom prst="rect">
            <a:avLst/>
          </a:prstGeom>
          <a:solidFill>
            <a:srgbClr val="DFE1E6"/>
          </a:solidFill>
          <a:ln/>
        </p:spPr>
      </p:sp>
      <p:sp>
        <p:nvSpPr>
          <p:cNvPr id="9" name="Text 7"/>
          <p:cNvSpPr/>
          <p:nvPr/>
        </p:nvSpPr>
        <p:spPr>
          <a:xfrm>
            <a:off x="1360170" y="2682240"/>
            <a:ext cx="8071866" cy="312420"/>
          </a:xfrm>
          <a:prstGeom prst="rect">
            <a:avLst/>
          </a:prstGeom>
          <a:noFill/>
          <a:ln/>
        </p:spPr>
        <p:txBody>
          <a:bodyPr wrap="square" lIns="25400" tIns="25400" rIns="25400" bIns="25400" rtlCol="0" anchor="t">
            <a:normAutofit/>
          </a:bodyPr>
          <a:lstStyle/>
          <a:p>
            <a:pPr algn="l" indent="0" marL="0">
              <a:buNone/>
            </a:pPr>
            <a:r>
              <a:rPr lang="en-US" sz="1650" dirty="0">
                <a:solidFill>
                  <a:srgbClr val="C2410C"/>
                </a:solidFill>
                <a:latin typeface="Roboto Mono" pitchFamily="34" charset="0"/>
                <a:ea typeface="Roboto Mono" pitchFamily="34" charset="-122"/>
                <a:cs typeface="Roboto Mono" pitchFamily="34" charset="-120"/>
              </a:rPr>
              <a:t>사건 1 — 주제 정의가 너무 넓었다</a:t>
            </a:r>
            <a:endParaRPr lang="en-US" sz="1650" dirty="0"/>
          </a:p>
        </p:txBody>
      </p:sp>
      <p:sp>
        <p:nvSpPr>
          <p:cNvPr id="10" name="Text 8"/>
          <p:cNvSpPr/>
          <p:nvPr/>
        </p:nvSpPr>
        <p:spPr>
          <a:xfrm>
            <a:off x="1360170" y="3089910"/>
            <a:ext cx="7558202" cy="842010"/>
          </a:xfrm>
          <a:prstGeom prst="rect">
            <a:avLst/>
          </a:prstGeom>
          <a:noFill/>
          <a:ln/>
        </p:spPr>
        <p:txBody>
          <a:bodyPr wrap="square" lIns="25400" tIns="25400" rIns="25400" bIns="25400" rtlCol="0" anchor="t">
            <a:normAutofit/>
          </a:bodyPr>
          <a:lstStyle/>
          <a:p>
            <a:pPr algn="l" indent="0" marL="0">
              <a:lnSpc>
                <a:spcPct val="120833"/>
              </a:lnSpc>
              <a:buNone/>
            </a:pPr>
            <a:r>
              <a:rPr lang="en-US" sz="2175" b="1" dirty="0">
                <a:solidFill>
                  <a:srgbClr val="16181D"/>
                </a:solidFill>
                <a:latin typeface="Arial" pitchFamily="34" charset="0"/>
                <a:ea typeface="Arial" pitchFamily="34" charset="-122"/>
                <a:cs typeface="Arial" pitchFamily="34" charset="-120"/>
              </a:rPr>
              <a:t>"sightseeing plans" 를 넣었더니 </a:t>
            </a:r>
            <a:pPr algn="l" indent="0" marL="0">
              <a:lnSpc>
                <a:spcPct val="120833"/>
              </a:lnSpc>
              <a:buNone/>
            </a:pPr>
            <a:r>
              <a:rPr lang="en-US" sz="2175" b="1" dirty="0">
                <a:solidFill>
                  <a:srgbClr val="C2410C"/>
                </a:solidFill>
                <a:latin typeface="Arial" pitchFamily="34" charset="0"/>
                <a:ea typeface="Arial" pitchFamily="34" charset="-122"/>
                <a:cs typeface="Arial" pitchFamily="34" charset="-120"/>
              </a:rPr>
              <a:t>"서울에서 부산 가는 방법 설명해줘" </a:t>
            </a:r>
            <a:pPr algn="l" indent="0" marL="0">
              <a:lnSpc>
                <a:spcPct val="120833"/>
              </a:lnSpc>
              <a:buNone/>
            </a:pPr>
            <a:r>
              <a:rPr lang="en-US" sz="2175" b="1" dirty="0">
                <a:solidFill>
                  <a:srgbClr val="16181D"/>
                </a:solidFill>
                <a:latin typeface="Arial" pitchFamily="34" charset="0"/>
                <a:ea typeface="Arial" pitchFamily="34" charset="-122"/>
                <a:cs typeface="Arial" pitchFamily="34" charset="-120"/>
              </a:rPr>
              <a:t>가 차단됐다</a:t>
            </a:r>
            <a:endParaRPr lang="en-US" sz="2175" dirty="0"/>
          </a:p>
        </p:txBody>
      </p:sp>
      <p:sp>
        <p:nvSpPr>
          <p:cNvPr id="11" name="Text 9"/>
          <p:cNvSpPr/>
          <p:nvPr/>
        </p:nvSpPr>
        <p:spPr>
          <a:xfrm>
            <a:off x="1360170" y="4027170"/>
            <a:ext cx="7558202" cy="80010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"tourism itineraries" 는 </a:t>
            </a:r>
            <a:pPr algn="l" indent="0" marL="0">
              <a:lnSpc>
                <a:spcPct val="138889"/>
              </a:lnSpc>
              <a:buNone/>
            </a:pPr>
            <a:r>
              <a:rPr lang="en-US" sz="1875" b="1" dirty="0">
                <a:solidFill>
                  <a:srgbClr val="4A5058"/>
                </a:solidFill>
                <a:latin typeface="Arial" pitchFamily="34" charset="0"/>
                <a:ea typeface="Arial" pitchFamily="34" charset="-122"/>
                <a:cs typeface="Arial" pitchFamily="34" charset="-120"/>
              </a:rPr>
              <a:t>"광명역 근처 호텔" </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을 막았다 — 숙박은 서비스 범위 안이다.</a:t>
            </a:r>
            <a:endParaRPr lang="en-US" sz="1875" dirty="0"/>
          </a:p>
        </p:txBody>
      </p:sp>
      <p:sp>
        <p:nvSpPr>
          <p:cNvPr id="12" name="Shape 10"/>
          <p:cNvSpPr/>
          <p:nvPr/>
        </p:nvSpPr>
        <p:spPr>
          <a:xfrm>
            <a:off x="1360170" y="4922520"/>
            <a:ext cx="7338060" cy="1021080"/>
          </a:xfrm>
          <a:prstGeom prst="rect">
            <a:avLst/>
          </a:prstGeom>
          <a:solidFill>
            <a:srgbClr val="16181D"/>
          </a:solidFill>
          <a:ln/>
        </p:spPr>
      </p:sp>
      <p:sp>
        <p:nvSpPr>
          <p:cNvPr id="13" name="Text 11"/>
          <p:cNvSpPr/>
          <p:nvPr/>
        </p:nvSpPr>
        <p:spPr>
          <a:xfrm>
            <a:off x="1569720" y="5113020"/>
            <a:ext cx="7139102" cy="678180"/>
          </a:xfrm>
          <a:prstGeom prst="rect">
            <a:avLst/>
          </a:prstGeom>
          <a:noFill/>
          <a:ln/>
        </p:spPr>
        <p:txBody>
          <a:bodyPr wrap="square" lIns="25400" tIns="25400" rIns="25400" bIns="25400" rtlCol="0" anchor="t">
            <a:normAutofit/>
          </a:bodyPr>
          <a:lstStyle/>
          <a:p>
            <a:pPr algn="l" indent="0" marL="0">
              <a:lnSpc>
                <a:spcPct val="120000"/>
              </a:lnSpc>
              <a:buNone/>
            </a:pPr>
            <a:r>
              <a:rPr lang="en-US" sz="1575" dirty="0">
                <a:solidFill>
                  <a:srgbClr val="4ADE80"/>
                </a:solidFill>
                <a:latin typeface="Roboto Mono" pitchFamily="34" charset="0"/>
                <a:ea typeface="Roboto Mono" pitchFamily="34" charset="-122"/>
                <a:cs typeface="Roboto Mono" pitchFamily="34" charset="-120"/>
              </a:rPr>
              <a:t>"...Searching for a hotel near a</a:t>
            </a:r>
            <a:endParaRPr lang="en-US" sz="1575" dirty="0"/>
          </a:p>
          <a:p>
            <a:pPr algn="l" indent="0" marL="0">
              <a:lnSpc>
                <a:spcPct val="120000"/>
              </a:lnSpc>
              <a:buNone/>
            </a:pPr>
            <a:r>
              <a:rPr lang="en-US" sz="1575" dirty="0">
                <a:solidFill>
                  <a:srgbClr val="4ADE80"/>
                </a:solidFill>
                <a:latin typeface="Roboto Mono" pitchFamily="34" charset="0"/>
                <a:ea typeface="Roboto Mono" pitchFamily="34" charset="-122"/>
                <a:cs typeface="Roboto Mono" pitchFamily="34" charset="-120"/>
              </a:rPr>
              <a:t> station is NOT in this topic."</a:t>
            </a:r>
            <a:endParaRPr lang="en-US" sz="1575" dirty="0"/>
          </a:p>
        </p:txBody>
      </p:sp>
      <p:sp>
        <p:nvSpPr>
          <p:cNvPr id="14" name="Text 12"/>
          <p:cNvSpPr/>
          <p:nvPr/>
        </p:nvSpPr>
        <p:spPr>
          <a:xfrm>
            <a:off x="1360170" y="6076950"/>
            <a:ext cx="7558202" cy="41148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6B7280"/>
                </a:solidFill>
                <a:latin typeface="Arial" pitchFamily="34" charset="0"/>
                <a:ea typeface="Arial" pitchFamily="34" charset="-122"/>
                <a:cs typeface="Arial" pitchFamily="34" charset="-120"/>
              </a:rPr>
              <a:t>정의를 좁히고 명시적 예외를 추가해 v3(</a:t>
            </a:r>
            <a:pPr algn="l" indent="0" marL="0">
              <a:lnSpc>
                <a:spcPct val="141176"/>
              </a:lnSpc>
              <a:buNone/>
            </a:pPr>
            <a:r>
              <a:rPr lang="en-US" sz="1800" dirty="0">
                <a:solidFill>
                  <a:srgbClr val="6B7280"/>
                </a:solidFill>
                <a:latin typeface="Roboto Mono" pitchFamily="34" charset="0"/>
                <a:ea typeface="Roboto Mono" pitchFamily="34" charset="-122"/>
                <a:cs typeface="Roboto Mono" pitchFamily="34" charset="-120"/>
              </a:rPr>
              <a:t>guardrail-v3.json</a:t>
            </a:r>
            <a:pPr algn="l" indent="0" marL="0">
              <a:lnSpc>
                <a:spcPct val="141176"/>
              </a:lnSpc>
              <a:buNone/>
            </a:pPr>
            <a:r>
              <a:rPr lang="en-US" sz="1800" dirty="0">
                <a:solidFill>
                  <a:srgbClr val="6B7280"/>
                </a:solidFill>
                <a:latin typeface="Arial" pitchFamily="34" charset="0"/>
                <a:ea typeface="Arial" pitchFamily="34" charset="-122"/>
                <a:cs typeface="Arial" pitchFamily="34" charset="-120"/>
              </a:rPr>
              <a:t>)에서 해결.</a:t>
            </a:r>
            <a:endParaRPr lang="en-US" sz="1800" dirty="0"/>
          </a:p>
        </p:txBody>
      </p:sp>
      <p:sp>
        <p:nvSpPr>
          <p:cNvPr id="15" name="Shape 13"/>
          <p:cNvSpPr/>
          <p:nvPr/>
        </p:nvSpPr>
        <p:spPr>
          <a:xfrm>
            <a:off x="1047750" y="6915150"/>
            <a:ext cx="7962900" cy="3227070"/>
          </a:xfrm>
          <a:prstGeom prst="rect">
            <a:avLst/>
          </a:prstGeom>
          <a:solidFill>
            <a:srgbClr val="F3F6FF"/>
          </a:solidFill>
          <a:ln w="7620">
            <a:solidFill>
              <a:srgbClr val="C9D6FF"/>
            </a:solidFill>
            <a:prstDash val="solid"/>
          </a:ln>
        </p:spPr>
      </p:sp>
      <p:sp>
        <p:nvSpPr>
          <p:cNvPr id="16" name="Text 14"/>
          <p:cNvSpPr/>
          <p:nvPr/>
        </p:nvSpPr>
        <p:spPr>
          <a:xfrm>
            <a:off x="1360170" y="8132445"/>
            <a:ext cx="5176397" cy="830580"/>
          </a:xfrm>
          <a:prstGeom prst="rect">
            <a:avLst/>
          </a:prstGeom>
          <a:noFill/>
          <a:ln/>
        </p:spPr>
        <p:txBody>
          <a:bodyPr wrap="square" lIns="25400" tIns="25400" rIns="25400" bIns="25400" rtlCol="0" anchor="t">
            <a:normAutofit/>
          </a:bodyPr>
          <a:lstStyle/>
          <a:p>
            <a:pPr algn="l" indent="0" marL="0">
              <a:lnSpc>
                <a:spcPct val="140541"/>
              </a:lnSpc>
              <a:buNone/>
            </a:pPr>
            <a:r>
              <a:rPr lang="en-US" sz="1950" b="1" dirty="0">
                <a:solidFill>
                  <a:srgbClr val="1F2937"/>
                </a:solidFill>
                <a:latin typeface="Arial" pitchFamily="34" charset="0"/>
                <a:ea typeface="Arial" pitchFamily="34" charset="-122"/>
                <a:cs typeface="Arial" pitchFamily="34" charset="-120"/>
              </a:rPr>
              <a:t>가드레일 정의와 게이트 프롬프트의 도메인 경계가 어긋나면 이런 충돌이 난다.</a:t>
            </a:r>
            <a:endParaRPr lang="en-US" sz="1950" dirty="0"/>
          </a:p>
        </p:txBody>
      </p:sp>
      <p:sp>
        <p:nvSpPr>
          <p:cNvPr id="17" name="Text 15"/>
          <p:cNvSpPr/>
          <p:nvPr/>
        </p:nvSpPr>
        <p:spPr>
          <a:xfrm>
            <a:off x="6385798" y="8193405"/>
            <a:ext cx="2174200" cy="708660"/>
          </a:xfrm>
          <a:prstGeom prst="rect">
            <a:avLst/>
          </a:prstGeom>
          <a:noFill/>
          <a:ln/>
        </p:spPr>
        <p:txBody>
          <a:bodyPr wrap="square" lIns="0" tIns="0" rIns="0" bIns="0" rtlCol="0" anchor="t">
            <a:normAutofit/>
          </a:bodyPr>
          <a:lstStyle/>
          <a:p>
            <a:pPr algn="l" indent="0" marL="0">
              <a:lnSpc>
                <a:spcPct val="140541"/>
              </a:lnSpc>
              <a:buNone/>
            </a:pPr>
            <a:r>
              <a:rPr lang="en-US" sz="1950" dirty="0">
                <a:solidFill>
                  <a:srgbClr val="1F2937"/>
                </a:solidFill>
                <a:latin typeface="Arial" pitchFamily="34" charset="0"/>
                <a:ea typeface="Arial" pitchFamily="34" charset="-122"/>
                <a:cs typeface="Arial" pitchFamily="34" charset="-120"/>
              </a:rPr>
              <a:t>두 곳을 반드시 함께 관리해야 한다.</a:t>
            </a:r>
            <a:endParaRPr lang="en-US" sz="1950" dirty="0"/>
          </a:p>
        </p:txBody>
      </p:sp>
      <p:sp>
        <p:nvSpPr>
          <p:cNvPr id="18" name="Shape 16"/>
          <p:cNvSpPr/>
          <p:nvPr/>
        </p:nvSpPr>
        <p:spPr>
          <a:xfrm>
            <a:off x="9277350" y="2369820"/>
            <a:ext cx="7962900" cy="3855720"/>
          </a:xfrm>
          <a:prstGeom prst="rect">
            <a:avLst/>
          </a:prstGeom>
          <a:solidFill>
            <a:srgbClr val="FFFFFF"/>
          </a:solidFill>
          <a:ln/>
        </p:spPr>
      </p:sp>
      <p:sp>
        <p:nvSpPr>
          <p:cNvPr id="19" name="Shape 17"/>
          <p:cNvSpPr/>
          <p:nvPr/>
        </p:nvSpPr>
        <p:spPr>
          <a:xfrm>
            <a:off x="9277350" y="6217920"/>
            <a:ext cx="7962900" cy="9525"/>
          </a:xfrm>
          <a:prstGeom prst="rect">
            <a:avLst/>
          </a:prstGeom>
          <a:solidFill>
            <a:srgbClr val="DFE1E6"/>
          </a:solidFill>
          <a:ln/>
        </p:spPr>
      </p:sp>
      <p:sp>
        <p:nvSpPr>
          <p:cNvPr id="20" name="Shape 18"/>
          <p:cNvSpPr/>
          <p:nvPr/>
        </p:nvSpPr>
        <p:spPr>
          <a:xfrm>
            <a:off x="9277350" y="2369820"/>
            <a:ext cx="7962900" cy="45720"/>
          </a:xfrm>
          <a:prstGeom prst="rect">
            <a:avLst/>
          </a:prstGeom>
          <a:solidFill>
            <a:srgbClr val="C2410C"/>
          </a:solidFill>
          <a:ln/>
        </p:spPr>
      </p:sp>
      <p:sp>
        <p:nvSpPr>
          <p:cNvPr id="21" name="Shape 19"/>
          <p:cNvSpPr/>
          <p:nvPr/>
        </p:nvSpPr>
        <p:spPr>
          <a:xfrm>
            <a:off x="9277350" y="2369820"/>
            <a:ext cx="9525" cy="3855720"/>
          </a:xfrm>
          <a:prstGeom prst="rect">
            <a:avLst/>
          </a:prstGeom>
          <a:solidFill>
            <a:srgbClr val="DFE1E6"/>
          </a:solidFill>
          <a:ln/>
        </p:spPr>
      </p:sp>
      <p:sp>
        <p:nvSpPr>
          <p:cNvPr id="22" name="Shape 20"/>
          <p:cNvSpPr/>
          <p:nvPr/>
        </p:nvSpPr>
        <p:spPr>
          <a:xfrm>
            <a:off x="17232630" y="2369820"/>
            <a:ext cx="9525" cy="3855720"/>
          </a:xfrm>
          <a:prstGeom prst="rect">
            <a:avLst/>
          </a:prstGeom>
          <a:solidFill>
            <a:srgbClr val="DFE1E6"/>
          </a:solidFill>
          <a:ln/>
        </p:spPr>
      </p:sp>
      <p:sp>
        <p:nvSpPr>
          <p:cNvPr id="23" name="Text 21"/>
          <p:cNvSpPr/>
          <p:nvPr/>
        </p:nvSpPr>
        <p:spPr>
          <a:xfrm>
            <a:off x="9589770" y="2682240"/>
            <a:ext cx="8071866" cy="312420"/>
          </a:xfrm>
          <a:prstGeom prst="rect">
            <a:avLst/>
          </a:prstGeom>
          <a:noFill/>
          <a:ln/>
        </p:spPr>
        <p:txBody>
          <a:bodyPr wrap="square" lIns="25400" tIns="25400" rIns="25400" bIns="25400" rtlCol="0" anchor="t">
            <a:normAutofit/>
          </a:bodyPr>
          <a:lstStyle/>
          <a:p>
            <a:pPr algn="l" indent="0" marL="0">
              <a:buNone/>
            </a:pPr>
            <a:r>
              <a:rPr lang="en-US" sz="1650" dirty="0">
                <a:solidFill>
                  <a:srgbClr val="C2410C"/>
                </a:solidFill>
                <a:latin typeface="Roboto Mono" pitchFamily="34" charset="0"/>
                <a:ea typeface="Roboto Mono" pitchFamily="34" charset="-122"/>
                <a:cs typeface="Roboto Mono" pitchFamily="34" charset="-120"/>
              </a:rPr>
              <a:t>사건 2 — PII 정책이 공항명을 사람 이름으로 읽었다</a:t>
            </a:r>
            <a:endParaRPr lang="en-US" sz="1650" dirty="0"/>
          </a:p>
        </p:txBody>
      </p:sp>
      <p:sp>
        <p:nvSpPr>
          <p:cNvPr id="24" name="Text 22"/>
          <p:cNvSpPr/>
          <p:nvPr/>
        </p:nvSpPr>
        <p:spPr>
          <a:xfrm>
            <a:off x="9589770" y="3089910"/>
            <a:ext cx="7558202" cy="811530"/>
          </a:xfrm>
          <a:prstGeom prst="rect">
            <a:avLst/>
          </a:prstGeom>
          <a:noFill/>
          <a:ln/>
        </p:spPr>
        <p:txBody>
          <a:bodyPr wrap="square" lIns="25400" tIns="25400" rIns="25400" bIns="25400" rtlCol="0" anchor="t">
            <a:normAutofit/>
          </a:bodyPr>
          <a:lstStyle/>
          <a:p>
            <a:pPr algn="l" indent="0" marL="0">
              <a:lnSpc>
                <a:spcPct val="120833"/>
              </a:lnSpc>
              <a:buNone/>
            </a:pPr>
            <a:r>
              <a:rPr lang="en-US" sz="2025" b="1" dirty="0">
                <a:solidFill>
                  <a:srgbClr val="16181D"/>
                </a:solidFill>
                <a:latin typeface="Roboto Mono" pitchFamily="34" charset="0"/>
                <a:ea typeface="Roboto Mono" pitchFamily="34" charset="-122"/>
                <a:cs typeface="Roboto Mono" pitchFamily="34" charset="-120"/>
              </a:rPr>
              <a:t>김포 </a:t>
            </a:r>
            <a:pPr algn="l" indent="0" marL="0">
              <a:lnSpc>
                <a:spcPct val="120833"/>
              </a:lnSpc>
              <a:buNone/>
            </a:pPr>
            <a:r>
              <a:rPr lang="en-US" sz="2175" b="1" dirty="0">
                <a:solidFill>
                  <a:srgbClr val="16181D"/>
                </a:solidFill>
                <a:latin typeface="Arial" pitchFamily="34" charset="0"/>
                <a:ea typeface="Arial" pitchFamily="34" charset="-122"/>
                <a:cs typeface="Arial" pitchFamily="34" charset="-120"/>
              </a:rPr>
              <a:t>· </a:t>
            </a:r>
            <a:pPr algn="l" indent="0" marL="0">
              <a:lnSpc>
                <a:spcPct val="120833"/>
              </a:lnSpc>
              <a:buNone/>
            </a:pPr>
            <a:r>
              <a:rPr lang="en-US" sz="2025" b="1" dirty="0">
                <a:solidFill>
                  <a:srgbClr val="16181D"/>
                </a:solidFill>
                <a:latin typeface="Roboto Mono" pitchFamily="34" charset="0"/>
                <a:ea typeface="Roboto Mono" pitchFamily="34" charset="-122"/>
                <a:cs typeface="Roboto Mono" pitchFamily="34" charset="-120"/>
              </a:rPr>
              <a:t>김해 </a:t>
            </a:r>
            <a:pPr algn="l" indent="0" marL="0">
              <a:lnSpc>
                <a:spcPct val="120833"/>
              </a:lnSpc>
              <a:buNone/>
            </a:pPr>
            <a:r>
              <a:rPr lang="en-US" sz="2175" b="1" dirty="0">
                <a:solidFill>
                  <a:srgbClr val="16181D"/>
                </a:solidFill>
                <a:latin typeface="Arial" pitchFamily="34" charset="0"/>
                <a:ea typeface="Arial" pitchFamily="34" charset="-122"/>
                <a:cs typeface="Arial" pitchFamily="34" charset="-120"/>
              </a:rPr>
              <a:t>가 </a:t>
            </a:r>
            <a:pPr algn="l" indent="0" marL="0">
              <a:lnSpc>
                <a:spcPct val="120833"/>
              </a:lnSpc>
              <a:buNone/>
            </a:pPr>
            <a:r>
              <a:rPr lang="en-US" sz="2025" b="1" dirty="0">
                <a:solidFill>
                  <a:srgbClr val="16181D"/>
                </a:solidFill>
                <a:latin typeface="Roboto Mono" pitchFamily="34" charset="0"/>
                <a:ea typeface="Roboto Mono" pitchFamily="34" charset="-122"/>
                <a:cs typeface="Roboto Mono" pitchFamily="34" charset="-120"/>
              </a:rPr>
              <a:t>NAME </a:t>
            </a:r>
            <a:pPr algn="l" indent="0" marL="0">
              <a:lnSpc>
                <a:spcPct val="120833"/>
              </a:lnSpc>
              <a:buNone/>
            </a:pPr>
            <a:r>
              <a:rPr lang="en-US" sz="2175" b="1" dirty="0">
                <a:solidFill>
                  <a:srgbClr val="16181D"/>
                </a:solidFill>
                <a:latin typeface="Arial" pitchFamily="34" charset="0"/>
                <a:ea typeface="Arial" pitchFamily="34" charset="-122"/>
                <a:cs typeface="Arial" pitchFamily="34" charset="-120"/>
              </a:rPr>
              <a:t>으로 탐지 — 성씨+이름 형태라 NER 이 그렇게 읽는다 (제주·인천은 안 걸린다)</a:t>
            </a:r>
            <a:endParaRPr lang="en-US" sz="2175" dirty="0"/>
          </a:p>
        </p:txBody>
      </p:sp>
      <p:sp>
        <p:nvSpPr>
          <p:cNvPr id="25" name="Shape 23"/>
          <p:cNvSpPr/>
          <p:nvPr/>
        </p:nvSpPr>
        <p:spPr>
          <a:xfrm>
            <a:off x="9589770" y="3996690"/>
            <a:ext cx="7338060" cy="1082040"/>
          </a:xfrm>
          <a:prstGeom prst="rect">
            <a:avLst/>
          </a:prstGeom>
          <a:solidFill>
            <a:srgbClr val="FFF7ED"/>
          </a:solidFill>
          <a:ln w="7620">
            <a:solidFill>
              <a:srgbClr val="FED7AA"/>
            </a:solidFill>
            <a:prstDash val="solid"/>
          </a:ln>
        </p:spPr>
      </p:sp>
      <p:sp>
        <p:nvSpPr>
          <p:cNvPr id="26" name="Text 24"/>
          <p:cNvSpPr/>
          <p:nvPr/>
        </p:nvSpPr>
        <p:spPr>
          <a:xfrm>
            <a:off x="9825990" y="4290060"/>
            <a:ext cx="967978" cy="533400"/>
          </a:xfrm>
          <a:prstGeom prst="rect">
            <a:avLst/>
          </a:prstGeom>
          <a:noFill/>
          <a:ln/>
        </p:spPr>
        <p:txBody>
          <a:bodyPr wrap="square" lIns="25400" tIns="25400" rIns="25400" bIns="25400" rtlCol="0" anchor="t">
            <a:normAutofit/>
          </a:bodyPr>
          <a:lstStyle/>
          <a:p>
            <a:pPr algn="l" indent="0" marL="0">
              <a:lnSpc>
                <a:spcPct val="75581"/>
              </a:lnSpc>
              <a:buNone/>
            </a:pPr>
            <a:r>
              <a:rPr lang="en-US" sz="3900" b="1" dirty="0">
                <a:solidFill>
                  <a:srgbClr val="C2410C"/>
                </a:solidFill>
                <a:latin typeface="Roboto Mono" pitchFamily="34" charset="0"/>
                <a:ea typeface="Roboto Mono" pitchFamily="34" charset="-122"/>
                <a:cs typeface="Roboto Mono" pitchFamily="34" charset="-120"/>
              </a:rPr>
              <a:t>32%</a:t>
            </a:r>
            <a:endParaRPr lang="en-US" sz="3900" dirty="0"/>
          </a:p>
        </p:txBody>
      </p:sp>
      <p:sp>
        <p:nvSpPr>
          <p:cNvPr id="27" name="Text 25"/>
          <p:cNvSpPr/>
          <p:nvPr/>
        </p:nvSpPr>
        <p:spPr>
          <a:xfrm>
            <a:off x="10908268" y="4194810"/>
            <a:ext cx="3793204"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7C2D12"/>
                </a:solidFill>
                <a:latin typeface="Arial" pitchFamily="34" charset="0"/>
                <a:ea typeface="Arial" pitchFamily="34" charset="-122"/>
                <a:cs typeface="Arial" pitchFamily="34" charset="-120"/>
              </a:rPr>
              <a:t>정상 항공 답변이 </a:t>
            </a:r>
            <a:pPr algn="l" indent="0" marL="0">
              <a:lnSpc>
                <a:spcPct val="132353"/>
              </a:lnSpc>
              <a:buNone/>
            </a:pPr>
            <a:r>
              <a:rPr lang="en-US" sz="1800" b="1" dirty="0">
                <a:solidFill>
                  <a:srgbClr val="7C2D12"/>
                </a:solidFill>
                <a:latin typeface="Arial" pitchFamily="34" charset="0"/>
                <a:ea typeface="Arial" pitchFamily="34" charset="-122"/>
                <a:cs typeface="Arial" pitchFamily="34" charset="-120"/>
              </a:rPr>
              <a:t>마지막 단계에서 폐기 </a:t>
            </a:r>
            <a:pPr algn="l" indent="0" marL="0">
              <a:lnSpc>
                <a:spcPct val="132353"/>
              </a:lnSpc>
              <a:buNone/>
            </a:pPr>
            <a:r>
              <a:rPr lang="en-US" sz="1800" dirty="0">
                <a:solidFill>
                  <a:srgbClr val="7C2D12"/>
                </a:solidFill>
                <a:latin typeface="Arial" pitchFamily="34" charset="0"/>
                <a:ea typeface="Arial" pitchFamily="34" charset="-122"/>
                <a:cs typeface="Arial" pitchFamily="34" charset="-120"/>
              </a:rPr>
              <a:t>(신규·정정 항공 문항 19건 중 6건)</a:t>
            </a:r>
            <a:endParaRPr lang="en-US" sz="1800" dirty="0"/>
          </a:p>
        </p:txBody>
      </p:sp>
      <p:sp>
        <p:nvSpPr>
          <p:cNvPr id="28" name="Text 26"/>
          <p:cNvSpPr/>
          <p:nvPr/>
        </p:nvSpPr>
        <p:spPr>
          <a:xfrm>
            <a:off x="9589770" y="5212080"/>
            <a:ext cx="7558202" cy="77724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원인은 </a:t>
            </a:r>
            <a:pPr algn="l" indent="0" marL="0">
              <a:lnSpc>
                <a:spcPct val="141176"/>
              </a:lnSpc>
              <a:buNone/>
            </a:pPr>
            <a:r>
              <a:rPr lang="en-US" sz="1800" dirty="0">
                <a:solidFill>
                  <a:srgbClr val="4A5058"/>
                </a:solidFill>
                <a:latin typeface="Roboto Mono" pitchFamily="34" charset="0"/>
                <a:ea typeface="Roboto Mono" pitchFamily="34" charset="-122"/>
                <a:cs typeface="Roboto Mono" pitchFamily="34" charset="-120"/>
              </a:rPr>
              <a:t>action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이 </a:t>
            </a:r>
            <a:pPr algn="l" indent="0" marL="0">
              <a:lnSpc>
                <a:spcPct val="141176"/>
              </a:lnSpc>
              <a:buNone/>
            </a:pPr>
            <a:r>
              <a:rPr lang="en-US" sz="1800" dirty="0">
                <a:solidFill>
                  <a:srgbClr val="4A5058"/>
                </a:solidFill>
                <a:latin typeface="Roboto Mono" pitchFamily="34" charset="0"/>
                <a:ea typeface="Roboto Mono" pitchFamily="34" charset="-122"/>
                <a:cs typeface="Roboto Mono" pitchFamily="34" charset="-120"/>
              </a:rPr>
              <a:t>ANONYMIZED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인데도 파이프라인이 개입을 </a:t>
            </a:r>
            <a:pPr algn="l" indent="0" marL="0">
              <a:lnSpc>
                <a:spcPct val="141176"/>
              </a:lnSpc>
              <a:buNone/>
            </a:pPr>
            <a:r>
              <a:rPr lang="en-US" sz="1800" b="1" dirty="0">
                <a:solidFill>
                  <a:srgbClr val="4A5058"/>
                </a:solidFill>
                <a:latin typeface="Arial" pitchFamily="34" charset="0"/>
                <a:ea typeface="Arial" pitchFamily="34" charset="-122"/>
                <a:cs typeface="Arial" pitchFamily="34" charset="-120"/>
              </a:rPr>
              <a:t>종류 구분 없이 실패로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처리한 것.</a:t>
            </a:r>
            <a:endParaRPr lang="en-US" sz="1800" dirty="0"/>
          </a:p>
        </p:txBody>
      </p:sp>
      <p:sp>
        <p:nvSpPr>
          <p:cNvPr id="29" name="Shape 27"/>
          <p:cNvSpPr/>
          <p:nvPr/>
        </p:nvSpPr>
        <p:spPr>
          <a:xfrm>
            <a:off x="9277350" y="6416040"/>
            <a:ext cx="7962900" cy="3726180"/>
          </a:xfrm>
          <a:prstGeom prst="rect">
            <a:avLst/>
          </a:prstGeom>
          <a:solidFill>
            <a:srgbClr val="F0FDF4"/>
          </a:solidFill>
          <a:ln w="7620">
            <a:solidFill>
              <a:srgbClr val="BBF7D0"/>
            </a:solidFill>
            <a:prstDash val="solid"/>
          </a:ln>
        </p:spPr>
      </p:sp>
      <p:sp>
        <p:nvSpPr>
          <p:cNvPr id="30" name="Text 28"/>
          <p:cNvSpPr/>
          <p:nvPr/>
        </p:nvSpPr>
        <p:spPr>
          <a:xfrm>
            <a:off x="9589770" y="6671310"/>
            <a:ext cx="8071866" cy="312420"/>
          </a:xfrm>
          <a:prstGeom prst="rect">
            <a:avLst/>
          </a:prstGeom>
          <a:noFill/>
          <a:ln/>
        </p:spPr>
        <p:txBody>
          <a:bodyPr wrap="square" lIns="25400" tIns="25400" rIns="25400" bIns="25400" rtlCol="0" anchor="t">
            <a:normAutofit/>
          </a:bodyPr>
          <a:lstStyle/>
          <a:p>
            <a:pPr algn="l" indent="0" marL="0">
              <a:buNone/>
            </a:pPr>
            <a:r>
              <a:rPr lang="en-US" sz="1650" dirty="0">
                <a:solidFill>
                  <a:srgbClr val="14532D"/>
                </a:solidFill>
                <a:latin typeface="Roboto Mono" pitchFamily="34" charset="0"/>
                <a:ea typeface="Roboto Mono" pitchFamily="34" charset="-122"/>
                <a:cs typeface="Roboto Mono" pitchFamily="34" charset="-120"/>
              </a:rPr>
              <a:t>해결 — 통과 조건을 아주 좁게 잡는다 (4개 모두 충족 시에만)</a:t>
            </a:r>
            <a:endParaRPr lang="en-US" sz="1650" dirty="0"/>
          </a:p>
        </p:txBody>
      </p:sp>
      <p:sp>
        <p:nvSpPr>
          <p:cNvPr id="31" name="Text 29"/>
          <p:cNvSpPr/>
          <p:nvPr/>
        </p:nvSpPr>
        <p:spPr>
          <a:xfrm>
            <a:off x="9589770" y="7059930"/>
            <a:ext cx="7558202" cy="1546860"/>
          </a:xfrm>
          <a:prstGeom prst="rect">
            <a:avLst/>
          </a:prstGeom>
          <a:noFill/>
          <a:ln/>
        </p:spPr>
        <p:txBody>
          <a:bodyPr wrap="square" lIns="25400" tIns="25400" rIns="25400" bIns="25400" rtlCol="0" anchor="t">
            <a:normAutofit/>
          </a:bodyPr>
          <a:lstStyle/>
          <a:p>
            <a:pPr algn="l" indent="0" marL="0">
              <a:lnSpc>
                <a:spcPct val="145588"/>
              </a:lnSpc>
              <a:buNone/>
            </a:pPr>
            <a:r>
              <a:rPr lang="en-US" sz="1800" dirty="0">
                <a:solidFill>
                  <a:srgbClr val="14532D"/>
                </a:solidFill>
                <a:latin typeface="Arial" pitchFamily="34" charset="0"/>
                <a:ea typeface="Arial" pitchFamily="34" charset="-122"/>
                <a:cs typeface="Arial" pitchFamily="34" charset="-120"/>
              </a:rPr>
              <a:t>① 민감정보 외 정책(주제·유해도·단어·근거) 개입이 없다 ② 모든 PII 항목의 action 이 ANONYMIZED (BLOCKED 0건) ③ 모든 항목의 type 이 NAME ④ 탐지 문자열이 전부 우리 캐시가 아는 지명(1,251개)</a:t>
            </a:r>
            <a:endParaRPr lang="en-US" sz="1800" dirty="0"/>
          </a:p>
        </p:txBody>
      </p:sp>
      <p:sp>
        <p:nvSpPr>
          <p:cNvPr id="32" name="Shape 30"/>
          <p:cNvSpPr/>
          <p:nvPr/>
        </p:nvSpPr>
        <p:spPr>
          <a:xfrm>
            <a:off x="9589770" y="8682990"/>
            <a:ext cx="7338060" cy="9525"/>
          </a:xfrm>
          <a:prstGeom prst="rect">
            <a:avLst/>
          </a:prstGeom>
          <a:solidFill>
            <a:srgbClr val="BBF7D0"/>
          </a:solidFill>
          <a:ln/>
        </p:spPr>
      </p:sp>
      <p:sp>
        <p:nvSpPr>
          <p:cNvPr id="33" name="Text 31"/>
          <p:cNvSpPr/>
          <p:nvPr/>
        </p:nvSpPr>
        <p:spPr>
          <a:xfrm>
            <a:off x="9589770" y="8823960"/>
            <a:ext cx="7558202" cy="110109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14532D"/>
                </a:solidFill>
                <a:latin typeface="Arial" pitchFamily="34" charset="0"/>
                <a:ea typeface="Arial" pitchFamily="34" charset="-122"/>
                <a:cs typeface="Arial" pitchFamily="34" charset="-120"/>
              </a:rPr>
              <a:t>실측에서 가드레일이 "김해"가 아니라 </a:t>
            </a:r>
            <a:pPr algn="l" indent="0" marL="0">
              <a:lnSpc>
                <a:spcPct val="136765"/>
              </a:lnSpc>
              <a:buNone/>
            </a:pPr>
            <a:r>
              <a:rPr lang="en-US" sz="1800" b="1" dirty="0">
                <a:solidFill>
                  <a:srgbClr val="14532D"/>
                </a:solidFill>
                <a:latin typeface="Arial" pitchFamily="34" charset="0"/>
                <a:ea typeface="Arial" pitchFamily="34" charset="-122"/>
                <a:cs typeface="Arial" pitchFamily="34" charset="-120"/>
              </a:rPr>
              <a:t>"김해 행" </a:t>
            </a:r>
            <a:pPr algn="l" indent="0" marL="0">
              <a:lnSpc>
                <a:spcPct val="136765"/>
              </a:lnSpc>
              <a:buNone/>
            </a:pPr>
            <a:r>
              <a:rPr lang="en-US" sz="1800" dirty="0">
                <a:solidFill>
                  <a:srgbClr val="14532D"/>
                </a:solidFill>
                <a:latin typeface="Arial" pitchFamily="34" charset="0"/>
                <a:ea typeface="Arial" pitchFamily="34" charset="-122"/>
                <a:cs typeface="Arial" pitchFamily="34" charset="-120"/>
              </a:rPr>
              <a:t>을 집어냈다 → 조사·방면 표기를 한 겹 벗겨 재검사. 사람 이름·연락처·카드번호 마스킹은 그대로 살아 있다.</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620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14 · LAYER ⑤ GROUNDING_CHECK · ⑥ SCOPE_POLICY</a:t>
            </a:r>
            <a:endParaRPr lang="en-US" sz="1800" dirty="0"/>
          </a:p>
        </p:txBody>
      </p:sp>
      <p:sp>
        <p:nvSpPr>
          <p:cNvPr id="3" name="Text 1"/>
          <p:cNvSpPr/>
          <p:nvPr/>
        </p:nvSpPr>
        <p:spPr>
          <a:xfrm>
            <a:off x="1047750" y="1192530"/>
            <a:ext cx="17811750"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숫자는 대조하고, 범위 밖은 도구 전에 끊는다</a:t>
            </a:r>
            <a:endParaRPr lang="en-US" sz="5250" dirty="0"/>
          </a:p>
        </p:txBody>
      </p:sp>
      <p:sp>
        <p:nvSpPr>
          <p:cNvPr id="4" name="Shape 2"/>
          <p:cNvSpPr/>
          <p:nvPr/>
        </p:nvSpPr>
        <p:spPr>
          <a:xfrm>
            <a:off x="1047750" y="2518410"/>
            <a:ext cx="8497967" cy="7955280"/>
          </a:xfrm>
          <a:prstGeom prst="rect">
            <a:avLst/>
          </a:prstGeom>
          <a:solidFill>
            <a:srgbClr val="FFFFFF"/>
          </a:solidFill>
          <a:ln w="7620">
            <a:solidFill>
              <a:srgbClr val="DFE1E6"/>
            </a:solidFill>
            <a:prstDash val="solid"/>
          </a:ln>
        </p:spPr>
      </p:sp>
      <p:sp>
        <p:nvSpPr>
          <p:cNvPr id="5" name="Text 3"/>
          <p:cNvSpPr/>
          <p:nvPr/>
        </p:nvSpPr>
        <p:spPr>
          <a:xfrm>
            <a:off x="1398270" y="2830830"/>
            <a:ext cx="8576620" cy="457200"/>
          </a:xfrm>
          <a:prstGeom prst="rect">
            <a:avLst/>
          </a:prstGeom>
          <a:noFill/>
          <a:ln/>
        </p:spPr>
        <p:txBody>
          <a:bodyPr wrap="square" lIns="25400" tIns="25400" rIns="25400" bIns="25400" rtlCol="0" anchor="t">
            <a:normAutofit/>
          </a:bodyPr>
          <a:lstStyle/>
          <a:p>
            <a:pPr algn="l" indent="0" marL="0">
              <a:buNone/>
            </a:pPr>
            <a:r>
              <a:rPr lang="en-US" sz="2250" b="1" dirty="0">
                <a:solidFill>
                  <a:srgbClr val="16181D"/>
                </a:solidFill>
                <a:latin typeface="Arial" pitchFamily="34" charset="0"/>
                <a:ea typeface="Arial" pitchFamily="34" charset="-122"/>
                <a:cs typeface="Arial" pitchFamily="34" charset="-120"/>
              </a:rPr>
              <a:t>⑤ 근거성 검증 — 구현은 짧다</a:t>
            </a:r>
            <a:endParaRPr lang="en-US" sz="2250" dirty="0"/>
          </a:p>
        </p:txBody>
      </p:sp>
      <p:sp>
        <p:nvSpPr>
          <p:cNvPr id="6" name="Shape 4"/>
          <p:cNvSpPr/>
          <p:nvPr/>
        </p:nvSpPr>
        <p:spPr>
          <a:xfrm>
            <a:off x="1398270" y="3421380"/>
            <a:ext cx="7796927" cy="3851910"/>
          </a:xfrm>
          <a:prstGeom prst="rect">
            <a:avLst/>
          </a:prstGeom>
          <a:solidFill>
            <a:srgbClr val="16181D"/>
          </a:solidFill>
          <a:ln/>
        </p:spPr>
      </p:sp>
      <p:sp>
        <p:nvSpPr>
          <p:cNvPr id="7" name="Text 5"/>
          <p:cNvSpPr/>
          <p:nvPr/>
        </p:nvSpPr>
        <p:spPr>
          <a:xfrm>
            <a:off x="1645920" y="3649980"/>
            <a:ext cx="7535535" cy="3432810"/>
          </a:xfrm>
          <a:prstGeom prst="rect">
            <a:avLst/>
          </a:prstGeom>
          <a:noFill/>
          <a:ln/>
        </p:spPr>
        <p:txBody>
          <a:bodyPr wrap="square" lIns="25400" tIns="25400" rIns="25400" bIns="25400" rtlCol="0" anchor="t">
            <a:normAutofit/>
          </a:bodyPr>
          <a:lstStyle/>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def verify(answer, tool_result):</a:t>
            </a:r>
            <a:endParaRPr lang="en-US" sz="1650" dirty="0"/>
          </a:p>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    src = json.dumps(tool_result, ensure_ascii=False)</a:t>
            </a:r>
            <a:endParaRPr lang="en-US" sz="1650" dirty="0"/>
          </a:p>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    src_digits = re.sub(r"[,\s]", "", src)</a:t>
            </a:r>
            <a:endParaRPr lang="en-US" sz="1650" dirty="0"/>
          </a:p>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    unsupported = []</a:t>
            </a:r>
            <a:endParaRPr lang="en-US" sz="1650" dirty="0"/>
          </a:p>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    for tok in set(re.findall(</a:t>
            </a:r>
            <a:endParaRPr lang="en-US" sz="1650" dirty="0"/>
          </a:p>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            r"\d{1,2}:\d{2}|\d[\d,]{2,}", answer)):</a:t>
            </a:r>
            <a:endParaRPr lang="en-US" sz="1650" dirty="0"/>
          </a:p>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        if re.sub(r"[,\s]", "", tok) not in src_digits:</a:t>
            </a:r>
            <a:endParaRPr lang="en-US" sz="1650" dirty="0"/>
          </a:p>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            unsupported.append(tok)</a:t>
            </a:r>
            <a:endParaRPr lang="en-US" sz="1650" dirty="0"/>
          </a:p>
          <a:p>
            <a:pPr algn="l" indent="0" marL="0">
              <a:lnSpc>
                <a:spcPct val="137500"/>
              </a:lnSpc>
              <a:buNone/>
            </a:pPr>
            <a:r>
              <a:rPr lang="en-US" sz="1650" dirty="0">
                <a:solidFill>
                  <a:srgbClr val="E6E8EA"/>
                </a:solidFill>
                <a:latin typeface="Roboto Mono" pitchFamily="34" charset="0"/>
                <a:ea typeface="Roboto Mono" pitchFamily="34" charset="-122"/>
                <a:cs typeface="Roboto Mono" pitchFamily="34" charset="-120"/>
              </a:rPr>
              <a:t>    return (not unsupported), unsupported</a:t>
            </a:r>
            <a:endParaRPr lang="en-US" sz="1650" dirty="0"/>
          </a:p>
        </p:txBody>
      </p:sp>
      <p:sp>
        <p:nvSpPr>
          <p:cNvPr id="8" name="Text 6"/>
          <p:cNvSpPr/>
          <p:nvPr/>
        </p:nvSpPr>
        <p:spPr>
          <a:xfrm>
            <a:off x="1398270" y="7444740"/>
            <a:ext cx="8030835" cy="43434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 시각 패턴 </a:t>
            </a:r>
            <a:pPr algn="l" indent="0" marL="0">
              <a:lnSpc>
                <a:spcPct val="138889"/>
              </a:lnSpc>
              <a:buNone/>
            </a:pPr>
            <a:r>
              <a:rPr lang="en-US" sz="1875" dirty="0">
                <a:solidFill>
                  <a:srgbClr val="4A5058"/>
                </a:solidFill>
                <a:latin typeface="Roboto Mono" pitchFamily="34" charset="0"/>
                <a:ea typeface="Roboto Mono" pitchFamily="34" charset="-122"/>
                <a:cs typeface="Roboto Mono" pitchFamily="34" charset="-120"/>
              </a:rPr>
              <a:t>HH:MM </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과 3자 이상 숫자를 추출</a:t>
            </a:r>
            <a:endParaRPr lang="en-US" sz="1875" dirty="0"/>
          </a:p>
        </p:txBody>
      </p:sp>
      <p:sp>
        <p:nvSpPr>
          <p:cNvPr id="9" name="Text 7"/>
          <p:cNvSpPr/>
          <p:nvPr/>
        </p:nvSpPr>
        <p:spPr>
          <a:xfrm>
            <a:off x="1398270" y="7936230"/>
            <a:ext cx="8030835" cy="43434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 실패 → </a:t>
            </a:r>
            <a:pPr algn="l" indent="0" marL="0">
              <a:lnSpc>
                <a:spcPct val="138889"/>
              </a:lnSpc>
              <a:buNone/>
            </a:pPr>
            <a:r>
              <a:rPr lang="en-US" sz="1875" dirty="0">
                <a:solidFill>
                  <a:srgbClr val="4A5058"/>
                </a:solidFill>
                <a:latin typeface="Roboto Mono" pitchFamily="34" charset="0"/>
                <a:ea typeface="Roboto Mono" pitchFamily="34" charset="-122"/>
                <a:cs typeface="Roboto Mono" pitchFamily="34" charset="-120"/>
              </a:rPr>
              <a:t>[SYSTEM] </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지시를 덧붙여 </a:t>
            </a:r>
            <a:pPr algn="l" indent="0" marL="0">
              <a:lnSpc>
                <a:spcPct val="138889"/>
              </a:lnSpc>
              <a:buNone/>
            </a:pPr>
            <a:r>
              <a:rPr lang="en-US" sz="1875" b="1" dirty="0">
                <a:solidFill>
                  <a:srgbClr val="4A5058"/>
                </a:solidFill>
                <a:latin typeface="Arial" pitchFamily="34" charset="0"/>
                <a:ea typeface="Arial" pitchFamily="34" charset="-122"/>
                <a:cs typeface="Arial" pitchFamily="34" charset="-120"/>
              </a:rPr>
              <a:t>1회만 </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재생성</a:t>
            </a:r>
            <a:endParaRPr lang="en-US" sz="1875" dirty="0"/>
          </a:p>
        </p:txBody>
      </p:sp>
      <p:sp>
        <p:nvSpPr>
          <p:cNvPr id="10" name="Text 8"/>
          <p:cNvSpPr/>
          <p:nvPr/>
        </p:nvSpPr>
        <p:spPr>
          <a:xfrm>
            <a:off x="1398270" y="8427720"/>
            <a:ext cx="8030835" cy="43434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 재실패 → 답변 폐기, </a:t>
            </a:r>
            <a:pPr algn="l" indent="0" marL="0">
              <a:lnSpc>
                <a:spcPct val="138889"/>
              </a:lnSpc>
              <a:buNone/>
            </a:pPr>
            <a:r>
              <a:rPr lang="en-US" sz="1875" dirty="0">
                <a:solidFill>
                  <a:srgbClr val="4A5058"/>
                </a:solidFill>
                <a:latin typeface="Roboto Mono" pitchFamily="34" charset="0"/>
                <a:ea typeface="Roboto Mono" pitchFamily="34" charset="-122"/>
                <a:cs typeface="Roboto Mono" pitchFamily="34" charset="-120"/>
              </a:rPr>
              <a:t>route: "ungrounded"</a:t>
            </a:r>
            <a:endParaRPr lang="en-US" sz="1875" dirty="0"/>
          </a:p>
        </p:txBody>
      </p:sp>
      <p:sp>
        <p:nvSpPr>
          <p:cNvPr id="11" name="Shape 9"/>
          <p:cNvSpPr/>
          <p:nvPr/>
        </p:nvSpPr>
        <p:spPr>
          <a:xfrm>
            <a:off x="1398270" y="8995410"/>
            <a:ext cx="7796927" cy="1165860"/>
          </a:xfrm>
          <a:prstGeom prst="rect">
            <a:avLst/>
          </a:prstGeom>
          <a:solidFill>
            <a:srgbClr val="F6F7F8"/>
          </a:solidFill>
          <a:ln w="7620">
            <a:solidFill>
              <a:srgbClr val="DFE1E6"/>
            </a:solidFill>
            <a:prstDash val="solid"/>
          </a:ln>
        </p:spPr>
      </p:sp>
      <p:sp>
        <p:nvSpPr>
          <p:cNvPr id="12" name="Text 10"/>
          <p:cNvSpPr/>
          <p:nvPr/>
        </p:nvSpPr>
        <p:spPr>
          <a:xfrm>
            <a:off x="1653540" y="9212580"/>
            <a:ext cx="7520295"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b="1" dirty="0">
                <a:solidFill>
                  <a:srgbClr val="4A5058"/>
                </a:solidFill>
                <a:latin typeface="Arial" pitchFamily="34" charset="0"/>
                <a:ea typeface="Arial" pitchFamily="34" charset="-122"/>
                <a:cs typeface="Arial" pitchFamily="34" charset="-120"/>
              </a:rPr>
              <a:t>트레이드오프: </a:t>
            </a:r>
            <a:pPr algn="l" indent="0" marL="0">
              <a:lnSpc>
                <a:spcPct val="141176"/>
              </a:lnSpc>
              <a:buNone/>
            </a:pPr>
            <a:r>
              <a:rPr lang="en-US" sz="1800" dirty="0">
                <a:solidFill>
                  <a:srgbClr val="4A5058"/>
                </a:solidFill>
                <a:highlight>
                  <a:srgbClr val="F6F7F8"/>
                </a:highlight>
                <a:latin typeface="Arial" pitchFamily="34" charset="0"/>
                <a:ea typeface="Arial" pitchFamily="34" charset="-122"/>
                <a:cs typeface="Arial" pitchFamily="34" charset="-120"/>
              </a:rPr>
              <a:t>문자열 포함 검사이므로 도구 JSON 에 우연히 존재하는 숫자는 통과할 수 있다. 정확도보다 </a:t>
            </a:r>
            <a:pPr algn="l" indent="0" marL="0">
              <a:lnSpc>
                <a:spcPct val="141176"/>
              </a:lnSpc>
              <a:buNone/>
            </a:pPr>
            <a:r>
              <a:rPr lang="en-US" sz="1800" b="1" dirty="0">
                <a:solidFill>
                  <a:srgbClr val="4A5058"/>
                </a:solidFill>
                <a:latin typeface="Arial" pitchFamily="34" charset="0"/>
                <a:ea typeface="Arial" pitchFamily="34" charset="-122"/>
                <a:cs typeface="Arial" pitchFamily="34" charset="-120"/>
              </a:rPr>
              <a:t>재현율</a:t>
            </a:r>
            <a:pPr algn="l" indent="0" marL="0">
              <a:lnSpc>
                <a:spcPct val="141176"/>
              </a:lnSpc>
              <a:buNone/>
            </a:pPr>
            <a:r>
              <a:rPr lang="en-US" sz="1800" dirty="0">
                <a:solidFill>
                  <a:srgbClr val="4A5058"/>
                </a:solidFill>
                <a:highlight>
                  <a:srgbClr val="F6F7F8"/>
                </a:highlight>
                <a:latin typeface="Arial" pitchFamily="34" charset="0"/>
                <a:ea typeface="Arial" pitchFamily="34" charset="-122"/>
                <a:cs typeface="Arial" pitchFamily="34" charset="-120"/>
              </a:rPr>
              <a:t>을 택한 설계다.</a:t>
            </a:r>
            <a:endParaRPr lang="en-US" sz="1800" dirty="0"/>
          </a:p>
        </p:txBody>
      </p:sp>
      <p:sp>
        <p:nvSpPr>
          <p:cNvPr id="13" name="Shape 11"/>
          <p:cNvSpPr/>
          <p:nvPr/>
        </p:nvSpPr>
        <p:spPr>
          <a:xfrm>
            <a:off x="9850517" y="2518410"/>
            <a:ext cx="7389614" cy="3459480"/>
          </a:xfrm>
          <a:prstGeom prst="rect">
            <a:avLst/>
          </a:prstGeom>
          <a:solidFill>
            <a:srgbClr val="FFFFFF"/>
          </a:solidFill>
          <a:ln w="7620">
            <a:solidFill>
              <a:srgbClr val="DFE1E6"/>
            </a:solidFill>
            <a:prstDash val="solid"/>
          </a:ln>
        </p:spPr>
      </p:sp>
      <p:sp>
        <p:nvSpPr>
          <p:cNvPr id="14" name="Text 12"/>
          <p:cNvSpPr/>
          <p:nvPr/>
        </p:nvSpPr>
        <p:spPr>
          <a:xfrm>
            <a:off x="10181987" y="2811780"/>
            <a:ext cx="7399342" cy="457200"/>
          </a:xfrm>
          <a:prstGeom prst="rect">
            <a:avLst/>
          </a:prstGeom>
          <a:noFill/>
          <a:ln/>
        </p:spPr>
        <p:txBody>
          <a:bodyPr wrap="square" lIns="25400" tIns="25400" rIns="25400" bIns="25400" rtlCol="0" anchor="t">
            <a:normAutofit/>
          </a:bodyPr>
          <a:lstStyle/>
          <a:p>
            <a:pPr algn="l" indent="0" marL="0">
              <a:buNone/>
            </a:pPr>
            <a:r>
              <a:rPr lang="en-US" sz="2250" b="1" dirty="0">
                <a:solidFill>
                  <a:srgbClr val="16181D"/>
                </a:solidFill>
                <a:latin typeface="Arial" pitchFamily="34" charset="0"/>
                <a:ea typeface="Arial" pitchFamily="34" charset="-122"/>
                <a:cs typeface="Arial" pitchFamily="34" charset="-120"/>
              </a:rPr>
              <a:t>⑥ 범위 정책 — 도구 호출 </a:t>
            </a:r>
            <a:pPr algn="l" indent="0" marL="0">
              <a:buNone/>
            </a:pPr>
            <a:r>
              <a:rPr lang="en-US" sz="2250" b="1" dirty="0">
                <a:solidFill>
                  <a:srgbClr val="4F7CFF"/>
                </a:solidFill>
                <a:latin typeface="Arial" pitchFamily="34" charset="0"/>
                <a:ea typeface="Arial" pitchFamily="34" charset="-122"/>
                <a:cs typeface="Arial" pitchFamily="34" charset="-120"/>
              </a:rPr>
              <a:t>전</a:t>
            </a:r>
            <a:pPr algn="l" indent="0" marL="0">
              <a:buNone/>
            </a:pPr>
            <a:r>
              <a:rPr lang="en-US" sz="2250" b="1" dirty="0">
                <a:solidFill>
                  <a:srgbClr val="16181D"/>
                </a:solidFill>
                <a:latin typeface="Arial" pitchFamily="34" charset="0"/>
                <a:ea typeface="Arial" pitchFamily="34" charset="-122"/>
                <a:cs typeface="Arial" pitchFamily="34" charset="-120"/>
              </a:rPr>
              <a:t>에 분기</a:t>
            </a:r>
            <a:endParaRPr lang="en-US" sz="2250" dirty="0"/>
          </a:p>
        </p:txBody>
      </p:sp>
      <p:sp>
        <p:nvSpPr>
          <p:cNvPr id="15" name="Text 13"/>
          <p:cNvSpPr/>
          <p:nvPr/>
        </p:nvSpPr>
        <p:spPr>
          <a:xfrm>
            <a:off x="10181987" y="3364230"/>
            <a:ext cx="6928475" cy="1463040"/>
          </a:xfrm>
          <a:prstGeom prst="rect">
            <a:avLst/>
          </a:prstGeom>
          <a:noFill/>
          <a:ln/>
        </p:spPr>
        <p:txBody>
          <a:bodyPr wrap="square" lIns="25400" tIns="25400" rIns="25400" bIns="25400" rtlCol="0" anchor="t">
            <a:normAutofit/>
          </a:bodyPr>
          <a:lstStyle/>
          <a:p>
            <a:pPr algn="l" indent="0" marL="0">
              <a:lnSpc>
                <a:spcPct val="129861"/>
              </a:lnSpc>
              <a:buNone/>
            </a:pPr>
            <a:r>
              <a:rPr lang="en-US" sz="1650" dirty="0">
                <a:solidFill>
                  <a:srgbClr val="4A5058"/>
                </a:solidFill>
                <a:latin typeface="Roboto Mono" pitchFamily="34" charset="0"/>
                <a:ea typeface="Roboto Mono" pitchFamily="34" charset="-122"/>
                <a:cs typeface="Roboto Mono" pitchFamily="34" charset="-120"/>
              </a:rPr>
              <a:t>예약 예매 결제 취소 환불</a:t>
            </a:r>
            <a:endParaRPr lang="en-US" sz="1650" dirty="0"/>
          </a:p>
          <a:p>
            <a:pPr algn="l" indent="0" marL="0">
              <a:lnSpc>
                <a:spcPct val="129861"/>
              </a:lnSpc>
              <a:buNone/>
            </a:pPr>
            <a:r>
              <a:rPr lang="en-US" sz="1650" dirty="0">
                <a:solidFill>
                  <a:srgbClr val="4A5058"/>
                </a:solidFill>
                <a:latin typeface="Roboto Mono" pitchFamily="34" charset="0"/>
                <a:ea typeface="Roboto Mono" pitchFamily="34" charset="-122"/>
                <a:cs typeface="Roboto Mono" pitchFamily="34" charset="-120"/>
              </a:rPr>
              <a:t>book reserve payment cancel refund</a:t>
            </a:r>
            <a:endParaRPr lang="en-US" sz="1650" dirty="0"/>
          </a:p>
          <a:p>
            <a:pPr algn="l" indent="0" marL="0">
              <a:lnSpc>
                <a:spcPct val="129861"/>
              </a:lnSpc>
              <a:buNone/>
            </a:pPr>
            <a:r>
              <a:rPr lang="en-US" sz="1650" dirty="0">
                <a:solidFill>
                  <a:srgbClr val="4A5058"/>
                </a:solidFill>
                <a:latin typeface="Roboto Mono" pitchFamily="34" charset="0"/>
                <a:ea typeface="Roboto Mono" pitchFamily="34" charset="-122"/>
                <a:cs typeface="Roboto Mono" pitchFamily="34" charset="-120"/>
              </a:rPr>
              <a:t>pesan pemesanan bayar batal</a:t>
            </a:r>
            <a:endParaRPr lang="en-US" sz="1650" dirty="0"/>
          </a:p>
          <a:p>
            <a:pPr algn="l" indent="0" marL="0">
              <a:lnSpc>
                <a:spcPct val="129861"/>
              </a:lnSpc>
              <a:buNone/>
            </a:pPr>
            <a:r>
              <a:rPr lang="en-US" sz="1650" dirty="0">
                <a:solidFill>
                  <a:srgbClr val="4A5058"/>
                </a:solidFill>
                <a:latin typeface="Roboto Mono" pitchFamily="34" charset="0"/>
                <a:ea typeface="Roboto Mono" pitchFamily="34" charset="-122"/>
                <a:cs typeface="Roboto Mono" pitchFamily="34" charset="-120"/>
              </a:rPr>
              <a:t>予約 決済 取消 · 订票 预订 支付 退票</a:t>
            </a:r>
            <a:endParaRPr lang="en-US" sz="1650" dirty="0"/>
          </a:p>
        </p:txBody>
      </p:sp>
      <p:sp>
        <p:nvSpPr>
          <p:cNvPr id="16" name="Text 14"/>
          <p:cNvSpPr/>
          <p:nvPr/>
        </p:nvSpPr>
        <p:spPr>
          <a:xfrm>
            <a:off x="10181987" y="4922520"/>
            <a:ext cx="6928475" cy="80010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6B7280"/>
                </a:solidFill>
                <a:latin typeface="Arial" pitchFamily="34" charset="0"/>
                <a:ea typeface="Arial" pitchFamily="34" charset="-122"/>
                <a:cs typeface="Arial" pitchFamily="34" charset="-120"/>
              </a:rPr>
              <a:t>도구 호출 전이라 </a:t>
            </a:r>
            <a:pPr algn="l" indent="0" marL="0">
              <a:lnSpc>
                <a:spcPct val="138889"/>
              </a:lnSpc>
              <a:buNone/>
            </a:pPr>
            <a:r>
              <a:rPr lang="en-US" sz="1875" b="1" dirty="0">
                <a:solidFill>
                  <a:srgbClr val="6B7280"/>
                </a:solidFill>
                <a:latin typeface="Arial" pitchFamily="34" charset="0"/>
                <a:ea typeface="Arial" pitchFamily="34" charset="-122"/>
                <a:cs typeface="Arial" pitchFamily="34" charset="-120"/>
              </a:rPr>
              <a:t>공공 API 를 낭비하지 않고 클라우드도 타지 않는다.</a:t>
            </a:r>
            <a:endParaRPr lang="en-US" sz="1875" dirty="0"/>
          </a:p>
        </p:txBody>
      </p:sp>
      <p:sp>
        <p:nvSpPr>
          <p:cNvPr id="17" name="Shape 15"/>
          <p:cNvSpPr/>
          <p:nvPr/>
        </p:nvSpPr>
        <p:spPr>
          <a:xfrm>
            <a:off x="9850517" y="6187440"/>
            <a:ext cx="7389614" cy="4286250"/>
          </a:xfrm>
          <a:prstGeom prst="rect">
            <a:avLst/>
          </a:prstGeom>
          <a:solidFill>
            <a:srgbClr val="16181D"/>
          </a:solidFill>
          <a:ln/>
        </p:spPr>
      </p:sp>
      <p:sp>
        <p:nvSpPr>
          <p:cNvPr id="18" name="Text 16"/>
          <p:cNvSpPr/>
          <p:nvPr/>
        </p:nvSpPr>
        <p:spPr>
          <a:xfrm>
            <a:off x="10174367" y="6473190"/>
            <a:ext cx="741610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9DB4FF"/>
                </a:solidFill>
                <a:latin typeface="Roboto Mono" pitchFamily="34" charset="0"/>
                <a:ea typeface="Roboto Mono" pitchFamily="34" charset="-122"/>
                <a:cs typeface="Roboto Mono" pitchFamily="34" charset="-120"/>
              </a:rPr>
              <a:t>차단 응답은 전부 언어별 정형 문구 — LLM 생성 금지</a:t>
            </a:r>
            <a:endParaRPr lang="en-US" sz="1650" dirty="0"/>
          </a:p>
        </p:txBody>
      </p:sp>
      <p:sp>
        <p:nvSpPr>
          <p:cNvPr id="19" name="Text 17"/>
          <p:cNvSpPr/>
          <p:nvPr/>
        </p:nvSpPr>
        <p:spPr>
          <a:xfrm>
            <a:off x="10174367" y="6899910"/>
            <a:ext cx="1810905" cy="381000"/>
          </a:xfrm>
          <a:prstGeom prst="rect">
            <a:avLst/>
          </a:prstGeom>
          <a:noFill/>
          <a:ln/>
        </p:spPr>
        <p:txBody>
          <a:bodyPr wrap="square" lIns="25400" tIns="25400" rIns="25400" bIns="25400" rtlCol="0" anchor="t">
            <a:normAutofit/>
          </a:bodyPr>
          <a:lstStyle/>
          <a:p>
            <a:pPr algn="l" indent="0" marL="0">
              <a:lnSpc>
                <a:spcPct val="115385"/>
              </a:lnSpc>
              <a:buNone/>
            </a:pPr>
            <a:r>
              <a:rPr lang="en-US" sz="1800" dirty="0">
                <a:solidFill>
                  <a:srgbClr val="9DB4FF"/>
                </a:solidFill>
                <a:latin typeface="Roboto Mono" pitchFamily="34" charset="0"/>
                <a:ea typeface="Roboto Mono" pitchFamily="34" charset="-122"/>
                <a:cs typeface="Roboto Mono" pitchFamily="34" charset="-120"/>
              </a:rPr>
              <a:t>REFUSAL</a:t>
            </a:r>
            <a:endParaRPr lang="en-US" sz="1800" dirty="0"/>
          </a:p>
        </p:txBody>
      </p:sp>
      <p:sp>
        <p:nvSpPr>
          <p:cNvPr id="20" name="Text 18"/>
          <p:cNvSpPr/>
          <p:nvPr/>
        </p:nvSpPr>
        <p:spPr>
          <a:xfrm>
            <a:off x="12030195" y="6907530"/>
            <a:ext cx="5374696" cy="3810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C9CDD3"/>
                </a:solidFill>
                <a:latin typeface="Arial" pitchFamily="34" charset="0"/>
                <a:ea typeface="Arial" pitchFamily="34" charset="-122"/>
                <a:cs typeface="Arial" pitchFamily="34" charset="-120"/>
              </a:rPr>
              <a:t>도메인 밖 — 교통 안내만 가능하다는 문구</a:t>
            </a:r>
            <a:endParaRPr lang="en-US" sz="1800" dirty="0"/>
          </a:p>
        </p:txBody>
      </p:sp>
      <p:sp>
        <p:nvSpPr>
          <p:cNvPr id="21" name="Text 19"/>
          <p:cNvSpPr/>
          <p:nvPr/>
        </p:nvSpPr>
        <p:spPr>
          <a:xfrm>
            <a:off x="10174367" y="7364730"/>
            <a:ext cx="1810905" cy="381000"/>
          </a:xfrm>
          <a:prstGeom prst="rect">
            <a:avLst/>
          </a:prstGeom>
          <a:noFill/>
          <a:ln/>
        </p:spPr>
        <p:txBody>
          <a:bodyPr wrap="square" lIns="25400" tIns="25400" rIns="25400" bIns="25400" rtlCol="0" anchor="t">
            <a:normAutofit/>
          </a:bodyPr>
          <a:lstStyle/>
          <a:p>
            <a:pPr algn="l" indent="0" marL="0">
              <a:lnSpc>
                <a:spcPct val="115385"/>
              </a:lnSpc>
              <a:buNone/>
            </a:pPr>
            <a:r>
              <a:rPr lang="en-US" sz="1800" dirty="0">
                <a:solidFill>
                  <a:srgbClr val="9DB4FF"/>
                </a:solidFill>
                <a:latin typeface="Roboto Mono" pitchFamily="34" charset="0"/>
                <a:ea typeface="Roboto Mono" pitchFamily="34" charset="-122"/>
                <a:cs typeface="Roboto Mono" pitchFamily="34" charset="-120"/>
              </a:rPr>
              <a:t>WARNING</a:t>
            </a:r>
            <a:endParaRPr lang="en-US" sz="1800" dirty="0"/>
          </a:p>
        </p:txBody>
      </p:sp>
      <p:sp>
        <p:nvSpPr>
          <p:cNvPr id="22" name="Text 20"/>
          <p:cNvSpPr/>
          <p:nvPr/>
        </p:nvSpPr>
        <p:spPr>
          <a:xfrm>
            <a:off x="12030195" y="7372350"/>
            <a:ext cx="5374696" cy="3810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C9CDD3"/>
                </a:solidFill>
                <a:latin typeface="Arial" pitchFamily="34" charset="0"/>
                <a:ea typeface="Arial" pitchFamily="34" charset="-122"/>
                <a:cs typeface="Arial" pitchFamily="34" charset="-120"/>
              </a:rPr>
              <a:t>유해·금지어·가드레일 개입</a:t>
            </a:r>
            <a:endParaRPr lang="en-US" sz="1800" dirty="0"/>
          </a:p>
        </p:txBody>
      </p:sp>
      <p:sp>
        <p:nvSpPr>
          <p:cNvPr id="23" name="Text 21"/>
          <p:cNvSpPr/>
          <p:nvPr/>
        </p:nvSpPr>
        <p:spPr>
          <a:xfrm>
            <a:off x="10174367" y="7829550"/>
            <a:ext cx="1810905" cy="381000"/>
          </a:xfrm>
          <a:prstGeom prst="rect">
            <a:avLst/>
          </a:prstGeom>
          <a:noFill/>
          <a:ln/>
        </p:spPr>
        <p:txBody>
          <a:bodyPr wrap="square" lIns="25400" tIns="25400" rIns="25400" bIns="25400" rtlCol="0" anchor="t">
            <a:normAutofit/>
          </a:bodyPr>
          <a:lstStyle/>
          <a:p>
            <a:pPr algn="l" indent="0" marL="0">
              <a:lnSpc>
                <a:spcPct val="115385"/>
              </a:lnSpc>
              <a:buNone/>
            </a:pPr>
            <a:r>
              <a:rPr lang="en-US" sz="1800" dirty="0">
                <a:solidFill>
                  <a:srgbClr val="9DB4FF"/>
                </a:solidFill>
                <a:latin typeface="Roboto Mono" pitchFamily="34" charset="0"/>
                <a:ea typeface="Roboto Mono" pitchFamily="34" charset="-122"/>
                <a:cs typeface="Roboto Mono" pitchFamily="34" charset="-120"/>
              </a:rPr>
              <a:t>BOOKING_ONLY</a:t>
            </a:r>
            <a:endParaRPr lang="en-US" sz="1800" dirty="0"/>
          </a:p>
        </p:txBody>
      </p:sp>
      <p:sp>
        <p:nvSpPr>
          <p:cNvPr id="24" name="Text 22"/>
          <p:cNvSpPr/>
          <p:nvPr/>
        </p:nvSpPr>
        <p:spPr>
          <a:xfrm>
            <a:off x="12030195" y="7837170"/>
            <a:ext cx="5374696" cy="3810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C9CDD3"/>
                </a:solidFill>
                <a:latin typeface="Arial" pitchFamily="34" charset="0"/>
                <a:ea typeface="Arial" pitchFamily="34" charset="-122"/>
                <a:cs typeface="Arial" pitchFamily="34" charset="-120"/>
              </a:rPr>
              <a:t>조회 전용 안내 + 공식 채널 유도</a:t>
            </a:r>
            <a:endParaRPr lang="en-US" sz="1800" dirty="0"/>
          </a:p>
        </p:txBody>
      </p:sp>
      <p:sp>
        <p:nvSpPr>
          <p:cNvPr id="25" name="Text 23"/>
          <p:cNvSpPr/>
          <p:nvPr/>
        </p:nvSpPr>
        <p:spPr>
          <a:xfrm>
            <a:off x="10174367" y="8294370"/>
            <a:ext cx="1810905" cy="381000"/>
          </a:xfrm>
          <a:prstGeom prst="rect">
            <a:avLst/>
          </a:prstGeom>
          <a:noFill/>
          <a:ln/>
        </p:spPr>
        <p:txBody>
          <a:bodyPr wrap="square" lIns="25400" tIns="25400" rIns="25400" bIns="25400" rtlCol="0" anchor="t">
            <a:normAutofit/>
          </a:bodyPr>
          <a:lstStyle/>
          <a:p>
            <a:pPr algn="l" indent="0" marL="0">
              <a:lnSpc>
                <a:spcPct val="115385"/>
              </a:lnSpc>
              <a:buNone/>
            </a:pPr>
            <a:r>
              <a:rPr lang="en-US" sz="1800" dirty="0">
                <a:solidFill>
                  <a:srgbClr val="9DB4FF"/>
                </a:solidFill>
                <a:latin typeface="Roboto Mono" pitchFamily="34" charset="0"/>
                <a:ea typeface="Roboto Mono" pitchFamily="34" charset="-122"/>
                <a:cs typeface="Roboto Mono" pitchFamily="34" charset="-120"/>
              </a:rPr>
              <a:t>NOT_FOUND</a:t>
            </a:r>
            <a:endParaRPr lang="en-US" sz="1800" dirty="0"/>
          </a:p>
        </p:txBody>
      </p:sp>
      <p:sp>
        <p:nvSpPr>
          <p:cNvPr id="26" name="Text 24"/>
          <p:cNvSpPr/>
          <p:nvPr/>
        </p:nvSpPr>
        <p:spPr>
          <a:xfrm>
            <a:off x="12030195" y="8301990"/>
            <a:ext cx="5374696" cy="3810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C9CDD3"/>
                </a:solidFill>
                <a:latin typeface="Arial" pitchFamily="34" charset="0"/>
                <a:ea typeface="Arial" pitchFamily="34" charset="-122"/>
                <a:cs typeface="Arial" pitchFamily="34" charset="-120"/>
              </a:rPr>
              <a:t>조회 실패 · 환각 폐기 시 공용</a:t>
            </a:r>
            <a:endParaRPr lang="en-US" sz="1800" dirty="0"/>
          </a:p>
        </p:txBody>
      </p:sp>
      <p:sp>
        <p:nvSpPr>
          <p:cNvPr id="27" name="Shape 25"/>
          <p:cNvSpPr/>
          <p:nvPr/>
        </p:nvSpPr>
        <p:spPr>
          <a:xfrm>
            <a:off x="10174367" y="9296400"/>
            <a:ext cx="6741914" cy="9525"/>
          </a:xfrm>
          <a:prstGeom prst="rect">
            <a:avLst/>
          </a:prstGeom>
          <a:solidFill>
            <a:srgbClr val="2C313A"/>
          </a:solidFill>
          <a:ln/>
        </p:spPr>
      </p:sp>
      <p:sp>
        <p:nvSpPr>
          <p:cNvPr id="28" name="Text 26"/>
          <p:cNvSpPr/>
          <p:nvPr/>
        </p:nvSpPr>
        <p:spPr>
          <a:xfrm>
            <a:off x="10174367" y="9456420"/>
            <a:ext cx="6944171"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9AA0A8"/>
                </a:solidFill>
                <a:latin typeface="Arial" pitchFamily="34" charset="0"/>
                <a:ea typeface="Arial" pitchFamily="34" charset="-122"/>
                <a:cs typeface="Arial" pitchFamily="34" charset="-120"/>
              </a:rPr>
              <a:t>4종 × 5언어 = 20개 문구를 코드에 상수로 둔다. 차단 상황에서 생성 모델을 쓰면 그 자체가 </a:t>
            </a:r>
            <a:pPr algn="l" indent="0" marL="0">
              <a:lnSpc>
                <a:spcPct val="141176"/>
              </a:lnSpc>
              <a:buNone/>
            </a:pPr>
            <a:r>
              <a:rPr lang="en-US" sz="1800" b="1" dirty="0">
                <a:solidFill>
                  <a:srgbClr val="F87171"/>
                </a:solidFill>
                <a:latin typeface="Arial" pitchFamily="34" charset="0"/>
                <a:ea typeface="Arial" pitchFamily="34" charset="-122"/>
                <a:cs typeface="Arial" pitchFamily="34" charset="-120"/>
              </a:rPr>
              <a:t>다시 인젝션 표면</a:t>
            </a:r>
            <a:pPr algn="l" indent="0" marL="0">
              <a:lnSpc>
                <a:spcPct val="141176"/>
              </a:lnSpc>
              <a:buNone/>
            </a:pPr>
            <a:r>
              <a:rPr lang="en-US" sz="1800" dirty="0">
                <a:solidFill>
                  <a:srgbClr val="9AA0A8"/>
                </a:solidFill>
                <a:latin typeface="Arial" pitchFamily="34" charset="0"/>
                <a:ea typeface="Arial" pitchFamily="34" charset="-122"/>
                <a:cs typeface="Arial" pitchFamily="34" charset="-120"/>
              </a:rPr>
              <a:t>이 된다.</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952500" y="685800"/>
            <a:ext cx="8741117"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15 · REQUEST FLOW</a:t>
            </a:r>
            <a:endParaRPr lang="en-US" sz="1800" dirty="0"/>
          </a:p>
        </p:txBody>
      </p:sp>
      <p:sp>
        <p:nvSpPr>
          <p:cNvPr id="3" name="Text 1"/>
          <p:cNvSpPr/>
          <p:nvPr/>
        </p:nvSpPr>
        <p:spPr>
          <a:xfrm>
            <a:off x="952500" y="1097280"/>
            <a:ext cx="8741117"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계층이 코드에서 끼어드는 위치</a:t>
            </a:r>
            <a:endParaRPr lang="en-US" sz="4950" dirty="0"/>
          </a:p>
        </p:txBody>
      </p:sp>
      <p:sp>
        <p:nvSpPr>
          <p:cNvPr id="4" name="Text 2"/>
          <p:cNvSpPr/>
          <p:nvPr/>
        </p:nvSpPr>
        <p:spPr>
          <a:xfrm>
            <a:off x="13887212" y="1752600"/>
            <a:ext cx="1268849" cy="312420"/>
          </a:xfrm>
          <a:prstGeom prst="rect">
            <a:avLst/>
          </a:prstGeom>
          <a:noFill/>
          <a:ln/>
        </p:spPr>
        <p:txBody>
          <a:bodyPr wrap="square" lIns="25400" tIns="25400" rIns="25400" bIns="25400" rtlCol="0" anchor="t">
            <a:normAutofit/>
          </a:bodyPr>
          <a:lstStyle/>
          <a:p>
            <a:pPr algn="l" indent="0" marL="0">
              <a:buNone/>
            </a:pPr>
            <a:r>
              <a:rPr lang="en-US" sz="1650" dirty="0">
                <a:solidFill>
                  <a:srgbClr val="8A9099"/>
                </a:solidFill>
                <a:latin typeface="Roboto Mono" pitchFamily="34" charset="0"/>
                <a:ea typeface="Roboto Mono" pitchFamily="34" charset="-122"/>
                <a:cs typeface="Roboto Mono" pitchFamily="34" charset="-120"/>
              </a:rPr>
              <a:t>통과 경로</a:t>
            </a:r>
            <a:endParaRPr lang="en-US" sz="1650" dirty="0"/>
          </a:p>
        </p:txBody>
      </p:sp>
      <p:sp>
        <p:nvSpPr>
          <p:cNvPr id="5" name="Text 3"/>
          <p:cNvSpPr/>
          <p:nvPr/>
        </p:nvSpPr>
        <p:spPr>
          <a:xfrm>
            <a:off x="15346561" y="1752600"/>
            <a:ext cx="218783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8A9099"/>
                </a:solidFill>
                <a:latin typeface="Roboto Mono" pitchFamily="34" charset="0"/>
                <a:ea typeface="Roboto Mono" pitchFamily="34" charset="-122"/>
                <a:cs typeface="Roboto Mono" pitchFamily="34" charset="-120"/>
              </a:rPr>
              <a:t>차단 · 조기 반환</a:t>
            </a:r>
            <a:endParaRPr lang="en-US" sz="1650" dirty="0"/>
          </a:p>
        </p:txBody>
      </p:sp>
      <p:sp>
        <p:nvSpPr>
          <p:cNvPr id="6" name="Shape 4"/>
          <p:cNvSpPr/>
          <p:nvPr/>
        </p:nvSpPr>
        <p:spPr>
          <a:xfrm>
            <a:off x="952500" y="2293620"/>
            <a:ext cx="11734800" cy="739140"/>
          </a:xfrm>
          <a:prstGeom prst="rect">
            <a:avLst/>
          </a:prstGeom>
          <a:solidFill>
            <a:srgbClr val="16181D"/>
          </a:solidFill>
          <a:ln/>
        </p:spPr>
      </p:sp>
      <p:sp>
        <p:nvSpPr>
          <p:cNvPr id="7" name="Text 5"/>
          <p:cNvSpPr/>
          <p:nvPr/>
        </p:nvSpPr>
        <p:spPr>
          <a:xfrm>
            <a:off x="1200150" y="2465070"/>
            <a:ext cx="11591544"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FBFBFA"/>
                </a:solidFill>
                <a:latin typeface="Arial" pitchFamily="34" charset="0"/>
                <a:ea typeface="Arial" pitchFamily="34" charset="-122"/>
                <a:cs typeface="Arial" pitchFamily="34" charset="-120"/>
              </a:rPr>
              <a:t>사용자 입력</a:t>
            </a:r>
            <a:endParaRPr lang="en-US" sz="2175" dirty="0"/>
          </a:p>
        </p:txBody>
      </p:sp>
      <p:sp>
        <p:nvSpPr>
          <p:cNvPr id="8" name="Shape 6"/>
          <p:cNvSpPr/>
          <p:nvPr/>
        </p:nvSpPr>
        <p:spPr>
          <a:xfrm>
            <a:off x="952500" y="3118485"/>
            <a:ext cx="11734800" cy="670560"/>
          </a:xfrm>
          <a:prstGeom prst="rect">
            <a:avLst/>
          </a:prstGeom>
          <a:solidFill>
            <a:srgbClr val="FFFFFF"/>
          </a:solidFill>
          <a:ln/>
        </p:spPr>
      </p:sp>
      <p:sp>
        <p:nvSpPr>
          <p:cNvPr id="9" name="Shape 7"/>
          <p:cNvSpPr/>
          <p:nvPr/>
        </p:nvSpPr>
        <p:spPr>
          <a:xfrm>
            <a:off x="952500" y="3781425"/>
            <a:ext cx="11734800" cy="9525"/>
          </a:xfrm>
          <a:prstGeom prst="rect">
            <a:avLst/>
          </a:prstGeom>
          <a:solidFill>
            <a:srgbClr val="DFE1E6"/>
          </a:solidFill>
          <a:ln/>
        </p:spPr>
      </p:sp>
      <p:sp>
        <p:nvSpPr>
          <p:cNvPr id="10" name="Shape 8"/>
          <p:cNvSpPr/>
          <p:nvPr/>
        </p:nvSpPr>
        <p:spPr>
          <a:xfrm>
            <a:off x="952500" y="3118485"/>
            <a:ext cx="11734800" cy="9525"/>
          </a:xfrm>
          <a:prstGeom prst="rect">
            <a:avLst/>
          </a:prstGeom>
          <a:solidFill>
            <a:srgbClr val="DFE1E6"/>
          </a:solidFill>
          <a:ln/>
        </p:spPr>
      </p:sp>
      <p:sp>
        <p:nvSpPr>
          <p:cNvPr id="11" name="Shape 9"/>
          <p:cNvSpPr/>
          <p:nvPr/>
        </p:nvSpPr>
        <p:spPr>
          <a:xfrm>
            <a:off x="952500" y="3118485"/>
            <a:ext cx="45720" cy="670560"/>
          </a:xfrm>
          <a:prstGeom prst="rect">
            <a:avLst/>
          </a:prstGeom>
          <a:solidFill>
            <a:srgbClr val="4F7CFF"/>
          </a:solidFill>
          <a:ln/>
        </p:spPr>
      </p:sp>
      <p:sp>
        <p:nvSpPr>
          <p:cNvPr id="12" name="Shape 10"/>
          <p:cNvSpPr/>
          <p:nvPr/>
        </p:nvSpPr>
        <p:spPr>
          <a:xfrm>
            <a:off x="12679680" y="3118485"/>
            <a:ext cx="9525" cy="670560"/>
          </a:xfrm>
          <a:prstGeom prst="rect">
            <a:avLst/>
          </a:prstGeom>
          <a:solidFill>
            <a:srgbClr val="DFE1E6"/>
          </a:solidFill>
          <a:ln/>
        </p:spPr>
      </p:sp>
      <p:sp>
        <p:nvSpPr>
          <p:cNvPr id="13" name="Text 11"/>
          <p:cNvSpPr/>
          <p:nvPr/>
        </p:nvSpPr>
        <p:spPr>
          <a:xfrm>
            <a:off x="1245870" y="3278505"/>
            <a:ext cx="11538204" cy="388620"/>
          </a:xfrm>
          <a:prstGeom prst="rect">
            <a:avLst/>
          </a:prstGeom>
          <a:noFill/>
          <a:ln/>
        </p:spPr>
        <p:txBody>
          <a:bodyPr wrap="square" lIns="25400" tIns="25400" rIns="25400" bIns="25400" rtlCol="0" anchor="t">
            <a:normAutofit/>
          </a:bodyPr>
          <a:lstStyle/>
          <a:p>
            <a:pPr algn="l" indent="0" marL="0">
              <a:buNone/>
            </a:pPr>
            <a:r>
              <a:rPr lang="en-US" sz="2100" b="1" dirty="0">
                <a:solidFill>
                  <a:srgbClr val="2B57D6"/>
                </a:solidFill>
                <a:latin typeface="Roboto Mono" pitchFamily="34" charset="0"/>
                <a:ea typeface="Roboto Mono" pitchFamily="34" charset="-122"/>
                <a:cs typeface="Roboto Mono" pitchFamily="34" charset="-120"/>
              </a:rPr>
              <a:t>local_gate </a:t>
            </a:r>
            <a:pPr algn="l" indent="0" marL="0">
              <a:buNone/>
            </a:pPr>
            <a:r>
              <a:rPr lang="en-US" sz="2100" dirty="0">
                <a:solidFill>
                  <a:srgbClr val="16181D"/>
                </a:solidFill>
                <a:highlight>
                  <a:srgbClr val="FFFFFF"/>
                </a:highlight>
                <a:latin typeface="Arial" pitchFamily="34" charset="0"/>
                <a:ea typeface="Arial" pitchFamily="34" charset="-122"/>
                <a:cs typeface="Arial" pitchFamily="34" charset="-120"/>
              </a:rPr>
              <a:t>lang · in_domain · toxicity · intent · slots</a:t>
            </a:r>
            <a:endParaRPr lang="en-US" sz="2100" dirty="0"/>
          </a:p>
        </p:txBody>
      </p:sp>
      <p:sp>
        <p:nvSpPr>
          <p:cNvPr id="14" name="Shape 12"/>
          <p:cNvSpPr/>
          <p:nvPr/>
        </p:nvSpPr>
        <p:spPr>
          <a:xfrm>
            <a:off x="952500" y="3874770"/>
            <a:ext cx="11734800" cy="708660"/>
          </a:xfrm>
          <a:prstGeom prst="rect">
            <a:avLst/>
          </a:prstGeom>
          <a:solidFill>
            <a:srgbClr val="FFFFFF"/>
          </a:solidFill>
          <a:ln/>
        </p:spPr>
      </p:sp>
      <p:sp>
        <p:nvSpPr>
          <p:cNvPr id="15" name="Shape 13"/>
          <p:cNvSpPr/>
          <p:nvPr/>
        </p:nvSpPr>
        <p:spPr>
          <a:xfrm>
            <a:off x="952500" y="4575810"/>
            <a:ext cx="11734800" cy="9525"/>
          </a:xfrm>
          <a:prstGeom prst="rect">
            <a:avLst/>
          </a:prstGeom>
          <a:solidFill>
            <a:srgbClr val="DFE1E6"/>
          </a:solidFill>
          <a:ln/>
        </p:spPr>
      </p:sp>
      <p:sp>
        <p:nvSpPr>
          <p:cNvPr id="16" name="Shape 14"/>
          <p:cNvSpPr/>
          <p:nvPr/>
        </p:nvSpPr>
        <p:spPr>
          <a:xfrm>
            <a:off x="952500" y="3874770"/>
            <a:ext cx="11734800" cy="9525"/>
          </a:xfrm>
          <a:prstGeom prst="rect">
            <a:avLst/>
          </a:prstGeom>
          <a:solidFill>
            <a:srgbClr val="DFE1E6"/>
          </a:solidFill>
          <a:ln/>
        </p:spPr>
      </p:sp>
      <p:sp>
        <p:nvSpPr>
          <p:cNvPr id="17" name="Shape 15"/>
          <p:cNvSpPr/>
          <p:nvPr/>
        </p:nvSpPr>
        <p:spPr>
          <a:xfrm>
            <a:off x="952500" y="3874770"/>
            <a:ext cx="45720" cy="708660"/>
          </a:xfrm>
          <a:prstGeom prst="rect">
            <a:avLst/>
          </a:prstGeom>
          <a:solidFill>
            <a:srgbClr val="4F7CFF"/>
          </a:solidFill>
          <a:ln/>
        </p:spPr>
      </p:sp>
      <p:sp>
        <p:nvSpPr>
          <p:cNvPr id="18" name="Shape 16"/>
          <p:cNvSpPr/>
          <p:nvPr/>
        </p:nvSpPr>
        <p:spPr>
          <a:xfrm>
            <a:off x="12679680" y="3874770"/>
            <a:ext cx="9525" cy="708660"/>
          </a:xfrm>
          <a:prstGeom prst="rect">
            <a:avLst/>
          </a:prstGeom>
          <a:solidFill>
            <a:srgbClr val="DFE1E6"/>
          </a:solidFill>
          <a:ln/>
        </p:spPr>
      </p:sp>
      <p:sp>
        <p:nvSpPr>
          <p:cNvPr id="19" name="Text 17"/>
          <p:cNvSpPr/>
          <p:nvPr/>
        </p:nvSpPr>
        <p:spPr>
          <a:xfrm>
            <a:off x="1245870" y="4034790"/>
            <a:ext cx="11538204"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2B57D6"/>
                </a:solidFill>
                <a:latin typeface="Roboto Mono" pitchFamily="34" charset="0"/>
                <a:ea typeface="Roboto Mono" pitchFamily="34" charset="-122"/>
                <a:cs typeface="Roboto Mono" pitchFamily="34" charset="-120"/>
              </a:rPr>
              <a:t>blocklist </a:t>
            </a:r>
            <a:pPr algn="l" indent="0" marL="0">
              <a:buNone/>
            </a:pPr>
            <a:r>
              <a:rPr lang="en-US" sz="2100" dirty="0">
                <a:solidFill>
                  <a:srgbClr val="16181D"/>
                </a:solidFill>
                <a:highlight>
                  <a:srgbClr val="FFFFFF"/>
                </a:highlight>
                <a:latin typeface="Arial" pitchFamily="34" charset="0"/>
                <a:ea typeface="Arial" pitchFamily="34" charset="-122"/>
                <a:cs typeface="Arial" pitchFamily="34" charset="-120"/>
              </a:rPr>
              <a:t>정규화 후 사전 매칭</a:t>
            </a:r>
            <a:endParaRPr lang="en-US" sz="2100" dirty="0"/>
          </a:p>
        </p:txBody>
      </p:sp>
      <p:sp>
        <p:nvSpPr>
          <p:cNvPr id="20" name="Shape 18"/>
          <p:cNvSpPr/>
          <p:nvPr/>
        </p:nvSpPr>
        <p:spPr>
          <a:xfrm>
            <a:off x="12858750" y="3947160"/>
            <a:ext cx="4476750" cy="563880"/>
          </a:xfrm>
          <a:prstGeom prst="rect">
            <a:avLst/>
          </a:prstGeom>
          <a:solidFill>
            <a:srgbClr val="FFF7ED"/>
          </a:solidFill>
          <a:ln w="7620">
            <a:solidFill>
              <a:srgbClr val="FED7AA"/>
            </a:solidFill>
            <a:prstDash val="solid"/>
          </a:ln>
        </p:spPr>
      </p:sp>
      <p:sp>
        <p:nvSpPr>
          <p:cNvPr id="21" name="Text 19"/>
          <p:cNvSpPr/>
          <p:nvPr/>
        </p:nvSpPr>
        <p:spPr>
          <a:xfrm>
            <a:off x="13075920" y="4088130"/>
            <a:ext cx="4176712" cy="320040"/>
          </a:xfrm>
          <a:prstGeom prst="rect">
            <a:avLst/>
          </a:prstGeom>
          <a:noFill/>
          <a:ln/>
        </p:spPr>
        <p:txBody>
          <a:bodyPr wrap="square" lIns="25400" tIns="25400" rIns="25400" bIns="25400" rtlCol="0" anchor="t">
            <a:normAutofit/>
          </a:bodyPr>
          <a:lstStyle/>
          <a:p>
            <a:pPr algn="l" indent="0" marL="0">
              <a:buNone/>
            </a:pPr>
            <a:r>
              <a:rPr lang="en-US" sz="1875" dirty="0">
                <a:solidFill>
                  <a:srgbClr val="7C2D12"/>
                </a:solidFill>
                <a:highlight>
                  <a:srgbClr val="FFF7ED"/>
                </a:highlight>
                <a:latin typeface="Arial" pitchFamily="34" charset="0"/>
                <a:ea typeface="Arial" pitchFamily="34" charset="-122"/>
                <a:cs typeface="Arial" pitchFamily="34" charset="-120"/>
              </a:rPr>
              <a:t>→ </a:t>
            </a:r>
            <a:pPr algn="l" indent="0" marL="0">
              <a:buNone/>
            </a:pPr>
            <a:r>
              <a:rPr lang="en-US" sz="1875" b="1" dirty="0">
                <a:solidFill>
                  <a:srgbClr val="7C2D12"/>
                </a:solidFill>
                <a:latin typeface="Arial" pitchFamily="34" charset="0"/>
                <a:ea typeface="Arial" pitchFamily="34" charset="-122"/>
                <a:cs typeface="Arial" pitchFamily="34" charset="-120"/>
              </a:rPr>
              <a:t>WARNING </a:t>
            </a:r>
            <a:pPr algn="l" indent="0" marL="0">
              <a:buNone/>
            </a:pPr>
            <a:r>
              <a:rPr lang="en-US" sz="1650" dirty="0">
                <a:solidFill>
                  <a:srgbClr val="7C2D12"/>
                </a:solidFill>
                <a:latin typeface="Roboto Mono" pitchFamily="34" charset="0"/>
                <a:ea typeface="Roboto Mono" pitchFamily="34" charset="-122"/>
                <a:cs typeface="Roboto Mono" pitchFamily="34" charset="-120"/>
              </a:rPr>
              <a:t>blocklist:&lt;hit&gt;</a:t>
            </a:r>
            <a:endParaRPr lang="en-US" sz="1875" dirty="0"/>
          </a:p>
        </p:txBody>
      </p:sp>
      <p:sp>
        <p:nvSpPr>
          <p:cNvPr id="22" name="Shape 20"/>
          <p:cNvSpPr/>
          <p:nvPr/>
        </p:nvSpPr>
        <p:spPr>
          <a:xfrm>
            <a:off x="952500" y="4669155"/>
            <a:ext cx="11734800" cy="708660"/>
          </a:xfrm>
          <a:prstGeom prst="rect">
            <a:avLst/>
          </a:prstGeom>
          <a:solidFill>
            <a:srgbClr val="FFFFFF"/>
          </a:solidFill>
          <a:ln/>
        </p:spPr>
      </p:sp>
      <p:sp>
        <p:nvSpPr>
          <p:cNvPr id="23" name="Shape 21"/>
          <p:cNvSpPr/>
          <p:nvPr/>
        </p:nvSpPr>
        <p:spPr>
          <a:xfrm>
            <a:off x="952500" y="5370195"/>
            <a:ext cx="11734800" cy="9525"/>
          </a:xfrm>
          <a:prstGeom prst="rect">
            <a:avLst/>
          </a:prstGeom>
          <a:solidFill>
            <a:srgbClr val="DFE1E6"/>
          </a:solidFill>
          <a:ln/>
        </p:spPr>
      </p:sp>
      <p:sp>
        <p:nvSpPr>
          <p:cNvPr id="24" name="Shape 22"/>
          <p:cNvSpPr/>
          <p:nvPr/>
        </p:nvSpPr>
        <p:spPr>
          <a:xfrm>
            <a:off x="952500" y="4669155"/>
            <a:ext cx="11734800" cy="9525"/>
          </a:xfrm>
          <a:prstGeom prst="rect">
            <a:avLst/>
          </a:prstGeom>
          <a:solidFill>
            <a:srgbClr val="DFE1E6"/>
          </a:solidFill>
          <a:ln/>
        </p:spPr>
      </p:sp>
      <p:sp>
        <p:nvSpPr>
          <p:cNvPr id="25" name="Shape 23"/>
          <p:cNvSpPr/>
          <p:nvPr/>
        </p:nvSpPr>
        <p:spPr>
          <a:xfrm>
            <a:off x="952500" y="4669155"/>
            <a:ext cx="45720" cy="708660"/>
          </a:xfrm>
          <a:prstGeom prst="rect">
            <a:avLst/>
          </a:prstGeom>
          <a:solidFill>
            <a:srgbClr val="4F7CFF"/>
          </a:solidFill>
          <a:ln/>
        </p:spPr>
      </p:sp>
      <p:sp>
        <p:nvSpPr>
          <p:cNvPr id="26" name="Shape 24"/>
          <p:cNvSpPr/>
          <p:nvPr/>
        </p:nvSpPr>
        <p:spPr>
          <a:xfrm>
            <a:off x="12679680" y="4669155"/>
            <a:ext cx="9525" cy="708660"/>
          </a:xfrm>
          <a:prstGeom prst="rect">
            <a:avLst/>
          </a:prstGeom>
          <a:solidFill>
            <a:srgbClr val="DFE1E6"/>
          </a:solidFill>
          <a:ln/>
        </p:spPr>
      </p:sp>
      <p:sp>
        <p:nvSpPr>
          <p:cNvPr id="27" name="Text 25"/>
          <p:cNvSpPr/>
          <p:nvPr/>
        </p:nvSpPr>
        <p:spPr>
          <a:xfrm>
            <a:off x="1245870" y="4829175"/>
            <a:ext cx="11538204"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2B57D6"/>
                </a:solidFill>
                <a:latin typeface="Roboto Mono" pitchFamily="34" charset="0"/>
                <a:ea typeface="Roboto Mono" pitchFamily="34" charset="-122"/>
                <a:cs typeface="Roboto Mono" pitchFamily="34" charset="-120"/>
              </a:rPr>
              <a:t>local_gate </a:t>
            </a:r>
            <a:pPr algn="l" indent="0" marL="0">
              <a:buNone/>
            </a:pPr>
            <a:r>
              <a:rPr lang="en-US" sz="2100" dirty="0">
                <a:solidFill>
                  <a:srgbClr val="16181D"/>
                </a:solidFill>
                <a:highlight>
                  <a:srgbClr val="FFFFFF"/>
                </a:highlight>
                <a:latin typeface="Arial" pitchFamily="34" charset="0"/>
                <a:ea typeface="Arial" pitchFamily="34" charset="-122"/>
                <a:cs typeface="Arial" pitchFamily="34" charset="-120"/>
              </a:rPr>
              <a:t>toxicity ≥ 0.6 재확인</a:t>
            </a:r>
            <a:endParaRPr lang="en-US" sz="2100" dirty="0"/>
          </a:p>
        </p:txBody>
      </p:sp>
      <p:sp>
        <p:nvSpPr>
          <p:cNvPr id="28" name="Shape 26"/>
          <p:cNvSpPr/>
          <p:nvPr/>
        </p:nvSpPr>
        <p:spPr>
          <a:xfrm>
            <a:off x="12858750" y="4741545"/>
            <a:ext cx="4476750" cy="563880"/>
          </a:xfrm>
          <a:prstGeom prst="rect">
            <a:avLst/>
          </a:prstGeom>
          <a:solidFill>
            <a:srgbClr val="FFF7ED"/>
          </a:solidFill>
          <a:ln w="7620">
            <a:solidFill>
              <a:srgbClr val="FED7AA"/>
            </a:solidFill>
            <a:prstDash val="solid"/>
          </a:ln>
        </p:spPr>
      </p:sp>
      <p:sp>
        <p:nvSpPr>
          <p:cNvPr id="29" name="Text 27"/>
          <p:cNvSpPr/>
          <p:nvPr/>
        </p:nvSpPr>
        <p:spPr>
          <a:xfrm>
            <a:off x="13075920" y="4882515"/>
            <a:ext cx="4176712" cy="320040"/>
          </a:xfrm>
          <a:prstGeom prst="rect">
            <a:avLst/>
          </a:prstGeom>
          <a:noFill/>
          <a:ln/>
        </p:spPr>
        <p:txBody>
          <a:bodyPr wrap="square" lIns="25400" tIns="25400" rIns="25400" bIns="25400" rtlCol="0" anchor="t">
            <a:normAutofit/>
          </a:bodyPr>
          <a:lstStyle/>
          <a:p>
            <a:pPr algn="l" indent="0" marL="0">
              <a:buNone/>
            </a:pPr>
            <a:r>
              <a:rPr lang="en-US" sz="1875" dirty="0">
                <a:solidFill>
                  <a:srgbClr val="7C2D12"/>
                </a:solidFill>
                <a:highlight>
                  <a:srgbClr val="FFF7ED"/>
                </a:highlight>
                <a:latin typeface="Arial" pitchFamily="34" charset="0"/>
                <a:ea typeface="Arial" pitchFamily="34" charset="-122"/>
                <a:cs typeface="Arial" pitchFamily="34" charset="-120"/>
              </a:rPr>
              <a:t>→ </a:t>
            </a:r>
            <a:pPr algn="l" indent="0" marL="0">
              <a:buNone/>
            </a:pPr>
            <a:r>
              <a:rPr lang="en-US" sz="1875" b="1" dirty="0">
                <a:solidFill>
                  <a:srgbClr val="7C2D12"/>
                </a:solidFill>
                <a:latin typeface="Arial" pitchFamily="34" charset="0"/>
                <a:ea typeface="Arial" pitchFamily="34" charset="-122"/>
                <a:cs typeface="Arial" pitchFamily="34" charset="-120"/>
              </a:rPr>
              <a:t>WARNING </a:t>
            </a:r>
            <a:pPr algn="l" indent="0" marL="0">
              <a:buNone/>
            </a:pPr>
            <a:r>
              <a:rPr lang="en-US" sz="1650" dirty="0">
                <a:solidFill>
                  <a:srgbClr val="7C2D12"/>
                </a:solidFill>
                <a:latin typeface="Roboto Mono" pitchFamily="34" charset="0"/>
                <a:ea typeface="Roboto Mono" pitchFamily="34" charset="-122"/>
                <a:cs typeface="Roboto Mono" pitchFamily="34" charset="-120"/>
              </a:rPr>
              <a:t>toxicity</a:t>
            </a:r>
            <a:endParaRPr lang="en-US" sz="1875" dirty="0"/>
          </a:p>
        </p:txBody>
      </p:sp>
      <p:sp>
        <p:nvSpPr>
          <p:cNvPr id="30" name="Shape 28"/>
          <p:cNvSpPr/>
          <p:nvPr/>
        </p:nvSpPr>
        <p:spPr>
          <a:xfrm>
            <a:off x="952500" y="5463540"/>
            <a:ext cx="11734800" cy="708660"/>
          </a:xfrm>
          <a:prstGeom prst="rect">
            <a:avLst/>
          </a:prstGeom>
          <a:solidFill>
            <a:srgbClr val="F3F6FF"/>
          </a:solidFill>
          <a:ln/>
        </p:spPr>
      </p:sp>
      <p:sp>
        <p:nvSpPr>
          <p:cNvPr id="31" name="Shape 29"/>
          <p:cNvSpPr/>
          <p:nvPr/>
        </p:nvSpPr>
        <p:spPr>
          <a:xfrm>
            <a:off x="952500" y="6164580"/>
            <a:ext cx="11734800" cy="9525"/>
          </a:xfrm>
          <a:prstGeom prst="rect">
            <a:avLst/>
          </a:prstGeom>
          <a:solidFill>
            <a:srgbClr val="C9D6FF"/>
          </a:solidFill>
          <a:ln/>
        </p:spPr>
      </p:sp>
      <p:sp>
        <p:nvSpPr>
          <p:cNvPr id="32" name="Shape 30"/>
          <p:cNvSpPr/>
          <p:nvPr/>
        </p:nvSpPr>
        <p:spPr>
          <a:xfrm>
            <a:off x="952500" y="5463540"/>
            <a:ext cx="11734800" cy="9525"/>
          </a:xfrm>
          <a:prstGeom prst="rect">
            <a:avLst/>
          </a:prstGeom>
          <a:solidFill>
            <a:srgbClr val="C9D6FF"/>
          </a:solidFill>
          <a:ln/>
        </p:spPr>
      </p:sp>
      <p:sp>
        <p:nvSpPr>
          <p:cNvPr id="33" name="Shape 31"/>
          <p:cNvSpPr/>
          <p:nvPr/>
        </p:nvSpPr>
        <p:spPr>
          <a:xfrm>
            <a:off x="952500" y="5463540"/>
            <a:ext cx="45720" cy="708660"/>
          </a:xfrm>
          <a:prstGeom prst="rect">
            <a:avLst/>
          </a:prstGeom>
          <a:solidFill>
            <a:srgbClr val="4F7CFF"/>
          </a:solidFill>
          <a:ln/>
        </p:spPr>
      </p:sp>
      <p:sp>
        <p:nvSpPr>
          <p:cNvPr id="34" name="Shape 32"/>
          <p:cNvSpPr/>
          <p:nvPr/>
        </p:nvSpPr>
        <p:spPr>
          <a:xfrm>
            <a:off x="12679680" y="5463540"/>
            <a:ext cx="9525" cy="708660"/>
          </a:xfrm>
          <a:prstGeom prst="rect">
            <a:avLst/>
          </a:prstGeom>
          <a:solidFill>
            <a:srgbClr val="C9D6FF"/>
          </a:solidFill>
          <a:ln/>
        </p:spPr>
      </p:sp>
      <p:sp>
        <p:nvSpPr>
          <p:cNvPr id="35" name="Text 33"/>
          <p:cNvSpPr/>
          <p:nvPr/>
        </p:nvSpPr>
        <p:spPr>
          <a:xfrm>
            <a:off x="1245870" y="5623560"/>
            <a:ext cx="11538204"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2B57D6"/>
                </a:solidFill>
                <a:latin typeface="Roboto Mono" pitchFamily="34" charset="0"/>
                <a:ea typeface="Roboto Mono" pitchFamily="34" charset="-122"/>
                <a:cs typeface="Roboto Mono" pitchFamily="34" charset="-120"/>
              </a:rPr>
              <a:t>pii_regex </a:t>
            </a:r>
            <a:pPr algn="l" indent="0" marL="0">
              <a:buNone/>
            </a:pPr>
            <a:r>
              <a:rPr lang="en-US" sz="2100" dirty="0">
                <a:solidFill>
                  <a:srgbClr val="16181D"/>
                </a:solidFill>
                <a:highlight>
                  <a:srgbClr val="F3F6FF"/>
                </a:highlight>
                <a:latin typeface="Arial" pitchFamily="34" charset="0"/>
                <a:ea typeface="Arial" pitchFamily="34" charset="-122"/>
                <a:cs typeface="Arial" pitchFamily="34" charset="-120"/>
              </a:rPr>
              <a:t>마스킹 — </a:t>
            </a:r>
            <a:pPr algn="l" indent="0" marL="0">
              <a:buNone/>
            </a:pPr>
            <a:r>
              <a:rPr lang="en-US" sz="2100" b="1" dirty="0">
                <a:solidFill>
                  <a:srgbClr val="16181D"/>
                </a:solidFill>
                <a:latin typeface="Arial" pitchFamily="34" charset="0"/>
                <a:ea typeface="Arial" pitchFamily="34" charset="-122"/>
                <a:cs typeface="Arial" pitchFamily="34" charset="-120"/>
              </a:rPr>
              <a:t>차단하지 않고 통과</a:t>
            </a:r>
            <a:endParaRPr lang="en-US" sz="2100" dirty="0"/>
          </a:p>
        </p:txBody>
      </p:sp>
      <p:sp>
        <p:nvSpPr>
          <p:cNvPr id="36" name="Text 34"/>
          <p:cNvSpPr/>
          <p:nvPr/>
        </p:nvSpPr>
        <p:spPr>
          <a:xfrm>
            <a:off x="13068300" y="5650230"/>
            <a:ext cx="4714875" cy="373380"/>
          </a:xfrm>
          <a:prstGeom prst="rect">
            <a:avLst/>
          </a:prstGeom>
          <a:noFill/>
          <a:ln/>
        </p:spPr>
        <p:txBody>
          <a:bodyPr wrap="square" lIns="25400" tIns="25400" rIns="25400" bIns="25400" rtlCol="0" anchor="t">
            <a:normAutofit/>
          </a:bodyPr>
          <a:lstStyle/>
          <a:p>
            <a:pPr algn="l" indent="0" marL="0">
              <a:buNone/>
            </a:pPr>
            <a:r>
              <a:rPr lang="en-US" sz="1800" dirty="0">
                <a:solidFill>
                  <a:srgbClr val="6B7280"/>
                </a:solidFill>
                <a:latin typeface="Arial" pitchFamily="34" charset="0"/>
                <a:ea typeface="Arial" pitchFamily="34" charset="-122"/>
                <a:cs typeface="Arial" pitchFamily="34" charset="-120"/>
              </a:rPr>
              <a:t>trace 에 마스킹 종류만 기록</a:t>
            </a:r>
            <a:endParaRPr lang="en-US" sz="1800" dirty="0"/>
          </a:p>
        </p:txBody>
      </p:sp>
      <p:sp>
        <p:nvSpPr>
          <p:cNvPr id="37" name="Shape 35"/>
          <p:cNvSpPr/>
          <p:nvPr/>
        </p:nvSpPr>
        <p:spPr>
          <a:xfrm>
            <a:off x="952500" y="6257925"/>
            <a:ext cx="11734800" cy="708660"/>
          </a:xfrm>
          <a:prstGeom prst="rect">
            <a:avLst/>
          </a:prstGeom>
          <a:solidFill>
            <a:srgbClr val="F6F7F8"/>
          </a:solidFill>
          <a:ln/>
        </p:spPr>
      </p:sp>
      <p:sp>
        <p:nvSpPr>
          <p:cNvPr id="38" name="Shape 36"/>
          <p:cNvSpPr/>
          <p:nvPr/>
        </p:nvSpPr>
        <p:spPr>
          <a:xfrm>
            <a:off x="952500" y="6958965"/>
            <a:ext cx="11734800" cy="9525"/>
          </a:xfrm>
          <a:prstGeom prst="rect">
            <a:avLst/>
          </a:prstGeom>
          <a:solidFill>
            <a:srgbClr val="DFE1E6"/>
          </a:solidFill>
          <a:ln/>
        </p:spPr>
      </p:sp>
      <p:sp>
        <p:nvSpPr>
          <p:cNvPr id="39" name="Shape 37"/>
          <p:cNvSpPr/>
          <p:nvPr/>
        </p:nvSpPr>
        <p:spPr>
          <a:xfrm>
            <a:off x="952500" y="6257925"/>
            <a:ext cx="11734800" cy="9525"/>
          </a:xfrm>
          <a:prstGeom prst="rect">
            <a:avLst/>
          </a:prstGeom>
          <a:solidFill>
            <a:srgbClr val="DFE1E6"/>
          </a:solidFill>
          <a:ln/>
        </p:spPr>
      </p:sp>
      <p:sp>
        <p:nvSpPr>
          <p:cNvPr id="40" name="Shape 38"/>
          <p:cNvSpPr/>
          <p:nvPr/>
        </p:nvSpPr>
        <p:spPr>
          <a:xfrm>
            <a:off x="952500" y="6257925"/>
            <a:ext cx="45720" cy="708660"/>
          </a:xfrm>
          <a:prstGeom prst="rect">
            <a:avLst/>
          </a:prstGeom>
          <a:solidFill>
            <a:srgbClr val="16181D"/>
          </a:solidFill>
          <a:ln/>
        </p:spPr>
      </p:sp>
      <p:sp>
        <p:nvSpPr>
          <p:cNvPr id="41" name="Shape 39"/>
          <p:cNvSpPr/>
          <p:nvPr/>
        </p:nvSpPr>
        <p:spPr>
          <a:xfrm>
            <a:off x="12679680" y="6257925"/>
            <a:ext cx="9525" cy="708660"/>
          </a:xfrm>
          <a:prstGeom prst="rect">
            <a:avLst/>
          </a:prstGeom>
          <a:solidFill>
            <a:srgbClr val="DFE1E6"/>
          </a:solidFill>
          <a:ln/>
        </p:spPr>
      </p:sp>
      <p:sp>
        <p:nvSpPr>
          <p:cNvPr id="42" name="Text 40"/>
          <p:cNvSpPr/>
          <p:nvPr/>
        </p:nvSpPr>
        <p:spPr>
          <a:xfrm>
            <a:off x="1245870" y="6417945"/>
            <a:ext cx="11538204"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Roboto Mono" pitchFamily="34" charset="0"/>
                <a:ea typeface="Roboto Mono" pitchFamily="34" charset="-122"/>
                <a:cs typeface="Roboto Mono" pitchFamily="34" charset="-120"/>
              </a:rPr>
              <a:t>bedrock_guardrail </a:t>
            </a:r>
            <a:pPr algn="l" indent="0" marL="0">
              <a:buNone/>
            </a:pPr>
            <a:r>
              <a:rPr lang="en-US" sz="2100" dirty="0">
                <a:solidFill>
                  <a:srgbClr val="16181D"/>
                </a:solidFill>
                <a:highlight>
                  <a:srgbClr val="F6F7F8"/>
                </a:highlight>
                <a:latin typeface="Arial" pitchFamily="34" charset="0"/>
                <a:ea typeface="Arial" pitchFamily="34" charset="-122"/>
                <a:cs typeface="Arial" pitchFamily="34" charset="-120"/>
              </a:rPr>
              <a:t>INPUT 검사</a:t>
            </a:r>
            <a:endParaRPr lang="en-US" sz="2100" dirty="0"/>
          </a:p>
        </p:txBody>
      </p:sp>
      <p:sp>
        <p:nvSpPr>
          <p:cNvPr id="43" name="Shape 41"/>
          <p:cNvSpPr/>
          <p:nvPr/>
        </p:nvSpPr>
        <p:spPr>
          <a:xfrm>
            <a:off x="12858750" y="6330315"/>
            <a:ext cx="4476750" cy="563880"/>
          </a:xfrm>
          <a:prstGeom prst="rect">
            <a:avLst/>
          </a:prstGeom>
          <a:solidFill>
            <a:srgbClr val="FFF7ED"/>
          </a:solidFill>
          <a:ln w="7620">
            <a:solidFill>
              <a:srgbClr val="FED7AA"/>
            </a:solidFill>
            <a:prstDash val="solid"/>
          </a:ln>
        </p:spPr>
      </p:sp>
      <p:sp>
        <p:nvSpPr>
          <p:cNvPr id="44" name="Text 42"/>
          <p:cNvSpPr/>
          <p:nvPr/>
        </p:nvSpPr>
        <p:spPr>
          <a:xfrm>
            <a:off x="13075920" y="6471285"/>
            <a:ext cx="4176712" cy="320040"/>
          </a:xfrm>
          <a:prstGeom prst="rect">
            <a:avLst/>
          </a:prstGeom>
          <a:noFill/>
          <a:ln/>
        </p:spPr>
        <p:txBody>
          <a:bodyPr wrap="square" lIns="25400" tIns="25400" rIns="25400" bIns="25400" rtlCol="0" anchor="t">
            <a:normAutofit/>
          </a:bodyPr>
          <a:lstStyle/>
          <a:p>
            <a:pPr algn="l" indent="0" marL="0">
              <a:buNone/>
            </a:pPr>
            <a:r>
              <a:rPr lang="en-US" sz="1875" dirty="0">
                <a:solidFill>
                  <a:srgbClr val="7C2D12"/>
                </a:solidFill>
                <a:highlight>
                  <a:srgbClr val="FFF7ED"/>
                </a:highlight>
                <a:latin typeface="Arial" pitchFamily="34" charset="0"/>
                <a:ea typeface="Arial" pitchFamily="34" charset="-122"/>
                <a:cs typeface="Arial" pitchFamily="34" charset="-120"/>
              </a:rPr>
              <a:t>→ </a:t>
            </a:r>
            <a:pPr algn="l" indent="0" marL="0">
              <a:buNone/>
            </a:pPr>
            <a:r>
              <a:rPr lang="en-US" sz="1875" b="1" dirty="0">
                <a:solidFill>
                  <a:srgbClr val="7C2D12"/>
                </a:solidFill>
                <a:latin typeface="Arial" pitchFamily="34" charset="0"/>
                <a:ea typeface="Arial" pitchFamily="34" charset="-122"/>
                <a:cs typeface="Arial" pitchFamily="34" charset="-120"/>
              </a:rPr>
              <a:t>REFUSAL </a:t>
            </a:r>
            <a:pPr algn="l" indent="0" marL="0">
              <a:buNone/>
            </a:pPr>
            <a:r>
              <a:rPr lang="en-US" sz="1650" dirty="0">
                <a:solidFill>
                  <a:srgbClr val="7C2D12"/>
                </a:solidFill>
                <a:latin typeface="Roboto Mono" pitchFamily="34" charset="0"/>
                <a:ea typeface="Roboto Mono" pitchFamily="34" charset="-122"/>
                <a:cs typeface="Roboto Mono" pitchFamily="34" charset="-120"/>
              </a:rPr>
              <a:t>guardrail_input</a:t>
            </a:r>
            <a:endParaRPr lang="en-US" sz="1875" dirty="0"/>
          </a:p>
        </p:txBody>
      </p:sp>
      <p:sp>
        <p:nvSpPr>
          <p:cNvPr id="45" name="Shape 43"/>
          <p:cNvSpPr/>
          <p:nvPr/>
        </p:nvSpPr>
        <p:spPr>
          <a:xfrm>
            <a:off x="952500" y="7052310"/>
            <a:ext cx="11734800" cy="670560"/>
          </a:xfrm>
          <a:prstGeom prst="rect">
            <a:avLst/>
          </a:prstGeom>
          <a:solidFill>
            <a:srgbClr val="FFFFFF"/>
          </a:solidFill>
          <a:ln/>
        </p:spPr>
      </p:sp>
      <p:sp>
        <p:nvSpPr>
          <p:cNvPr id="46" name="Shape 44"/>
          <p:cNvSpPr/>
          <p:nvPr/>
        </p:nvSpPr>
        <p:spPr>
          <a:xfrm>
            <a:off x="952500" y="7715250"/>
            <a:ext cx="11734800" cy="9525"/>
          </a:xfrm>
          <a:prstGeom prst="rect">
            <a:avLst/>
          </a:prstGeom>
          <a:solidFill>
            <a:srgbClr val="DFE1E6"/>
          </a:solidFill>
          <a:ln/>
        </p:spPr>
      </p:sp>
      <p:sp>
        <p:nvSpPr>
          <p:cNvPr id="47" name="Shape 45"/>
          <p:cNvSpPr/>
          <p:nvPr/>
        </p:nvSpPr>
        <p:spPr>
          <a:xfrm>
            <a:off x="952500" y="7052310"/>
            <a:ext cx="11734800" cy="9525"/>
          </a:xfrm>
          <a:prstGeom prst="rect">
            <a:avLst/>
          </a:prstGeom>
          <a:solidFill>
            <a:srgbClr val="DFE1E6"/>
          </a:solidFill>
          <a:ln/>
        </p:spPr>
      </p:sp>
      <p:sp>
        <p:nvSpPr>
          <p:cNvPr id="48" name="Shape 46"/>
          <p:cNvSpPr/>
          <p:nvPr/>
        </p:nvSpPr>
        <p:spPr>
          <a:xfrm>
            <a:off x="952500" y="7052310"/>
            <a:ext cx="45720" cy="670560"/>
          </a:xfrm>
          <a:prstGeom prst="rect">
            <a:avLst/>
          </a:prstGeom>
          <a:solidFill>
            <a:srgbClr val="4F7CFF"/>
          </a:solidFill>
          <a:ln/>
        </p:spPr>
      </p:sp>
      <p:sp>
        <p:nvSpPr>
          <p:cNvPr id="49" name="Shape 47"/>
          <p:cNvSpPr/>
          <p:nvPr/>
        </p:nvSpPr>
        <p:spPr>
          <a:xfrm>
            <a:off x="12679680" y="7052310"/>
            <a:ext cx="9525" cy="670560"/>
          </a:xfrm>
          <a:prstGeom prst="rect">
            <a:avLst/>
          </a:prstGeom>
          <a:solidFill>
            <a:srgbClr val="DFE1E6"/>
          </a:solidFill>
          <a:ln/>
        </p:spPr>
      </p:sp>
      <p:sp>
        <p:nvSpPr>
          <p:cNvPr id="50" name="Text 48"/>
          <p:cNvSpPr/>
          <p:nvPr/>
        </p:nvSpPr>
        <p:spPr>
          <a:xfrm>
            <a:off x="1245870" y="7212330"/>
            <a:ext cx="11538204" cy="388620"/>
          </a:xfrm>
          <a:prstGeom prst="rect">
            <a:avLst/>
          </a:prstGeom>
          <a:noFill/>
          <a:ln/>
        </p:spPr>
        <p:txBody>
          <a:bodyPr wrap="square" lIns="25400" tIns="25400" rIns="25400" bIns="25400" rtlCol="0" anchor="t">
            <a:normAutofit/>
          </a:bodyPr>
          <a:lstStyle/>
          <a:p>
            <a:pPr algn="l" indent="0" marL="0">
              <a:buNone/>
            </a:pPr>
            <a:r>
              <a:rPr lang="en-US" sz="2100" b="1" dirty="0">
                <a:solidFill>
                  <a:srgbClr val="2B57D6"/>
                </a:solidFill>
                <a:latin typeface="Roboto Mono" pitchFamily="34" charset="0"/>
                <a:ea typeface="Roboto Mono" pitchFamily="34" charset="-122"/>
                <a:cs typeface="Roboto Mono" pitchFamily="34" charset="-120"/>
              </a:rPr>
              <a:t>local_gate </a:t>
            </a:r>
            <a:pPr algn="l" indent="0" marL="0">
              <a:buNone/>
            </a:pPr>
            <a:r>
              <a:rPr lang="en-US" sz="2100" dirty="0">
                <a:solidFill>
                  <a:srgbClr val="16181D"/>
                </a:solidFill>
                <a:highlight>
                  <a:srgbClr val="FFFFFF"/>
                </a:highlight>
                <a:latin typeface="Arial" pitchFamily="34" charset="0"/>
                <a:ea typeface="Arial" pitchFamily="34" charset="-122"/>
                <a:cs typeface="Arial" pitchFamily="34" charset="-120"/>
              </a:rPr>
              <a:t>in_domain == false ?</a:t>
            </a:r>
            <a:endParaRPr lang="en-US" sz="2100" dirty="0"/>
          </a:p>
        </p:txBody>
      </p:sp>
      <p:sp>
        <p:nvSpPr>
          <p:cNvPr id="51" name="Shape 49"/>
          <p:cNvSpPr/>
          <p:nvPr/>
        </p:nvSpPr>
        <p:spPr>
          <a:xfrm>
            <a:off x="12858750" y="7105650"/>
            <a:ext cx="4476750" cy="563880"/>
          </a:xfrm>
          <a:prstGeom prst="rect">
            <a:avLst/>
          </a:prstGeom>
          <a:solidFill>
            <a:srgbClr val="FFF7ED"/>
          </a:solidFill>
          <a:ln w="7620">
            <a:solidFill>
              <a:srgbClr val="FED7AA"/>
            </a:solidFill>
            <a:prstDash val="solid"/>
          </a:ln>
        </p:spPr>
      </p:sp>
      <p:sp>
        <p:nvSpPr>
          <p:cNvPr id="52" name="Text 50"/>
          <p:cNvSpPr/>
          <p:nvPr/>
        </p:nvSpPr>
        <p:spPr>
          <a:xfrm>
            <a:off x="13075920" y="7246620"/>
            <a:ext cx="4176712" cy="320040"/>
          </a:xfrm>
          <a:prstGeom prst="rect">
            <a:avLst/>
          </a:prstGeom>
          <a:noFill/>
          <a:ln/>
        </p:spPr>
        <p:txBody>
          <a:bodyPr wrap="square" lIns="25400" tIns="25400" rIns="25400" bIns="25400" rtlCol="0" anchor="t">
            <a:normAutofit/>
          </a:bodyPr>
          <a:lstStyle/>
          <a:p>
            <a:pPr algn="l" indent="0" marL="0">
              <a:buNone/>
            </a:pPr>
            <a:r>
              <a:rPr lang="en-US" sz="1875" dirty="0">
                <a:solidFill>
                  <a:srgbClr val="7C2D12"/>
                </a:solidFill>
                <a:highlight>
                  <a:srgbClr val="FFF7ED"/>
                </a:highlight>
                <a:latin typeface="Arial" pitchFamily="34" charset="0"/>
                <a:ea typeface="Arial" pitchFamily="34" charset="-122"/>
                <a:cs typeface="Arial" pitchFamily="34" charset="-120"/>
              </a:rPr>
              <a:t>→ </a:t>
            </a:r>
            <a:pPr algn="l" indent="0" marL="0">
              <a:buNone/>
            </a:pPr>
            <a:r>
              <a:rPr lang="en-US" sz="1875" b="1" dirty="0">
                <a:solidFill>
                  <a:srgbClr val="7C2D12"/>
                </a:solidFill>
                <a:latin typeface="Arial" pitchFamily="34" charset="0"/>
                <a:ea typeface="Arial" pitchFamily="34" charset="-122"/>
                <a:cs typeface="Arial" pitchFamily="34" charset="-120"/>
              </a:rPr>
              <a:t>REFUSAL </a:t>
            </a:r>
            <a:pPr algn="l" indent="0" marL="0">
              <a:buNone/>
            </a:pPr>
            <a:r>
              <a:rPr lang="en-US" sz="1650" dirty="0">
                <a:solidFill>
                  <a:srgbClr val="7C2D12"/>
                </a:solidFill>
                <a:latin typeface="Roboto Mono" pitchFamily="34" charset="0"/>
                <a:ea typeface="Roboto Mono" pitchFamily="34" charset="-122"/>
                <a:cs typeface="Roboto Mono" pitchFamily="34" charset="-120"/>
              </a:rPr>
              <a:t>out_of_domain</a:t>
            </a:r>
            <a:endParaRPr lang="en-US" sz="1875" dirty="0"/>
          </a:p>
        </p:txBody>
      </p:sp>
      <p:sp>
        <p:nvSpPr>
          <p:cNvPr id="53" name="Shape 51"/>
          <p:cNvSpPr/>
          <p:nvPr/>
        </p:nvSpPr>
        <p:spPr>
          <a:xfrm>
            <a:off x="952500" y="7873365"/>
            <a:ext cx="11734800" cy="708660"/>
          </a:xfrm>
          <a:prstGeom prst="rect">
            <a:avLst/>
          </a:prstGeom>
          <a:solidFill>
            <a:srgbClr val="FFFFFF"/>
          </a:solidFill>
          <a:ln/>
        </p:spPr>
      </p:sp>
      <p:sp>
        <p:nvSpPr>
          <p:cNvPr id="54" name="Shape 52"/>
          <p:cNvSpPr/>
          <p:nvPr/>
        </p:nvSpPr>
        <p:spPr>
          <a:xfrm>
            <a:off x="952500" y="8574405"/>
            <a:ext cx="11734800" cy="9525"/>
          </a:xfrm>
          <a:prstGeom prst="rect">
            <a:avLst/>
          </a:prstGeom>
          <a:solidFill>
            <a:srgbClr val="DFE1E6"/>
          </a:solidFill>
          <a:ln/>
        </p:spPr>
      </p:sp>
      <p:sp>
        <p:nvSpPr>
          <p:cNvPr id="55" name="Shape 53"/>
          <p:cNvSpPr/>
          <p:nvPr/>
        </p:nvSpPr>
        <p:spPr>
          <a:xfrm>
            <a:off x="952500" y="7873365"/>
            <a:ext cx="11734800" cy="9525"/>
          </a:xfrm>
          <a:prstGeom prst="rect">
            <a:avLst/>
          </a:prstGeom>
          <a:solidFill>
            <a:srgbClr val="DFE1E6"/>
          </a:solidFill>
          <a:ln/>
        </p:spPr>
      </p:sp>
      <p:sp>
        <p:nvSpPr>
          <p:cNvPr id="56" name="Shape 54"/>
          <p:cNvSpPr/>
          <p:nvPr/>
        </p:nvSpPr>
        <p:spPr>
          <a:xfrm>
            <a:off x="952500" y="7873365"/>
            <a:ext cx="45720" cy="708660"/>
          </a:xfrm>
          <a:prstGeom prst="rect">
            <a:avLst/>
          </a:prstGeom>
          <a:solidFill>
            <a:srgbClr val="4F7CFF"/>
          </a:solidFill>
          <a:ln/>
        </p:spPr>
      </p:sp>
      <p:sp>
        <p:nvSpPr>
          <p:cNvPr id="57" name="Shape 55"/>
          <p:cNvSpPr/>
          <p:nvPr/>
        </p:nvSpPr>
        <p:spPr>
          <a:xfrm>
            <a:off x="12679680" y="7873365"/>
            <a:ext cx="9525" cy="708660"/>
          </a:xfrm>
          <a:prstGeom prst="rect">
            <a:avLst/>
          </a:prstGeom>
          <a:solidFill>
            <a:srgbClr val="DFE1E6"/>
          </a:solidFill>
          <a:ln/>
        </p:spPr>
      </p:sp>
      <p:sp>
        <p:nvSpPr>
          <p:cNvPr id="58" name="Text 56"/>
          <p:cNvSpPr/>
          <p:nvPr/>
        </p:nvSpPr>
        <p:spPr>
          <a:xfrm>
            <a:off x="1245870" y="8033385"/>
            <a:ext cx="11538204"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2B57D6"/>
                </a:solidFill>
                <a:latin typeface="Roboto Mono" pitchFamily="34" charset="0"/>
                <a:ea typeface="Roboto Mono" pitchFamily="34" charset="-122"/>
                <a:cs typeface="Roboto Mono" pitchFamily="34" charset="-120"/>
              </a:rPr>
              <a:t>scope_policy </a:t>
            </a:r>
            <a:pPr algn="l" indent="0" marL="0">
              <a:buNone/>
            </a:pPr>
            <a:r>
              <a:rPr lang="en-US" sz="2100" dirty="0">
                <a:solidFill>
                  <a:srgbClr val="16181D"/>
                </a:solidFill>
                <a:highlight>
                  <a:srgbClr val="FFFFFF"/>
                </a:highlight>
                <a:latin typeface="Arial" pitchFamily="34" charset="0"/>
                <a:ea typeface="Arial" pitchFamily="34" charset="-122"/>
                <a:cs typeface="Arial" pitchFamily="34" charset="-120"/>
              </a:rPr>
              <a:t>예약·결제 어휘 검사</a:t>
            </a:r>
            <a:endParaRPr lang="en-US" sz="2100" dirty="0"/>
          </a:p>
        </p:txBody>
      </p:sp>
      <p:sp>
        <p:nvSpPr>
          <p:cNvPr id="59" name="Shape 57"/>
          <p:cNvSpPr/>
          <p:nvPr/>
        </p:nvSpPr>
        <p:spPr>
          <a:xfrm>
            <a:off x="12858750" y="7808595"/>
            <a:ext cx="4476750" cy="838200"/>
          </a:xfrm>
          <a:prstGeom prst="rect">
            <a:avLst/>
          </a:prstGeom>
          <a:solidFill>
            <a:srgbClr val="FFF7ED"/>
          </a:solidFill>
          <a:ln w="7620">
            <a:solidFill>
              <a:srgbClr val="FED7AA"/>
            </a:solidFill>
            <a:prstDash val="solid"/>
          </a:ln>
        </p:spPr>
      </p:sp>
      <p:sp>
        <p:nvSpPr>
          <p:cNvPr id="60" name="Text 58"/>
          <p:cNvSpPr/>
          <p:nvPr/>
        </p:nvSpPr>
        <p:spPr>
          <a:xfrm>
            <a:off x="13075920" y="7949565"/>
            <a:ext cx="4176712" cy="594360"/>
          </a:xfrm>
          <a:prstGeom prst="rect">
            <a:avLst/>
          </a:prstGeom>
          <a:noFill/>
          <a:ln/>
        </p:spPr>
        <p:txBody>
          <a:bodyPr wrap="square" lIns="25400" tIns="25400" rIns="25400" bIns="25400" rtlCol="0" anchor="t">
            <a:normAutofit/>
          </a:bodyPr>
          <a:lstStyle/>
          <a:p>
            <a:pPr algn="l" indent="0" marL="0">
              <a:buNone/>
            </a:pPr>
            <a:r>
              <a:rPr lang="en-US" sz="1875" dirty="0">
                <a:solidFill>
                  <a:srgbClr val="7C2D12"/>
                </a:solidFill>
                <a:highlight>
                  <a:srgbClr val="FFF7ED"/>
                </a:highlight>
                <a:latin typeface="Arial" pitchFamily="34" charset="0"/>
                <a:ea typeface="Arial" pitchFamily="34" charset="-122"/>
                <a:cs typeface="Arial" pitchFamily="34" charset="-120"/>
              </a:rPr>
              <a:t>→ </a:t>
            </a:r>
            <a:pPr algn="l" indent="0" marL="0">
              <a:buNone/>
            </a:pPr>
            <a:r>
              <a:rPr lang="en-US" sz="1875" b="1" dirty="0">
                <a:solidFill>
                  <a:srgbClr val="7C2D12"/>
                </a:solidFill>
                <a:latin typeface="Arial" pitchFamily="34" charset="0"/>
                <a:ea typeface="Arial" pitchFamily="34" charset="-122"/>
                <a:cs typeface="Arial" pitchFamily="34" charset="-120"/>
              </a:rPr>
              <a:t>BOOKING_ONLY </a:t>
            </a:r>
            <a:pPr algn="l" indent="0" marL="0">
              <a:buNone/>
            </a:pPr>
            <a:r>
              <a:rPr lang="en-US" sz="1650" dirty="0">
                <a:solidFill>
                  <a:srgbClr val="7C2D12"/>
                </a:solidFill>
                <a:latin typeface="Roboto Mono" pitchFamily="34" charset="0"/>
                <a:ea typeface="Roboto Mono" pitchFamily="34" charset="-122"/>
                <a:cs typeface="Roboto Mono" pitchFamily="34" charset="-120"/>
              </a:rPr>
              <a:t>booking_request</a:t>
            </a:r>
            <a:endParaRPr lang="en-US" sz="1875" dirty="0"/>
          </a:p>
        </p:txBody>
      </p:sp>
      <p:sp>
        <p:nvSpPr>
          <p:cNvPr id="61" name="Shape 59"/>
          <p:cNvSpPr/>
          <p:nvPr/>
        </p:nvSpPr>
        <p:spPr>
          <a:xfrm>
            <a:off x="952500" y="8732520"/>
            <a:ext cx="11734800" cy="708660"/>
          </a:xfrm>
          <a:prstGeom prst="rect">
            <a:avLst/>
          </a:prstGeom>
          <a:solidFill>
            <a:srgbClr val="EEF0F2"/>
          </a:solidFill>
          <a:ln w="7620">
            <a:solidFill>
              <a:srgbClr val="B6BCC4"/>
            </a:solidFill>
            <a:prstDash val="dash"/>
          </a:ln>
        </p:spPr>
      </p:sp>
      <p:sp>
        <p:nvSpPr>
          <p:cNvPr id="62" name="Text 60"/>
          <p:cNvSpPr/>
          <p:nvPr/>
        </p:nvSpPr>
        <p:spPr>
          <a:xfrm>
            <a:off x="1207770" y="8892540"/>
            <a:ext cx="11576304" cy="426720"/>
          </a:xfrm>
          <a:prstGeom prst="rect">
            <a:avLst/>
          </a:prstGeom>
          <a:noFill/>
          <a:ln/>
        </p:spPr>
        <p:txBody>
          <a:bodyPr wrap="square" lIns="25400" tIns="25400" rIns="25400" bIns="25400" rtlCol="0" anchor="t">
            <a:normAutofit/>
          </a:bodyPr>
          <a:lstStyle/>
          <a:p>
            <a:pPr algn="l" indent="0" marL="0">
              <a:buNone/>
            </a:pPr>
            <a:r>
              <a:rPr lang="en-US" sz="2100" dirty="0">
                <a:solidFill>
                  <a:srgbClr val="4A5058"/>
                </a:solidFill>
                <a:highlight>
                  <a:srgbClr val="EEF0F2"/>
                </a:highlight>
                <a:latin typeface="Arial" pitchFamily="34" charset="0"/>
                <a:ea typeface="Arial" pitchFamily="34" charset="-122"/>
                <a:cs typeface="Arial" pitchFamily="34" charset="-120"/>
              </a:rPr>
              <a:t>도구 호출 (결정론적) — </a:t>
            </a:r>
            <a:pPr algn="l" indent="0" marL="0">
              <a:buNone/>
            </a:pPr>
            <a:r>
              <a:rPr lang="en-US" sz="2100" b="1" dirty="0">
                <a:solidFill>
                  <a:srgbClr val="4A5058"/>
                </a:solidFill>
                <a:latin typeface="Arial" pitchFamily="34" charset="0"/>
                <a:ea typeface="Arial" pitchFamily="34" charset="-122"/>
                <a:cs typeface="Arial" pitchFamily="34" charset="-120"/>
              </a:rPr>
              <a:t>방어 계층 아님 </a:t>
            </a:r>
            <a:pPr algn="l" indent="0" marL="0">
              <a:buNone/>
            </a:pPr>
            <a:r>
              <a:rPr lang="en-US" sz="1725" dirty="0">
                <a:solidFill>
                  <a:srgbClr val="4A5058"/>
                </a:solidFill>
                <a:latin typeface="Roboto Mono" pitchFamily="34" charset="0"/>
                <a:ea typeface="Roboto Mono" pitchFamily="34" charset="-122"/>
                <a:cs typeface="Roboto Mono" pitchFamily="34" charset="-120"/>
              </a:rPr>
              <a:t>tools.call_tool()</a:t>
            </a:r>
            <a:endParaRPr lang="en-US" sz="2100" dirty="0"/>
          </a:p>
        </p:txBody>
      </p:sp>
      <p:sp>
        <p:nvSpPr>
          <p:cNvPr id="63" name="Shape 61"/>
          <p:cNvSpPr/>
          <p:nvPr/>
        </p:nvSpPr>
        <p:spPr>
          <a:xfrm>
            <a:off x="12858750" y="8808720"/>
            <a:ext cx="4476750" cy="556260"/>
          </a:xfrm>
          <a:prstGeom prst="rect">
            <a:avLst/>
          </a:prstGeom>
          <a:solidFill>
            <a:srgbClr val="FFF7ED"/>
          </a:solidFill>
          <a:ln w="7620">
            <a:solidFill>
              <a:srgbClr val="FED7AA"/>
            </a:solidFill>
            <a:prstDash val="solid"/>
          </a:ln>
        </p:spPr>
      </p:sp>
      <p:sp>
        <p:nvSpPr>
          <p:cNvPr id="64" name="Text 62"/>
          <p:cNvSpPr/>
          <p:nvPr/>
        </p:nvSpPr>
        <p:spPr>
          <a:xfrm>
            <a:off x="13075920" y="8949690"/>
            <a:ext cx="4176712" cy="312420"/>
          </a:xfrm>
          <a:prstGeom prst="rect">
            <a:avLst/>
          </a:prstGeom>
          <a:noFill/>
          <a:ln/>
        </p:spPr>
        <p:txBody>
          <a:bodyPr wrap="square" lIns="25400" tIns="25400" rIns="25400" bIns="25400" rtlCol="0" anchor="t">
            <a:normAutofit/>
          </a:bodyPr>
          <a:lstStyle/>
          <a:p>
            <a:pPr algn="l" indent="0" marL="0">
              <a:buNone/>
            </a:pPr>
            <a:r>
              <a:rPr lang="en-US" sz="1875" dirty="0">
                <a:solidFill>
                  <a:srgbClr val="7C2D12"/>
                </a:solidFill>
                <a:highlight>
                  <a:srgbClr val="FFF7ED"/>
                </a:highlight>
                <a:latin typeface="Arial" pitchFamily="34" charset="0"/>
                <a:ea typeface="Arial" pitchFamily="34" charset="-122"/>
                <a:cs typeface="Arial" pitchFamily="34" charset="-120"/>
              </a:rPr>
              <a:t>found=false → </a:t>
            </a:r>
            <a:pPr algn="l" indent="0" marL="0">
              <a:buNone/>
            </a:pPr>
            <a:r>
              <a:rPr lang="en-US" sz="1875" b="1" dirty="0">
                <a:solidFill>
                  <a:srgbClr val="7C2D12"/>
                </a:solidFill>
                <a:latin typeface="Arial" pitchFamily="34" charset="0"/>
                <a:ea typeface="Arial" pitchFamily="34" charset="-122"/>
                <a:cs typeface="Arial" pitchFamily="34" charset="-120"/>
              </a:rPr>
              <a:t>NOT_FOUND</a:t>
            </a:r>
            <a:endParaRPr lang="en-US" sz="1875" dirty="0"/>
          </a:p>
        </p:txBody>
      </p:sp>
      <p:sp>
        <p:nvSpPr>
          <p:cNvPr id="65" name="Shape 63"/>
          <p:cNvSpPr/>
          <p:nvPr/>
        </p:nvSpPr>
        <p:spPr>
          <a:xfrm>
            <a:off x="952500" y="9633585"/>
            <a:ext cx="11734800" cy="708660"/>
          </a:xfrm>
          <a:prstGeom prst="rect">
            <a:avLst/>
          </a:prstGeom>
          <a:solidFill>
            <a:srgbClr val="F6F7F8"/>
          </a:solidFill>
          <a:ln/>
        </p:spPr>
      </p:sp>
      <p:sp>
        <p:nvSpPr>
          <p:cNvPr id="66" name="Shape 64"/>
          <p:cNvSpPr/>
          <p:nvPr/>
        </p:nvSpPr>
        <p:spPr>
          <a:xfrm>
            <a:off x="952500" y="10334625"/>
            <a:ext cx="11734800" cy="9525"/>
          </a:xfrm>
          <a:prstGeom prst="rect">
            <a:avLst/>
          </a:prstGeom>
          <a:solidFill>
            <a:srgbClr val="DFE1E6"/>
          </a:solidFill>
          <a:ln/>
        </p:spPr>
      </p:sp>
      <p:sp>
        <p:nvSpPr>
          <p:cNvPr id="67" name="Shape 65"/>
          <p:cNvSpPr/>
          <p:nvPr/>
        </p:nvSpPr>
        <p:spPr>
          <a:xfrm>
            <a:off x="952500" y="9633585"/>
            <a:ext cx="11734800" cy="9525"/>
          </a:xfrm>
          <a:prstGeom prst="rect">
            <a:avLst/>
          </a:prstGeom>
          <a:solidFill>
            <a:srgbClr val="DFE1E6"/>
          </a:solidFill>
          <a:ln/>
        </p:spPr>
      </p:sp>
      <p:sp>
        <p:nvSpPr>
          <p:cNvPr id="68" name="Shape 66"/>
          <p:cNvSpPr/>
          <p:nvPr/>
        </p:nvSpPr>
        <p:spPr>
          <a:xfrm>
            <a:off x="952500" y="9633585"/>
            <a:ext cx="45720" cy="708660"/>
          </a:xfrm>
          <a:prstGeom prst="rect">
            <a:avLst/>
          </a:prstGeom>
          <a:solidFill>
            <a:srgbClr val="16181D"/>
          </a:solidFill>
          <a:ln/>
        </p:spPr>
      </p:sp>
      <p:sp>
        <p:nvSpPr>
          <p:cNvPr id="69" name="Shape 67"/>
          <p:cNvSpPr/>
          <p:nvPr/>
        </p:nvSpPr>
        <p:spPr>
          <a:xfrm>
            <a:off x="12679680" y="9633585"/>
            <a:ext cx="9525" cy="708660"/>
          </a:xfrm>
          <a:prstGeom prst="rect">
            <a:avLst/>
          </a:prstGeom>
          <a:solidFill>
            <a:srgbClr val="DFE1E6"/>
          </a:solidFill>
          <a:ln/>
        </p:spPr>
      </p:sp>
      <p:sp>
        <p:nvSpPr>
          <p:cNvPr id="70" name="Text 68"/>
          <p:cNvSpPr/>
          <p:nvPr/>
        </p:nvSpPr>
        <p:spPr>
          <a:xfrm>
            <a:off x="1245870" y="9793605"/>
            <a:ext cx="11538204" cy="426720"/>
          </a:xfrm>
          <a:prstGeom prst="rect">
            <a:avLst/>
          </a:prstGeom>
          <a:noFill/>
          <a:ln/>
        </p:spPr>
        <p:txBody>
          <a:bodyPr wrap="square" lIns="25400" tIns="25400" rIns="25400" bIns="25400" rtlCol="0" anchor="t">
            <a:normAutofit/>
          </a:bodyPr>
          <a:lstStyle/>
          <a:p>
            <a:pPr algn="l" indent="0" marL="0">
              <a:buNone/>
            </a:pPr>
            <a:r>
              <a:rPr lang="en-US" sz="2100" dirty="0">
                <a:solidFill>
                  <a:srgbClr val="16181D"/>
                </a:solidFill>
                <a:latin typeface="Arial" pitchFamily="34" charset="0"/>
                <a:ea typeface="Arial" pitchFamily="34" charset="-122"/>
                <a:cs typeface="Arial" pitchFamily="34" charset="-120"/>
              </a:rPr>
              <a:t>Supervisor — Bedrock Haiku 가 답변 생성</a:t>
            </a:r>
            <a:endParaRPr lang="en-US" sz="2100" dirty="0"/>
          </a:p>
        </p:txBody>
      </p:sp>
      <p:sp>
        <p:nvSpPr>
          <p:cNvPr id="71" name="Shape 69"/>
          <p:cNvSpPr/>
          <p:nvPr/>
        </p:nvSpPr>
        <p:spPr>
          <a:xfrm>
            <a:off x="12858750" y="9526905"/>
            <a:ext cx="4476750" cy="922020"/>
          </a:xfrm>
          <a:prstGeom prst="rect">
            <a:avLst/>
          </a:prstGeom>
          <a:solidFill>
            <a:srgbClr val="F3F6FF"/>
          </a:solidFill>
          <a:ln w="7620">
            <a:solidFill>
              <a:srgbClr val="C9D6FF"/>
            </a:solidFill>
            <a:prstDash val="solid"/>
          </a:ln>
        </p:spPr>
      </p:sp>
      <p:sp>
        <p:nvSpPr>
          <p:cNvPr id="72" name="Text 70"/>
          <p:cNvSpPr/>
          <p:nvPr/>
        </p:nvSpPr>
        <p:spPr>
          <a:xfrm>
            <a:off x="13075920" y="9667875"/>
            <a:ext cx="4176712" cy="678180"/>
          </a:xfrm>
          <a:prstGeom prst="rect">
            <a:avLst/>
          </a:prstGeom>
          <a:noFill/>
          <a:ln/>
        </p:spPr>
        <p:txBody>
          <a:bodyPr wrap="square" lIns="25400" tIns="25400" rIns="25400" bIns="25400" rtlCol="0" anchor="t">
            <a:normAutofit/>
          </a:bodyPr>
          <a:lstStyle/>
          <a:p>
            <a:pPr algn="l" indent="0" marL="0">
              <a:lnSpc>
                <a:spcPct val="123529"/>
              </a:lnSpc>
              <a:buNone/>
            </a:pPr>
            <a:r>
              <a:rPr lang="en-US" sz="1575" dirty="0">
                <a:solidFill>
                  <a:srgbClr val="1F2937"/>
                </a:solidFill>
                <a:latin typeface="Roboto Mono" pitchFamily="34" charset="0"/>
                <a:ea typeface="Roboto Mono" pitchFamily="34" charset="-122"/>
                <a:cs typeface="Roboto Mono" pitchFamily="34" charset="-120"/>
              </a:rPr>
              <a:t>location_not_covered </a:t>
            </a:r>
            <a:pPr algn="l" indent="0" marL="0">
              <a:lnSpc>
                <a:spcPct val="123529"/>
              </a:lnSpc>
              <a:buNone/>
            </a:pPr>
            <a:r>
              <a:rPr lang="en-US" sz="1800" dirty="0">
                <a:solidFill>
                  <a:srgbClr val="1F2937"/>
                </a:solidFill>
                <a:highlight>
                  <a:srgbClr val="F3F6FF"/>
                </a:highlight>
                <a:latin typeface="Arial" pitchFamily="34" charset="0"/>
                <a:ea typeface="Arial" pitchFamily="34" charset="-122"/>
                <a:cs typeface="Arial" pitchFamily="34" charset="-120"/>
              </a:rPr>
              <a:t>/ 항공 </a:t>
            </a:r>
            <a:pPr algn="l" indent="0" marL="0">
              <a:lnSpc>
                <a:spcPct val="123529"/>
              </a:lnSpc>
              <a:buNone/>
            </a:pPr>
            <a:r>
              <a:rPr lang="en-US" sz="1575" dirty="0">
                <a:solidFill>
                  <a:srgbClr val="1F2937"/>
                </a:solidFill>
                <a:latin typeface="Roboto Mono" pitchFamily="34" charset="0"/>
                <a:ea typeface="Roboto Mono" pitchFamily="34" charset="-122"/>
                <a:cs typeface="Roboto Mono" pitchFamily="34" charset="-120"/>
              </a:rPr>
              <a:t>no_route </a:t>
            </a:r>
            <a:pPr algn="l" indent="0" marL="0">
              <a:lnSpc>
                <a:spcPct val="123529"/>
              </a:lnSpc>
              <a:buNone/>
            </a:pPr>
            <a:r>
              <a:rPr lang="en-US" sz="1800" dirty="0">
                <a:solidFill>
                  <a:srgbClr val="1F2937"/>
                </a:solidFill>
                <a:highlight>
                  <a:srgbClr val="F3F6FF"/>
                </a:highlight>
                <a:latin typeface="Arial" pitchFamily="34" charset="0"/>
                <a:ea typeface="Arial" pitchFamily="34" charset="-122"/>
                <a:cs typeface="Arial" pitchFamily="34" charset="-120"/>
              </a:rPr>
              <a:t>는 </a:t>
            </a:r>
            <a:pPr algn="l" indent="0" marL="0">
              <a:lnSpc>
                <a:spcPct val="123529"/>
              </a:lnSpc>
              <a:buNone/>
            </a:pPr>
            <a:r>
              <a:rPr lang="en-US" sz="1800" b="1" dirty="0">
                <a:solidFill>
                  <a:srgbClr val="1F2937"/>
                </a:solidFill>
                <a:latin typeface="Arial" pitchFamily="34" charset="0"/>
                <a:ea typeface="Arial" pitchFamily="34" charset="-122"/>
                <a:cs typeface="Arial" pitchFamily="34" charset="-120"/>
              </a:rPr>
              <a:t>예외적으로 넘긴다</a:t>
            </a:r>
            <a:endParaRPr lang="en-US" sz="1800" dirty="0"/>
          </a:p>
        </p:txBody>
      </p:sp>
      <p:sp>
        <p:nvSpPr>
          <p:cNvPr id="73" name="Shape 71"/>
          <p:cNvSpPr/>
          <p:nvPr/>
        </p:nvSpPr>
        <p:spPr>
          <a:xfrm>
            <a:off x="952500" y="10534650"/>
            <a:ext cx="11734800" cy="708660"/>
          </a:xfrm>
          <a:prstGeom prst="rect">
            <a:avLst/>
          </a:prstGeom>
          <a:solidFill>
            <a:srgbClr val="F3F6FF"/>
          </a:solidFill>
          <a:ln/>
        </p:spPr>
      </p:sp>
      <p:sp>
        <p:nvSpPr>
          <p:cNvPr id="74" name="Shape 72"/>
          <p:cNvSpPr/>
          <p:nvPr/>
        </p:nvSpPr>
        <p:spPr>
          <a:xfrm>
            <a:off x="952500" y="11235690"/>
            <a:ext cx="11734800" cy="9525"/>
          </a:xfrm>
          <a:prstGeom prst="rect">
            <a:avLst/>
          </a:prstGeom>
          <a:solidFill>
            <a:srgbClr val="C9D6FF"/>
          </a:solidFill>
          <a:ln/>
        </p:spPr>
      </p:sp>
      <p:sp>
        <p:nvSpPr>
          <p:cNvPr id="75" name="Shape 73"/>
          <p:cNvSpPr/>
          <p:nvPr/>
        </p:nvSpPr>
        <p:spPr>
          <a:xfrm>
            <a:off x="952500" y="10534650"/>
            <a:ext cx="11734800" cy="9525"/>
          </a:xfrm>
          <a:prstGeom prst="rect">
            <a:avLst/>
          </a:prstGeom>
          <a:solidFill>
            <a:srgbClr val="C9D6FF"/>
          </a:solidFill>
          <a:ln/>
        </p:spPr>
      </p:sp>
      <p:sp>
        <p:nvSpPr>
          <p:cNvPr id="76" name="Shape 74"/>
          <p:cNvSpPr/>
          <p:nvPr/>
        </p:nvSpPr>
        <p:spPr>
          <a:xfrm>
            <a:off x="952500" y="10534650"/>
            <a:ext cx="45720" cy="708660"/>
          </a:xfrm>
          <a:prstGeom prst="rect">
            <a:avLst/>
          </a:prstGeom>
          <a:solidFill>
            <a:srgbClr val="4F7CFF"/>
          </a:solidFill>
          <a:ln/>
        </p:spPr>
      </p:sp>
      <p:sp>
        <p:nvSpPr>
          <p:cNvPr id="77" name="Shape 75"/>
          <p:cNvSpPr/>
          <p:nvPr/>
        </p:nvSpPr>
        <p:spPr>
          <a:xfrm>
            <a:off x="12679680" y="10534650"/>
            <a:ext cx="9525" cy="708660"/>
          </a:xfrm>
          <a:prstGeom prst="rect">
            <a:avLst/>
          </a:prstGeom>
          <a:solidFill>
            <a:srgbClr val="C9D6FF"/>
          </a:solidFill>
          <a:ln/>
        </p:spPr>
      </p:sp>
      <p:sp>
        <p:nvSpPr>
          <p:cNvPr id="78" name="Text 76"/>
          <p:cNvSpPr/>
          <p:nvPr/>
        </p:nvSpPr>
        <p:spPr>
          <a:xfrm>
            <a:off x="1245870" y="10694670"/>
            <a:ext cx="11538204"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2B57D6"/>
                </a:solidFill>
                <a:latin typeface="Roboto Mono" pitchFamily="34" charset="0"/>
                <a:ea typeface="Roboto Mono" pitchFamily="34" charset="-122"/>
                <a:cs typeface="Roboto Mono" pitchFamily="34" charset="-120"/>
              </a:rPr>
              <a:t>grounding_check </a:t>
            </a:r>
            <a:pPr algn="l" indent="0" marL="0">
              <a:buNone/>
            </a:pPr>
            <a:r>
              <a:rPr lang="en-US" sz="2100" dirty="0">
                <a:solidFill>
                  <a:srgbClr val="16181D"/>
                </a:solidFill>
                <a:highlight>
                  <a:srgbClr val="F3F6FF"/>
                </a:highlight>
                <a:latin typeface="Arial" pitchFamily="34" charset="0"/>
                <a:ea typeface="Arial" pitchFamily="34" charset="-122"/>
                <a:cs typeface="Arial" pitchFamily="34" charset="-120"/>
              </a:rPr>
              <a:t>숫자 대조 → 실패 시 1회 재생성</a:t>
            </a:r>
            <a:endParaRPr lang="en-US" sz="2100" dirty="0"/>
          </a:p>
        </p:txBody>
      </p:sp>
      <p:sp>
        <p:nvSpPr>
          <p:cNvPr id="79" name="Shape 77"/>
          <p:cNvSpPr/>
          <p:nvPr/>
        </p:nvSpPr>
        <p:spPr>
          <a:xfrm>
            <a:off x="12858750" y="10576560"/>
            <a:ext cx="4476750" cy="624840"/>
          </a:xfrm>
          <a:prstGeom prst="rect">
            <a:avLst/>
          </a:prstGeom>
          <a:solidFill>
            <a:srgbClr val="FFF7ED"/>
          </a:solidFill>
          <a:ln w="7620">
            <a:solidFill>
              <a:srgbClr val="FED7AA"/>
            </a:solidFill>
            <a:prstDash val="solid"/>
          </a:ln>
        </p:spPr>
      </p:sp>
      <p:sp>
        <p:nvSpPr>
          <p:cNvPr id="80" name="Text 78"/>
          <p:cNvSpPr/>
          <p:nvPr/>
        </p:nvSpPr>
        <p:spPr>
          <a:xfrm>
            <a:off x="13075920" y="10717530"/>
            <a:ext cx="4176712" cy="381000"/>
          </a:xfrm>
          <a:prstGeom prst="rect">
            <a:avLst/>
          </a:prstGeom>
          <a:noFill/>
          <a:ln/>
        </p:spPr>
        <p:txBody>
          <a:bodyPr wrap="square" lIns="25400" tIns="25400" rIns="25400" bIns="25400" rtlCol="0" anchor="t">
            <a:normAutofit/>
          </a:bodyPr>
          <a:lstStyle/>
          <a:p>
            <a:pPr algn="l" indent="0" marL="0">
              <a:buNone/>
            </a:pPr>
            <a:r>
              <a:rPr lang="en-US" sz="1875" dirty="0">
                <a:solidFill>
                  <a:srgbClr val="7C2D12"/>
                </a:solidFill>
                <a:highlight>
                  <a:srgbClr val="FFF7ED"/>
                </a:highlight>
                <a:latin typeface="Arial" pitchFamily="34" charset="0"/>
                <a:ea typeface="Arial" pitchFamily="34" charset="-122"/>
                <a:cs typeface="Arial" pitchFamily="34" charset="-120"/>
              </a:rPr>
              <a:t>재실패 → </a:t>
            </a:r>
            <a:pPr algn="l" indent="0" marL="0">
              <a:buNone/>
            </a:pPr>
            <a:r>
              <a:rPr lang="en-US" sz="1875" b="1" dirty="0">
                <a:solidFill>
                  <a:srgbClr val="7C2D12"/>
                </a:solidFill>
                <a:latin typeface="Arial" pitchFamily="34" charset="0"/>
                <a:ea typeface="Arial" pitchFamily="34" charset="-122"/>
                <a:cs typeface="Arial" pitchFamily="34" charset="-120"/>
              </a:rPr>
              <a:t>폐기 </a:t>
            </a:r>
            <a:pPr algn="l" indent="0" marL="0">
              <a:buNone/>
            </a:pPr>
            <a:r>
              <a:rPr lang="en-US" sz="1650" dirty="0">
                <a:solidFill>
                  <a:srgbClr val="7C2D12"/>
                </a:solidFill>
                <a:latin typeface="Roboto Mono" pitchFamily="34" charset="0"/>
                <a:ea typeface="Roboto Mono" pitchFamily="34" charset="-122"/>
                <a:cs typeface="Roboto Mono" pitchFamily="34" charset="-120"/>
              </a:rPr>
              <a:t>ungrounded</a:t>
            </a:r>
            <a:endParaRPr lang="en-US" sz="1875" dirty="0"/>
          </a:p>
        </p:txBody>
      </p:sp>
      <p:sp>
        <p:nvSpPr>
          <p:cNvPr id="81" name="Shape 79"/>
          <p:cNvSpPr/>
          <p:nvPr/>
        </p:nvSpPr>
        <p:spPr>
          <a:xfrm>
            <a:off x="952500" y="11329035"/>
            <a:ext cx="11734800" cy="708660"/>
          </a:xfrm>
          <a:prstGeom prst="rect">
            <a:avLst/>
          </a:prstGeom>
          <a:solidFill>
            <a:srgbClr val="F6F7F8"/>
          </a:solidFill>
          <a:ln/>
        </p:spPr>
      </p:sp>
      <p:sp>
        <p:nvSpPr>
          <p:cNvPr id="82" name="Shape 80"/>
          <p:cNvSpPr/>
          <p:nvPr/>
        </p:nvSpPr>
        <p:spPr>
          <a:xfrm>
            <a:off x="952500" y="12030075"/>
            <a:ext cx="11734800" cy="9525"/>
          </a:xfrm>
          <a:prstGeom prst="rect">
            <a:avLst/>
          </a:prstGeom>
          <a:solidFill>
            <a:srgbClr val="DFE1E6"/>
          </a:solidFill>
          <a:ln/>
        </p:spPr>
      </p:sp>
      <p:sp>
        <p:nvSpPr>
          <p:cNvPr id="83" name="Shape 81"/>
          <p:cNvSpPr/>
          <p:nvPr/>
        </p:nvSpPr>
        <p:spPr>
          <a:xfrm>
            <a:off x="952500" y="11329035"/>
            <a:ext cx="11734800" cy="9525"/>
          </a:xfrm>
          <a:prstGeom prst="rect">
            <a:avLst/>
          </a:prstGeom>
          <a:solidFill>
            <a:srgbClr val="DFE1E6"/>
          </a:solidFill>
          <a:ln/>
        </p:spPr>
      </p:sp>
      <p:sp>
        <p:nvSpPr>
          <p:cNvPr id="84" name="Shape 82"/>
          <p:cNvSpPr/>
          <p:nvPr/>
        </p:nvSpPr>
        <p:spPr>
          <a:xfrm>
            <a:off x="952500" y="11329035"/>
            <a:ext cx="45720" cy="708660"/>
          </a:xfrm>
          <a:prstGeom prst="rect">
            <a:avLst/>
          </a:prstGeom>
          <a:solidFill>
            <a:srgbClr val="16181D"/>
          </a:solidFill>
          <a:ln/>
        </p:spPr>
      </p:sp>
      <p:sp>
        <p:nvSpPr>
          <p:cNvPr id="85" name="Shape 83"/>
          <p:cNvSpPr/>
          <p:nvPr/>
        </p:nvSpPr>
        <p:spPr>
          <a:xfrm>
            <a:off x="12679680" y="11329035"/>
            <a:ext cx="9525" cy="708660"/>
          </a:xfrm>
          <a:prstGeom prst="rect">
            <a:avLst/>
          </a:prstGeom>
          <a:solidFill>
            <a:srgbClr val="DFE1E6"/>
          </a:solidFill>
          <a:ln/>
        </p:spPr>
      </p:sp>
      <p:sp>
        <p:nvSpPr>
          <p:cNvPr id="86" name="Text 84"/>
          <p:cNvSpPr/>
          <p:nvPr/>
        </p:nvSpPr>
        <p:spPr>
          <a:xfrm>
            <a:off x="1245870" y="11489055"/>
            <a:ext cx="11538204"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Roboto Mono" pitchFamily="34" charset="0"/>
                <a:ea typeface="Roboto Mono" pitchFamily="34" charset="-122"/>
                <a:cs typeface="Roboto Mono" pitchFamily="34" charset="-120"/>
              </a:rPr>
              <a:t>bedrock_guardrail </a:t>
            </a:r>
            <a:pPr algn="l" indent="0" marL="0">
              <a:buNone/>
            </a:pPr>
            <a:r>
              <a:rPr lang="en-US" sz="2100" dirty="0">
                <a:solidFill>
                  <a:srgbClr val="16181D"/>
                </a:solidFill>
                <a:highlight>
                  <a:srgbClr val="F6F7F8"/>
                </a:highlight>
                <a:latin typeface="Arial" pitchFamily="34" charset="0"/>
                <a:ea typeface="Arial" pitchFamily="34" charset="-122"/>
                <a:cs typeface="Arial" pitchFamily="34" charset="-120"/>
              </a:rPr>
              <a:t>OUTPUT 검사</a:t>
            </a:r>
            <a:endParaRPr lang="en-US" sz="2100" dirty="0"/>
          </a:p>
        </p:txBody>
      </p:sp>
      <p:sp>
        <p:nvSpPr>
          <p:cNvPr id="87" name="Shape 85"/>
          <p:cNvSpPr/>
          <p:nvPr/>
        </p:nvSpPr>
        <p:spPr>
          <a:xfrm>
            <a:off x="12858750" y="11401425"/>
            <a:ext cx="4476750" cy="563880"/>
          </a:xfrm>
          <a:prstGeom prst="rect">
            <a:avLst/>
          </a:prstGeom>
          <a:solidFill>
            <a:srgbClr val="FFF7ED"/>
          </a:solidFill>
          <a:ln w="7620">
            <a:solidFill>
              <a:srgbClr val="FED7AA"/>
            </a:solidFill>
            <a:prstDash val="solid"/>
          </a:ln>
        </p:spPr>
      </p:sp>
      <p:sp>
        <p:nvSpPr>
          <p:cNvPr id="88" name="Text 86"/>
          <p:cNvSpPr/>
          <p:nvPr/>
        </p:nvSpPr>
        <p:spPr>
          <a:xfrm>
            <a:off x="13075920" y="11542395"/>
            <a:ext cx="4176712" cy="320040"/>
          </a:xfrm>
          <a:prstGeom prst="rect">
            <a:avLst/>
          </a:prstGeom>
          <a:noFill/>
          <a:ln/>
        </p:spPr>
        <p:txBody>
          <a:bodyPr wrap="square" lIns="25400" tIns="25400" rIns="25400" bIns="25400" rtlCol="0" anchor="t">
            <a:normAutofit/>
          </a:bodyPr>
          <a:lstStyle/>
          <a:p>
            <a:pPr algn="l" indent="0" marL="0">
              <a:buNone/>
            </a:pPr>
            <a:r>
              <a:rPr lang="en-US" sz="1875" dirty="0">
                <a:solidFill>
                  <a:srgbClr val="7C2D12"/>
                </a:solidFill>
                <a:highlight>
                  <a:srgbClr val="FFF7ED"/>
                </a:highlight>
                <a:latin typeface="Arial" pitchFamily="34" charset="0"/>
                <a:ea typeface="Arial" pitchFamily="34" charset="-122"/>
                <a:cs typeface="Arial" pitchFamily="34" charset="-120"/>
              </a:rPr>
              <a:t>→ </a:t>
            </a:r>
            <a:pPr algn="l" indent="0" marL="0">
              <a:buNone/>
            </a:pPr>
            <a:r>
              <a:rPr lang="en-US" sz="1875" b="1" dirty="0">
                <a:solidFill>
                  <a:srgbClr val="7C2D12"/>
                </a:solidFill>
                <a:latin typeface="Arial" pitchFamily="34" charset="0"/>
                <a:ea typeface="Arial" pitchFamily="34" charset="-122"/>
                <a:cs typeface="Arial" pitchFamily="34" charset="-120"/>
              </a:rPr>
              <a:t>WARNING </a:t>
            </a:r>
            <a:pPr algn="l" indent="0" marL="0">
              <a:buNone/>
            </a:pPr>
            <a:r>
              <a:rPr lang="en-US" sz="1650" dirty="0">
                <a:solidFill>
                  <a:srgbClr val="7C2D12"/>
                </a:solidFill>
                <a:latin typeface="Roboto Mono" pitchFamily="34" charset="0"/>
                <a:ea typeface="Roboto Mono" pitchFamily="34" charset="-122"/>
                <a:cs typeface="Roboto Mono" pitchFamily="34" charset="-120"/>
              </a:rPr>
              <a:t>guardrail_output</a:t>
            </a:r>
            <a:endParaRPr lang="en-US" sz="1875" dirty="0"/>
          </a:p>
        </p:txBody>
      </p:sp>
      <p:sp>
        <p:nvSpPr>
          <p:cNvPr id="89" name="Shape 87"/>
          <p:cNvSpPr/>
          <p:nvPr/>
        </p:nvSpPr>
        <p:spPr>
          <a:xfrm>
            <a:off x="952500" y="12123420"/>
            <a:ext cx="11734800" cy="739140"/>
          </a:xfrm>
          <a:prstGeom prst="rect">
            <a:avLst/>
          </a:prstGeom>
          <a:solidFill>
            <a:srgbClr val="16181D"/>
          </a:solidFill>
          <a:ln/>
        </p:spPr>
      </p:sp>
      <p:sp>
        <p:nvSpPr>
          <p:cNvPr id="90" name="Text 88"/>
          <p:cNvSpPr/>
          <p:nvPr/>
        </p:nvSpPr>
        <p:spPr>
          <a:xfrm>
            <a:off x="1200150" y="12294870"/>
            <a:ext cx="11591544"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FBFBFA"/>
                </a:solidFill>
                <a:highlight>
                  <a:srgbClr val="16181D"/>
                </a:highlight>
                <a:latin typeface="Arial" pitchFamily="34" charset="0"/>
                <a:ea typeface="Arial" pitchFamily="34" charset="-122"/>
                <a:cs typeface="Arial" pitchFamily="34" charset="-120"/>
              </a:rPr>
              <a:t>응답 </a:t>
            </a:r>
            <a:pPr algn="l" indent="0" marL="0">
              <a:buNone/>
            </a:pPr>
            <a:r>
              <a:rPr lang="en-US" sz="1800" dirty="0">
                <a:solidFill>
                  <a:srgbClr val="9DB4FF"/>
                </a:solidFill>
                <a:latin typeface="Roboto Mono" pitchFamily="34" charset="0"/>
                <a:ea typeface="Roboto Mono" pitchFamily="34" charset="-122"/>
                <a:cs typeface="Roboto Mono" pitchFamily="34" charset="-120"/>
              </a:rPr>
              <a:t>route: "answered"</a:t>
            </a:r>
            <a:endParaRPr lang="en-US" sz="21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23900"/>
            <a:ext cx="11530751"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16 · SUPERVISOR PROMPT</a:t>
            </a:r>
            <a:endParaRPr lang="en-US" sz="1800" dirty="0"/>
          </a:p>
        </p:txBody>
      </p:sp>
      <p:sp>
        <p:nvSpPr>
          <p:cNvPr id="3" name="Text 1"/>
          <p:cNvSpPr/>
          <p:nvPr/>
        </p:nvSpPr>
        <p:spPr>
          <a:xfrm>
            <a:off x="1047750" y="1135380"/>
            <a:ext cx="11530751"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17개 규칙, 그리고 프롬프트를 쪼갠 이유</a:t>
            </a:r>
            <a:endParaRPr lang="en-US" sz="4950" dirty="0"/>
          </a:p>
        </p:txBody>
      </p:sp>
      <p:sp>
        <p:nvSpPr>
          <p:cNvPr id="4" name="Text 2"/>
          <p:cNvSpPr/>
          <p:nvPr/>
        </p:nvSpPr>
        <p:spPr>
          <a:xfrm>
            <a:off x="12907088" y="1407795"/>
            <a:ext cx="4333163" cy="695325"/>
          </a:xfrm>
          <a:prstGeom prst="rect">
            <a:avLst/>
          </a:prstGeom>
          <a:noFill/>
          <a:ln/>
        </p:spPr>
        <p:txBody>
          <a:bodyPr wrap="square" lIns="25400" tIns="25400" rIns="25400" bIns="25400" rtlCol="0" anchor="t">
            <a:normAutofit/>
          </a:bodyPr>
          <a:lstStyle/>
          <a:p>
            <a:pPr algn="r" indent="0" marL="0">
              <a:lnSpc>
                <a:spcPct val="113487"/>
              </a:lnSpc>
              <a:buNone/>
            </a:pPr>
            <a:r>
              <a:rPr lang="en-US" sz="1725" dirty="0">
                <a:solidFill>
                  <a:srgbClr val="8A9099"/>
                </a:solidFill>
                <a:latin typeface="Roboto Mono" pitchFamily="34" charset="0"/>
                <a:ea typeface="Roboto Mono" pitchFamily="34" charset="-122"/>
                <a:cs typeface="Roboto Mono" pitchFamily="34" charset="-120"/>
              </a:rPr>
              <a:t>Claude 3 Haiku · temperature 0.2 max_tokens 700</a:t>
            </a:r>
            <a:endParaRPr lang="en-US" sz="1725" dirty="0"/>
          </a:p>
        </p:txBody>
      </p:sp>
      <p:sp>
        <p:nvSpPr>
          <p:cNvPr id="5" name="Shape 3"/>
          <p:cNvSpPr/>
          <p:nvPr/>
        </p:nvSpPr>
        <p:spPr>
          <a:xfrm>
            <a:off x="1047750" y="2350770"/>
            <a:ext cx="8331994" cy="1520190"/>
          </a:xfrm>
          <a:prstGeom prst="rect">
            <a:avLst/>
          </a:prstGeom>
          <a:solidFill>
            <a:srgbClr val="FFFFFF"/>
          </a:solidFill>
          <a:ln/>
        </p:spPr>
      </p:sp>
      <p:sp>
        <p:nvSpPr>
          <p:cNvPr id="6" name="Shape 4"/>
          <p:cNvSpPr/>
          <p:nvPr/>
        </p:nvSpPr>
        <p:spPr>
          <a:xfrm>
            <a:off x="1047750" y="3863340"/>
            <a:ext cx="8331994" cy="9525"/>
          </a:xfrm>
          <a:prstGeom prst="rect">
            <a:avLst/>
          </a:prstGeom>
          <a:solidFill>
            <a:srgbClr val="DFE1E6"/>
          </a:solidFill>
          <a:ln/>
        </p:spPr>
      </p:sp>
      <p:sp>
        <p:nvSpPr>
          <p:cNvPr id="7" name="Shape 5"/>
          <p:cNvSpPr/>
          <p:nvPr/>
        </p:nvSpPr>
        <p:spPr>
          <a:xfrm>
            <a:off x="1047750" y="2350770"/>
            <a:ext cx="8331994" cy="9525"/>
          </a:xfrm>
          <a:prstGeom prst="rect">
            <a:avLst/>
          </a:prstGeom>
          <a:solidFill>
            <a:srgbClr val="DFE1E6"/>
          </a:solidFill>
          <a:ln/>
        </p:spPr>
      </p:sp>
      <p:sp>
        <p:nvSpPr>
          <p:cNvPr id="8" name="Shape 6"/>
          <p:cNvSpPr/>
          <p:nvPr/>
        </p:nvSpPr>
        <p:spPr>
          <a:xfrm>
            <a:off x="1047750" y="2350770"/>
            <a:ext cx="45720" cy="1520190"/>
          </a:xfrm>
          <a:prstGeom prst="rect">
            <a:avLst/>
          </a:prstGeom>
          <a:solidFill>
            <a:srgbClr val="4F7CFF"/>
          </a:solidFill>
          <a:ln/>
        </p:spPr>
      </p:sp>
      <p:sp>
        <p:nvSpPr>
          <p:cNvPr id="9" name="Shape 7"/>
          <p:cNvSpPr/>
          <p:nvPr/>
        </p:nvSpPr>
        <p:spPr>
          <a:xfrm>
            <a:off x="9372124" y="2350770"/>
            <a:ext cx="9525" cy="1520190"/>
          </a:xfrm>
          <a:prstGeom prst="rect">
            <a:avLst/>
          </a:prstGeom>
          <a:solidFill>
            <a:srgbClr val="DFE1E6"/>
          </a:solidFill>
          <a:ln/>
        </p:spPr>
      </p:sp>
      <p:sp>
        <p:nvSpPr>
          <p:cNvPr id="10" name="Text 8"/>
          <p:cNvSpPr/>
          <p:nvPr/>
        </p:nvSpPr>
        <p:spPr>
          <a:xfrm>
            <a:off x="1360170" y="2567940"/>
            <a:ext cx="8519779" cy="304800"/>
          </a:xfrm>
          <a:prstGeom prst="rect">
            <a:avLst/>
          </a:prstGeom>
          <a:noFill/>
          <a:ln/>
        </p:spPr>
        <p:txBody>
          <a:bodyPr wrap="squar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NEVER LEAK INTERNALS</a:t>
            </a:r>
            <a:endParaRPr lang="en-US" sz="1575" dirty="0"/>
          </a:p>
        </p:txBody>
      </p:sp>
      <p:sp>
        <p:nvSpPr>
          <p:cNvPr id="11" name="Text 9"/>
          <p:cNvSpPr/>
          <p:nvPr/>
        </p:nvSpPr>
        <p:spPr>
          <a:xfrm>
            <a:off x="1360170" y="2910840"/>
            <a:ext cx="7977612" cy="781050"/>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16181D"/>
                </a:solidFill>
                <a:latin typeface="Arial" pitchFamily="34" charset="0"/>
                <a:ea typeface="Arial" pitchFamily="34" charset="-122"/>
                <a:cs typeface="Arial" pitchFamily="34" charset="-120"/>
              </a:rPr>
              <a:t>TOOL_RESULT·필드명·도구명을 어떤 언어로도 쓰지 않는다. </a:t>
            </a:r>
            <a:pPr algn="l" indent="0" marL="0">
              <a:lnSpc>
                <a:spcPct val="131757"/>
              </a:lnSpc>
              <a:buNone/>
            </a:pPr>
            <a:r>
              <a:rPr lang="en-US" sz="1950" b="1" dirty="0">
                <a:solidFill>
                  <a:srgbClr val="16181D"/>
                </a:solidFill>
                <a:latin typeface="Arial" pitchFamily="34" charset="0"/>
                <a:ea typeface="Arial" pitchFamily="34" charset="-122"/>
                <a:cs typeface="Arial" pitchFamily="34" charset="-120"/>
              </a:rPr>
              <a:t>필드의 내용을 전하고 이름을 전하지 않는다.</a:t>
            </a:r>
            <a:endParaRPr lang="en-US" sz="1950" dirty="0"/>
          </a:p>
        </p:txBody>
      </p:sp>
      <p:sp>
        <p:nvSpPr>
          <p:cNvPr id="12" name="Shape 10"/>
          <p:cNvSpPr/>
          <p:nvPr/>
        </p:nvSpPr>
        <p:spPr>
          <a:xfrm>
            <a:off x="1047750" y="4004310"/>
            <a:ext cx="8331994" cy="1520190"/>
          </a:xfrm>
          <a:prstGeom prst="rect">
            <a:avLst/>
          </a:prstGeom>
          <a:solidFill>
            <a:srgbClr val="FFFFFF"/>
          </a:solidFill>
          <a:ln/>
        </p:spPr>
      </p:sp>
      <p:sp>
        <p:nvSpPr>
          <p:cNvPr id="13" name="Shape 11"/>
          <p:cNvSpPr/>
          <p:nvPr/>
        </p:nvSpPr>
        <p:spPr>
          <a:xfrm>
            <a:off x="1047750" y="5516880"/>
            <a:ext cx="8331994" cy="9525"/>
          </a:xfrm>
          <a:prstGeom prst="rect">
            <a:avLst/>
          </a:prstGeom>
          <a:solidFill>
            <a:srgbClr val="DFE1E6"/>
          </a:solidFill>
          <a:ln/>
        </p:spPr>
      </p:sp>
      <p:sp>
        <p:nvSpPr>
          <p:cNvPr id="14" name="Shape 12"/>
          <p:cNvSpPr/>
          <p:nvPr/>
        </p:nvSpPr>
        <p:spPr>
          <a:xfrm>
            <a:off x="1047750" y="4004310"/>
            <a:ext cx="8331994" cy="9525"/>
          </a:xfrm>
          <a:prstGeom prst="rect">
            <a:avLst/>
          </a:prstGeom>
          <a:solidFill>
            <a:srgbClr val="DFE1E6"/>
          </a:solidFill>
          <a:ln/>
        </p:spPr>
      </p:sp>
      <p:sp>
        <p:nvSpPr>
          <p:cNvPr id="15" name="Shape 13"/>
          <p:cNvSpPr/>
          <p:nvPr/>
        </p:nvSpPr>
        <p:spPr>
          <a:xfrm>
            <a:off x="1047750" y="4004310"/>
            <a:ext cx="45720" cy="1520190"/>
          </a:xfrm>
          <a:prstGeom prst="rect">
            <a:avLst/>
          </a:prstGeom>
          <a:solidFill>
            <a:srgbClr val="4F7CFF"/>
          </a:solidFill>
          <a:ln/>
        </p:spPr>
      </p:sp>
      <p:sp>
        <p:nvSpPr>
          <p:cNvPr id="16" name="Shape 14"/>
          <p:cNvSpPr/>
          <p:nvPr/>
        </p:nvSpPr>
        <p:spPr>
          <a:xfrm>
            <a:off x="9372124" y="4004310"/>
            <a:ext cx="9525" cy="1520190"/>
          </a:xfrm>
          <a:prstGeom prst="rect">
            <a:avLst/>
          </a:prstGeom>
          <a:solidFill>
            <a:srgbClr val="DFE1E6"/>
          </a:solidFill>
          <a:ln/>
        </p:spPr>
      </p:sp>
      <p:sp>
        <p:nvSpPr>
          <p:cNvPr id="17" name="Text 15"/>
          <p:cNvSpPr/>
          <p:nvPr/>
        </p:nvSpPr>
        <p:spPr>
          <a:xfrm>
            <a:off x="1360170" y="4221480"/>
            <a:ext cx="8519779" cy="304800"/>
          </a:xfrm>
          <a:prstGeom prst="rect">
            <a:avLst/>
          </a:prstGeom>
          <a:noFill/>
          <a:ln/>
        </p:spPr>
        <p:txBody>
          <a:bodyPr wrap="squar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GROUNDING · 규칙 1 / 3 / 12</a:t>
            </a:r>
            <a:endParaRPr lang="en-US" sz="1575" dirty="0"/>
          </a:p>
        </p:txBody>
      </p:sp>
      <p:sp>
        <p:nvSpPr>
          <p:cNvPr id="18" name="Text 16"/>
          <p:cNvSpPr/>
          <p:nvPr/>
        </p:nvSpPr>
        <p:spPr>
          <a:xfrm>
            <a:off x="1360170" y="4564380"/>
            <a:ext cx="7977612" cy="781050"/>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16181D"/>
                </a:solidFill>
                <a:latin typeface="Arial" pitchFamily="34" charset="0"/>
                <a:ea typeface="Arial" pitchFamily="34" charset="-122"/>
                <a:cs typeface="Arial" pitchFamily="34" charset="-120"/>
              </a:rPr>
              <a:t>TOOL_RESULT 의 값만 쓴다. 시각·요금·소요시간·편명을 </a:t>
            </a:r>
            <a:pPr algn="l" indent="0" marL="0">
              <a:lnSpc>
                <a:spcPct val="131757"/>
              </a:lnSpc>
              <a:buNone/>
            </a:pPr>
            <a:r>
              <a:rPr lang="en-US" sz="1950" b="1" dirty="0">
                <a:solidFill>
                  <a:srgbClr val="16181D"/>
                </a:solidFill>
                <a:latin typeface="Arial" pitchFamily="34" charset="0"/>
                <a:ea typeface="Arial" pitchFamily="34" charset="-122"/>
                <a:cs typeface="Arial" pitchFamily="34" charset="-120"/>
              </a:rPr>
              <a:t>재계산하지 않는다. </a:t>
            </a:r>
            <a:pPr algn="l" indent="0" marL="0">
              <a:lnSpc>
                <a:spcPct val="131757"/>
              </a:lnSpc>
              <a:buNone/>
            </a:pPr>
            <a:r>
              <a:rPr lang="en-US" sz="1725" dirty="0">
                <a:solidFill>
                  <a:srgbClr val="16181D"/>
                </a:solidFill>
                <a:latin typeface="Roboto Mono" pitchFamily="34" charset="0"/>
                <a:ea typeface="Roboto Mono" pitchFamily="34" charset="-122"/>
                <a:cs typeface="Roboto Mono" pitchFamily="34" charset="-120"/>
              </a:rPr>
              <a:t>is_reference=true </a:t>
            </a:r>
            <a:pPr algn="l" indent="0" marL="0">
              <a:lnSpc>
                <a:spcPct val="131757"/>
              </a:lnSpc>
              <a:buNone/>
            </a:pPr>
            <a:r>
              <a:rPr lang="en-US" sz="1950" dirty="0">
                <a:solidFill>
                  <a:srgbClr val="16181D"/>
                </a:solidFill>
                <a:latin typeface="Arial" pitchFamily="34" charset="0"/>
                <a:ea typeface="Arial" pitchFamily="34" charset="-122"/>
                <a:cs typeface="Arial" pitchFamily="34" charset="-120"/>
              </a:rPr>
              <a:t>면 참고 데이터임을 반드시 고지한다.</a:t>
            </a:r>
            <a:endParaRPr lang="en-US" sz="1950" dirty="0"/>
          </a:p>
        </p:txBody>
      </p:sp>
      <p:sp>
        <p:nvSpPr>
          <p:cNvPr id="19" name="Shape 17"/>
          <p:cNvSpPr/>
          <p:nvPr/>
        </p:nvSpPr>
        <p:spPr>
          <a:xfrm>
            <a:off x="1047750" y="5657850"/>
            <a:ext cx="8331994" cy="1891665"/>
          </a:xfrm>
          <a:prstGeom prst="rect">
            <a:avLst/>
          </a:prstGeom>
          <a:solidFill>
            <a:srgbClr val="FFFFFF"/>
          </a:solidFill>
          <a:ln/>
        </p:spPr>
      </p:sp>
      <p:sp>
        <p:nvSpPr>
          <p:cNvPr id="20" name="Shape 18"/>
          <p:cNvSpPr/>
          <p:nvPr/>
        </p:nvSpPr>
        <p:spPr>
          <a:xfrm>
            <a:off x="1047750" y="7541895"/>
            <a:ext cx="8331994" cy="9525"/>
          </a:xfrm>
          <a:prstGeom prst="rect">
            <a:avLst/>
          </a:prstGeom>
          <a:solidFill>
            <a:srgbClr val="DFE1E6"/>
          </a:solidFill>
          <a:ln/>
        </p:spPr>
      </p:sp>
      <p:sp>
        <p:nvSpPr>
          <p:cNvPr id="21" name="Shape 19"/>
          <p:cNvSpPr/>
          <p:nvPr/>
        </p:nvSpPr>
        <p:spPr>
          <a:xfrm>
            <a:off x="1047750" y="5657850"/>
            <a:ext cx="8331994" cy="9525"/>
          </a:xfrm>
          <a:prstGeom prst="rect">
            <a:avLst/>
          </a:prstGeom>
          <a:solidFill>
            <a:srgbClr val="DFE1E6"/>
          </a:solidFill>
          <a:ln/>
        </p:spPr>
      </p:sp>
      <p:sp>
        <p:nvSpPr>
          <p:cNvPr id="22" name="Shape 20"/>
          <p:cNvSpPr/>
          <p:nvPr/>
        </p:nvSpPr>
        <p:spPr>
          <a:xfrm>
            <a:off x="1047750" y="5657850"/>
            <a:ext cx="45720" cy="1891665"/>
          </a:xfrm>
          <a:prstGeom prst="rect">
            <a:avLst/>
          </a:prstGeom>
          <a:solidFill>
            <a:srgbClr val="4F7CFF"/>
          </a:solidFill>
          <a:ln/>
        </p:spPr>
      </p:sp>
      <p:sp>
        <p:nvSpPr>
          <p:cNvPr id="23" name="Shape 21"/>
          <p:cNvSpPr/>
          <p:nvPr/>
        </p:nvSpPr>
        <p:spPr>
          <a:xfrm>
            <a:off x="9372124" y="5657850"/>
            <a:ext cx="9525" cy="1891665"/>
          </a:xfrm>
          <a:prstGeom prst="rect">
            <a:avLst/>
          </a:prstGeom>
          <a:solidFill>
            <a:srgbClr val="DFE1E6"/>
          </a:solidFill>
          <a:ln/>
        </p:spPr>
      </p:sp>
      <p:sp>
        <p:nvSpPr>
          <p:cNvPr id="24" name="Text 22"/>
          <p:cNvSpPr/>
          <p:nvPr/>
        </p:nvSpPr>
        <p:spPr>
          <a:xfrm>
            <a:off x="1360170" y="5875020"/>
            <a:ext cx="8519779" cy="304800"/>
          </a:xfrm>
          <a:prstGeom prst="rect">
            <a:avLst/>
          </a:prstGeom>
          <a:noFill/>
          <a:ln/>
        </p:spPr>
        <p:txBody>
          <a:bodyPr wrap="squar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다국어 표기 · 규칙 2 / 13</a:t>
            </a:r>
            <a:endParaRPr lang="en-US" sz="1575" dirty="0"/>
          </a:p>
        </p:txBody>
      </p:sp>
      <p:sp>
        <p:nvSpPr>
          <p:cNvPr id="25" name="Text 23"/>
          <p:cNvSpPr/>
          <p:nvPr/>
        </p:nvSpPr>
        <p:spPr>
          <a:xfrm>
            <a:off x="1360170" y="6217920"/>
            <a:ext cx="7977612" cy="1152525"/>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16181D"/>
                </a:solidFill>
                <a:latin typeface="Arial" pitchFamily="34" charset="0"/>
                <a:ea typeface="Arial" pitchFamily="34" charset="-122"/>
                <a:cs typeface="Arial" pitchFamily="34" charset="-120"/>
              </a:rPr>
              <a:t>비한국어 답변은 역·터미널명을 </a:t>
            </a:r>
            <a:pPr algn="l" indent="0" marL="0">
              <a:lnSpc>
                <a:spcPct val="131757"/>
              </a:lnSpc>
              <a:buNone/>
            </a:pPr>
            <a:r>
              <a:rPr lang="en-US" sz="1950" b="1" dirty="0">
                <a:solidFill>
                  <a:srgbClr val="16181D"/>
                </a:solidFill>
                <a:latin typeface="Arial" pitchFamily="34" charset="0"/>
                <a:ea typeface="Arial" pitchFamily="34" charset="-122"/>
                <a:cs typeface="Arial" pitchFamily="34" charset="-120"/>
              </a:rPr>
              <a:t>사용자 언어 + 한국어 병기 </a:t>
            </a:r>
            <a:pPr algn="l" indent="0" marL="0">
              <a:lnSpc>
                <a:spcPct val="131757"/>
              </a:lnSpc>
              <a:buNone/>
            </a:pPr>
            <a:r>
              <a:rPr lang="en-US" sz="1950" dirty="0">
                <a:solidFill>
                  <a:srgbClr val="16181D"/>
                </a:solidFill>
                <a:latin typeface="Arial" pitchFamily="34" charset="0"/>
                <a:ea typeface="Arial" pitchFamily="34" charset="-122"/>
                <a:cs typeface="Arial" pitchFamily="34" charset="-120"/>
              </a:rPr>
              <a:t>— "Seoul Station (서울역)", "ソウル駅(서울역)". 첫 등장에만 병기. 한국어 답변에는 로마자를 </a:t>
            </a:r>
            <a:pPr algn="l" indent="0" marL="0">
              <a:lnSpc>
                <a:spcPct val="131757"/>
              </a:lnSpc>
              <a:buNone/>
            </a:pPr>
            <a:r>
              <a:rPr lang="en-US" sz="1950" b="1" dirty="0">
                <a:solidFill>
                  <a:srgbClr val="16181D"/>
                </a:solidFill>
                <a:latin typeface="Arial" pitchFamily="34" charset="0"/>
                <a:ea typeface="Arial" pitchFamily="34" charset="-122"/>
                <a:cs typeface="Arial" pitchFamily="34" charset="-120"/>
              </a:rPr>
              <a:t>붙이지 않는다.</a:t>
            </a:r>
            <a:endParaRPr lang="en-US" sz="1950" dirty="0"/>
          </a:p>
        </p:txBody>
      </p:sp>
      <p:sp>
        <p:nvSpPr>
          <p:cNvPr id="26" name="Shape 24"/>
          <p:cNvSpPr/>
          <p:nvPr/>
        </p:nvSpPr>
        <p:spPr>
          <a:xfrm>
            <a:off x="1047750" y="7682865"/>
            <a:ext cx="8331994" cy="1520190"/>
          </a:xfrm>
          <a:prstGeom prst="rect">
            <a:avLst/>
          </a:prstGeom>
          <a:solidFill>
            <a:srgbClr val="FFFFFF"/>
          </a:solidFill>
          <a:ln/>
        </p:spPr>
      </p:sp>
      <p:sp>
        <p:nvSpPr>
          <p:cNvPr id="27" name="Shape 25"/>
          <p:cNvSpPr/>
          <p:nvPr/>
        </p:nvSpPr>
        <p:spPr>
          <a:xfrm>
            <a:off x="1047750" y="9195435"/>
            <a:ext cx="8331994" cy="9525"/>
          </a:xfrm>
          <a:prstGeom prst="rect">
            <a:avLst/>
          </a:prstGeom>
          <a:solidFill>
            <a:srgbClr val="DFE1E6"/>
          </a:solidFill>
          <a:ln/>
        </p:spPr>
      </p:sp>
      <p:sp>
        <p:nvSpPr>
          <p:cNvPr id="28" name="Shape 26"/>
          <p:cNvSpPr/>
          <p:nvPr/>
        </p:nvSpPr>
        <p:spPr>
          <a:xfrm>
            <a:off x="1047750" y="7682865"/>
            <a:ext cx="8331994" cy="9525"/>
          </a:xfrm>
          <a:prstGeom prst="rect">
            <a:avLst/>
          </a:prstGeom>
          <a:solidFill>
            <a:srgbClr val="DFE1E6"/>
          </a:solidFill>
          <a:ln/>
        </p:spPr>
      </p:sp>
      <p:sp>
        <p:nvSpPr>
          <p:cNvPr id="29" name="Shape 27"/>
          <p:cNvSpPr/>
          <p:nvPr/>
        </p:nvSpPr>
        <p:spPr>
          <a:xfrm>
            <a:off x="1047750" y="7682865"/>
            <a:ext cx="45720" cy="1520190"/>
          </a:xfrm>
          <a:prstGeom prst="rect">
            <a:avLst/>
          </a:prstGeom>
          <a:solidFill>
            <a:srgbClr val="4F7CFF"/>
          </a:solidFill>
          <a:ln/>
        </p:spPr>
      </p:sp>
      <p:sp>
        <p:nvSpPr>
          <p:cNvPr id="30" name="Shape 28"/>
          <p:cNvSpPr/>
          <p:nvPr/>
        </p:nvSpPr>
        <p:spPr>
          <a:xfrm>
            <a:off x="9372124" y="7682865"/>
            <a:ext cx="9525" cy="1520190"/>
          </a:xfrm>
          <a:prstGeom prst="rect">
            <a:avLst/>
          </a:prstGeom>
          <a:solidFill>
            <a:srgbClr val="DFE1E6"/>
          </a:solidFill>
          <a:ln/>
        </p:spPr>
      </p:sp>
      <p:sp>
        <p:nvSpPr>
          <p:cNvPr id="31" name="Text 29"/>
          <p:cNvSpPr/>
          <p:nvPr/>
        </p:nvSpPr>
        <p:spPr>
          <a:xfrm>
            <a:off x="1360170" y="7900035"/>
            <a:ext cx="8519779" cy="304800"/>
          </a:xfrm>
          <a:prstGeom prst="rect">
            <a:avLst/>
          </a:prstGeom>
          <a:noFill/>
          <a:ln/>
        </p:spPr>
        <p:txBody>
          <a:bodyPr wrap="squar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항공 규칙 15 / 16 / 17</a:t>
            </a:r>
            <a:endParaRPr lang="en-US" sz="1575" dirty="0"/>
          </a:p>
        </p:txBody>
      </p:sp>
      <p:sp>
        <p:nvSpPr>
          <p:cNvPr id="32" name="Text 30"/>
          <p:cNvSpPr/>
          <p:nvPr/>
        </p:nvSpPr>
        <p:spPr>
          <a:xfrm>
            <a:off x="1360170" y="8242935"/>
            <a:ext cx="7977612" cy="781050"/>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16181D"/>
                </a:solidFill>
                <a:latin typeface="Arial" pitchFamily="34" charset="0"/>
                <a:ea typeface="Arial" pitchFamily="34" charset="-122"/>
                <a:cs typeface="Arial" pitchFamily="34" charset="-120"/>
              </a:rPr>
              <a:t>탑승구·터미널·수하물수취대는 </a:t>
            </a:r>
            <a:pPr algn="l" indent="0" marL="0">
              <a:lnSpc>
                <a:spcPct val="131757"/>
              </a:lnSpc>
              <a:buNone/>
            </a:pPr>
            <a:r>
              <a:rPr lang="en-US" sz="1950" b="1" dirty="0">
                <a:solidFill>
                  <a:srgbClr val="16181D"/>
                </a:solidFill>
                <a:latin typeface="Arial" pitchFamily="34" charset="0"/>
                <a:ea typeface="Arial" pitchFamily="34" charset="-122"/>
                <a:cs typeface="Arial" pitchFamily="34" charset="-120"/>
              </a:rPr>
              <a:t>있는 값만 </a:t>
            </a:r>
            <a:pPr algn="l" indent="0" marL="0">
              <a:lnSpc>
                <a:spcPct val="131757"/>
              </a:lnSpc>
              <a:buNone/>
            </a:pPr>
            <a:r>
              <a:rPr lang="en-US" sz="1950" dirty="0">
                <a:solidFill>
                  <a:srgbClr val="16181D"/>
                </a:solidFill>
                <a:latin typeface="Arial" pitchFamily="34" charset="0"/>
                <a:ea typeface="Arial" pitchFamily="34" charset="-122"/>
                <a:cs typeface="Arial" pitchFamily="34" charset="-120"/>
              </a:rPr>
              <a:t>말한다. 없으면 "아직 배정되지 않았다". 답변은 3문장 이내, 추가 정보는 </a:t>
            </a:r>
            <a:pPr algn="l" indent="0" marL="0">
              <a:lnSpc>
                <a:spcPct val="131757"/>
              </a:lnSpc>
              <a:buNone/>
            </a:pPr>
            <a:r>
              <a:rPr lang="en-US" sz="1950" b="1" dirty="0">
                <a:solidFill>
                  <a:srgbClr val="16181D"/>
                </a:solidFill>
                <a:latin typeface="Arial" pitchFamily="34" charset="0"/>
                <a:ea typeface="Arial" pitchFamily="34" charset="-122"/>
                <a:cs typeface="Arial" pitchFamily="34" charset="-120"/>
              </a:rPr>
              <a:t>한 개만</a:t>
            </a:r>
            <a:pPr algn="l" indent="0" marL="0">
              <a:lnSpc>
                <a:spcPct val="131757"/>
              </a:lnSpc>
              <a:buNone/>
            </a:pPr>
            <a:r>
              <a:rPr lang="en-US" sz="1950" dirty="0">
                <a:solidFill>
                  <a:srgbClr val="16181D"/>
                </a:solidFill>
                <a:latin typeface="Arial" pitchFamily="34" charset="0"/>
                <a:ea typeface="Arial" pitchFamily="34" charset="-122"/>
                <a:cs typeface="Arial" pitchFamily="34" charset="-120"/>
              </a:rPr>
              <a:t>.</a:t>
            </a:r>
            <a:endParaRPr lang="en-US" sz="1950" dirty="0"/>
          </a:p>
        </p:txBody>
      </p:sp>
      <p:sp>
        <p:nvSpPr>
          <p:cNvPr id="33" name="Shape 31"/>
          <p:cNvSpPr/>
          <p:nvPr/>
        </p:nvSpPr>
        <p:spPr>
          <a:xfrm>
            <a:off x="1047750" y="9336405"/>
            <a:ext cx="8331994" cy="1172527"/>
          </a:xfrm>
          <a:prstGeom prst="rect">
            <a:avLst/>
          </a:prstGeom>
          <a:solidFill>
            <a:srgbClr val="F3F6FF"/>
          </a:solidFill>
          <a:ln w="7620">
            <a:solidFill>
              <a:srgbClr val="C9D6FF"/>
            </a:solidFill>
            <a:prstDash val="solid"/>
          </a:ln>
        </p:spPr>
      </p:sp>
      <p:sp>
        <p:nvSpPr>
          <p:cNvPr id="34" name="Text 32"/>
          <p:cNvSpPr/>
          <p:nvPr/>
        </p:nvSpPr>
        <p:spPr>
          <a:xfrm>
            <a:off x="1322070" y="9553575"/>
            <a:ext cx="8033314" cy="776287"/>
          </a:xfrm>
          <a:prstGeom prst="rect">
            <a:avLst/>
          </a:prstGeom>
          <a:noFill/>
          <a:ln/>
        </p:spPr>
        <p:txBody>
          <a:bodyPr wrap="square" lIns="25400" tIns="25400" rIns="25400" bIns="25400" rtlCol="0" anchor="t">
            <a:normAutofit/>
          </a:bodyPr>
          <a:lstStyle/>
          <a:p>
            <a:pPr algn="l" indent="0" marL="0">
              <a:lnSpc>
                <a:spcPct val="134549"/>
              </a:lnSpc>
              <a:buNone/>
            </a:pPr>
            <a:r>
              <a:rPr lang="en-US" sz="1875" dirty="0">
                <a:solidFill>
                  <a:srgbClr val="1F2937"/>
                </a:solidFill>
                <a:highlight>
                  <a:srgbClr val="F3F6FF"/>
                </a:highlight>
                <a:latin typeface="Arial" pitchFamily="34" charset="0"/>
                <a:ea typeface="Arial" pitchFamily="34" charset="-122"/>
                <a:cs typeface="Arial" pitchFamily="34" charset="-120"/>
              </a:rPr>
              <a:t>"없는 탑승구 번호를 지어내면 사람을 엉뚱한 벨트로 보낸다" — 규칙 문장 자체에 </a:t>
            </a:r>
            <a:pPr algn="l" indent="0" marL="0">
              <a:lnSpc>
                <a:spcPct val="134549"/>
              </a:lnSpc>
              <a:buNone/>
            </a:pPr>
            <a:r>
              <a:rPr lang="en-US" sz="1875" b="1" dirty="0">
                <a:solidFill>
                  <a:srgbClr val="1F2937"/>
                </a:solidFill>
                <a:latin typeface="Arial" pitchFamily="34" charset="0"/>
                <a:ea typeface="Arial" pitchFamily="34" charset="-122"/>
                <a:cs typeface="Arial" pitchFamily="34" charset="-120"/>
              </a:rPr>
              <a:t>실패의 결과</a:t>
            </a:r>
            <a:pPr algn="l" indent="0" marL="0">
              <a:lnSpc>
                <a:spcPct val="134549"/>
              </a:lnSpc>
              <a:buNone/>
            </a:pPr>
            <a:r>
              <a:rPr lang="en-US" sz="1875" dirty="0">
                <a:solidFill>
                  <a:srgbClr val="1F2937"/>
                </a:solidFill>
                <a:highlight>
                  <a:srgbClr val="F3F6FF"/>
                </a:highlight>
                <a:latin typeface="Arial" pitchFamily="34" charset="0"/>
                <a:ea typeface="Arial" pitchFamily="34" charset="-122"/>
                <a:cs typeface="Arial" pitchFamily="34" charset="-120"/>
              </a:rPr>
              <a:t>를 적어 두는 편이 잘 지켜졌다.</a:t>
            </a:r>
            <a:endParaRPr lang="en-US" sz="1875" dirty="0"/>
          </a:p>
        </p:txBody>
      </p:sp>
      <p:sp>
        <p:nvSpPr>
          <p:cNvPr id="35" name="Shape 33"/>
          <p:cNvSpPr/>
          <p:nvPr/>
        </p:nvSpPr>
        <p:spPr>
          <a:xfrm>
            <a:off x="9665494" y="2350770"/>
            <a:ext cx="7574756" cy="8158163"/>
          </a:xfrm>
          <a:prstGeom prst="rect">
            <a:avLst/>
          </a:prstGeom>
          <a:solidFill>
            <a:srgbClr val="16181D"/>
          </a:solidFill>
          <a:ln/>
        </p:spPr>
      </p:sp>
      <p:sp>
        <p:nvSpPr>
          <p:cNvPr id="36" name="Text 34"/>
          <p:cNvSpPr/>
          <p:nvPr/>
        </p:nvSpPr>
        <p:spPr>
          <a:xfrm>
            <a:off x="10008394" y="2655570"/>
            <a:ext cx="7577852" cy="312420"/>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9DB4FF"/>
                </a:solidFill>
                <a:latin typeface="Roboto Mono" pitchFamily="34" charset="0"/>
                <a:ea typeface="Roboto Mono" pitchFamily="34" charset="-122"/>
                <a:cs typeface="Roboto Mono" pitchFamily="34" charset="-120"/>
              </a:rPr>
              <a:t>왜 COVERAGE_SYSTEM 을 분리했는가</a:t>
            </a:r>
            <a:endParaRPr lang="en-US" sz="1650" dirty="0"/>
          </a:p>
        </p:txBody>
      </p:sp>
      <p:sp>
        <p:nvSpPr>
          <p:cNvPr id="37" name="Text 35"/>
          <p:cNvSpPr/>
          <p:nvPr/>
        </p:nvSpPr>
        <p:spPr>
          <a:xfrm>
            <a:off x="10008394" y="3120390"/>
            <a:ext cx="7095625" cy="894398"/>
          </a:xfrm>
          <a:prstGeom prst="rect">
            <a:avLst/>
          </a:prstGeom>
          <a:noFill/>
          <a:ln/>
        </p:spPr>
        <p:txBody>
          <a:bodyPr wrap="square" lIns="25400" tIns="25400" rIns="25400" bIns="25400" rtlCol="0" anchor="t">
            <a:normAutofit/>
          </a:bodyPr>
          <a:lstStyle/>
          <a:p>
            <a:pPr algn="l" indent="0" marL="0">
              <a:lnSpc>
                <a:spcPct val="127699"/>
              </a:lnSpc>
              <a:buNone/>
            </a:pPr>
            <a:r>
              <a:rPr lang="en-US" sz="2325" b="1" dirty="0">
                <a:solidFill>
                  <a:srgbClr val="FBFBFA"/>
                </a:solidFill>
                <a:latin typeface="Arial" pitchFamily="34" charset="0"/>
                <a:ea typeface="Arial" pitchFamily="34" charset="-122"/>
                <a:cs typeface="Arial" pitchFamily="34" charset="-120"/>
              </a:rPr>
              <a:t>17개 규칙 안에 "대체 서비스를 권하지 말 것"을 넣어도 Haiku 가 지키지 못했다</a:t>
            </a:r>
            <a:endParaRPr lang="en-US" sz="2325" dirty="0"/>
          </a:p>
        </p:txBody>
      </p:sp>
      <p:sp>
        <p:nvSpPr>
          <p:cNvPr id="38" name="Text 36"/>
          <p:cNvSpPr/>
          <p:nvPr/>
        </p:nvSpPr>
        <p:spPr>
          <a:xfrm>
            <a:off x="10008394" y="4167188"/>
            <a:ext cx="7095625" cy="855345"/>
          </a:xfrm>
          <a:prstGeom prst="rect">
            <a:avLst/>
          </a:prstGeom>
          <a:noFill/>
          <a:ln/>
        </p:spPr>
        <p:txBody>
          <a:bodyPr wrap="square" lIns="25400" tIns="25400" rIns="25400" bIns="25400" rtlCol="0" anchor="t">
            <a:normAutofit/>
          </a:bodyPr>
          <a:lstStyle/>
          <a:p>
            <a:pPr algn="l" indent="0" marL="0">
              <a:lnSpc>
                <a:spcPct val="144932"/>
              </a:lnSpc>
              <a:buNone/>
            </a:pPr>
            <a:r>
              <a:rPr lang="en-US" sz="1950" dirty="0">
                <a:solidFill>
                  <a:srgbClr val="C9CDD3"/>
                </a:solidFill>
                <a:latin typeface="Arial" pitchFamily="34" charset="0"/>
                <a:ea typeface="Arial" pitchFamily="34" charset="-122"/>
                <a:cs typeface="Arial" pitchFamily="34" charset="-120"/>
              </a:rPr>
              <a:t>규칙을 강화하고 위치를 올려도 </a:t>
            </a:r>
            <a:pPr algn="l" indent="0" marL="0">
              <a:lnSpc>
                <a:spcPct val="144932"/>
              </a:lnSpc>
              <a:buNone/>
            </a:pPr>
            <a:r>
              <a:rPr lang="en-US" sz="1950" b="1" dirty="0">
                <a:solidFill>
                  <a:srgbClr val="FFFFFF"/>
                </a:solidFill>
                <a:latin typeface="Arial" pitchFamily="34" charset="0"/>
                <a:ea typeface="Arial" pitchFamily="34" charset="-122"/>
                <a:cs typeface="Arial" pitchFamily="34" charset="-120"/>
              </a:rPr>
              <a:t>세 문항 중 하나는 매번 </a:t>
            </a:r>
            <a:pPr algn="l" indent="0" marL="0">
              <a:lnSpc>
                <a:spcPct val="144932"/>
              </a:lnSpc>
              <a:buNone/>
            </a:pPr>
            <a:r>
              <a:rPr lang="en-US" sz="1950" dirty="0">
                <a:solidFill>
                  <a:srgbClr val="C9CDD3"/>
                </a:solidFill>
                <a:latin typeface="Arial" pitchFamily="34" charset="0"/>
                <a:ea typeface="Arial" pitchFamily="34" charset="-122"/>
                <a:cs typeface="Arial" pitchFamily="34" charset="-120"/>
              </a:rPr>
              <a:t>"대전시 홈페이지나 앱에서 확인해 보세요"를 덧붙였다(실측).</a:t>
            </a:r>
            <a:endParaRPr lang="en-US" sz="1950" dirty="0"/>
          </a:p>
        </p:txBody>
      </p:sp>
      <p:sp>
        <p:nvSpPr>
          <p:cNvPr id="39" name="Shape 37"/>
          <p:cNvSpPr/>
          <p:nvPr/>
        </p:nvSpPr>
        <p:spPr>
          <a:xfrm>
            <a:off x="10008394" y="5174932"/>
            <a:ext cx="6888956" cy="868680"/>
          </a:xfrm>
          <a:prstGeom prst="rect">
            <a:avLst/>
          </a:prstGeom>
          <a:solidFill>
            <a:srgbClr val="0E1013"/>
          </a:solidFill>
          <a:ln w="7620">
            <a:solidFill>
              <a:srgbClr val="2C313A"/>
            </a:solidFill>
            <a:prstDash val="solid"/>
          </a:ln>
        </p:spPr>
      </p:sp>
      <p:sp>
        <p:nvSpPr>
          <p:cNvPr id="40" name="Text 38"/>
          <p:cNvSpPr/>
          <p:nvPr/>
        </p:nvSpPr>
        <p:spPr>
          <a:xfrm>
            <a:off x="10263664" y="5411152"/>
            <a:ext cx="6585085" cy="43434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9DB4FF"/>
                </a:solidFill>
                <a:latin typeface="Arial" pitchFamily="34" charset="0"/>
                <a:ea typeface="Arial" pitchFamily="34" charset="-122"/>
                <a:cs typeface="Arial" pitchFamily="34" charset="-120"/>
              </a:rPr>
              <a:t>도우려는 성향이 부정 제약을 이긴다.</a:t>
            </a:r>
            <a:endParaRPr lang="en-US" sz="1950" dirty="0"/>
          </a:p>
        </p:txBody>
      </p:sp>
      <p:sp>
        <p:nvSpPr>
          <p:cNvPr id="41" name="Text 39"/>
          <p:cNvSpPr/>
          <p:nvPr/>
        </p:nvSpPr>
        <p:spPr>
          <a:xfrm>
            <a:off x="10008394" y="6234113"/>
            <a:ext cx="7095625" cy="855345"/>
          </a:xfrm>
          <a:prstGeom prst="rect">
            <a:avLst/>
          </a:prstGeom>
          <a:noFill/>
          <a:ln/>
        </p:spPr>
        <p:txBody>
          <a:bodyPr wrap="square" lIns="25400" tIns="25400" rIns="25400" bIns="25400" rtlCol="0" anchor="t">
            <a:normAutofit/>
          </a:bodyPr>
          <a:lstStyle/>
          <a:p>
            <a:pPr algn="l" indent="0" marL="0">
              <a:lnSpc>
                <a:spcPct val="144932"/>
              </a:lnSpc>
              <a:buNone/>
            </a:pPr>
            <a:r>
              <a:rPr lang="en-US" sz="1950" dirty="0">
                <a:solidFill>
                  <a:srgbClr val="C9CDD3"/>
                </a:solidFill>
                <a:latin typeface="Arial" pitchFamily="34" charset="0"/>
                <a:ea typeface="Arial" pitchFamily="34" charset="-122"/>
                <a:cs typeface="Arial" pitchFamily="34" charset="-120"/>
              </a:rPr>
              <a:t>할 일이 </a:t>
            </a:r>
            <a:pPr algn="l" indent="0" marL="0">
              <a:lnSpc>
                <a:spcPct val="144932"/>
              </a:lnSpc>
              <a:buNone/>
            </a:pPr>
            <a:r>
              <a:rPr lang="en-US" sz="1950" b="1" dirty="0">
                <a:solidFill>
                  <a:srgbClr val="FFFFFF"/>
                </a:solidFill>
                <a:latin typeface="Arial" pitchFamily="34" charset="0"/>
                <a:ea typeface="Arial" pitchFamily="34" charset="-122"/>
                <a:cs typeface="Arial" pitchFamily="34" charset="-120"/>
              </a:rPr>
              <a:t>하나뿐인 짧은 프롬프트 </a:t>
            </a:r>
            <a:pPr algn="l" indent="0" marL="0">
              <a:lnSpc>
                <a:spcPct val="144932"/>
              </a:lnSpc>
              <a:buNone/>
            </a:pPr>
            <a:r>
              <a:rPr lang="en-US" sz="1950" dirty="0">
                <a:solidFill>
                  <a:srgbClr val="C9CDD3"/>
                </a:solidFill>
                <a:latin typeface="Arial" pitchFamily="34" charset="0"/>
                <a:ea typeface="Arial" pitchFamily="34" charset="-122"/>
                <a:cs typeface="Arial" pitchFamily="34" charset="-120"/>
              </a:rPr>
              <a:t>로 바꾸면 덧붙일 여지 자체가 없어진다. 커버리지 밖 응답은 전용 프롬프트로 라우팅한다.</a:t>
            </a:r>
            <a:endParaRPr lang="en-US" sz="1950" dirty="0"/>
          </a:p>
        </p:txBody>
      </p:sp>
      <p:sp>
        <p:nvSpPr>
          <p:cNvPr id="42" name="Shape 40"/>
          <p:cNvSpPr/>
          <p:nvPr/>
        </p:nvSpPr>
        <p:spPr>
          <a:xfrm>
            <a:off x="10008394" y="8108632"/>
            <a:ext cx="6888956" cy="9525"/>
          </a:xfrm>
          <a:prstGeom prst="rect">
            <a:avLst/>
          </a:prstGeom>
          <a:solidFill>
            <a:srgbClr val="2C313A"/>
          </a:solidFill>
          <a:ln/>
        </p:spPr>
      </p:sp>
      <p:sp>
        <p:nvSpPr>
          <p:cNvPr id="43" name="Text 41"/>
          <p:cNvSpPr/>
          <p:nvPr/>
        </p:nvSpPr>
        <p:spPr>
          <a:xfrm>
            <a:off x="10008394" y="8306753"/>
            <a:ext cx="7577852" cy="304800"/>
          </a:xfrm>
          <a:prstGeom prst="rect">
            <a:avLst/>
          </a:prstGeom>
          <a:noFill/>
          <a:ln/>
        </p:spPr>
        <p:txBody>
          <a:bodyPr wrap="square" lIns="25400" tIns="25400" rIns="25400" bIns="25400" rtlCol="0" anchor="t">
            <a:normAutofit/>
          </a:bodyPr>
          <a:lstStyle/>
          <a:p>
            <a:pPr algn="l" indent="0" marL="0">
              <a:buNone/>
            </a:pPr>
            <a:r>
              <a:rPr lang="en-US" sz="1575" dirty="0">
                <a:solidFill>
                  <a:srgbClr val="9AA0A8"/>
                </a:solidFill>
                <a:latin typeface="Roboto Mono" pitchFamily="34" charset="0"/>
                <a:ea typeface="Roboto Mono" pitchFamily="34" charset="-122"/>
                <a:cs typeface="Roboto Mono" pitchFamily="34" charset="-120"/>
              </a:rPr>
              <a:t>COVERAGE_SYSTEM 금지 목록</a:t>
            </a:r>
            <a:endParaRPr lang="en-US" sz="1575" dirty="0"/>
          </a:p>
        </p:txBody>
      </p:sp>
      <p:sp>
        <p:nvSpPr>
          <p:cNvPr id="44" name="Text 42"/>
          <p:cNvSpPr/>
          <p:nvPr/>
        </p:nvSpPr>
        <p:spPr>
          <a:xfrm>
            <a:off x="10008394" y="8668703"/>
            <a:ext cx="7095625"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다른 사업자·브랜드·앱 / 지자체 사이트·전화 / 대체 장소 / 추가 도움 제안 / 마무리 고지 문구 — 전부 금지</a:t>
            </a:r>
            <a:endParaRPr lang="en-US" sz="1800" dirty="0"/>
          </a:p>
        </p:txBody>
      </p:sp>
      <p:sp>
        <p:nvSpPr>
          <p:cNvPr id="45" name="Text 43"/>
          <p:cNvSpPr/>
          <p:nvPr/>
        </p:nvSpPr>
        <p:spPr>
          <a:xfrm>
            <a:off x="10008394" y="9495473"/>
            <a:ext cx="7095625" cy="74676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F87171"/>
                </a:solidFill>
                <a:latin typeface="Arial" pitchFamily="34" charset="0"/>
                <a:ea typeface="Arial" pitchFamily="34" charset="-122"/>
                <a:cs typeface="Arial" pitchFamily="34" charset="-120"/>
              </a:rPr>
              <a:t>"도움되는 듯한 제안을 덧붙이는 것이 무례한 답변보다 나쁜 실패다 — 그 서비스가 그 지역을 담당하는지 검증할 수 없기 때문."</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620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17 · TOOL LAYER</a:t>
            </a:r>
            <a:endParaRPr lang="en-US" sz="1800" dirty="0"/>
          </a:p>
        </p:txBody>
      </p:sp>
      <p:sp>
        <p:nvSpPr>
          <p:cNvPr id="3" name="Text 1"/>
          <p:cNvSpPr/>
          <p:nvPr/>
        </p:nvSpPr>
        <p:spPr>
          <a:xfrm>
            <a:off x="1047750" y="1192530"/>
            <a:ext cx="17811750"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의도 → 도구 → 어댑터</a:t>
            </a:r>
            <a:endParaRPr lang="en-US" sz="5250" dirty="0"/>
          </a:p>
        </p:txBody>
      </p:sp>
      <p:sp>
        <p:nvSpPr>
          <p:cNvPr id="4" name="Shape 2"/>
          <p:cNvSpPr/>
          <p:nvPr/>
        </p:nvSpPr>
        <p:spPr>
          <a:xfrm>
            <a:off x="1047750" y="2499360"/>
            <a:ext cx="8416171" cy="9056847"/>
          </a:xfrm>
          <a:prstGeom prst="rect">
            <a:avLst/>
          </a:prstGeom>
          <a:solidFill>
            <a:srgbClr val="FFFFFF"/>
          </a:solidFill>
          <a:ln w="7620">
            <a:solidFill>
              <a:srgbClr val="DFE1E6"/>
            </a:solidFill>
            <a:prstDash val="solid"/>
          </a:ln>
        </p:spPr>
      </p:sp>
      <p:sp>
        <p:nvSpPr>
          <p:cNvPr id="5" name="Text 3"/>
          <p:cNvSpPr/>
          <p:nvPr/>
        </p:nvSpPr>
        <p:spPr>
          <a:xfrm>
            <a:off x="1379220" y="2792730"/>
            <a:ext cx="8528554"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16181D"/>
                </a:solidFill>
                <a:latin typeface="Arial" pitchFamily="34" charset="0"/>
                <a:ea typeface="Arial" pitchFamily="34" charset="-122"/>
                <a:cs typeface="Arial" pitchFamily="34" charset="-120"/>
              </a:rPr>
              <a:t>TOOL_MAP 과 어댑터 (모두 CLI 단독 실행 가능)</a:t>
            </a:r>
            <a:endParaRPr lang="en-US" sz="2175" dirty="0"/>
          </a:p>
        </p:txBody>
      </p:sp>
      <p:sp>
        <p:nvSpPr>
          <p:cNvPr id="6" name="Shape 4"/>
          <p:cNvSpPr/>
          <p:nvPr/>
        </p:nvSpPr>
        <p:spPr>
          <a:xfrm>
            <a:off x="1379220" y="3710940"/>
            <a:ext cx="3517463" cy="15240"/>
          </a:xfrm>
          <a:prstGeom prst="rect">
            <a:avLst/>
          </a:prstGeom>
          <a:solidFill>
            <a:srgbClr val="16181D"/>
          </a:solidFill>
          <a:ln/>
        </p:spPr>
      </p:sp>
      <p:sp>
        <p:nvSpPr>
          <p:cNvPr id="7" name="Text 5"/>
          <p:cNvSpPr/>
          <p:nvPr/>
        </p:nvSpPr>
        <p:spPr>
          <a:xfrm>
            <a:off x="1379220" y="3341370"/>
            <a:ext cx="3622987" cy="312420"/>
          </a:xfrm>
          <a:prstGeom prst="rect">
            <a:avLst/>
          </a:prstGeom>
          <a:noFill/>
          <a:ln/>
        </p:spPr>
        <p:txBody>
          <a:bodyPr wrap="square" lIns="25400" tIns="25400" rIns="25400" bIns="25400" rtlCol="0" anchor="t">
            <a:normAutofit/>
          </a:bodyPr>
          <a:lstStyle/>
          <a:p>
            <a:pPr algn="l" indent="0" marL="0">
              <a:buNone/>
            </a:pPr>
            <a:r>
              <a:rPr lang="en-US" sz="1650" dirty="0">
                <a:solidFill>
                  <a:srgbClr val="8A9099"/>
                </a:solidFill>
                <a:latin typeface="Roboto Mono" pitchFamily="34" charset="0"/>
                <a:ea typeface="Roboto Mono" pitchFamily="34" charset="-122"/>
                <a:cs typeface="Roboto Mono" pitchFamily="34" charset="-120"/>
              </a:rPr>
              <a:t>intent</a:t>
            </a:r>
            <a:endParaRPr lang="en-US" sz="1650" dirty="0"/>
          </a:p>
        </p:txBody>
      </p:sp>
      <p:sp>
        <p:nvSpPr>
          <p:cNvPr id="8" name="Shape 6"/>
          <p:cNvSpPr/>
          <p:nvPr/>
        </p:nvSpPr>
        <p:spPr>
          <a:xfrm>
            <a:off x="5087184" y="3710940"/>
            <a:ext cx="4045148" cy="15240"/>
          </a:xfrm>
          <a:prstGeom prst="rect">
            <a:avLst/>
          </a:prstGeom>
          <a:solidFill>
            <a:srgbClr val="16181D"/>
          </a:solidFill>
          <a:ln/>
        </p:spPr>
      </p:sp>
      <p:sp>
        <p:nvSpPr>
          <p:cNvPr id="9" name="Text 7"/>
          <p:cNvSpPr/>
          <p:nvPr/>
        </p:nvSpPr>
        <p:spPr>
          <a:xfrm>
            <a:off x="5087184" y="3341370"/>
            <a:ext cx="416650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8A9099"/>
                </a:solidFill>
                <a:latin typeface="Roboto Mono" pitchFamily="34" charset="0"/>
                <a:ea typeface="Roboto Mono" pitchFamily="34" charset="-122"/>
                <a:cs typeface="Roboto Mono" pitchFamily="34" charset="-120"/>
              </a:rPr>
              <a:t>adapter</a:t>
            </a:r>
            <a:endParaRPr lang="en-US" sz="1650" dirty="0"/>
          </a:p>
        </p:txBody>
      </p:sp>
      <p:sp>
        <p:nvSpPr>
          <p:cNvPr id="10" name="Text 8"/>
          <p:cNvSpPr/>
          <p:nvPr/>
        </p:nvSpPr>
        <p:spPr>
          <a:xfrm>
            <a:off x="1379220" y="3840480"/>
            <a:ext cx="386921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search_rail · fare_policy</a:t>
            </a:r>
            <a:endParaRPr lang="en-US" sz="1650" dirty="0"/>
          </a:p>
        </p:txBody>
      </p:sp>
      <p:sp>
        <p:nvSpPr>
          <p:cNvPr id="11" name="Text 9"/>
          <p:cNvSpPr/>
          <p:nvPr/>
        </p:nvSpPr>
        <p:spPr>
          <a:xfrm>
            <a:off x="5087184" y="3840480"/>
            <a:ext cx="444966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korail_api.py</a:t>
            </a:r>
            <a:endParaRPr lang="en-US" sz="1650" dirty="0"/>
          </a:p>
        </p:txBody>
      </p:sp>
      <p:sp>
        <p:nvSpPr>
          <p:cNvPr id="12" name="Text 10"/>
          <p:cNvSpPr/>
          <p:nvPr/>
        </p:nvSpPr>
        <p:spPr>
          <a:xfrm>
            <a:off x="1379220" y="4229100"/>
            <a:ext cx="386921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search_bus</a:t>
            </a:r>
            <a:endParaRPr lang="en-US" sz="1650" dirty="0"/>
          </a:p>
        </p:txBody>
      </p:sp>
      <p:sp>
        <p:nvSpPr>
          <p:cNvPr id="13" name="Text 11"/>
          <p:cNvSpPr/>
          <p:nvPr/>
        </p:nvSpPr>
        <p:spPr>
          <a:xfrm>
            <a:off x="5087184" y="4229100"/>
            <a:ext cx="444966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expbus_api.py</a:t>
            </a:r>
            <a:endParaRPr lang="en-US" sz="1650" dirty="0"/>
          </a:p>
        </p:txBody>
      </p:sp>
      <p:sp>
        <p:nvSpPr>
          <p:cNvPr id="14" name="Text 12"/>
          <p:cNvSpPr/>
          <p:nvPr/>
        </p:nvSpPr>
        <p:spPr>
          <a:xfrm>
            <a:off x="1379220" y="4617720"/>
            <a:ext cx="386921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search_flight</a:t>
            </a:r>
            <a:endParaRPr lang="en-US" sz="1650" dirty="0"/>
          </a:p>
        </p:txBody>
      </p:sp>
      <p:sp>
        <p:nvSpPr>
          <p:cNvPr id="15" name="Text 13"/>
          <p:cNvSpPr/>
          <p:nvPr/>
        </p:nvSpPr>
        <p:spPr>
          <a:xfrm>
            <a:off x="5087184" y="4617720"/>
            <a:ext cx="444966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flight_api.py</a:t>
            </a:r>
            <a:endParaRPr lang="en-US" sz="1650" dirty="0"/>
          </a:p>
        </p:txBody>
      </p:sp>
      <p:sp>
        <p:nvSpPr>
          <p:cNvPr id="16" name="Text 14"/>
          <p:cNvSpPr/>
          <p:nvPr/>
        </p:nvSpPr>
        <p:spPr>
          <a:xfrm>
            <a:off x="1379220" y="5006340"/>
            <a:ext cx="386921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get_realtime_status</a:t>
            </a:r>
            <a:endParaRPr lang="en-US" sz="1650" dirty="0"/>
          </a:p>
        </p:txBody>
      </p:sp>
      <p:sp>
        <p:nvSpPr>
          <p:cNvPr id="17" name="Text 15"/>
          <p:cNvSpPr/>
          <p:nvPr/>
        </p:nvSpPr>
        <p:spPr>
          <a:xfrm>
            <a:off x="5087184" y="5006340"/>
            <a:ext cx="444966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airport_status_api.py</a:t>
            </a:r>
            <a:endParaRPr lang="en-US" sz="1650" dirty="0"/>
          </a:p>
        </p:txBody>
      </p:sp>
      <p:sp>
        <p:nvSpPr>
          <p:cNvPr id="18" name="Text 16"/>
          <p:cNvSpPr/>
          <p:nvPr/>
        </p:nvSpPr>
        <p:spPr>
          <a:xfrm>
            <a:off x="1379220" y="5394960"/>
            <a:ext cx="386921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search_parking</a:t>
            </a:r>
            <a:endParaRPr lang="en-US" sz="1650" dirty="0"/>
          </a:p>
        </p:txBody>
      </p:sp>
      <p:sp>
        <p:nvSpPr>
          <p:cNvPr id="19" name="Text 17"/>
          <p:cNvSpPr/>
          <p:nvPr/>
        </p:nvSpPr>
        <p:spPr>
          <a:xfrm>
            <a:off x="5087184" y="5394960"/>
            <a:ext cx="444966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citydata_api.py</a:t>
            </a:r>
            <a:endParaRPr lang="en-US" sz="1650" dirty="0"/>
          </a:p>
        </p:txBody>
      </p:sp>
      <p:sp>
        <p:nvSpPr>
          <p:cNvPr id="20" name="Text 18"/>
          <p:cNvSpPr/>
          <p:nvPr/>
        </p:nvSpPr>
        <p:spPr>
          <a:xfrm>
            <a:off x="1379220" y="5783580"/>
            <a:ext cx="386921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search_ev_charger</a:t>
            </a:r>
            <a:endParaRPr lang="en-US" sz="1650" dirty="0"/>
          </a:p>
        </p:txBody>
      </p:sp>
      <p:sp>
        <p:nvSpPr>
          <p:cNvPr id="21" name="Text 19"/>
          <p:cNvSpPr/>
          <p:nvPr/>
        </p:nvSpPr>
        <p:spPr>
          <a:xfrm>
            <a:off x="5087184" y="5783580"/>
            <a:ext cx="444966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citydata_api.py</a:t>
            </a:r>
            <a:endParaRPr lang="en-US" sz="1650" dirty="0"/>
          </a:p>
        </p:txBody>
      </p:sp>
      <p:sp>
        <p:nvSpPr>
          <p:cNvPr id="22" name="Text 20"/>
          <p:cNvSpPr/>
          <p:nvPr/>
        </p:nvSpPr>
        <p:spPr>
          <a:xfrm>
            <a:off x="1379220" y="6172200"/>
            <a:ext cx="386921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share_mobility</a:t>
            </a:r>
            <a:endParaRPr lang="en-US" sz="1650" dirty="0"/>
          </a:p>
        </p:txBody>
      </p:sp>
      <p:sp>
        <p:nvSpPr>
          <p:cNvPr id="23" name="Text 21"/>
          <p:cNvSpPr/>
          <p:nvPr/>
        </p:nvSpPr>
        <p:spPr>
          <a:xfrm>
            <a:off x="5087184" y="6172200"/>
            <a:ext cx="444966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citydata_api.py</a:t>
            </a:r>
            <a:endParaRPr lang="en-US" sz="1650" dirty="0"/>
          </a:p>
        </p:txBody>
      </p:sp>
      <p:sp>
        <p:nvSpPr>
          <p:cNvPr id="24" name="Text 22"/>
          <p:cNvSpPr/>
          <p:nvPr/>
        </p:nvSpPr>
        <p:spPr>
          <a:xfrm>
            <a:off x="1379220" y="6560820"/>
            <a:ext cx="386921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plan_journey</a:t>
            </a:r>
            <a:endParaRPr lang="en-US" sz="1650" dirty="0"/>
          </a:p>
        </p:txBody>
      </p:sp>
      <p:sp>
        <p:nvSpPr>
          <p:cNvPr id="25" name="Text 23"/>
          <p:cNvSpPr/>
          <p:nvPr/>
        </p:nvSpPr>
        <p:spPr>
          <a:xfrm>
            <a:off x="5087184" y="6560820"/>
            <a:ext cx="444966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B45309"/>
                </a:solidFill>
                <a:latin typeface="Roboto Mono" pitchFamily="34" charset="0"/>
                <a:ea typeface="Roboto Mono" pitchFamily="34" charset="-122"/>
                <a:cs typeface="Roboto Mono" pitchFamily="34" charset="-120"/>
              </a:rPr>
              <a:t>odsay_api.py (미사용) → mock</a:t>
            </a:r>
            <a:endParaRPr lang="en-US" sz="1650" dirty="0"/>
          </a:p>
        </p:txBody>
      </p:sp>
      <p:sp>
        <p:nvSpPr>
          <p:cNvPr id="26" name="Text 24"/>
          <p:cNvSpPr/>
          <p:nvPr/>
        </p:nvSpPr>
        <p:spPr>
          <a:xfrm>
            <a:off x="1379220" y="6949440"/>
            <a:ext cx="386921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search_lodging</a:t>
            </a:r>
            <a:endParaRPr lang="en-US" sz="1650" dirty="0"/>
          </a:p>
        </p:txBody>
      </p:sp>
      <p:sp>
        <p:nvSpPr>
          <p:cNvPr id="27" name="Text 25"/>
          <p:cNvSpPr/>
          <p:nvPr/>
        </p:nvSpPr>
        <p:spPr>
          <a:xfrm>
            <a:off x="5087184" y="6949440"/>
            <a:ext cx="444966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B45309"/>
                </a:solidFill>
                <a:latin typeface="Roboto Mono" pitchFamily="34" charset="0"/>
                <a:ea typeface="Roboto Mono" pitchFamily="34" charset="-122"/>
                <a:cs typeface="Roboto Mono" pitchFamily="34" charset="-120"/>
              </a:rPr>
              <a:t>mock</a:t>
            </a:r>
            <a:endParaRPr lang="en-US" sz="1650" dirty="0"/>
          </a:p>
        </p:txBody>
      </p:sp>
      <p:sp>
        <p:nvSpPr>
          <p:cNvPr id="28" name="Shape 26"/>
          <p:cNvSpPr/>
          <p:nvPr/>
        </p:nvSpPr>
        <p:spPr>
          <a:xfrm>
            <a:off x="1379220" y="9506426"/>
            <a:ext cx="7753231" cy="1756410"/>
          </a:xfrm>
          <a:prstGeom prst="rect">
            <a:avLst/>
          </a:prstGeom>
          <a:solidFill>
            <a:srgbClr val="F6F7F8"/>
          </a:solidFill>
          <a:ln w="7620">
            <a:solidFill>
              <a:srgbClr val="DFE1E6"/>
            </a:solidFill>
            <a:prstDash val="solid"/>
          </a:ln>
        </p:spPr>
      </p:sp>
      <p:sp>
        <p:nvSpPr>
          <p:cNvPr id="29" name="Text 27"/>
          <p:cNvSpPr/>
          <p:nvPr/>
        </p:nvSpPr>
        <p:spPr>
          <a:xfrm>
            <a:off x="1615440" y="9704546"/>
            <a:ext cx="7513388" cy="1398270"/>
          </a:xfrm>
          <a:prstGeom prst="rect">
            <a:avLst/>
          </a:prstGeom>
          <a:noFill/>
          <a:ln/>
        </p:spPr>
        <p:txBody>
          <a:bodyPr wrap="square" lIns="25400" tIns="25400" rIns="25400" bIns="25400" rtlCol="0" anchor="t">
            <a:normAutofit/>
          </a:bodyPr>
          <a:lstStyle/>
          <a:p>
            <a:pPr algn="l" indent="0" marL="0">
              <a:lnSpc>
                <a:spcPct val="127500"/>
              </a:lnSpc>
              <a:buNone/>
            </a:pPr>
            <a:r>
              <a:rPr lang="en-US" sz="1575" dirty="0">
                <a:solidFill>
                  <a:srgbClr val="4A5058"/>
                </a:solidFill>
                <a:latin typeface="Roboto Mono" pitchFamily="34" charset="0"/>
                <a:ea typeface="Roboto Mono" pitchFamily="34" charset="-122"/>
                <a:cs typeface="Roboto Mono" pitchFamily="34" charset="-120"/>
              </a:rPr>
              <a:t>python gate/flight_api.py --from 김포 --to 제주 --date 20260905</a:t>
            </a:r>
            <a:endParaRPr lang="en-US" sz="1575" dirty="0"/>
          </a:p>
          <a:p>
            <a:pPr algn="l" indent="0" marL="0">
              <a:lnSpc>
                <a:spcPct val="127500"/>
              </a:lnSpc>
              <a:buNone/>
            </a:pPr>
            <a:r>
              <a:rPr lang="en-US" sz="1575" dirty="0">
                <a:solidFill>
                  <a:srgbClr val="4A5058"/>
                </a:solidFill>
                <a:latin typeface="Roboto Mono" pitchFamily="34" charset="0"/>
                <a:ea typeface="Roboto Mono" pitchFamily="34" charset="-122"/>
                <a:cs typeface="Roboto Mono" pitchFamily="34" charset="-120"/>
              </a:rPr>
              <a:t>python gate/airport_status_api.py --airport GMP --io O</a:t>
            </a:r>
            <a:endParaRPr lang="en-US" sz="1575" dirty="0"/>
          </a:p>
          <a:p>
            <a:pPr algn="l" indent="0" marL="0">
              <a:lnSpc>
                <a:spcPct val="127500"/>
              </a:lnSpc>
              <a:buNone/>
            </a:pPr>
            <a:r>
              <a:rPr lang="en-US" sz="1575" dirty="0">
                <a:solidFill>
                  <a:srgbClr val="4A5058"/>
                </a:solidFill>
                <a:latin typeface="Roboto Mono" pitchFamily="34" charset="0"/>
                <a:ea typeface="Roboto Mono" pitchFamily="34" charset="-122"/>
                <a:cs typeface="Roboto Mono" pitchFamily="34" charset="-120"/>
              </a:rPr>
              <a:t>python gate/citydata_api.py --area 강남역</a:t>
            </a:r>
            <a:endParaRPr lang="en-US" sz="1575" dirty="0"/>
          </a:p>
        </p:txBody>
      </p:sp>
      <p:sp>
        <p:nvSpPr>
          <p:cNvPr id="30" name="Shape 28"/>
          <p:cNvSpPr/>
          <p:nvPr/>
        </p:nvSpPr>
        <p:spPr>
          <a:xfrm>
            <a:off x="9768721" y="2499360"/>
            <a:ext cx="7471529" cy="3259455"/>
          </a:xfrm>
          <a:prstGeom prst="rect">
            <a:avLst/>
          </a:prstGeom>
          <a:solidFill>
            <a:srgbClr val="FFFFFF"/>
          </a:solidFill>
          <a:ln w="7620">
            <a:solidFill>
              <a:srgbClr val="DFE1E6"/>
            </a:solidFill>
            <a:prstDash val="solid"/>
          </a:ln>
        </p:spPr>
      </p:sp>
      <p:sp>
        <p:nvSpPr>
          <p:cNvPr id="31" name="Text 29"/>
          <p:cNvSpPr/>
          <p:nvPr/>
        </p:nvSpPr>
        <p:spPr>
          <a:xfrm>
            <a:off x="10081142" y="2773680"/>
            <a:ext cx="7531358"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16181D"/>
                </a:solidFill>
                <a:latin typeface="Arial" pitchFamily="34" charset="0"/>
                <a:ea typeface="Arial" pitchFamily="34" charset="-122"/>
                <a:cs typeface="Arial" pitchFamily="34" charset="-120"/>
              </a:rPr>
              <a:t>장소 해석 — 3단 폴백</a:t>
            </a:r>
            <a:endParaRPr lang="en-US" sz="2175" dirty="0"/>
          </a:p>
        </p:txBody>
      </p:sp>
      <p:sp>
        <p:nvSpPr>
          <p:cNvPr id="32" name="Text 30"/>
          <p:cNvSpPr/>
          <p:nvPr/>
        </p:nvSpPr>
        <p:spPr>
          <a:xfrm>
            <a:off x="10081142" y="3336608"/>
            <a:ext cx="323850" cy="304800"/>
          </a:xfrm>
          <a:prstGeom prst="rect">
            <a:avLst/>
          </a:prstGeom>
          <a:noFill/>
          <a:ln/>
        </p:spPr>
        <p:txBody>
          <a:bodyPr wrap="square" lIns="25400" tIns="25400" rIns="25400" bIns="25400" rtlCol="0" anchor="t">
            <a:normAutofit/>
          </a:bodyPr>
          <a:lstStyle/>
          <a:p>
            <a:pPr algn="l" indent="0" marL="0">
              <a:buNone/>
            </a:pPr>
            <a:r>
              <a:rPr lang="en-US" sz="1575" dirty="0">
                <a:solidFill>
                  <a:srgbClr val="4F7CFF"/>
                </a:solidFill>
                <a:latin typeface="Roboto Mono" pitchFamily="34" charset="0"/>
                <a:ea typeface="Roboto Mono" pitchFamily="34" charset="-122"/>
                <a:cs typeface="Roboto Mono" pitchFamily="34" charset="-120"/>
              </a:rPr>
              <a:t>①</a:t>
            </a:r>
            <a:endParaRPr lang="en-US" sz="1575" dirty="0"/>
          </a:p>
        </p:txBody>
      </p:sp>
      <p:sp>
        <p:nvSpPr>
          <p:cNvPr id="33" name="Text 31"/>
          <p:cNvSpPr/>
          <p:nvPr/>
        </p:nvSpPr>
        <p:spPr>
          <a:xfrm>
            <a:off x="10462142" y="3303270"/>
            <a:ext cx="5483400" cy="371475"/>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16181D"/>
                </a:solidFill>
                <a:latin typeface="Arial" pitchFamily="34" charset="0"/>
                <a:ea typeface="Arial" pitchFamily="34" charset="-122"/>
                <a:cs typeface="Arial" pitchFamily="34" charset="-120"/>
              </a:rPr>
              <a:t>transit_nodes — 공항·터미널·주요역 접근점 68개</a:t>
            </a:r>
            <a:endParaRPr lang="en-US" sz="1875" dirty="0"/>
          </a:p>
        </p:txBody>
      </p:sp>
      <p:sp>
        <p:nvSpPr>
          <p:cNvPr id="34" name="Text 32"/>
          <p:cNvSpPr/>
          <p:nvPr/>
        </p:nvSpPr>
        <p:spPr>
          <a:xfrm>
            <a:off x="10081142" y="3765233"/>
            <a:ext cx="323850" cy="304800"/>
          </a:xfrm>
          <a:prstGeom prst="rect">
            <a:avLst/>
          </a:prstGeom>
          <a:noFill/>
          <a:ln/>
        </p:spPr>
        <p:txBody>
          <a:bodyPr wrap="square" lIns="25400" tIns="25400" rIns="25400" bIns="25400" rtlCol="0" anchor="t">
            <a:normAutofit/>
          </a:bodyPr>
          <a:lstStyle/>
          <a:p>
            <a:pPr algn="l" indent="0" marL="0">
              <a:buNone/>
            </a:pPr>
            <a:r>
              <a:rPr lang="en-US" sz="1575" dirty="0">
                <a:solidFill>
                  <a:srgbClr val="4F7CFF"/>
                </a:solidFill>
                <a:latin typeface="Roboto Mono" pitchFamily="34" charset="0"/>
                <a:ea typeface="Roboto Mono" pitchFamily="34" charset="-122"/>
                <a:cs typeface="Roboto Mono" pitchFamily="34" charset="-120"/>
              </a:rPr>
              <a:t>②</a:t>
            </a:r>
            <a:endParaRPr lang="en-US" sz="1575" dirty="0"/>
          </a:p>
        </p:txBody>
      </p:sp>
      <p:sp>
        <p:nvSpPr>
          <p:cNvPr id="35" name="Text 33"/>
          <p:cNvSpPr/>
          <p:nvPr/>
        </p:nvSpPr>
        <p:spPr>
          <a:xfrm>
            <a:off x="10462142" y="3731895"/>
            <a:ext cx="3995333" cy="371475"/>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16181D"/>
                </a:solidFill>
                <a:latin typeface="Arial" pitchFamily="34" charset="0"/>
                <a:ea typeface="Arial" pitchFamily="34" charset="-122"/>
                <a:cs typeface="Arial" pitchFamily="34" charset="-120"/>
              </a:rPr>
              <a:t>admin_areas — 전국 행정구역 매칭</a:t>
            </a:r>
            <a:endParaRPr lang="en-US" sz="1875" dirty="0"/>
          </a:p>
        </p:txBody>
      </p:sp>
      <p:sp>
        <p:nvSpPr>
          <p:cNvPr id="36" name="Text 34"/>
          <p:cNvSpPr/>
          <p:nvPr/>
        </p:nvSpPr>
        <p:spPr>
          <a:xfrm>
            <a:off x="10081142" y="4193858"/>
            <a:ext cx="323850" cy="304800"/>
          </a:xfrm>
          <a:prstGeom prst="rect">
            <a:avLst/>
          </a:prstGeom>
          <a:noFill/>
          <a:ln/>
        </p:spPr>
        <p:txBody>
          <a:bodyPr wrap="square" lIns="25400" tIns="25400" rIns="25400" bIns="25400" rtlCol="0" anchor="t">
            <a:normAutofit/>
          </a:bodyPr>
          <a:lstStyle/>
          <a:p>
            <a:pPr algn="l" indent="0" marL="0">
              <a:buNone/>
            </a:pPr>
            <a:r>
              <a:rPr lang="en-US" sz="1575" dirty="0">
                <a:solidFill>
                  <a:srgbClr val="4F7CFF"/>
                </a:solidFill>
                <a:latin typeface="Roboto Mono" pitchFamily="34" charset="0"/>
                <a:ea typeface="Roboto Mono" pitchFamily="34" charset="-122"/>
                <a:cs typeface="Roboto Mono" pitchFamily="34" charset="-120"/>
              </a:rPr>
              <a:t>③</a:t>
            </a:r>
            <a:endParaRPr lang="en-US" sz="1575" dirty="0"/>
          </a:p>
        </p:txBody>
      </p:sp>
      <p:sp>
        <p:nvSpPr>
          <p:cNvPr id="37" name="Text 35"/>
          <p:cNvSpPr/>
          <p:nvPr/>
        </p:nvSpPr>
        <p:spPr>
          <a:xfrm>
            <a:off x="10462142" y="4160520"/>
            <a:ext cx="3043714" cy="371475"/>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16181D"/>
                </a:solidFill>
                <a:latin typeface="Arial" pitchFamily="34" charset="0"/>
                <a:ea typeface="Arial" pitchFamily="34" charset="-122"/>
                <a:cs typeface="Arial" pitchFamily="34" charset="-120"/>
              </a:rPr>
              <a:t>카카오 로컬 지오코딩 (캐시)</a:t>
            </a:r>
            <a:endParaRPr lang="en-US" sz="1875" dirty="0"/>
          </a:p>
        </p:txBody>
      </p:sp>
      <p:sp>
        <p:nvSpPr>
          <p:cNvPr id="38" name="Shape 36"/>
          <p:cNvSpPr/>
          <p:nvPr/>
        </p:nvSpPr>
        <p:spPr>
          <a:xfrm>
            <a:off x="10081142" y="4627245"/>
            <a:ext cx="6846689" cy="9525"/>
          </a:xfrm>
          <a:prstGeom prst="rect">
            <a:avLst/>
          </a:prstGeom>
          <a:solidFill>
            <a:srgbClr val="ECEDED"/>
          </a:solidFill>
          <a:ln/>
        </p:spPr>
      </p:sp>
      <p:sp>
        <p:nvSpPr>
          <p:cNvPr id="39" name="Text 37"/>
          <p:cNvSpPr/>
          <p:nvPr/>
        </p:nvSpPr>
        <p:spPr>
          <a:xfrm>
            <a:off x="10081142" y="4768215"/>
            <a:ext cx="7052090" cy="754380"/>
          </a:xfrm>
          <a:prstGeom prst="rect">
            <a:avLst/>
          </a:prstGeom>
          <a:noFill/>
          <a:ln/>
        </p:spPr>
        <p:txBody>
          <a:bodyPr wrap="square" lIns="25400" tIns="25400" rIns="25400" bIns="25400" rtlCol="0" anchor="t">
            <a:normAutofit/>
          </a:bodyPr>
          <a:lstStyle/>
          <a:p>
            <a:pPr algn="l" indent="0" marL="0">
              <a:lnSpc>
                <a:spcPct val="136765"/>
              </a:lnSpc>
              <a:buNone/>
            </a:pPr>
            <a:r>
              <a:rPr lang="en-US" sz="1800" b="1" dirty="0">
                <a:solidFill>
                  <a:srgbClr val="6B7280"/>
                </a:solidFill>
                <a:latin typeface="Arial" pitchFamily="34" charset="0"/>
                <a:ea typeface="Arial" pitchFamily="34" charset="-122"/>
                <a:cs typeface="Arial" pitchFamily="34" charset="-120"/>
              </a:rPr>
              <a:t>동명이역 처리</a:t>
            </a:r>
            <a:pPr algn="l" indent="0" marL="0">
              <a:lnSpc>
                <a:spcPct val="136765"/>
              </a:lnSpc>
              <a:buNone/>
            </a:pPr>
            <a:r>
              <a:rPr lang="en-US" sz="1800" dirty="0">
                <a:solidFill>
                  <a:srgbClr val="6B7280"/>
                </a:solidFill>
                <a:latin typeface="Arial" pitchFamily="34" charset="0"/>
                <a:ea typeface="Arial" pitchFamily="34" charset="-122"/>
                <a:cs typeface="Arial" pitchFamily="34" charset="-120"/>
              </a:rPr>
              <a:t>: "서면"처럼 여러 도시에 있는 역은 임의로 고르지 않고 </a:t>
            </a:r>
            <a:pPr algn="l" indent="0" marL="0">
              <a:lnSpc>
                <a:spcPct val="136765"/>
              </a:lnSpc>
              <a:buNone/>
            </a:pPr>
            <a:r>
              <a:rPr lang="en-US" sz="1800" b="1" dirty="0">
                <a:solidFill>
                  <a:srgbClr val="6B7280"/>
                </a:solidFill>
                <a:latin typeface="Arial" pitchFamily="34" charset="0"/>
                <a:ea typeface="Arial" pitchFamily="34" charset="-122"/>
                <a:cs typeface="Arial" pitchFamily="34" charset="-120"/>
              </a:rPr>
              <a:t>어느 도시인지 되묻는다 </a:t>
            </a:r>
            <a:pPr algn="l" indent="0" marL="0">
              <a:lnSpc>
                <a:spcPct val="136765"/>
              </a:lnSpc>
              <a:buNone/>
            </a:pPr>
            <a:r>
              <a:rPr lang="en-US" sz="1800" dirty="0">
                <a:solidFill>
                  <a:srgbClr val="6B7280"/>
                </a:solidFill>
                <a:latin typeface="Arial" pitchFamily="34" charset="0"/>
                <a:ea typeface="Arial" pitchFamily="34" charset="-122"/>
                <a:cs typeface="Arial" pitchFamily="34" charset="-120"/>
              </a:rPr>
              <a:t>(</a:t>
            </a:r>
            <a:pPr algn="l" indent="0" marL="0">
              <a:lnSpc>
                <a:spcPct val="136765"/>
              </a:lnSpc>
              <a:buNone/>
            </a:pPr>
            <a:r>
              <a:rPr lang="en-US" sz="1800" dirty="0">
                <a:solidFill>
                  <a:srgbClr val="6B7280"/>
                </a:solidFill>
                <a:latin typeface="Roboto Mono" pitchFamily="34" charset="0"/>
                <a:ea typeface="Roboto Mono" pitchFamily="34" charset="-122"/>
                <a:cs typeface="Roboto Mono" pitchFamily="34" charset="-120"/>
              </a:rPr>
              <a:t>station.ambiguous</a:t>
            </a:r>
            <a:pPr algn="l" indent="0" marL="0">
              <a:lnSpc>
                <a:spcPct val="136765"/>
              </a:lnSpc>
              <a:buNone/>
            </a:pPr>
            <a:r>
              <a:rPr lang="en-US" sz="1800" dirty="0">
                <a:solidFill>
                  <a:srgbClr val="6B7280"/>
                </a:solidFill>
                <a:latin typeface="Arial" pitchFamily="34" charset="0"/>
                <a:ea typeface="Arial" pitchFamily="34" charset="-122"/>
                <a:cs typeface="Arial" pitchFamily="34" charset="-120"/>
              </a:rPr>
              <a:t>).</a:t>
            </a:r>
            <a:endParaRPr lang="en-US" sz="1800" dirty="0"/>
          </a:p>
        </p:txBody>
      </p:sp>
      <p:sp>
        <p:nvSpPr>
          <p:cNvPr id="40" name="Shape 38"/>
          <p:cNvSpPr/>
          <p:nvPr/>
        </p:nvSpPr>
        <p:spPr>
          <a:xfrm>
            <a:off x="9768721" y="5949315"/>
            <a:ext cx="7471529" cy="5606891"/>
          </a:xfrm>
          <a:prstGeom prst="rect">
            <a:avLst/>
          </a:prstGeom>
          <a:solidFill>
            <a:srgbClr val="16181D"/>
          </a:solidFill>
          <a:ln/>
        </p:spPr>
      </p:sp>
      <p:sp>
        <p:nvSpPr>
          <p:cNvPr id="41" name="Text 39"/>
          <p:cNvSpPr/>
          <p:nvPr/>
        </p:nvSpPr>
        <p:spPr>
          <a:xfrm>
            <a:off x="10092571" y="6235065"/>
            <a:ext cx="7506212" cy="312420"/>
          </a:xfrm>
          <a:prstGeom prst="rect">
            <a:avLst/>
          </a:prstGeom>
          <a:noFill/>
          <a:ln/>
        </p:spPr>
        <p:txBody>
          <a:bodyPr wrap="square" lIns="25400" tIns="25400" rIns="25400" bIns="25400" rtlCol="0" anchor="t">
            <a:normAutofit/>
          </a:bodyPr>
          <a:lstStyle/>
          <a:p>
            <a:pPr algn="l" indent="0" marL="0">
              <a:buNone/>
            </a:pPr>
            <a:r>
              <a:rPr lang="en-US" sz="1650" dirty="0">
                <a:solidFill>
                  <a:srgbClr val="9DB4FF"/>
                </a:solidFill>
                <a:latin typeface="Roboto Mono" pitchFamily="34" charset="0"/>
                <a:ea typeface="Roboto Mono" pitchFamily="34" charset="-122"/>
                <a:cs typeface="Roboto Mono" pitchFamily="34" charset="-120"/>
              </a:rPr>
              <a:t>도구 계층의 원칙</a:t>
            </a:r>
            <a:endParaRPr lang="en-US" sz="1650" dirty="0"/>
          </a:p>
        </p:txBody>
      </p:sp>
      <p:sp>
        <p:nvSpPr>
          <p:cNvPr id="42" name="Text 40"/>
          <p:cNvSpPr/>
          <p:nvPr/>
        </p:nvSpPr>
        <p:spPr>
          <a:xfrm>
            <a:off x="10092571" y="6661785"/>
            <a:ext cx="7028544" cy="924877"/>
          </a:xfrm>
          <a:prstGeom prst="rect">
            <a:avLst/>
          </a:prstGeom>
          <a:noFill/>
          <a:ln/>
        </p:spPr>
        <p:txBody>
          <a:bodyPr wrap="square" lIns="25400" tIns="25400" rIns="25400" bIns="25400" rtlCol="0" anchor="t">
            <a:normAutofit/>
          </a:bodyPr>
          <a:lstStyle/>
          <a:p>
            <a:pPr algn="l" indent="0" marL="0">
              <a:lnSpc>
                <a:spcPct val="127699"/>
              </a:lnSpc>
              <a:buNone/>
            </a:pPr>
            <a:r>
              <a:rPr lang="en-US" sz="2325" b="1" dirty="0">
                <a:solidFill>
                  <a:srgbClr val="FBFBFA"/>
                </a:solidFill>
                <a:latin typeface="Arial" pitchFamily="34" charset="0"/>
                <a:ea typeface="Arial" pitchFamily="34" charset="-122"/>
                <a:cs typeface="Arial" pitchFamily="34" charset="-120"/>
              </a:rPr>
              <a:t>게이트가 의도를 틀려도 </a:t>
            </a:r>
            <a:pPr algn="l" indent="0" marL="0">
              <a:lnSpc>
                <a:spcPct val="127699"/>
              </a:lnSpc>
              <a:buNone/>
            </a:pPr>
            <a:r>
              <a:rPr lang="en-US" sz="2325" b="1" dirty="0">
                <a:solidFill>
                  <a:srgbClr val="9DB4FF"/>
                </a:solidFill>
                <a:latin typeface="Arial" pitchFamily="34" charset="0"/>
                <a:ea typeface="Arial" pitchFamily="34" charset="-122"/>
                <a:cs typeface="Arial" pitchFamily="34" charset="-120"/>
              </a:rPr>
              <a:t>받는 도구가 원문을 보고 되돌린다</a:t>
            </a:r>
            <a:endParaRPr lang="en-US" sz="2325" dirty="0"/>
          </a:p>
        </p:txBody>
      </p:sp>
      <p:sp>
        <p:nvSpPr>
          <p:cNvPr id="43" name="Text 41"/>
          <p:cNvSpPr/>
          <p:nvPr/>
        </p:nvSpPr>
        <p:spPr>
          <a:xfrm>
            <a:off x="10092571" y="7700963"/>
            <a:ext cx="7028544" cy="1216819"/>
          </a:xfrm>
          <a:prstGeom prst="rect">
            <a:avLst/>
          </a:prstGeom>
          <a:noFill/>
          <a:ln/>
        </p:spPr>
        <p:txBody>
          <a:bodyPr wrap="square" lIns="25400" tIns="25400" rIns="25400" bIns="25400" rtlCol="0" anchor="t">
            <a:normAutofit/>
          </a:bodyPr>
          <a:lstStyle/>
          <a:p>
            <a:pPr algn="l" indent="0" marL="0">
              <a:lnSpc>
                <a:spcPct val="143229"/>
              </a:lnSpc>
              <a:buNone/>
            </a:pPr>
            <a:r>
              <a:rPr lang="en-US" sz="1875" dirty="0">
                <a:solidFill>
                  <a:srgbClr val="C9CDD3"/>
                </a:solidFill>
                <a:latin typeface="Arial" pitchFamily="34" charset="0"/>
                <a:ea typeface="Arial" pitchFamily="34" charset="-122"/>
                <a:cs typeface="Arial" pitchFamily="34" charset="-120"/>
              </a:rPr>
              <a:t>게이트는 항공 질의를 자주 틀린다 — "인천공항 KE081 탑승구"를 </a:t>
            </a:r>
            <a:pPr algn="l" indent="0" marL="0">
              <a:lnSpc>
                <a:spcPct val="143229"/>
              </a:lnSpc>
              <a:buNone/>
            </a:pPr>
            <a:r>
              <a:rPr lang="en-US" sz="1650" dirty="0">
                <a:solidFill>
                  <a:srgbClr val="C9CDD3"/>
                </a:solidFill>
                <a:latin typeface="Roboto Mono" pitchFamily="34" charset="0"/>
                <a:ea typeface="Roboto Mono" pitchFamily="34" charset="-122"/>
                <a:cs typeface="Roboto Mono" pitchFamily="34" charset="-120"/>
              </a:rPr>
              <a:t>search_rail </a:t>
            </a:r>
            <a:pPr algn="l" indent="0" marL="0">
              <a:lnSpc>
                <a:spcPct val="143229"/>
              </a:lnSpc>
              <a:buNone/>
            </a:pPr>
            <a:r>
              <a:rPr lang="en-US" sz="1875" dirty="0">
                <a:solidFill>
                  <a:srgbClr val="C9CDD3"/>
                </a:solidFill>
                <a:latin typeface="Arial" pitchFamily="34" charset="0"/>
                <a:ea typeface="Arial" pitchFamily="34" charset="-122"/>
                <a:cs typeface="Arial" pitchFamily="34" charset="-120"/>
              </a:rPr>
              <a:t>로, "인천공항 도착 수하물"을 </a:t>
            </a:r>
            <a:pPr algn="l" indent="0" marL="0">
              <a:lnSpc>
                <a:spcPct val="143229"/>
              </a:lnSpc>
              <a:buNone/>
            </a:pPr>
            <a:r>
              <a:rPr lang="en-US" sz="1650" dirty="0">
                <a:solidFill>
                  <a:srgbClr val="C9CDD3"/>
                </a:solidFill>
                <a:latin typeface="Roboto Mono" pitchFamily="34" charset="0"/>
                <a:ea typeface="Roboto Mono" pitchFamily="34" charset="-122"/>
                <a:cs typeface="Roboto Mono" pitchFamily="34" charset="-120"/>
              </a:rPr>
              <a:t>search_lodging </a:t>
            </a:r>
            <a:pPr algn="l" indent="0" marL="0">
              <a:lnSpc>
                <a:spcPct val="143229"/>
              </a:lnSpc>
              <a:buNone/>
            </a:pPr>
            <a:r>
              <a:rPr lang="en-US" sz="1875" dirty="0">
                <a:solidFill>
                  <a:srgbClr val="C9CDD3"/>
                </a:solidFill>
                <a:latin typeface="Arial" pitchFamily="34" charset="0"/>
                <a:ea typeface="Arial" pitchFamily="34" charset="-122"/>
                <a:cs typeface="Arial" pitchFamily="34" charset="-120"/>
              </a:rPr>
              <a:t>로 보낸다.</a:t>
            </a:r>
            <a:endParaRPr lang="en-US" sz="1875" dirty="0"/>
          </a:p>
        </p:txBody>
      </p:sp>
      <p:sp>
        <p:nvSpPr>
          <p:cNvPr id="44" name="Text 42"/>
          <p:cNvSpPr/>
          <p:nvPr/>
        </p:nvSpPr>
        <p:spPr>
          <a:xfrm>
            <a:off x="10092571" y="9032081"/>
            <a:ext cx="7028544" cy="1609725"/>
          </a:xfrm>
          <a:prstGeom prst="rect">
            <a:avLst/>
          </a:prstGeom>
          <a:noFill/>
          <a:ln/>
        </p:spPr>
        <p:txBody>
          <a:bodyPr wrap="square" lIns="25400" tIns="25400" rIns="25400" bIns="25400" rtlCol="0" anchor="t">
            <a:normAutofit/>
          </a:bodyPr>
          <a:lstStyle/>
          <a:p>
            <a:pPr algn="l" indent="0" marL="0">
              <a:lnSpc>
                <a:spcPct val="143229"/>
              </a:lnSpc>
              <a:buNone/>
            </a:pPr>
            <a:r>
              <a:rPr lang="en-US" sz="1875" dirty="0">
                <a:solidFill>
                  <a:srgbClr val="C9CDD3"/>
                </a:solidFill>
                <a:latin typeface="Arial" pitchFamily="34" charset="0"/>
                <a:ea typeface="Arial" pitchFamily="34" charset="-122"/>
                <a:cs typeface="Arial" pitchFamily="34" charset="-120"/>
              </a:rPr>
              <a:t>게이트 프롬프트를 늘리면 xgrammar 제약이 커져 더 나빠진다. 그래서 </a:t>
            </a:r>
            <a:pPr algn="l" indent="0" marL="0">
              <a:lnSpc>
                <a:spcPct val="143229"/>
              </a:lnSpc>
              <a:buNone/>
            </a:pPr>
            <a:r>
              <a:rPr lang="en-US" sz="1650" dirty="0">
                <a:solidFill>
                  <a:srgbClr val="C9CDD3"/>
                </a:solidFill>
                <a:latin typeface="Roboto Mono" pitchFamily="34" charset="0"/>
                <a:ea typeface="Roboto Mono" pitchFamily="34" charset="-122"/>
                <a:cs typeface="Roboto Mono" pitchFamily="34" charset="-120"/>
              </a:rPr>
              <a:t>_is_flight_query()</a:t>
            </a:r>
            <a:pPr algn="l" indent="0" marL="0">
              <a:lnSpc>
                <a:spcPct val="143229"/>
              </a:lnSpc>
              <a:buNone/>
            </a:pPr>
            <a:r>
              <a:rPr lang="en-US" sz="1875" dirty="0">
                <a:solidFill>
                  <a:srgbClr val="C9CDD3"/>
                </a:solidFill>
                <a:latin typeface="Arial" pitchFamily="34" charset="0"/>
                <a:ea typeface="Arial" pitchFamily="34" charset="-122"/>
                <a:cs typeface="Arial" pitchFamily="34" charset="-120"/>
              </a:rPr>
              <a:t>·</a:t>
            </a:r>
            <a:pPr algn="l" indent="0" marL="0">
              <a:lnSpc>
                <a:spcPct val="143229"/>
              </a:lnSpc>
              <a:buNone/>
            </a:pPr>
            <a:r>
              <a:rPr lang="en-US" sz="1650" dirty="0">
                <a:solidFill>
                  <a:srgbClr val="C9CDD3"/>
                </a:solidFill>
                <a:latin typeface="Roboto Mono" pitchFamily="34" charset="0"/>
                <a:ea typeface="Roboto Mono" pitchFamily="34" charset="-122"/>
                <a:cs typeface="Roboto Mono" pitchFamily="34" charset="-120"/>
              </a:rPr>
              <a:t>_is_arrival_query()</a:t>
            </a:r>
            <a:pPr algn="l" indent="0" marL="0">
              <a:lnSpc>
                <a:spcPct val="143229"/>
              </a:lnSpc>
              <a:buNone/>
            </a:pPr>
            <a:r>
              <a:rPr lang="en-US" sz="1875" dirty="0">
                <a:solidFill>
                  <a:srgbClr val="C9CDD3"/>
                </a:solidFill>
                <a:latin typeface="Arial" pitchFamily="34" charset="0"/>
                <a:ea typeface="Arial" pitchFamily="34" charset="-122"/>
                <a:cs typeface="Arial" pitchFamily="34" charset="-120"/>
              </a:rPr>
              <a:t>·</a:t>
            </a:r>
            <a:pPr algn="l" indent="0" marL="0">
              <a:lnSpc>
                <a:spcPct val="143229"/>
              </a:lnSpc>
              <a:buNone/>
            </a:pPr>
            <a:r>
              <a:rPr lang="en-US" sz="1650" dirty="0">
                <a:solidFill>
                  <a:srgbClr val="C9CDD3"/>
                </a:solidFill>
                <a:latin typeface="Roboto Mono" pitchFamily="34" charset="0"/>
                <a:ea typeface="Roboto Mono" pitchFamily="34" charset="-122"/>
                <a:cs typeface="Roboto Mono" pitchFamily="34" charset="-120"/>
              </a:rPr>
              <a:t>is_metro_query() </a:t>
            </a:r>
            <a:pPr algn="l" indent="0" marL="0">
              <a:lnSpc>
                <a:spcPct val="143229"/>
              </a:lnSpc>
              <a:buNone/>
            </a:pPr>
            <a:r>
              <a:rPr lang="en-US" sz="1875" dirty="0">
                <a:solidFill>
                  <a:srgbClr val="C9CDD3"/>
                </a:solidFill>
                <a:latin typeface="Arial" pitchFamily="34" charset="0"/>
                <a:ea typeface="Arial" pitchFamily="34" charset="-122"/>
                <a:cs typeface="Arial" pitchFamily="34" charset="-120"/>
              </a:rPr>
              <a:t>가 </a:t>
            </a:r>
            <a:pPr algn="l" indent="0" marL="0">
              <a:lnSpc>
                <a:spcPct val="143229"/>
              </a:lnSpc>
              <a:buNone/>
            </a:pPr>
            <a:r>
              <a:rPr lang="en-US" sz="1875" b="1" dirty="0">
                <a:solidFill>
                  <a:srgbClr val="FFFFFF"/>
                </a:solidFill>
                <a:latin typeface="Arial" pitchFamily="34" charset="0"/>
                <a:ea typeface="Arial" pitchFamily="34" charset="-122"/>
                <a:cs typeface="Arial" pitchFamily="34" charset="-120"/>
              </a:rPr>
              <a:t>원문을 재검사</a:t>
            </a:r>
            <a:pPr algn="l" indent="0" marL="0">
              <a:lnSpc>
                <a:spcPct val="143229"/>
              </a:lnSpc>
              <a:buNone/>
            </a:pPr>
            <a:r>
              <a:rPr lang="en-US" sz="1875" dirty="0">
                <a:solidFill>
                  <a:srgbClr val="C9CDD3"/>
                </a:solidFill>
                <a:latin typeface="Arial" pitchFamily="34" charset="0"/>
                <a:ea typeface="Arial" pitchFamily="34" charset="-122"/>
                <a:cs typeface="Arial" pitchFamily="34" charset="-120"/>
              </a:rPr>
              <a:t>한다.</a:t>
            </a:r>
            <a:endParaRPr lang="en-US" sz="1875" dirty="0"/>
          </a:p>
        </p:txBody>
      </p:sp>
      <p:sp>
        <p:nvSpPr>
          <p:cNvPr id="45" name="Shape 43"/>
          <p:cNvSpPr/>
          <p:nvPr/>
        </p:nvSpPr>
        <p:spPr>
          <a:xfrm>
            <a:off x="10092571" y="10756106"/>
            <a:ext cx="6823829" cy="9525"/>
          </a:xfrm>
          <a:prstGeom prst="rect">
            <a:avLst/>
          </a:prstGeom>
          <a:solidFill>
            <a:srgbClr val="2C313A"/>
          </a:solidFill>
          <a:ln/>
        </p:spPr>
      </p:sp>
      <p:sp>
        <p:nvSpPr>
          <p:cNvPr id="46" name="Text 44"/>
          <p:cNvSpPr/>
          <p:nvPr/>
        </p:nvSpPr>
        <p:spPr>
          <a:xfrm>
            <a:off x="10092571" y="10916126"/>
            <a:ext cx="7028544"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9AA0A8"/>
                </a:solidFill>
                <a:latin typeface="Arial" pitchFamily="34" charset="0"/>
                <a:ea typeface="Arial" pitchFamily="34" charset="-122"/>
                <a:cs typeface="Arial" pitchFamily="34" charset="-120"/>
              </a:rPr>
              <a:t>의도 정확도 68.5% 로도 서비스가 도는 이유가 이 되돌림 계층이다.</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952500" y="723900"/>
            <a:ext cx="8363533"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18 · DATA SOURCES</a:t>
            </a:r>
            <a:endParaRPr lang="en-US" sz="1800" dirty="0"/>
          </a:p>
        </p:txBody>
      </p:sp>
      <p:sp>
        <p:nvSpPr>
          <p:cNvPr id="3" name="Text 1"/>
          <p:cNvSpPr/>
          <p:nvPr/>
        </p:nvSpPr>
        <p:spPr>
          <a:xfrm>
            <a:off x="952500" y="1135380"/>
            <a:ext cx="8363533"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실데이터 · 목 데이터 · 미사용</a:t>
            </a:r>
            <a:endParaRPr lang="en-US" sz="4950" dirty="0"/>
          </a:p>
        </p:txBody>
      </p:sp>
      <p:sp>
        <p:nvSpPr>
          <p:cNvPr id="4" name="Shape 2"/>
          <p:cNvSpPr/>
          <p:nvPr/>
        </p:nvSpPr>
        <p:spPr>
          <a:xfrm>
            <a:off x="10995660" y="1059180"/>
            <a:ext cx="6339840" cy="1005840"/>
          </a:xfrm>
          <a:prstGeom prst="rect">
            <a:avLst/>
          </a:prstGeom>
          <a:solidFill>
            <a:srgbClr val="FFF7ED"/>
          </a:solidFill>
          <a:ln w="7620">
            <a:solidFill>
              <a:srgbClr val="FED7AA"/>
            </a:solidFill>
            <a:prstDash val="solid"/>
          </a:ln>
        </p:spPr>
      </p:sp>
      <p:sp>
        <p:nvSpPr>
          <p:cNvPr id="5" name="Text 3"/>
          <p:cNvSpPr/>
          <p:nvPr/>
        </p:nvSpPr>
        <p:spPr>
          <a:xfrm>
            <a:off x="11212830" y="1219200"/>
            <a:ext cx="6095696"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7C2D12"/>
                </a:solidFill>
                <a:highlight>
                  <a:srgbClr val="FFF7ED"/>
                </a:highlight>
                <a:latin typeface="Arial" pitchFamily="34" charset="0"/>
                <a:ea typeface="Arial" pitchFamily="34" charset="-122"/>
                <a:cs typeface="Arial" pitchFamily="34" charset="-120"/>
              </a:rPr>
              <a:t>실데이터 도구도 </a:t>
            </a:r>
            <a:pPr algn="l" indent="0" marL="0">
              <a:lnSpc>
                <a:spcPct val="132353"/>
              </a:lnSpc>
              <a:buNone/>
            </a:pPr>
            <a:r>
              <a:rPr lang="en-US" sz="1800" b="1" dirty="0">
                <a:solidFill>
                  <a:srgbClr val="7C2D12"/>
                </a:solidFill>
                <a:latin typeface="Arial" pitchFamily="34" charset="0"/>
                <a:ea typeface="Arial" pitchFamily="34" charset="-122"/>
                <a:cs typeface="Arial" pitchFamily="34" charset="-120"/>
              </a:rPr>
              <a:t>API 실패 시 목 데이터로 폴백 </a:t>
            </a:r>
            <a:pPr algn="l" indent="0" marL="0">
              <a:lnSpc>
                <a:spcPct val="132353"/>
              </a:lnSpc>
              <a:buNone/>
            </a:pPr>
            <a:r>
              <a:rPr lang="en-US" sz="1800" dirty="0">
                <a:solidFill>
                  <a:srgbClr val="7C2D12"/>
                </a:solidFill>
                <a:highlight>
                  <a:srgbClr val="FFF7ED"/>
                </a:highlight>
                <a:latin typeface="Arial" pitchFamily="34" charset="0"/>
                <a:ea typeface="Arial" pitchFamily="34" charset="-122"/>
                <a:cs typeface="Arial" pitchFamily="34" charset="-120"/>
              </a:rPr>
              <a:t>한다. 폴백 여부는 </a:t>
            </a:r>
            <a:pPr algn="l" indent="0" marL="0">
              <a:lnSpc>
                <a:spcPct val="132353"/>
              </a:lnSpc>
              <a:buNone/>
            </a:pPr>
            <a:r>
              <a:rPr lang="en-US" sz="1575" dirty="0">
                <a:solidFill>
                  <a:srgbClr val="7C2D12"/>
                </a:solidFill>
                <a:latin typeface="Roboto Mono" pitchFamily="34" charset="0"/>
                <a:ea typeface="Roboto Mono" pitchFamily="34" charset="-122"/>
                <a:cs typeface="Roboto Mono" pitchFamily="34" charset="-120"/>
              </a:rPr>
              <a:t>data_source </a:t>
            </a:r>
            <a:pPr algn="l" indent="0" marL="0">
              <a:lnSpc>
                <a:spcPct val="132353"/>
              </a:lnSpc>
              <a:buNone/>
            </a:pPr>
            <a:r>
              <a:rPr lang="en-US" sz="1800" dirty="0">
                <a:solidFill>
                  <a:srgbClr val="7C2D12"/>
                </a:solidFill>
                <a:highlight>
                  <a:srgbClr val="FFF7ED"/>
                </a:highlight>
                <a:latin typeface="Arial" pitchFamily="34" charset="0"/>
                <a:ea typeface="Arial" pitchFamily="34" charset="-122"/>
                <a:cs typeface="Arial" pitchFamily="34" charset="-120"/>
              </a:rPr>
              <a:t>의 </a:t>
            </a:r>
            <a:pPr algn="l" indent="0" marL="0">
              <a:lnSpc>
                <a:spcPct val="132353"/>
              </a:lnSpc>
              <a:buNone/>
            </a:pPr>
            <a:r>
              <a:rPr lang="en-US" sz="1575" dirty="0">
                <a:solidFill>
                  <a:srgbClr val="7C2D12"/>
                </a:solidFill>
                <a:latin typeface="Roboto Mono" pitchFamily="34" charset="0"/>
                <a:ea typeface="Roboto Mono" pitchFamily="34" charset="-122"/>
                <a:cs typeface="Roboto Mono" pitchFamily="34" charset="-120"/>
              </a:rPr>
              <a:t>(mock) </a:t>
            </a:r>
            <a:pPr algn="l" indent="0" marL="0">
              <a:lnSpc>
                <a:spcPct val="132353"/>
              </a:lnSpc>
              <a:buNone/>
            </a:pPr>
            <a:r>
              <a:rPr lang="en-US" sz="1800" dirty="0">
                <a:solidFill>
                  <a:srgbClr val="7C2D12"/>
                </a:solidFill>
                <a:highlight>
                  <a:srgbClr val="FFF7ED"/>
                </a:highlight>
                <a:latin typeface="Arial" pitchFamily="34" charset="0"/>
                <a:ea typeface="Arial" pitchFamily="34" charset="-122"/>
                <a:cs typeface="Arial" pitchFamily="34" charset="-120"/>
              </a:rPr>
              <a:t>표기로만 구분된다.</a:t>
            </a:r>
            <a:endParaRPr lang="en-US" sz="1800" dirty="0"/>
          </a:p>
        </p:txBody>
      </p:sp>
      <p:sp>
        <p:nvSpPr>
          <p:cNvPr id="6" name="Shape 4"/>
          <p:cNvSpPr/>
          <p:nvPr/>
        </p:nvSpPr>
        <p:spPr>
          <a:xfrm>
            <a:off x="952500" y="2350770"/>
            <a:ext cx="16383000" cy="4042410"/>
          </a:xfrm>
          <a:prstGeom prst="rect">
            <a:avLst/>
          </a:prstGeom>
          <a:solidFill>
            <a:srgbClr val="FFFFFF"/>
          </a:solidFill>
          <a:ln/>
        </p:spPr>
      </p:sp>
      <p:sp>
        <p:nvSpPr>
          <p:cNvPr id="7" name="Shape 5"/>
          <p:cNvSpPr/>
          <p:nvPr/>
        </p:nvSpPr>
        <p:spPr>
          <a:xfrm>
            <a:off x="952500" y="6385560"/>
            <a:ext cx="16383000" cy="9525"/>
          </a:xfrm>
          <a:prstGeom prst="rect">
            <a:avLst/>
          </a:prstGeom>
          <a:solidFill>
            <a:srgbClr val="DFE1E6"/>
          </a:solidFill>
          <a:ln/>
        </p:spPr>
      </p:sp>
      <p:sp>
        <p:nvSpPr>
          <p:cNvPr id="8" name="Shape 6"/>
          <p:cNvSpPr/>
          <p:nvPr/>
        </p:nvSpPr>
        <p:spPr>
          <a:xfrm>
            <a:off x="952500" y="2350770"/>
            <a:ext cx="16383000" cy="9525"/>
          </a:xfrm>
          <a:prstGeom prst="rect">
            <a:avLst/>
          </a:prstGeom>
          <a:solidFill>
            <a:srgbClr val="DFE1E6"/>
          </a:solidFill>
          <a:ln/>
        </p:spPr>
      </p:sp>
      <p:sp>
        <p:nvSpPr>
          <p:cNvPr id="9" name="Shape 7"/>
          <p:cNvSpPr/>
          <p:nvPr/>
        </p:nvSpPr>
        <p:spPr>
          <a:xfrm>
            <a:off x="952500" y="2350770"/>
            <a:ext cx="45720" cy="4042410"/>
          </a:xfrm>
          <a:prstGeom prst="rect">
            <a:avLst/>
          </a:prstGeom>
          <a:solidFill>
            <a:srgbClr val="00845C"/>
          </a:solidFill>
          <a:ln/>
        </p:spPr>
      </p:sp>
      <p:sp>
        <p:nvSpPr>
          <p:cNvPr id="10" name="Shape 8"/>
          <p:cNvSpPr/>
          <p:nvPr/>
        </p:nvSpPr>
        <p:spPr>
          <a:xfrm>
            <a:off x="17327880" y="2350770"/>
            <a:ext cx="9525" cy="4042410"/>
          </a:xfrm>
          <a:prstGeom prst="rect">
            <a:avLst/>
          </a:prstGeom>
          <a:solidFill>
            <a:srgbClr val="DFE1E6"/>
          </a:solidFill>
          <a:ln/>
        </p:spPr>
      </p:sp>
      <p:sp>
        <p:nvSpPr>
          <p:cNvPr id="11" name="Text 9"/>
          <p:cNvSpPr/>
          <p:nvPr/>
        </p:nvSpPr>
        <p:spPr>
          <a:xfrm>
            <a:off x="1303020" y="2606040"/>
            <a:ext cx="17292066"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16181D"/>
                </a:solidFill>
                <a:latin typeface="Arial" pitchFamily="34" charset="0"/>
                <a:ea typeface="Arial" pitchFamily="34" charset="-122"/>
                <a:cs typeface="Arial" pitchFamily="34" charset="-120"/>
              </a:rPr>
              <a:t>실데이터 — 조회 지평이 API 마다 다르다</a:t>
            </a:r>
            <a:endParaRPr lang="en-US" sz="2175" dirty="0"/>
          </a:p>
        </p:txBody>
      </p:sp>
      <p:sp>
        <p:nvSpPr>
          <p:cNvPr id="12" name="Shape 10"/>
          <p:cNvSpPr/>
          <p:nvPr/>
        </p:nvSpPr>
        <p:spPr>
          <a:xfrm>
            <a:off x="1303020" y="3478530"/>
            <a:ext cx="3531989" cy="15240"/>
          </a:xfrm>
          <a:prstGeom prst="rect">
            <a:avLst/>
          </a:prstGeom>
          <a:solidFill>
            <a:srgbClr val="16181D"/>
          </a:solidFill>
          <a:ln/>
        </p:spPr>
      </p:sp>
      <p:sp>
        <p:nvSpPr>
          <p:cNvPr id="13" name="Text 11"/>
          <p:cNvSpPr/>
          <p:nvPr/>
        </p:nvSpPr>
        <p:spPr>
          <a:xfrm>
            <a:off x="1303020" y="3135630"/>
            <a:ext cx="3637949" cy="304800"/>
          </a:xfrm>
          <a:prstGeom prst="rect">
            <a:avLst/>
          </a:prstGeom>
          <a:noFill/>
          <a:ln/>
        </p:spPr>
        <p:txBody>
          <a:bodyPr wrap="square" lIns="25400" tIns="25400" rIns="25400" bIns="25400" rtlCol="0" anchor="t">
            <a:normAutofit/>
          </a:bodyPr>
          <a:lstStyle/>
          <a:p>
            <a:pPr algn="l" indent="0" marL="0">
              <a:buNone/>
            </a:pPr>
            <a:r>
              <a:rPr lang="en-US" sz="1575" dirty="0">
                <a:solidFill>
                  <a:srgbClr val="8A9099"/>
                </a:solidFill>
                <a:latin typeface="Roboto Mono" pitchFamily="34" charset="0"/>
                <a:ea typeface="Roboto Mono" pitchFamily="34" charset="-122"/>
                <a:cs typeface="Roboto Mono" pitchFamily="34" charset="-120"/>
              </a:rPr>
              <a:t>도구</a:t>
            </a:r>
            <a:endParaRPr lang="en-US" sz="1575" dirty="0"/>
          </a:p>
        </p:txBody>
      </p:sp>
      <p:sp>
        <p:nvSpPr>
          <p:cNvPr id="14" name="Shape 12"/>
          <p:cNvSpPr/>
          <p:nvPr/>
        </p:nvSpPr>
        <p:spPr>
          <a:xfrm>
            <a:off x="5044559" y="3478530"/>
            <a:ext cx="3531989" cy="15240"/>
          </a:xfrm>
          <a:prstGeom prst="rect">
            <a:avLst/>
          </a:prstGeom>
          <a:solidFill>
            <a:srgbClr val="16181D"/>
          </a:solidFill>
          <a:ln/>
        </p:spPr>
      </p:sp>
      <p:sp>
        <p:nvSpPr>
          <p:cNvPr id="15" name="Text 13"/>
          <p:cNvSpPr/>
          <p:nvPr/>
        </p:nvSpPr>
        <p:spPr>
          <a:xfrm>
            <a:off x="5044559" y="3135630"/>
            <a:ext cx="3637949" cy="304800"/>
          </a:xfrm>
          <a:prstGeom prst="rect">
            <a:avLst/>
          </a:prstGeom>
          <a:noFill/>
          <a:ln/>
        </p:spPr>
        <p:txBody>
          <a:bodyPr wrap="square" lIns="25400" tIns="25400" rIns="25400" bIns="25400" rtlCol="0" anchor="t">
            <a:normAutofit/>
          </a:bodyPr>
          <a:lstStyle/>
          <a:p>
            <a:pPr algn="l" indent="0" marL="0">
              <a:buNone/>
            </a:pPr>
            <a:r>
              <a:rPr lang="en-US" sz="1575" dirty="0">
                <a:solidFill>
                  <a:srgbClr val="8A9099"/>
                </a:solidFill>
                <a:latin typeface="Roboto Mono" pitchFamily="34" charset="0"/>
                <a:ea typeface="Roboto Mono" pitchFamily="34" charset="-122"/>
                <a:cs typeface="Roboto Mono" pitchFamily="34" charset="-120"/>
              </a:rPr>
              <a:t>출처</a:t>
            </a:r>
            <a:endParaRPr lang="en-US" sz="1575" dirty="0"/>
          </a:p>
        </p:txBody>
      </p:sp>
      <p:sp>
        <p:nvSpPr>
          <p:cNvPr id="16" name="Shape 14"/>
          <p:cNvSpPr/>
          <p:nvPr/>
        </p:nvSpPr>
        <p:spPr>
          <a:xfrm>
            <a:off x="8786098" y="3478530"/>
            <a:ext cx="3210997" cy="15240"/>
          </a:xfrm>
          <a:prstGeom prst="rect">
            <a:avLst/>
          </a:prstGeom>
          <a:solidFill>
            <a:srgbClr val="16181D"/>
          </a:solidFill>
          <a:ln/>
        </p:spPr>
      </p:sp>
      <p:sp>
        <p:nvSpPr>
          <p:cNvPr id="17" name="Text 15"/>
          <p:cNvSpPr/>
          <p:nvPr/>
        </p:nvSpPr>
        <p:spPr>
          <a:xfrm>
            <a:off x="8786098" y="3135630"/>
            <a:ext cx="3307327" cy="304800"/>
          </a:xfrm>
          <a:prstGeom prst="rect">
            <a:avLst/>
          </a:prstGeom>
          <a:noFill/>
          <a:ln/>
        </p:spPr>
        <p:txBody>
          <a:bodyPr wrap="square" lIns="25400" tIns="25400" rIns="25400" bIns="25400" rtlCol="0" anchor="t">
            <a:normAutofit/>
          </a:bodyPr>
          <a:lstStyle/>
          <a:p>
            <a:pPr algn="l" indent="0" marL="0">
              <a:buNone/>
            </a:pPr>
            <a:r>
              <a:rPr lang="en-US" sz="1575" dirty="0">
                <a:solidFill>
                  <a:srgbClr val="8A9099"/>
                </a:solidFill>
                <a:latin typeface="Roboto Mono" pitchFamily="34" charset="0"/>
                <a:ea typeface="Roboto Mono" pitchFamily="34" charset="-122"/>
                <a:cs typeface="Roboto Mono" pitchFamily="34" charset="-120"/>
              </a:rPr>
              <a:t>지평 · 한도</a:t>
            </a:r>
            <a:endParaRPr lang="en-US" sz="1575" dirty="0"/>
          </a:p>
        </p:txBody>
      </p:sp>
      <p:sp>
        <p:nvSpPr>
          <p:cNvPr id="18" name="Shape 16"/>
          <p:cNvSpPr/>
          <p:nvPr/>
        </p:nvSpPr>
        <p:spPr>
          <a:xfrm>
            <a:off x="12206644" y="3478530"/>
            <a:ext cx="4816435" cy="15240"/>
          </a:xfrm>
          <a:prstGeom prst="rect">
            <a:avLst/>
          </a:prstGeom>
          <a:solidFill>
            <a:srgbClr val="16181D"/>
          </a:solidFill>
          <a:ln/>
        </p:spPr>
      </p:sp>
      <p:sp>
        <p:nvSpPr>
          <p:cNvPr id="19" name="Text 17"/>
          <p:cNvSpPr/>
          <p:nvPr/>
        </p:nvSpPr>
        <p:spPr>
          <a:xfrm>
            <a:off x="12206644" y="3135630"/>
            <a:ext cx="4960928" cy="304800"/>
          </a:xfrm>
          <a:prstGeom prst="rect">
            <a:avLst/>
          </a:prstGeom>
          <a:noFill/>
          <a:ln/>
        </p:spPr>
        <p:txBody>
          <a:bodyPr wrap="square" lIns="25400" tIns="25400" rIns="25400" bIns="25400" rtlCol="0" anchor="t">
            <a:normAutofit/>
          </a:bodyPr>
          <a:lstStyle/>
          <a:p>
            <a:pPr algn="l" indent="0" marL="0">
              <a:buNone/>
            </a:pPr>
            <a:r>
              <a:rPr lang="en-US" sz="1575" dirty="0">
                <a:solidFill>
                  <a:srgbClr val="8A9099"/>
                </a:solidFill>
                <a:latin typeface="Roboto Mono" pitchFamily="34" charset="0"/>
                <a:ea typeface="Roboto Mono" pitchFamily="34" charset="-122"/>
                <a:cs typeface="Roboto Mono" pitchFamily="34" charset="-120"/>
              </a:rPr>
              <a:t>대응</a:t>
            </a:r>
            <a:endParaRPr lang="en-US" sz="1575" dirty="0"/>
          </a:p>
        </p:txBody>
      </p:sp>
      <p:sp>
        <p:nvSpPr>
          <p:cNvPr id="20" name="Text 18"/>
          <p:cNvSpPr/>
          <p:nvPr/>
        </p:nvSpPr>
        <p:spPr>
          <a:xfrm>
            <a:off x="1303020" y="3638550"/>
            <a:ext cx="3885188"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search_rail</a:t>
            </a:r>
            <a:endParaRPr lang="en-US" sz="1800" dirty="0"/>
          </a:p>
        </p:txBody>
      </p:sp>
      <p:sp>
        <p:nvSpPr>
          <p:cNvPr id="21" name="Text 19"/>
          <p:cNvSpPr/>
          <p:nvPr/>
        </p:nvSpPr>
        <p:spPr>
          <a:xfrm>
            <a:off x="5044559" y="3608070"/>
            <a:ext cx="3885188"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코레일 열차운행정보</a:t>
            </a:r>
            <a:endParaRPr lang="en-US" sz="1800" dirty="0"/>
          </a:p>
        </p:txBody>
      </p:sp>
      <p:sp>
        <p:nvSpPr>
          <p:cNvPr id="22" name="Text 20"/>
          <p:cNvSpPr/>
          <p:nvPr/>
        </p:nvSpPr>
        <p:spPr>
          <a:xfrm>
            <a:off x="8786098" y="3653790"/>
            <a:ext cx="3532096" cy="312420"/>
          </a:xfrm>
          <a:prstGeom prst="rect">
            <a:avLst/>
          </a:prstGeom>
          <a:noFill/>
          <a:ln/>
        </p:spPr>
        <p:txBody>
          <a:bodyPr wrap="square" lIns="25400" tIns="25400" rIns="25400" bIns="25400" rtlCol="0" anchor="t">
            <a:normAutofit/>
          </a:bodyPr>
          <a:lstStyle/>
          <a:p>
            <a:pPr algn="l" indent="0" marL="0">
              <a:buNone/>
            </a:pPr>
            <a:r>
              <a:rPr lang="en-US" sz="1650" dirty="0">
                <a:solidFill>
                  <a:srgbClr val="C2410C"/>
                </a:solidFill>
                <a:latin typeface="Roboto Mono" pitchFamily="34" charset="0"/>
                <a:ea typeface="Roboto Mono" pitchFamily="34" charset="-122"/>
                <a:cs typeface="Roboto Mono" pitchFamily="34" charset="-120"/>
              </a:rPr>
              <a:t>미래 없음 (과거 실적)</a:t>
            </a:r>
            <a:endParaRPr lang="en-US" sz="1650" dirty="0"/>
          </a:p>
        </p:txBody>
      </p:sp>
      <p:sp>
        <p:nvSpPr>
          <p:cNvPr id="23" name="Text 21"/>
          <p:cNvSpPr/>
          <p:nvPr/>
        </p:nvSpPr>
        <p:spPr>
          <a:xfrm>
            <a:off x="12206644" y="3638550"/>
            <a:ext cx="4960928" cy="67818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4A5058"/>
                </a:solidFill>
                <a:latin typeface="Arial" pitchFamily="34" charset="0"/>
                <a:ea typeface="Arial" pitchFamily="34" charset="-122"/>
                <a:cs typeface="Arial" pitchFamily="34" charset="-120"/>
              </a:rPr>
              <a:t>같은 요일 최근 운행일을 </a:t>
            </a:r>
            <a:pPr algn="l" indent="0" marL="0">
              <a:lnSpc>
                <a:spcPct val="123529"/>
              </a:lnSpc>
              <a:buNone/>
            </a:pPr>
            <a:r>
              <a:rPr lang="en-US" sz="1800" b="1" dirty="0">
                <a:solidFill>
                  <a:srgbClr val="4A5058"/>
                </a:solidFill>
                <a:latin typeface="Arial" pitchFamily="34" charset="0"/>
                <a:ea typeface="Arial" pitchFamily="34" charset="-122"/>
                <a:cs typeface="Arial" pitchFamily="34" charset="-120"/>
              </a:rPr>
              <a:t>참고 시간표 </a:t>
            </a:r>
            <a:pPr algn="l" indent="0" marL="0">
              <a:lnSpc>
                <a:spcPct val="123529"/>
              </a:lnSpc>
              <a:buNone/>
            </a:pPr>
            <a:r>
              <a:rPr lang="en-US" sz="1800" dirty="0">
                <a:solidFill>
                  <a:srgbClr val="4A5058"/>
                </a:solidFill>
                <a:latin typeface="Arial" pitchFamily="34" charset="0"/>
                <a:ea typeface="Arial" pitchFamily="34" charset="-122"/>
                <a:cs typeface="Arial" pitchFamily="34" charset="-120"/>
              </a:rPr>
              <a:t>로, 답변에 명시</a:t>
            </a:r>
            <a:endParaRPr lang="en-US" sz="1800" dirty="0"/>
          </a:p>
        </p:txBody>
      </p:sp>
      <p:sp>
        <p:nvSpPr>
          <p:cNvPr id="24" name="Text 22"/>
          <p:cNvSpPr/>
          <p:nvPr/>
        </p:nvSpPr>
        <p:spPr>
          <a:xfrm>
            <a:off x="1303020" y="4423410"/>
            <a:ext cx="3885188"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search_bus</a:t>
            </a:r>
            <a:endParaRPr lang="en-US" sz="1800" dirty="0"/>
          </a:p>
        </p:txBody>
      </p:sp>
      <p:sp>
        <p:nvSpPr>
          <p:cNvPr id="25" name="Text 23"/>
          <p:cNvSpPr/>
          <p:nvPr/>
        </p:nvSpPr>
        <p:spPr>
          <a:xfrm>
            <a:off x="5044559" y="4392930"/>
            <a:ext cx="3885188"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TAGO 고속버스</a:t>
            </a:r>
            <a:endParaRPr lang="en-US" sz="1800" dirty="0"/>
          </a:p>
        </p:txBody>
      </p:sp>
      <p:sp>
        <p:nvSpPr>
          <p:cNvPr id="26" name="Text 24"/>
          <p:cNvSpPr/>
          <p:nvPr/>
        </p:nvSpPr>
        <p:spPr>
          <a:xfrm>
            <a:off x="8786098" y="4438650"/>
            <a:ext cx="3532096"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D+2</a:t>
            </a:r>
            <a:endParaRPr lang="en-US" sz="1650" dirty="0"/>
          </a:p>
        </p:txBody>
      </p:sp>
      <p:sp>
        <p:nvSpPr>
          <p:cNvPr id="27" name="Text 25"/>
          <p:cNvSpPr/>
          <p:nvPr/>
        </p:nvSpPr>
        <p:spPr>
          <a:xfrm>
            <a:off x="12206644" y="4423410"/>
            <a:ext cx="5298079"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4A5058"/>
                </a:solidFill>
                <a:latin typeface="Arial" pitchFamily="34" charset="0"/>
                <a:ea typeface="Arial" pitchFamily="34" charset="-122"/>
                <a:cs typeface="Arial" pitchFamily="34" charset="-120"/>
              </a:rPr>
              <a:t>밖의 날짜는 D+2 로 당겨 조회 + </a:t>
            </a:r>
            <a:pPr algn="l" indent="0" marL="0">
              <a:lnSpc>
                <a:spcPct val="123529"/>
              </a:lnSpc>
              <a:buNone/>
            </a:pPr>
            <a:r>
              <a:rPr lang="en-US" sz="1575" dirty="0">
                <a:solidFill>
                  <a:srgbClr val="4A5058"/>
                </a:solidFill>
                <a:latin typeface="Roboto Mono" pitchFamily="34" charset="0"/>
                <a:ea typeface="Roboto Mono" pitchFamily="34" charset="-122"/>
                <a:cs typeface="Roboto Mono" pitchFamily="34" charset="-120"/>
              </a:rPr>
              <a:t>date_clamped</a:t>
            </a:r>
            <a:endParaRPr lang="en-US" sz="1800" dirty="0"/>
          </a:p>
        </p:txBody>
      </p:sp>
      <p:sp>
        <p:nvSpPr>
          <p:cNvPr id="28" name="Text 26"/>
          <p:cNvSpPr/>
          <p:nvPr/>
        </p:nvSpPr>
        <p:spPr>
          <a:xfrm>
            <a:off x="1303020" y="4888230"/>
            <a:ext cx="3885188"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search_flight</a:t>
            </a:r>
            <a:endParaRPr lang="en-US" sz="1800" dirty="0"/>
          </a:p>
        </p:txBody>
      </p:sp>
      <p:sp>
        <p:nvSpPr>
          <p:cNvPr id="29" name="Text 27"/>
          <p:cNvSpPr/>
          <p:nvPr/>
        </p:nvSpPr>
        <p:spPr>
          <a:xfrm>
            <a:off x="5044559" y="4857750"/>
            <a:ext cx="3885188"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TAGO 국내항공</a:t>
            </a:r>
            <a:endParaRPr lang="en-US" sz="1800" dirty="0"/>
          </a:p>
        </p:txBody>
      </p:sp>
      <p:sp>
        <p:nvSpPr>
          <p:cNvPr id="30" name="Text 28"/>
          <p:cNvSpPr/>
          <p:nvPr/>
        </p:nvSpPr>
        <p:spPr>
          <a:xfrm>
            <a:off x="8786098" y="4903470"/>
            <a:ext cx="3532096" cy="312420"/>
          </a:xfrm>
          <a:prstGeom prst="rect">
            <a:avLst/>
          </a:prstGeom>
          <a:noFill/>
          <a:ln/>
        </p:spPr>
        <p:txBody>
          <a:bodyPr wrap="square" lIns="25400" tIns="25400" rIns="25400" bIns="25400" rtlCol="0" anchor="t">
            <a:normAutofit/>
          </a:bodyPr>
          <a:lstStyle/>
          <a:p>
            <a:pPr algn="l" indent="0" marL="0">
              <a:buNone/>
            </a:pPr>
            <a:r>
              <a:rPr lang="en-US" sz="1650" dirty="0">
                <a:solidFill>
                  <a:srgbClr val="00845C"/>
                </a:solidFill>
                <a:latin typeface="Roboto Mono" pitchFamily="34" charset="0"/>
                <a:ea typeface="Roboto Mono" pitchFamily="34" charset="-122"/>
                <a:cs typeface="Roboto Mono" pitchFamily="34" charset="-120"/>
              </a:rPr>
              <a:t>D+50</a:t>
            </a:r>
            <a:endParaRPr lang="en-US" sz="1650" dirty="0"/>
          </a:p>
        </p:txBody>
      </p:sp>
      <p:sp>
        <p:nvSpPr>
          <p:cNvPr id="31" name="Text 29"/>
          <p:cNvSpPr/>
          <p:nvPr/>
        </p:nvSpPr>
        <p:spPr>
          <a:xfrm>
            <a:off x="12206644" y="4888230"/>
            <a:ext cx="5298079"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4A5058"/>
                </a:solidFill>
                <a:latin typeface="Arial" pitchFamily="34" charset="0"/>
                <a:ea typeface="Arial" pitchFamily="34" charset="-122"/>
                <a:cs typeface="Arial" pitchFamily="34" charset="-120"/>
              </a:rPr>
              <a:t>시간표 + 운임(</a:t>
            </a:r>
            <a:pPr algn="l" indent="0" marL="0">
              <a:lnSpc>
                <a:spcPct val="123529"/>
              </a:lnSpc>
              <a:buNone/>
            </a:pPr>
            <a:r>
              <a:rPr lang="en-US" sz="1575" dirty="0">
                <a:solidFill>
                  <a:srgbClr val="4A5058"/>
                </a:solidFill>
                <a:latin typeface="Roboto Mono" pitchFamily="34" charset="0"/>
                <a:ea typeface="Roboto Mono" pitchFamily="34" charset="-122"/>
                <a:cs typeface="Roboto Mono" pitchFamily="34" charset="-120"/>
              </a:rPr>
              <a:t>economyCharge</a:t>
            </a:r>
            <a:pPr algn="l" indent="0" marL="0">
              <a:lnSpc>
                <a:spcPct val="123529"/>
              </a:lnSpc>
              <a:buNone/>
            </a:pPr>
            <a:r>
              <a:rPr lang="en-US" sz="1800" dirty="0">
                <a:solidFill>
                  <a:srgbClr val="4A5058"/>
                </a:solidFill>
                <a:latin typeface="Arial" pitchFamily="34" charset="0"/>
                <a:ea typeface="Arial" pitchFamily="34" charset="-122"/>
                <a:cs typeface="Arial" pitchFamily="34" charset="-120"/>
              </a:rPr>
              <a:t>) · IATA 시즌 전체</a:t>
            </a:r>
            <a:endParaRPr lang="en-US" sz="1800" dirty="0"/>
          </a:p>
        </p:txBody>
      </p:sp>
      <p:sp>
        <p:nvSpPr>
          <p:cNvPr id="32" name="Text 30"/>
          <p:cNvSpPr/>
          <p:nvPr/>
        </p:nvSpPr>
        <p:spPr>
          <a:xfrm>
            <a:off x="1303020" y="5353050"/>
            <a:ext cx="3885188"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get_realtime_status</a:t>
            </a:r>
            <a:endParaRPr lang="en-US" sz="1800" dirty="0"/>
          </a:p>
        </p:txBody>
      </p:sp>
      <p:sp>
        <p:nvSpPr>
          <p:cNvPr id="33" name="Text 31"/>
          <p:cNvSpPr/>
          <p:nvPr/>
        </p:nvSpPr>
        <p:spPr>
          <a:xfrm>
            <a:off x="5044559" y="5322570"/>
            <a:ext cx="3885188"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인천공항공사 / 한국공항공사</a:t>
            </a:r>
            <a:endParaRPr lang="en-US" sz="1800" dirty="0"/>
          </a:p>
        </p:txBody>
      </p:sp>
      <p:sp>
        <p:nvSpPr>
          <p:cNvPr id="34" name="Text 32"/>
          <p:cNvSpPr/>
          <p:nvPr/>
        </p:nvSpPr>
        <p:spPr>
          <a:xfrm>
            <a:off x="8786098" y="5368290"/>
            <a:ext cx="3532096"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D-3~D+6 · 500 / 5,000</a:t>
            </a:r>
            <a:endParaRPr lang="en-US" sz="1650" dirty="0"/>
          </a:p>
        </p:txBody>
      </p:sp>
      <p:sp>
        <p:nvSpPr>
          <p:cNvPr id="35" name="Text 33"/>
          <p:cNvSpPr/>
          <p:nvPr/>
        </p:nvSpPr>
        <p:spPr>
          <a:xfrm>
            <a:off x="12206644" y="5353050"/>
            <a:ext cx="5298079"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4A5058"/>
                </a:solidFill>
                <a:latin typeface="Arial" pitchFamily="34" charset="0"/>
                <a:ea typeface="Arial" pitchFamily="34" charset="-122"/>
                <a:cs typeface="Arial" pitchFamily="34" charset="-120"/>
              </a:rPr>
              <a:t>인천은 하루치 통째로 받아 캐시 · 14개 공항</a:t>
            </a:r>
            <a:endParaRPr lang="en-US" sz="1800" dirty="0"/>
          </a:p>
        </p:txBody>
      </p:sp>
      <p:sp>
        <p:nvSpPr>
          <p:cNvPr id="36" name="Text 34"/>
          <p:cNvSpPr/>
          <p:nvPr/>
        </p:nvSpPr>
        <p:spPr>
          <a:xfrm>
            <a:off x="1303020" y="5817870"/>
            <a:ext cx="3885188"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parking · ev · share</a:t>
            </a:r>
            <a:endParaRPr lang="en-US" sz="1800" dirty="0"/>
          </a:p>
        </p:txBody>
      </p:sp>
      <p:sp>
        <p:nvSpPr>
          <p:cNvPr id="37" name="Text 35"/>
          <p:cNvSpPr/>
          <p:nvPr/>
        </p:nvSpPr>
        <p:spPr>
          <a:xfrm>
            <a:off x="5044559" y="5787390"/>
            <a:ext cx="3885188"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서울시 실시간 도시데이터</a:t>
            </a:r>
            <a:endParaRPr lang="en-US" sz="1800" dirty="0"/>
          </a:p>
        </p:txBody>
      </p:sp>
      <p:sp>
        <p:nvSpPr>
          <p:cNvPr id="38" name="Text 36"/>
          <p:cNvSpPr/>
          <p:nvPr/>
        </p:nvSpPr>
        <p:spPr>
          <a:xfrm>
            <a:off x="8786098" y="5833110"/>
            <a:ext cx="3532096" cy="312420"/>
          </a:xfrm>
          <a:prstGeom prst="rect">
            <a:avLst/>
          </a:prstGeom>
          <a:noFill/>
          <a:ln/>
        </p:spPr>
        <p:txBody>
          <a:bodyPr wrap="square" lIns="25400" tIns="25400" rIns="25400" bIns="25400" rtlCol="0" anchor="t">
            <a:normAutofit/>
          </a:bodyPr>
          <a:lstStyle/>
          <a:p>
            <a:pPr algn="l" indent="0" marL="0">
              <a:buNone/>
            </a:pPr>
            <a:r>
              <a:rPr lang="en-US" sz="1650" dirty="0">
                <a:solidFill>
                  <a:srgbClr val="C2410C"/>
                </a:solidFill>
                <a:latin typeface="Roboto Mono" pitchFamily="34" charset="0"/>
                <a:ea typeface="Roboto Mono" pitchFamily="34" charset="-122"/>
                <a:cs typeface="Roboto Mono" pitchFamily="34" charset="-120"/>
              </a:rPr>
              <a:t>서울 121개 장소</a:t>
            </a:r>
            <a:endParaRPr lang="en-US" sz="1650" dirty="0"/>
          </a:p>
        </p:txBody>
      </p:sp>
      <p:sp>
        <p:nvSpPr>
          <p:cNvPr id="39" name="Text 37"/>
          <p:cNvSpPr/>
          <p:nvPr/>
        </p:nvSpPr>
        <p:spPr>
          <a:xfrm>
            <a:off x="12206644" y="5817870"/>
            <a:ext cx="5298079"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4A5058"/>
                </a:solidFill>
                <a:latin typeface="Arial" pitchFamily="34" charset="0"/>
                <a:ea typeface="Arial" pitchFamily="34" charset="-122"/>
                <a:cs typeface="Arial" pitchFamily="34" charset="-120"/>
              </a:rPr>
              <a:t>밖은 </a:t>
            </a:r>
            <a:pPr algn="l" indent="0" marL="0">
              <a:lnSpc>
                <a:spcPct val="123529"/>
              </a:lnSpc>
              <a:buNone/>
            </a:pPr>
            <a:r>
              <a:rPr lang="en-US" sz="1575" dirty="0">
                <a:solidFill>
                  <a:srgbClr val="4A5058"/>
                </a:solidFill>
                <a:latin typeface="Roboto Mono" pitchFamily="34" charset="0"/>
                <a:ea typeface="Roboto Mono" pitchFamily="34" charset="-122"/>
                <a:cs typeface="Roboto Mono" pitchFamily="34" charset="-120"/>
              </a:rPr>
              <a:t>location_not_covered </a:t>
            </a:r>
            <a:pPr algn="l" indent="0" marL="0">
              <a:lnSpc>
                <a:spcPct val="123529"/>
              </a:lnSpc>
              <a:buNone/>
            </a:pPr>
            <a:r>
              <a:rPr lang="en-US" sz="1800" dirty="0">
                <a:solidFill>
                  <a:srgbClr val="4A5058"/>
                </a:solidFill>
                <a:latin typeface="Arial" pitchFamily="34" charset="0"/>
                <a:ea typeface="Arial" pitchFamily="34" charset="-122"/>
                <a:cs typeface="Arial" pitchFamily="34" charset="-120"/>
              </a:rPr>
              <a:t>— </a:t>
            </a:r>
            <a:pPr algn="l" indent="0" marL="0">
              <a:lnSpc>
                <a:spcPct val="123529"/>
              </a:lnSpc>
              <a:buNone/>
            </a:pPr>
            <a:r>
              <a:rPr lang="en-US" sz="1800" b="1" dirty="0">
                <a:solidFill>
                  <a:srgbClr val="4A5058"/>
                </a:solidFill>
                <a:latin typeface="Arial" pitchFamily="34" charset="0"/>
                <a:ea typeface="Arial" pitchFamily="34" charset="-122"/>
                <a:cs typeface="Arial" pitchFamily="34" charset="-120"/>
              </a:rPr>
              <a:t>폴백 금지</a:t>
            </a:r>
            <a:endParaRPr lang="en-US" sz="1800" dirty="0"/>
          </a:p>
        </p:txBody>
      </p:sp>
      <p:sp>
        <p:nvSpPr>
          <p:cNvPr id="40" name="Shape 38"/>
          <p:cNvSpPr/>
          <p:nvPr/>
        </p:nvSpPr>
        <p:spPr>
          <a:xfrm>
            <a:off x="952500" y="6545580"/>
            <a:ext cx="7179707" cy="3398520"/>
          </a:xfrm>
          <a:prstGeom prst="rect">
            <a:avLst/>
          </a:prstGeom>
          <a:solidFill>
            <a:srgbClr val="FFFFFF"/>
          </a:solidFill>
          <a:ln/>
        </p:spPr>
      </p:sp>
      <p:sp>
        <p:nvSpPr>
          <p:cNvPr id="41" name="Shape 39"/>
          <p:cNvSpPr/>
          <p:nvPr/>
        </p:nvSpPr>
        <p:spPr>
          <a:xfrm>
            <a:off x="952500" y="9936480"/>
            <a:ext cx="7179707" cy="9525"/>
          </a:xfrm>
          <a:prstGeom prst="rect">
            <a:avLst/>
          </a:prstGeom>
          <a:solidFill>
            <a:srgbClr val="DFE1E6"/>
          </a:solidFill>
          <a:ln/>
        </p:spPr>
      </p:sp>
      <p:sp>
        <p:nvSpPr>
          <p:cNvPr id="42" name="Shape 40"/>
          <p:cNvSpPr/>
          <p:nvPr/>
        </p:nvSpPr>
        <p:spPr>
          <a:xfrm>
            <a:off x="952500" y="6545580"/>
            <a:ext cx="7179707" cy="9525"/>
          </a:xfrm>
          <a:prstGeom prst="rect">
            <a:avLst/>
          </a:prstGeom>
          <a:solidFill>
            <a:srgbClr val="DFE1E6"/>
          </a:solidFill>
          <a:ln/>
        </p:spPr>
      </p:sp>
      <p:sp>
        <p:nvSpPr>
          <p:cNvPr id="43" name="Shape 41"/>
          <p:cNvSpPr/>
          <p:nvPr/>
        </p:nvSpPr>
        <p:spPr>
          <a:xfrm>
            <a:off x="952500" y="6545580"/>
            <a:ext cx="45720" cy="3398520"/>
          </a:xfrm>
          <a:prstGeom prst="rect">
            <a:avLst/>
          </a:prstGeom>
          <a:solidFill>
            <a:srgbClr val="B45309"/>
          </a:solidFill>
          <a:ln/>
        </p:spPr>
      </p:sp>
      <p:sp>
        <p:nvSpPr>
          <p:cNvPr id="44" name="Shape 42"/>
          <p:cNvSpPr/>
          <p:nvPr/>
        </p:nvSpPr>
        <p:spPr>
          <a:xfrm>
            <a:off x="8124587" y="6545580"/>
            <a:ext cx="9525" cy="3398520"/>
          </a:xfrm>
          <a:prstGeom prst="rect">
            <a:avLst/>
          </a:prstGeom>
          <a:solidFill>
            <a:srgbClr val="DFE1E6"/>
          </a:solidFill>
          <a:ln/>
        </p:spPr>
      </p:sp>
      <p:sp>
        <p:nvSpPr>
          <p:cNvPr id="45" name="Text 43"/>
          <p:cNvSpPr/>
          <p:nvPr/>
        </p:nvSpPr>
        <p:spPr>
          <a:xfrm>
            <a:off x="1303020" y="6800850"/>
            <a:ext cx="7168443"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16181D"/>
                </a:solidFill>
                <a:latin typeface="Arial" pitchFamily="34" charset="0"/>
                <a:ea typeface="Arial" pitchFamily="34" charset="-122"/>
                <a:cs typeface="Arial" pitchFamily="34" charset="-120"/>
              </a:rPr>
              <a:t>목(mock) 데이터 — 운영 전 교체 필수</a:t>
            </a:r>
            <a:endParaRPr lang="en-US" sz="2175" dirty="0"/>
          </a:p>
        </p:txBody>
      </p:sp>
      <p:sp>
        <p:nvSpPr>
          <p:cNvPr id="46" name="Text 44"/>
          <p:cNvSpPr/>
          <p:nvPr/>
        </p:nvSpPr>
        <p:spPr>
          <a:xfrm>
            <a:off x="1303020" y="7330440"/>
            <a:ext cx="2112657" cy="381000"/>
          </a:xfrm>
          <a:prstGeom prst="rect">
            <a:avLst/>
          </a:prstGeom>
          <a:noFill/>
          <a:ln/>
        </p:spPr>
        <p:txBody>
          <a:bodyPr wrap="square" lIns="25400" tIns="25400" rIns="25400" bIns="25400" rtlCol="0" anchor="t">
            <a:normAutofit/>
          </a:bodyPr>
          <a:lstStyle/>
          <a:p>
            <a:pPr algn="l" indent="0" marL="0">
              <a:lnSpc>
                <a:spcPct val="115385"/>
              </a:lnSpc>
              <a:buNone/>
            </a:pPr>
            <a:r>
              <a:rPr lang="en-US" sz="1800" dirty="0">
                <a:solidFill>
                  <a:srgbClr val="B45309"/>
                </a:solidFill>
                <a:latin typeface="Roboto Mono" pitchFamily="34" charset="0"/>
                <a:ea typeface="Roboto Mono" pitchFamily="34" charset="-122"/>
                <a:cs typeface="Roboto Mono" pitchFamily="34" charset="-120"/>
              </a:rPr>
              <a:t>plan_journey</a:t>
            </a:r>
            <a:endParaRPr lang="en-US" sz="1800" dirty="0"/>
          </a:p>
        </p:txBody>
      </p:sp>
      <p:sp>
        <p:nvSpPr>
          <p:cNvPr id="47" name="Text 45"/>
          <p:cNvSpPr/>
          <p:nvPr/>
        </p:nvSpPr>
        <p:spPr>
          <a:xfrm>
            <a:off x="3414117" y="7338060"/>
            <a:ext cx="4537840"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구간 상세가 목 → OpenTripPlanner / ODsay 예정</a:t>
            </a:r>
            <a:endParaRPr lang="en-US" sz="1800" dirty="0"/>
          </a:p>
        </p:txBody>
      </p:sp>
      <p:sp>
        <p:nvSpPr>
          <p:cNvPr id="48" name="Text 46"/>
          <p:cNvSpPr/>
          <p:nvPr/>
        </p:nvSpPr>
        <p:spPr>
          <a:xfrm>
            <a:off x="1303020" y="8138160"/>
            <a:ext cx="2112657" cy="381000"/>
          </a:xfrm>
          <a:prstGeom prst="rect">
            <a:avLst/>
          </a:prstGeom>
          <a:noFill/>
          <a:ln/>
        </p:spPr>
        <p:txBody>
          <a:bodyPr wrap="square" lIns="25400" tIns="25400" rIns="25400" bIns="25400" rtlCol="0" anchor="t">
            <a:normAutofit/>
          </a:bodyPr>
          <a:lstStyle/>
          <a:p>
            <a:pPr algn="l" indent="0" marL="0">
              <a:lnSpc>
                <a:spcPct val="115385"/>
              </a:lnSpc>
              <a:buNone/>
            </a:pPr>
            <a:r>
              <a:rPr lang="en-US" sz="1800" dirty="0">
                <a:solidFill>
                  <a:srgbClr val="B45309"/>
                </a:solidFill>
                <a:latin typeface="Roboto Mono" pitchFamily="34" charset="0"/>
                <a:ea typeface="Roboto Mono" pitchFamily="34" charset="-122"/>
                <a:cs typeface="Roboto Mono" pitchFamily="34" charset="-120"/>
              </a:rPr>
              <a:t>search_lodging</a:t>
            </a:r>
            <a:endParaRPr lang="en-US" sz="1800" dirty="0"/>
          </a:p>
        </p:txBody>
      </p:sp>
      <p:sp>
        <p:nvSpPr>
          <p:cNvPr id="49" name="Text 47"/>
          <p:cNvSpPr/>
          <p:nvPr/>
        </p:nvSpPr>
        <p:spPr>
          <a:xfrm>
            <a:off x="3414117" y="8145780"/>
            <a:ext cx="4846237" cy="3810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전부 목 → 한국관광공사 TourAPI 예정</a:t>
            </a:r>
            <a:endParaRPr lang="en-US" sz="1800" dirty="0"/>
          </a:p>
        </p:txBody>
      </p:sp>
      <p:sp>
        <p:nvSpPr>
          <p:cNvPr id="50" name="Shape 48"/>
          <p:cNvSpPr/>
          <p:nvPr/>
        </p:nvSpPr>
        <p:spPr>
          <a:xfrm>
            <a:off x="1303020" y="8622030"/>
            <a:ext cx="6516767" cy="1066800"/>
          </a:xfrm>
          <a:prstGeom prst="rect">
            <a:avLst/>
          </a:prstGeom>
          <a:solidFill>
            <a:srgbClr val="FFF7ED"/>
          </a:solidFill>
          <a:ln w="7620">
            <a:solidFill>
              <a:srgbClr val="FED7AA"/>
            </a:solidFill>
            <a:prstDash val="solid"/>
          </a:ln>
        </p:spPr>
      </p:sp>
      <p:sp>
        <p:nvSpPr>
          <p:cNvPr id="51" name="Text 49"/>
          <p:cNvSpPr/>
          <p:nvPr/>
        </p:nvSpPr>
        <p:spPr>
          <a:xfrm>
            <a:off x="1520190" y="8801100"/>
            <a:ext cx="6277930" cy="74676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7C2D12"/>
                </a:solidFill>
                <a:highlight>
                  <a:srgbClr val="FFF7ED"/>
                </a:highlight>
                <a:latin typeface="Arial" pitchFamily="34" charset="0"/>
                <a:ea typeface="Arial" pitchFamily="34" charset="-122"/>
                <a:cs typeface="Arial" pitchFamily="34" charset="-120"/>
              </a:rPr>
              <a:t>이 두 도구의 </a:t>
            </a:r>
            <a:pPr algn="l" indent="0" marL="0">
              <a:lnSpc>
                <a:spcPct val="136765"/>
              </a:lnSpc>
              <a:buNone/>
            </a:pPr>
            <a:r>
              <a:rPr lang="en-US" sz="1800" b="1" dirty="0">
                <a:solidFill>
                  <a:srgbClr val="7C2D12"/>
                </a:solidFill>
                <a:latin typeface="Arial" pitchFamily="34" charset="0"/>
                <a:ea typeface="Arial" pitchFamily="34" charset="-122"/>
                <a:cs typeface="Arial" pitchFamily="34" charset="-120"/>
              </a:rPr>
              <a:t>시각·요금·업소명은 실재하지 않는다. </a:t>
            </a:r>
            <a:pPr algn="l" indent="0" marL="0">
              <a:lnSpc>
                <a:spcPct val="136765"/>
              </a:lnSpc>
              <a:buNone/>
            </a:pPr>
            <a:r>
              <a:rPr lang="en-US" sz="1800" dirty="0">
                <a:solidFill>
                  <a:srgbClr val="7C2D12"/>
                </a:solidFill>
                <a:highlight>
                  <a:srgbClr val="FFF7ED"/>
                </a:highlight>
                <a:latin typeface="Arial" pitchFamily="34" charset="0"/>
                <a:ea typeface="Arial" pitchFamily="34" charset="-122"/>
                <a:cs typeface="Arial" pitchFamily="34" charset="-120"/>
              </a:rPr>
              <a:t>응답과 답변에 </a:t>
            </a:r>
            <a:pPr algn="l" indent="0" marL="0">
              <a:lnSpc>
                <a:spcPct val="136765"/>
              </a:lnSpc>
              <a:buNone/>
            </a:pPr>
            <a:r>
              <a:rPr lang="en-US" sz="1575" dirty="0">
                <a:solidFill>
                  <a:srgbClr val="7C2D12"/>
                </a:solidFill>
                <a:latin typeface="Roboto Mono" pitchFamily="34" charset="0"/>
                <a:ea typeface="Roboto Mono" pitchFamily="34" charset="-122"/>
                <a:cs typeface="Roboto Mono" pitchFamily="34" charset="-120"/>
              </a:rPr>
              <a:t>(mock) </a:t>
            </a:r>
            <a:pPr algn="l" indent="0" marL="0">
              <a:lnSpc>
                <a:spcPct val="136765"/>
              </a:lnSpc>
              <a:buNone/>
            </a:pPr>
            <a:r>
              <a:rPr lang="en-US" sz="1800" dirty="0">
                <a:solidFill>
                  <a:srgbClr val="7C2D12"/>
                </a:solidFill>
                <a:highlight>
                  <a:srgbClr val="FFF7ED"/>
                </a:highlight>
                <a:latin typeface="Arial" pitchFamily="34" charset="0"/>
                <a:ea typeface="Arial" pitchFamily="34" charset="-122"/>
                <a:cs typeface="Arial" pitchFamily="34" charset="-120"/>
              </a:rPr>
              <a:t>이 드러난다.</a:t>
            </a:r>
            <a:endParaRPr lang="en-US" sz="1800" dirty="0"/>
          </a:p>
        </p:txBody>
      </p:sp>
      <p:sp>
        <p:nvSpPr>
          <p:cNvPr id="52" name="Shape 50"/>
          <p:cNvSpPr/>
          <p:nvPr/>
        </p:nvSpPr>
        <p:spPr>
          <a:xfrm>
            <a:off x="8360807" y="6545580"/>
            <a:ext cx="8974693" cy="3398520"/>
          </a:xfrm>
          <a:prstGeom prst="rect">
            <a:avLst/>
          </a:prstGeom>
          <a:solidFill>
            <a:srgbClr val="FFFFFF"/>
          </a:solidFill>
          <a:ln/>
        </p:spPr>
      </p:sp>
      <p:sp>
        <p:nvSpPr>
          <p:cNvPr id="53" name="Shape 51"/>
          <p:cNvSpPr/>
          <p:nvPr/>
        </p:nvSpPr>
        <p:spPr>
          <a:xfrm>
            <a:off x="8360807" y="9936480"/>
            <a:ext cx="8974693" cy="9525"/>
          </a:xfrm>
          <a:prstGeom prst="rect">
            <a:avLst/>
          </a:prstGeom>
          <a:solidFill>
            <a:srgbClr val="DFE1E6"/>
          </a:solidFill>
          <a:ln/>
        </p:spPr>
      </p:sp>
      <p:sp>
        <p:nvSpPr>
          <p:cNvPr id="54" name="Shape 52"/>
          <p:cNvSpPr/>
          <p:nvPr/>
        </p:nvSpPr>
        <p:spPr>
          <a:xfrm>
            <a:off x="8360807" y="6545580"/>
            <a:ext cx="8974693" cy="9525"/>
          </a:xfrm>
          <a:prstGeom prst="rect">
            <a:avLst/>
          </a:prstGeom>
          <a:solidFill>
            <a:srgbClr val="DFE1E6"/>
          </a:solidFill>
          <a:ln/>
        </p:spPr>
      </p:sp>
      <p:sp>
        <p:nvSpPr>
          <p:cNvPr id="55" name="Shape 53"/>
          <p:cNvSpPr/>
          <p:nvPr/>
        </p:nvSpPr>
        <p:spPr>
          <a:xfrm>
            <a:off x="8360807" y="6545580"/>
            <a:ext cx="45720" cy="3398520"/>
          </a:xfrm>
          <a:prstGeom prst="rect">
            <a:avLst/>
          </a:prstGeom>
          <a:solidFill>
            <a:srgbClr val="6B7280"/>
          </a:solidFill>
          <a:ln/>
        </p:spPr>
      </p:sp>
      <p:sp>
        <p:nvSpPr>
          <p:cNvPr id="56" name="Shape 54"/>
          <p:cNvSpPr/>
          <p:nvPr/>
        </p:nvSpPr>
        <p:spPr>
          <a:xfrm>
            <a:off x="17327881" y="6545580"/>
            <a:ext cx="9525" cy="3398520"/>
          </a:xfrm>
          <a:prstGeom prst="rect">
            <a:avLst/>
          </a:prstGeom>
          <a:solidFill>
            <a:srgbClr val="DFE1E6"/>
          </a:solidFill>
          <a:ln/>
        </p:spPr>
      </p:sp>
      <p:sp>
        <p:nvSpPr>
          <p:cNvPr id="57" name="Text 55"/>
          <p:cNvSpPr/>
          <p:nvPr/>
        </p:nvSpPr>
        <p:spPr>
          <a:xfrm>
            <a:off x="8711327" y="6800850"/>
            <a:ext cx="9142928"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16181D"/>
                </a:solidFill>
                <a:latin typeface="Arial" pitchFamily="34" charset="0"/>
                <a:ea typeface="Arial" pitchFamily="34" charset="-122"/>
                <a:cs typeface="Arial" pitchFamily="34" charset="-120"/>
              </a:rPr>
              <a:t>미사용 — 이유가 명확한 것들</a:t>
            </a:r>
            <a:endParaRPr lang="en-US" sz="2175" dirty="0"/>
          </a:p>
        </p:txBody>
      </p:sp>
      <p:sp>
        <p:nvSpPr>
          <p:cNvPr id="58" name="Text 56"/>
          <p:cNvSpPr/>
          <p:nvPr/>
        </p:nvSpPr>
        <p:spPr>
          <a:xfrm>
            <a:off x="8711327" y="7330440"/>
            <a:ext cx="2142518" cy="381000"/>
          </a:xfrm>
          <a:prstGeom prst="rect">
            <a:avLst/>
          </a:prstGeom>
          <a:noFill/>
          <a:ln/>
        </p:spPr>
        <p:txBody>
          <a:bodyPr wrap="none" lIns="25400" tIns="25400" rIns="25400" bIns="25400" rtlCol="0" anchor="t">
            <a:normAutofit/>
          </a:bodyPr>
          <a:lstStyle/>
          <a:p>
            <a:pPr algn="l" indent="0" marL="0">
              <a:lnSpc>
                <a:spcPct val="132353"/>
              </a:lnSpc>
              <a:buNone/>
            </a:pPr>
            <a:r>
              <a:rPr lang="en-US" sz="1800" b="1" dirty="0">
                <a:solidFill>
                  <a:srgbClr val="16181D"/>
                </a:solidFill>
                <a:latin typeface="Arial" pitchFamily="34" charset="0"/>
                <a:ea typeface="Arial" pitchFamily="34" charset="-122"/>
                <a:cs typeface="Arial" pitchFamily="34" charset="-120"/>
              </a:rPr>
              <a:t>ODsay 경로탐색</a:t>
            </a:r>
            <a:endParaRPr lang="en-US" sz="1800" dirty="0"/>
          </a:p>
        </p:txBody>
      </p:sp>
      <p:sp>
        <p:nvSpPr>
          <p:cNvPr id="59" name="Text 57"/>
          <p:cNvSpPr/>
          <p:nvPr/>
        </p:nvSpPr>
        <p:spPr>
          <a:xfrm>
            <a:off x="10849570" y="7330440"/>
            <a:ext cx="6358715"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Basic 요금제 </a:t>
            </a:r>
            <a:pPr algn="l" indent="0" marL="0">
              <a:lnSpc>
                <a:spcPct val="132353"/>
              </a:lnSpc>
              <a:buNone/>
            </a:pPr>
            <a:r>
              <a:rPr lang="en-US" sz="1800" b="1" dirty="0">
                <a:solidFill>
                  <a:srgbClr val="4A5058"/>
                </a:solidFill>
                <a:latin typeface="Arial" pitchFamily="34" charset="0"/>
                <a:ea typeface="Arial" pitchFamily="34" charset="-122"/>
                <a:cs typeface="Arial" pitchFamily="34" charset="-120"/>
              </a:rPr>
              <a:t>일 30건 </a:t>
            </a:r>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 개발 자체가 불가능. 어댑터는 남아 있고 키만 넣으면 동작</a:t>
            </a:r>
            <a:endParaRPr lang="en-US" sz="1800" dirty="0"/>
          </a:p>
        </p:txBody>
      </p:sp>
      <p:sp>
        <p:nvSpPr>
          <p:cNvPr id="60" name="Text 58"/>
          <p:cNvSpPr/>
          <p:nvPr/>
        </p:nvSpPr>
        <p:spPr>
          <a:xfrm>
            <a:off x="8711327" y="8130540"/>
            <a:ext cx="2142518" cy="381000"/>
          </a:xfrm>
          <a:prstGeom prst="rect">
            <a:avLst/>
          </a:prstGeom>
          <a:noFill/>
          <a:ln/>
        </p:spPr>
        <p:txBody>
          <a:bodyPr wrap="none" lIns="25400" tIns="25400" rIns="25400" bIns="25400" rtlCol="0" anchor="t">
            <a:normAutofit/>
          </a:bodyPr>
          <a:lstStyle/>
          <a:p>
            <a:pPr algn="l" indent="0" marL="0">
              <a:lnSpc>
                <a:spcPct val="132353"/>
              </a:lnSpc>
              <a:buNone/>
            </a:pPr>
            <a:r>
              <a:rPr lang="en-US" sz="1800" b="1" dirty="0">
                <a:solidFill>
                  <a:srgbClr val="16181D"/>
                </a:solidFill>
                <a:latin typeface="Arial" pitchFamily="34" charset="0"/>
                <a:ea typeface="Arial" pitchFamily="34" charset="-122"/>
                <a:cs typeface="Arial" pitchFamily="34" charset="-120"/>
              </a:rPr>
              <a:t>KRIC 지하철 시각표</a:t>
            </a:r>
            <a:endParaRPr lang="en-US" sz="1800" dirty="0"/>
          </a:p>
        </p:txBody>
      </p:sp>
      <p:sp>
        <p:nvSpPr>
          <p:cNvPr id="61" name="Text 59"/>
          <p:cNvSpPr/>
          <p:nvPr/>
        </p:nvSpPr>
        <p:spPr>
          <a:xfrm>
            <a:off x="10849570" y="8130540"/>
            <a:ext cx="6358715"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오퍼레이션이 인증키에 미승인 → 역·노선·환승만 답하고 </a:t>
            </a:r>
            <a:pPr algn="l" indent="0" marL="0">
              <a:lnSpc>
                <a:spcPct val="132353"/>
              </a:lnSpc>
              <a:buNone/>
            </a:pPr>
            <a:r>
              <a:rPr lang="en-US" sz="1800" b="1" dirty="0">
                <a:solidFill>
                  <a:srgbClr val="4A5058"/>
                </a:solidFill>
                <a:latin typeface="Arial" pitchFamily="34" charset="0"/>
                <a:ea typeface="Arial" pitchFamily="34" charset="-122"/>
                <a:cs typeface="Arial" pitchFamily="34" charset="-120"/>
              </a:rPr>
              <a:t>시각은 다루지 않는다 </a:t>
            </a:r>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a:t>
            </a:r>
            <a:pPr algn="l" indent="0" marL="0">
              <a:lnSpc>
                <a:spcPct val="132353"/>
              </a:lnSpc>
              <a:buNone/>
            </a:pPr>
            <a:r>
              <a:rPr lang="en-US" sz="1575" dirty="0">
                <a:solidFill>
                  <a:srgbClr val="4A5058"/>
                </a:solidFill>
                <a:latin typeface="Roboto Mono" pitchFamily="34" charset="0"/>
                <a:ea typeface="Roboto Mono" pitchFamily="34" charset="-122"/>
                <a:cs typeface="Roboto Mono" pitchFamily="34" charset="-120"/>
              </a:rPr>
              <a:t>has_timetable: false </a:t>
            </a:r>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로 사유까지 캐시)</a:t>
            </a:r>
            <a:endParaRPr lang="en-US" sz="1800" dirty="0"/>
          </a:p>
        </p:txBody>
      </p:sp>
      <p:sp>
        <p:nvSpPr>
          <p:cNvPr id="62" name="Text 60"/>
          <p:cNvSpPr/>
          <p:nvPr/>
        </p:nvSpPr>
        <p:spPr>
          <a:xfrm>
            <a:off x="8711327" y="8930640"/>
            <a:ext cx="2142518" cy="381000"/>
          </a:xfrm>
          <a:prstGeom prst="rect">
            <a:avLst/>
          </a:prstGeom>
          <a:noFill/>
          <a:ln/>
        </p:spPr>
        <p:txBody>
          <a:bodyPr wrap="none" lIns="25400" tIns="25400" rIns="25400" bIns="25400" rtlCol="0" anchor="t">
            <a:normAutofit/>
          </a:bodyPr>
          <a:lstStyle/>
          <a:p>
            <a:pPr algn="l" indent="0" marL="0">
              <a:lnSpc>
                <a:spcPct val="132353"/>
              </a:lnSpc>
              <a:buNone/>
            </a:pPr>
            <a:r>
              <a:rPr lang="en-US" sz="1800" b="1" dirty="0">
                <a:solidFill>
                  <a:srgbClr val="16181D"/>
                </a:solidFill>
                <a:latin typeface="Arial" pitchFamily="34" charset="0"/>
                <a:ea typeface="Arial" pitchFamily="34" charset="-122"/>
                <a:cs typeface="Arial" pitchFamily="34" charset="-120"/>
              </a:rPr>
              <a:t>시외버스</a:t>
            </a:r>
            <a:endParaRPr lang="en-US" sz="1800" dirty="0"/>
          </a:p>
        </p:txBody>
      </p:sp>
      <p:sp>
        <p:nvSpPr>
          <p:cNvPr id="63" name="Text 61"/>
          <p:cNvSpPr/>
          <p:nvPr/>
        </p:nvSpPr>
        <p:spPr>
          <a:xfrm>
            <a:off x="10849570" y="8930640"/>
            <a:ext cx="6790861" cy="3810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TAGO 별도 서비스 존재. 고속버스만 다룬다</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620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19 · COVERAGE POLICY</a:t>
            </a:r>
            <a:endParaRPr lang="en-US" sz="1800" dirty="0"/>
          </a:p>
        </p:txBody>
      </p:sp>
      <p:sp>
        <p:nvSpPr>
          <p:cNvPr id="3" name="Text 1"/>
          <p:cNvSpPr/>
          <p:nvPr/>
        </p:nvSpPr>
        <p:spPr>
          <a:xfrm>
            <a:off x="1047750" y="1192530"/>
            <a:ext cx="17811750"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커버리지 밖에서는 폴백을 금지한다</a:t>
            </a:r>
            <a:endParaRPr lang="en-US" sz="5250" dirty="0"/>
          </a:p>
        </p:txBody>
      </p:sp>
      <p:sp>
        <p:nvSpPr>
          <p:cNvPr id="4" name="Shape 2"/>
          <p:cNvSpPr/>
          <p:nvPr/>
        </p:nvSpPr>
        <p:spPr>
          <a:xfrm>
            <a:off x="1047750" y="2518410"/>
            <a:ext cx="8497967" cy="832485"/>
          </a:xfrm>
          <a:prstGeom prst="rect">
            <a:avLst/>
          </a:prstGeom>
          <a:solidFill>
            <a:srgbClr val="F0FDF4"/>
          </a:solidFill>
          <a:ln/>
        </p:spPr>
      </p:sp>
      <p:sp>
        <p:nvSpPr>
          <p:cNvPr id="5" name="Shape 3"/>
          <p:cNvSpPr/>
          <p:nvPr/>
        </p:nvSpPr>
        <p:spPr>
          <a:xfrm>
            <a:off x="1047750" y="3343275"/>
            <a:ext cx="8497967" cy="9525"/>
          </a:xfrm>
          <a:prstGeom prst="rect">
            <a:avLst/>
          </a:prstGeom>
          <a:solidFill>
            <a:srgbClr val="BBF7D0"/>
          </a:solidFill>
          <a:ln/>
        </p:spPr>
      </p:sp>
      <p:sp>
        <p:nvSpPr>
          <p:cNvPr id="6" name="Shape 4"/>
          <p:cNvSpPr/>
          <p:nvPr/>
        </p:nvSpPr>
        <p:spPr>
          <a:xfrm>
            <a:off x="1047750" y="2518410"/>
            <a:ext cx="8497967" cy="9525"/>
          </a:xfrm>
          <a:prstGeom prst="rect">
            <a:avLst/>
          </a:prstGeom>
          <a:solidFill>
            <a:srgbClr val="BBF7D0"/>
          </a:solidFill>
          <a:ln/>
        </p:spPr>
      </p:sp>
      <p:sp>
        <p:nvSpPr>
          <p:cNvPr id="7" name="Shape 5"/>
          <p:cNvSpPr/>
          <p:nvPr/>
        </p:nvSpPr>
        <p:spPr>
          <a:xfrm>
            <a:off x="1047750" y="2518410"/>
            <a:ext cx="45720" cy="832485"/>
          </a:xfrm>
          <a:prstGeom prst="rect">
            <a:avLst/>
          </a:prstGeom>
          <a:solidFill>
            <a:srgbClr val="00845C"/>
          </a:solidFill>
          <a:ln/>
        </p:spPr>
      </p:sp>
      <p:sp>
        <p:nvSpPr>
          <p:cNvPr id="8" name="Shape 6"/>
          <p:cNvSpPr/>
          <p:nvPr/>
        </p:nvSpPr>
        <p:spPr>
          <a:xfrm>
            <a:off x="9538097" y="2518410"/>
            <a:ext cx="9525" cy="832485"/>
          </a:xfrm>
          <a:prstGeom prst="rect">
            <a:avLst/>
          </a:prstGeom>
          <a:solidFill>
            <a:srgbClr val="BBF7D0"/>
          </a:solidFill>
          <a:ln/>
        </p:spPr>
      </p:sp>
      <p:sp>
        <p:nvSpPr>
          <p:cNvPr id="9" name="Text 7"/>
          <p:cNvSpPr/>
          <p:nvPr/>
        </p:nvSpPr>
        <p:spPr>
          <a:xfrm>
            <a:off x="1379220" y="2754630"/>
            <a:ext cx="2757678" cy="398145"/>
          </a:xfrm>
          <a:prstGeom prst="rect">
            <a:avLst/>
          </a:prstGeom>
          <a:noFill/>
          <a:ln/>
        </p:spPr>
        <p:txBody>
          <a:bodyPr wrap="square" lIns="25400" tIns="25400" rIns="25400" bIns="25400" rtlCol="0" anchor="t">
            <a:normAutofit/>
          </a:bodyPr>
          <a:lstStyle/>
          <a:p>
            <a:pPr algn="l" indent="0" marL="0">
              <a:lnSpc>
                <a:spcPct val="121154"/>
              </a:lnSpc>
              <a:buNone/>
            </a:pPr>
            <a:r>
              <a:rPr lang="en-US" sz="2025" dirty="0">
                <a:solidFill>
                  <a:srgbClr val="16181D"/>
                </a:solidFill>
                <a:latin typeface="Arial" pitchFamily="34" charset="0"/>
                <a:ea typeface="Arial" pitchFamily="34" charset="-122"/>
                <a:cs typeface="Arial" pitchFamily="34" charset="-120"/>
              </a:rPr>
              <a:t>커버리지 안 </a:t>
            </a:r>
            <a:pPr algn="l" indent="0" marL="0">
              <a:lnSpc>
                <a:spcPct val="121154"/>
              </a:lnSpc>
              <a:buNone/>
            </a:pPr>
            <a:r>
              <a:rPr lang="en-US" sz="2025" dirty="0">
                <a:solidFill>
                  <a:srgbClr val="6B7280"/>
                </a:solidFill>
                <a:latin typeface="Arial" pitchFamily="34" charset="0"/>
                <a:ea typeface="Arial" pitchFamily="34" charset="-122"/>
                <a:cs typeface="Arial" pitchFamily="34" charset="-120"/>
              </a:rPr>
              <a:t>+ </a:t>
            </a:r>
            <a:pPr algn="l" indent="0" marL="0">
              <a:lnSpc>
                <a:spcPct val="121154"/>
              </a:lnSpc>
              <a:buNone/>
            </a:pPr>
            <a:r>
              <a:rPr lang="en-US" sz="2025" dirty="0">
                <a:solidFill>
                  <a:srgbClr val="16181D"/>
                </a:solidFill>
                <a:latin typeface="Arial" pitchFamily="34" charset="0"/>
                <a:ea typeface="Arial" pitchFamily="34" charset="-122"/>
                <a:cs typeface="Arial" pitchFamily="34" charset="-120"/>
              </a:rPr>
              <a:t>API 성공</a:t>
            </a:r>
            <a:endParaRPr lang="en-US" sz="2025" dirty="0"/>
          </a:p>
        </p:txBody>
      </p:sp>
      <p:sp>
        <p:nvSpPr>
          <p:cNvPr id="10" name="Text 8"/>
          <p:cNvSpPr/>
          <p:nvPr/>
        </p:nvSpPr>
        <p:spPr>
          <a:xfrm>
            <a:off x="8281154" y="2778443"/>
            <a:ext cx="1047393" cy="350520"/>
          </a:xfrm>
          <a:prstGeom prst="rect">
            <a:avLst/>
          </a:prstGeom>
          <a:noFill/>
          <a:ln/>
        </p:spPr>
        <p:txBody>
          <a:bodyPr wrap="square" lIns="25400" tIns="25400" rIns="25400" bIns="25400" rtlCol="0" anchor="t">
            <a:normAutofit/>
          </a:bodyPr>
          <a:lstStyle/>
          <a:p>
            <a:pPr algn="l" indent="0" marL="0">
              <a:buNone/>
            </a:pPr>
            <a:r>
              <a:rPr lang="en-US" sz="1875" b="1" dirty="0">
                <a:solidFill>
                  <a:srgbClr val="14532D"/>
                </a:solidFill>
                <a:latin typeface="Roboto Mono" pitchFamily="34" charset="0"/>
                <a:ea typeface="Roboto Mono" pitchFamily="34" charset="-122"/>
                <a:cs typeface="Roboto Mono" pitchFamily="34" charset="-120"/>
              </a:rPr>
              <a:t>실데이터</a:t>
            </a:r>
            <a:endParaRPr lang="en-US" sz="1875" dirty="0"/>
          </a:p>
        </p:txBody>
      </p:sp>
      <p:sp>
        <p:nvSpPr>
          <p:cNvPr id="11" name="Shape 9"/>
          <p:cNvSpPr/>
          <p:nvPr/>
        </p:nvSpPr>
        <p:spPr>
          <a:xfrm>
            <a:off x="1047750" y="3465195"/>
            <a:ext cx="8497967" cy="832485"/>
          </a:xfrm>
          <a:prstGeom prst="rect">
            <a:avLst/>
          </a:prstGeom>
          <a:solidFill>
            <a:srgbClr val="FFF7ED"/>
          </a:solidFill>
          <a:ln/>
        </p:spPr>
      </p:sp>
      <p:sp>
        <p:nvSpPr>
          <p:cNvPr id="12" name="Shape 10"/>
          <p:cNvSpPr/>
          <p:nvPr/>
        </p:nvSpPr>
        <p:spPr>
          <a:xfrm>
            <a:off x="1047750" y="4290060"/>
            <a:ext cx="8497967" cy="9525"/>
          </a:xfrm>
          <a:prstGeom prst="rect">
            <a:avLst/>
          </a:prstGeom>
          <a:solidFill>
            <a:srgbClr val="FED7AA"/>
          </a:solidFill>
          <a:ln/>
        </p:spPr>
      </p:sp>
      <p:sp>
        <p:nvSpPr>
          <p:cNvPr id="13" name="Shape 11"/>
          <p:cNvSpPr/>
          <p:nvPr/>
        </p:nvSpPr>
        <p:spPr>
          <a:xfrm>
            <a:off x="1047750" y="3465195"/>
            <a:ext cx="8497967" cy="9525"/>
          </a:xfrm>
          <a:prstGeom prst="rect">
            <a:avLst/>
          </a:prstGeom>
          <a:solidFill>
            <a:srgbClr val="FED7AA"/>
          </a:solidFill>
          <a:ln/>
        </p:spPr>
      </p:sp>
      <p:sp>
        <p:nvSpPr>
          <p:cNvPr id="14" name="Shape 12"/>
          <p:cNvSpPr/>
          <p:nvPr/>
        </p:nvSpPr>
        <p:spPr>
          <a:xfrm>
            <a:off x="1047750" y="3465195"/>
            <a:ext cx="45720" cy="832485"/>
          </a:xfrm>
          <a:prstGeom prst="rect">
            <a:avLst/>
          </a:prstGeom>
          <a:solidFill>
            <a:srgbClr val="B45309"/>
          </a:solidFill>
          <a:ln/>
        </p:spPr>
      </p:sp>
      <p:sp>
        <p:nvSpPr>
          <p:cNvPr id="15" name="Shape 13"/>
          <p:cNvSpPr/>
          <p:nvPr/>
        </p:nvSpPr>
        <p:spPr>
          <a:xfrm>
            <a:off x="9538097" y="3465195"/>
            <a:ext cx="9525" cy="832485"/>
          </a:xfrm>
          <a:prstGeom prst="rect">
            <a:avLst/>
          </a:prstGeom>
          <a:solidFill>
            <a:srgbClr val="FED7AA"/>
          </a:solidFill>
          <a:ln/>
        </p:spPr>
      </p:sp>
      <p:sp>
        <p:nvSpPr>
          <p:cNvPr id="16" name="Text 14"/>
          <p:cNvSpPr/>
          <p:nvPr/>
        </p:nvSpPr>
        <p:spPr>
          <a:xfrm>
            <a:off x="1379220" y="3701415"/>
            <a:ext cx="2757678" cy="398145"/>
          </a:xfrm>
          <a:prstGeom prst="rect">
            <a:avLst/>
          </a:prstGeom>
          <a:noFill/>
          <a:ln/>
        </p:spPr>
        <p:txBody>
          <a:bodyPr wrap="square" lIns="25400" tIns="25400" rIns="25400" bIns="25400" rtlCol="0" anchor="t">
            <a:normAutofit/>
          </a:bodyPr>
          <a:lstStyle/>
          <a:p>
            <a:pPr algn="l" indent="0" marL="0">
              <a:lnSpc>
                <a:spcPct val="121154"/>
              </a:lnSpc>
              <a:buNone/>
            </a:pPr>
            <a:r>
              <a:rPr lang="en-US" sz="2025" dirty="0">
                <a:solidFill>
                  <a:srgbClr val="16181D"/>
                </a:solidFill>
                <a:latin typeface="Arial" pitchFamily="34" charset="0"/>
                <a:ea typeface="Arial" pitchFamily="34" charset="-122"/>
                <a:cs typeface="Arial" pitchFamily="34" charset="-120"/>
              </a:rPr>
              <a:t>커버리지 안 </a:t>
            </a:r>
            <a:pPr algn="l" indent="0" marL="0">
              <a:lnSpc>
                <a:spcPct val="121154"/>
              </a:lnSpc>
              <a:buNone/>
            </a:pPr>
            <a:r>
              <a:rPr lang="en-US" sz="2025" dirty="0">
                <a:solidFill>
                  <a:srgbClr val="6B7280"/>
                </a:solidFill>
                <a:latin typeface="Arial" pitchFamily="34" charset="0"/>
                <a:ea typeface="Arial" pitchFamily="34" charset="-122"/>
                <a:cs typeface="Arial" pitchFamily="34" charset="-120"/>
              </a:rPr>
              <a:t>+ </a:t>
            </a:r>
            <a:pPr algn="l" indent="0" marL="0">
              <a:lnSpc>
                <a:spcPct val="121154"/>
              </a:lnSpc>
              <a:buNone/>
            </a:pPr>
            <a:r>
              <a:rPr lang="en-US" sz="2025" dirty="0">
                <a:solidFill>
                  <a:srgbClr val="16181D"/>
                </a:solidFill>
                <a:latin typeface="Arial" pitchFamily="34" charset="0"/>
                <a:ea typeface="Arial" pitchFamily="34" charset="-122"/>
                <a:cs typeface="Arial" pitchFamily="34" charset="-120"/>
              </a:rPr>
              <a:t>API 실패</a:t>
            </a:r>
            <a:endParaRPr lang="en-US" sz="2025" dirty="0"/>
          </a:p>
        </p:txBody>
      </p:sp>
      <p:sp>
        <p:nvSpPr>
          <p:cNvPr id="17" name="Text 15"/>
          <p:cNvSpPr/>
          <p:nvPr/>
        </p:nvSpPr>
        <p:spPr>
          <a:xfrm>
            <a:off x="7137916" y="3725228"/>
            <a:ext cx="2325874" cy="350520"/>
          </a:xfrm>
          <a:prstGeom prst="rect">
            <a:avLst/>
          </a:prstGeom>
          <a:noFill/>
          <a:ln/>
        </p:spPr>
        <p:txBody>
          <a:bodyPr wrap="square" lIns="25400" tIns="25400" rIns="25400" bIns="25400" rtlCol="0" anchor="t">
            <a:normAutofit/>
          </a:bodyPr>
          <a:lstStyle/>
          <a:p>
            <a:pPr algn="l" indent="0" marL="0">
              <a:buNone/>
            </a:pPr>
            <a:r>
              <a:rPr lang="en-US" sz="1875" b="1" dirty="0">
                <a:solidFill>
                  <a:srgbClr val="7C2D12"/>
                </a:solidFill>
                <a:latin typeface="Roboto Mono" pitchFamily="34" charset="0"/>
                <a:ea typeface="Roboto Mono" pitchFamily="34" charset="-122"/>
                <a:cs typeface="Roboto Mono" pitchFamily="34" charset="-120"/>
              </a:rPr>
              <a:t>목 데이터 </a:t>
            </a:r>
            <a:pPr algn="l" indent="0" marL="0">
              <a:buNone/>
            </a:pPr>
            <a:r>
              <a:rPr lang="en-US" sz="1875" dirty="0">
                <a:solidFill>
                  <a:srgbClr val="7C2D12"/>
                </a:solidFill>
                <a:latin typeface="Roboto Mono" pitchFamily="34" charset="0"/>
                <a:ea typeface="Roboto Mono" pitchFamily="34" charset="-122"/>
                <a:cs typeface="Roboto Mono" pitchFamily="34" charset="-120"/>
              </a:rPr>
              <a:t>(mock)</a:t>
            </a:r>
            <a:endParaRPr lang="en-US" sz="1875" dirty="0"/>
          </a:p>
        </p:txBody>
      </p:sp>
      <p:sp>
        <p:nvSpPr>
          <p:cNvPr id="18" name="Shape 16"/>
          <p:cNvSpPr/>
          <p:nvPr/>
        </p:nvSpPr>
        <p:spPr>
          <a:xfrm>
            <a:off x="1047750" y="4411980"/>
            <a:ext cx="8497967" cy="817245"/>
          </a:xfrm>
          <a:prstGeom prst="rect">
            <a:avLst/>
          </a:prstGeom>
          <a:solidFill>
            <a:srgbClr val="16181D"/>
          </a:solidFill>
          <a:ln/>
        </p:spPr>
      </p:sp>
      <p:sp>
        <p:nvSpPr>
          <p:cNvPr id="19" name="Shape 17"/>
          <p:cNvSpPr/>
          <p:nvPr/>
        </p:nvSpPr>
        <p:spPr>
          <a:xfrm>
            <a:off x="1047750" y="4411980"/>
            <a:ext cx="45720" cy="817245"/>
          </a:xfrm>
          <a:prstGeom prst="rect">
            <a:avLst/>
          </a:prstGeom>
          <a:solidFill>
            <a:srgbClr val="4F7CFF"/>
          </a:solidFill>
          <a:ln/>
        </p:spPr>
      </p:sp>
      <p:sp>
        <p:nvSpPr>
          <p:cNvPr id="20" name="Text 18"/>
          <p:cNvSpPr/>
          <p:nvPr/>
        </p:nvSpPr>
        <p:spPr>
          <a:xfrm>
            <a:off x="1379220" y="4640580"/>
            <a:ext cx="1380018" cy="398145"/>
          </a:xfrm>
          <a:prstGeom prst="rect">
            <a:avLst/>
          </a:prstGeom>
          <a:noFill/>
          <a:ln/>
        </p:spPr>
        <p:txBody>
          <a:bodyPr wrap="square" lIns="25400" tIns="25400" rIns="25400" bIns="25400" rtlCol="0" anchor="t">
            <a:normAutofit/>
          </a:bodyPr>
          <a:lstStyle/>
          <a:p>
            <a:pPr algn="l" indent="0" marL="0">
              <a:lnSpc>
                <a:spcPct val="121154"/>
              </a:lnSpc>
              <a:buNone/>
            </a:pPr>
            <a:r>
              <a:rPr lang="en-US" sz="2025" dirty="0">
                <a:solidFill>
                  <a:srgbClr val="FBFBFA"/>
                </a:solidFill>
                <a:latin typeface="Arial" pitchFamily="34" charset="0"/>
                <a:ea typeface="Arial" pitchFamily="34" charset="-122"/>
                <a:cs typeface="Arial" pitchFamily="34" charset="-120"/>
              </a:rPr>
              <a:t>커버리지 </a:t>
            </a:r>
            <a:pPr algn="l" indent="0" marL="0">
              <a:lnSpc>
                <a:spcPct val="121154"/>
              </a:lnSpc>
              <a:buNone/>
            </a:pPr>
            <a:r>
              <a:rPr lang="en-US" sz="2025" b="1" dirty="0">
                <a:solidFill>
                  <a:srgbClr val="FBFBFA"/>
                </a:solidFill>
                <a:latin typeface="Arial" pitchFamily="34" charset="0"/>
                <a:ea typeface="Arial" pitchFamily="34" charset="-122"/>
                <a:cs typeface="Arial" pitchFamily="34" charset="-120"/>
              </a:rPr>
              <a:t>밖</a:t>
            </a:r>
            <a:endParaRPr lang="en-US" sz="2025" dirty="0"/>
          </a:p>
        </p:txBody>
      </p:sp>
      <p:sp>
        <p:nvSpPr>
          <p:cNvPr id="21" name="Text 19"/>
          <p:cNvSpPr/>
          <p:nvPr/>
        </p:nvSpPr>
        <p:spPr>
          <a:xfrm>
            <a:off x="6401991" y="4664393"/>
            <a:ext cx="3143774" cy="350520"/>
          </a:xfrm>
          <a:prstGeom prst="rect">
            <a:avLst/>
          </a:prstGeom>
          <a:noFill/>
          <a:ln/>
        </p:spPr>
        <p:txBody>
          <a:bodyPr wrap="square" lIns="25400" tIns="25400" rIns="25400" bIns="25400" rtlCol="0" anchor="t">
            <a:normAutofit/>
          </a:bodyPr>
          <a:lstStyle/>
          <a:p>
            <a:pPr algn="l" indent="0" marL="0">
              <a:buNone/>
            </a:pPr>
            <a:r>
              <a:rPr lang="en-US" sz="1875" b="1" dirty="0">
                <a:solidFill>
                  <a:srgbClr val="9DB4FF"/>
                </a:solidFill>
                <a:latin typeface="Roboto Mono" pitchFamily="34" charset="0"/>
                <a:ea typeface="Roboto Mono" pitchFamily="34" charset="-122"/>
                <a:cs typeface="Roboto Mono" pitchFamily="34" charset="-120"/>
              </a:rPr>
              <a:t>location_not_covered</a:t>
            </a:r>
            <a:endParaRPr lang="en-US" sz="1875" dirty="0"/>
          </a:p>
        </p:txBody>
      </p:sp>
      <p:sp>
        <p:nvSpPr>
          <p:cNvPr id="22" name="Shape 20"/>
          <p:cNvSpPr/>
          <p:nvPr/>
        </p:nvSpPr>
        <p:spPr>
          <a:xfrm>
            <a:off x="1047750" y="5400675"/>
            <a:ext cx="8497967" cy="3211830"/>
          </a:xfrm>
          <a:prstGeom prst="rect">
            <a:avLst/>
          </a:prstGeom>
          <a:solidFill>
            <a:srgbClr val="FFFFFF"/>
          </a:solidFill>
          <a:ln w="7620">
            <a:solidFill>
              <a:srgbClr val="DFE1E6"/>
            </a:solidFill>
            <a:prstDash val="solid"/>
          </a:ln>
        </p:spPr>
      </p:sp>
      <p:sp>
        <p:nvSpPr>
          <p:cNvPr id="23" name="Text 21"/>
          <p:cNvSpPr/>
          <p:nvPr/>
        </p:nvSpPr>
        <p:spPr>
          <a:xfrm>
            <a:off x="1360170" y="5655945"/>
            <a:ext cx="8660440"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서울 전용 서비스 4종</a:t>
            </a:r>
            <a:endParaRPr lang="en-US" sz="2100" dirty="0"/>
          </a:p>
        </p:txBody>
      </p:sp>
      <p:sp>
        <p:nvSpPr>
          <p:cNvPr id="24" name="Text 22"/>
          <p:cNvSpPr/>
          <p:nvPr/>
        </p:nvSpPr>
        <p:spPr>
          <a:xfrm>
            <a:off x="1360170" y="6177915"/>
            <a:ext cx="8109321" cy="118110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따릉이 · 주차장 · EV 충전 · 지하철 실시간 도착 — 서울 밖에서 물으면 </a:t>
            </a:r>
            <a:pPr algn="l" indent="0" marL="0">
              <a:lnSpc>
                <a:spcPct val="138889"/>
              </a:lnSpc>
              <a:buNone/>
            </a:pPr>
            <a:r>
              <a:rPr lang="en-US" sz="1875" b="1" dirty="0">
                <a:solidFill>
                  <a:srgbClr val="4A5058"/>
                </a:solidFill>
                <a:latin typeface="Arial" pitchFamily="34" charset="0"/>
                <a:ea typeface="Arial" pitchFamily="34" charset="-122"/>
                <a:cs typeface="Arial" pitchFamily="34" charset="-120"/>
              </a:rPr>
              <a:t>목 데이터로 폴백하지 않는다. </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존재하지 않는 서비스를 있는 것처럼 안내하면 안 되기 때문이다.</a:t>
            </a:r>
            <a:endParaRPr lang="en-US" sz="1875" dirty="0"/>
          </a:p>
        </p:txBody>
      </p:sp>
      <p:sp>
        <p:nvSpPr>
          <p:cNvPr id="25" name="Shape 23"/>
          <p:cNvSpPr/>
          <p:nvPr/>
        </p:nvSpPr>
        <p:spPr>
          <a:xfrm>
            <a:off x="1360170" y="7454265"/>
            <a:ext cx="7873127" cy="9525"/>
          </a:xfrm>
          <a:prstGeom prst="rect">
            <a:avLst/>
          </a:prstGeom>
          <a:solidFill>
            <a:srgbClr val="ECEDED"/>
          </a:solidFill>
          <a:ln/>
        </p:spPr>
      </p:sp>
      <p:sp>
        <p:nvSpPr>
          <p:cNvPr id="26" name="Text 24"/>
          <p:cNvSpPr/>
          <p:nvPr/>
        </p:nvSpPr>
        <p:spPr>
          <a:xfrm>
            <a:off x="1360170" y="7595235"/>
            <a:ext cx="8109321" cy="80010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6B7280"/>
                </a:solidFill>
                <a:latin typeface="Arial" pitchFamily="34" charset="0"/>
                <a:ea typeface="Arial" pitchFamily="34" charset="-122"/>
                <a:cs typeface="Arial" pitchFamily="34" charset="-120"/>
              </a:rPr>
              <a:t>철도·항공·고속버스는 전국 서비스라 커버리지 개념이 없다 → API 실패 시 폴백한다.</a:t>
            </a:r>
            <a:endParaRPr lang="en-US" sz="1875" dirty="0"/>
          </a:p>
        </p:txBody>
      </p:sp>
      <p:sp>
        <p:nvSpPr>
          <p:cNvPr id="27" name="Shape 25"/>
          <p:cNvSpPr/>
          <p:nvPr/>
        </p:nvSpPr>
        <p:spPr>
          <a:xfrm>
            <a:off x="1047750" y="9300210"/>
            <a:ext cx="8497967" cy="1264920"/>
          </a:xfrm>
          <a:prstGeom prst="rect">
            <a:avLst/>
          </a:prstGeom>
          <a:solidFill>
            <a:srgbClr val="F3F6FF"/>
          </a:solidFill>
          <a:ln w="7620">
            <a:solidFill>
              <a:srgbClr val="C9D6FF"/>
            </a:solidFill>
            <a:prstDash val="solid"/>
          </a:ln>
        </p:spPr>
      </p:sp>
      <p:sp>
        <p:nvSpPr>
          <p:cNvPr id="28" name="Text 26"/>
          <p:cNvSpPr/>
          <p:nvPr/>
        </p:nvSpPr>
        <p:spPr>
          <a:xfrm>
            <a:off x="1360170" y="9536430"/>
            <a:ext cx="8128066" cy="83058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1F2937"/>
                </a:solidFill>
                <a:highlight>
                  <a:srgbClr val="F3F6FF"/>
                </a:highlight>
                <a:latin typeface="Arial" pitchFamily="34" charset="0"/>
                <a:ea typeface="Arial" pitchFamily="34" charset="-122"/>
                <a:cs typeface="Arial" pitchFamily="34" charset="-120"/>
              </a:rPr>
              <a:t>이 응답만 </a:t>
            </a:r>
            <a:pPr algn="l" indent="0" marL="0">
              <a:lnSpc>
                <a:spcPct val="140541"/>
              </a:lnSpc>
              <a:buNone/>
            </a:pPr>
            <a:r>
              <a:rPr lang="en-US" sz="1950" b="1" dirty="0">
                <a:solidFill>
                  <a:srgbClr val="1F2937"/>
                </a:solidFill>
                <a:latin typeface="Arial" pitchFamily="34" charset="0"/>
                <a:ea typeface="Arial" pitchFamily="34" charset="-122"/>
                <a:cs typeface="Arial" pitchFamily="34" charset="-120"/>
              </a:rPr>
              <a:t>전용 프롬프트(COVERAGE_SYSTEM) </a:t>
            </a:r>
            <a:pPr algn="l" indent="0" marL="0">
              <a:lnSpc>
                <a:spcPct val="140541"/>
              </a:lnSpc>
              <a:buNone/>
            </a:pPr>
            <a:r>
              <a:rPr lang="en-US" sz="1950" dirty="0">
                <a:solidFill>
                  <a:srgbClr val="1F2937"/>
                </a:solidFill>
                <a:highlight>
                  <a:srgbClr val="F3F6FF"/>
                </a:highlight>
                <a:latin typeface="Arial" pitchFamily="34" charset="0"/>
                <a:ea typeface="Arial" pitchFamily="34" charset="-122"/>
                <a:cs typeface="Arial" pitchFamily="34" charset="-120"/>
              </a:rPr>
              <a:t>로 라우팅한다 — 대체 서비스를 권하는 것을 구조적으로 막기 위해.</a:t>
            </a:r>
            <a:endParaRPr lang="en-US" sz="1950" dirty="0"/>
          </a:p>
        </p:txBody>
      </p:sp>
      <p:sp>
        <p:nvSpPr>
          <p:cNvPr id="29" name="Shape 27"/>
          <p:cNvSpPr/>
          <p:nvPr/>
        </p:nvSpPr>
        <p:spPr>
          <a:xfrm>
            <a:off x="9850517" y="2518410"/>
            <a:ext cx="7389614" cy="8046720"/>
          </a:xfrm>
          <a:prstGeom prst="rect">
            <a:avLst/>
          </a:prstGeom>
          <a:solidFill>
            <a:srgbClr val="FFFFFF"/>
          </a:solidFill>
          <a:ln w="7620">
            <a:solidFill>
              <a:srgbClr val="DFE1E6"/>
            </a:solidFill>
            <a:prstDash val="solid"/>
          </a:ln>
        </p:spPr>
      </p:sp>
      <p:sp>
        <p:nvSpPr>
          <p:cNvPr id="30" name="Text 28"/>
          <p:cNvSpPr/>
          <p:nvPr/>
        </p:nvSpPr>
        <p:spPr>
          <a:xfrm>
            <a:off x="10181987" y="2811780"/>
            <a:ext cx="7399342"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16181D"/>
                </a:solidFill>
                <a:latin typeface="Arial" pitchFamily="34" charset="0"/>
                <a:ea typeface="Arial" pitchFamily="34" charset="-122"/>
                <a:cs typeface="Arial" pitchFamily="34" charset="-120"/>
              </a:rPr>
              <a:t>로컬 캐시 — 이름과 코드 사이의 번역기</a:t>
            </a:r>
            <a:endParaRPr lang="en-US" sz="2175" dirty="0"/>
          </a:p>
        </p:txBody>
      </p:sp>
      <p:sp>
        <p:nvSpPr>
          <p:cNvPr id="31" name="Text 29"/>
          <p:cNvSpPr/>
          <p:nvPr/>
        </p:nvSpPr>
        <p:spPr>
          <a:xfrm>
            <a:off x="10181987" y="3379470"/>
            <a:ext cx="6928475"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6B7280"/>
                </a:solidFill>
                <a:latin typeface="Arial" pitchFamily="34" charset="0"/>
                <a:ea typeface="Arial" pitchFamily="34" charset="-122"/>
                <a:cs typeface="Arial" pitchFamily="34" charset="-120"/>
              </a:rPr>
              <a:t>사용자가 말하는 이름과 API 가 요구하는 코드가 다르다. 전부 </a:t>
            </a:r>
            <a:pPr algn="l" indent="0" marL="0">
              <a:lnSpc>
                <a:spcPct val="141176"/>
              </a:lnSpc>
              <a:buNone/>
            </a:pPr>
            <a:r>
              <a:rPr lang="en-US" sz="1650" dirty="0">
                <a:solidFill>
                  <a:srgbClr val="6B7280"/>
                </a:solidFill>
                <a:latin typeface="Roboto Mono" pitchFamily="34" charset="0"/>
                <a:ea typeface="Roboto Mono" pitchFamily="34" charset="-122"/>
                <a:cs typeface="Roboto Mono" pitchFamily="34" charset="-120"/>
              </a:rPr>
              <a:t>build_*.py </a:t>
            </a:r>
            <a:pPr algn="l" indent="0" marL="0">
              <a:lnSpc>
                <a:spcPct val="141176"/>
              </a:lnSpc>
              <a:buNone/>
            </a:pPr>
            <a:r>
              <a:rPr lang="en-US" sz="1800" dirty="0">
                <a:solidFill>
                  <a:srgbClr val="6B7280"/>
                </a:solidFill>
                <a:latin typeface="Arial" pitchFamily="34" charset="0"/>
                <a:ea typeface="Arial" pitchFamily="34" charset="-122"/>
                <a:cs typeface="Arial" pitchFamily="34" charset="-120"/>
              </a:rPr>
              <a:t>로 재생성 가능.</a:t>
            </a:r>
            <a:endParaRPr lang="en-US" sz="1800" dirty="0"/>
          </a:p>
        </p:txBody>
      </p:sp>
      <p:sp>
        <p:nvSpPr>
          <p:cNvPr id="32" name="Shape 30"/>
          <p:cNvSpPr/>
          <p:nvPr/>
        </p:nvSpPr>
        <p:spPr>
          <a:xfrm>
            <a:off x="10181987" y="4853940"/>
            <a:ext cx="6726674" cy="9525"/>
          </a:xfrm>
          <a:prstGeom prst="rect">
            <a:avLst/>
          </a:prstGeom>
          <a:solidFill>
            <a:srgbClr val="ECEDED"/>
          </a:solidFill>
          <a:ln/>
        </p:spPr>
      </p:sp>
      <p:sp>
        <p:nvSpPr>
          <p:cNvPr id="33" name="Text 31"/>
          <p:cNvSpPr/>
          <p:nvPr/>
        </p:nvSpPr>
        <p:spPr>
          <a:xfrm>
            <a:off x="10181987" y="4442460"/>
            <a:ext cx="3639098"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airports.json</a:t>
            </a:r>
            <a:endParaRPr lang="en-US" sz="1725" dirty="0"/>
          </a:p>
        </p:txBody>
      </p:sp>
      <p:sp>
        <p:nvSpPr>
          <p:cNvPr id="34" name="Text 32"/>
          <p:cNvSpPr/>
          <p:nvPr/>
        </p:nvSpPr>
        <p:spPr>
          <a:xfrm>
            <a:off x="13357968" y="4396740"/>
            <a:ext cx="3550694" cy="38100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Arial" pitchFamily="34" charset="0"/>
                <a:ea typeface="Arial" pitchFamily="34" charset="-122"/>
                <a:cs typeface="Arial" pitchFamily="34" charset="-120"/>
              </a:rPr>
              <a:t>공항 </a:t>
            </a:r>
            <a:pPr algn="r" indent="0" marL="0">
              <a:buNone/>
            </a:pPr>
            <a:r>
              <a:rPr lang="en-US" sz="1875" b="1" dirty="0">
                <a:solidFill>
                  <a:srgbClr val="16181D"/>
                </a:solidFill>
                <a:latin typeface="Arial" pitchFamily="34" charset="0"/>
                <a:ea typeface="Arial" pitchFamily="34" charset="-122"/>
                <a:cs typeface="Arial" pitchFamily="34" charset="-120"/>
              </a:rPr>
              <a:t>232 </a:t>
            </a:r>
            <a:pPr algn="r" indent="0" marL="0">
              <a:buNone/>
            </a:pPr>
            <a:r>
              <a:rPr lang="en-US" sz="1875" dirty="0">
                <a:solidFill>
                  <a:srgbClr val="16181D"/>
                </a:solidFill>
                <a:latin typeface="Arial" pitchFamily="34" charset="0"/>
                <a:ea typeface="Arial" pitchFamily="34" charset="-122"/>
                <a:cs typeface="Arial" pitchFamily="34" charset="-120"/>
              </a:rPr>
              <a:t>(국내 15) · 항공사 </a:t>
            </a:r>
            <a:pPr algn="r" indent="0" marL="0">
              <a:buNone/>
            </a:pPr>
            <a:r>
              <a:rPr lang="en-US" sz="1875" b="1" dirty="0">
                <a:solidFill>
                  <a:srgbClr val="16181D"/>
                </a:solidFill>
                <a:latin typeface="Arial" pitchFamily="34" charset="0"/>
                <a:ea typeface="Arial" pitchFamily="34" charset="-122"/>
                <a:cs typeface="Arial" pitchFamily="34" charset="-120"/>
              </a:rPr>
              <a:t>137</a:t>
            </a:r>
            <a:endParaRPr lang="en-US" sz="1875" dirty="0"/>
          </a:p>
        </p:txBody>
      </p:sp>
      <p:sp>
        <p:nvSpPr>
          <p:cNvPr id="35" name="Shape 33"/>
          <p:cNvSpPr/>
          <p:nvPr/>
        </p:nvSpPr>
        <p:spPr>
          <a:xfrm>
            <a:off x="10181987" y="5528310"/>
            <a:ext cx="6726674" cy="9525"/>
          </a:xfrm>
          <a:prstGeom prst="rect">
            <a:avLst/>
          </a:prstGeom>
          <a:solidFill>
            <a:srgbClr val="ECEDED"/>
          </a:solidFill>
          <a:ln/>
        </p:spPr>
      </p:sp>
      <p:sp>
        <p:nvSpPr>
          <p:cNvPr id="36" name="Text 34"/>
          <p:cNvSpPr/>
          <p:nvPr/>
        </p:nvSpPr>
        <p:spPr>
          <a:xfrm>
            <a:off x="10181987" y="5116830"/>
            <a:ext cx="4031873"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rail_stations.json</a:t>
            </a:r>
            <a:endParaRPr lang="en-US" sz="1725" dirty="0"/>
          </a:p>
        </p:txBody>
      </p:sp>
      <p:sp>
        <p:nvSpPr>
          <p:cNvPr id="37" name="Text 35"/>
          <p:cNvSpPr/>
          <p:nvPr/>
        </p:nvSpPr>
        <p:spPr>
          <a:xfrm>
            <a:off x="13750742" y="5071110"/>
            <a:ext cx="3157918" cy="38100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Arial" pitchFamily="34" charset="0"/>
                <a:ea typeface="Arial" pitchFamily="34" charset="-122"/>
                <a:cs typeface="Arial" pitchFamily="34" charset="-120"/>
              </a:rPr>
              <a:t>간선철도역 </a:t>
            </a:r>
            <a:pPr algn="r" indent="0" marL="0">
              <a:buNone/>
            </a:pPr>
            <a:r>
              <a:rPr lang="en-US" sz="1875" b="1" dirty="0">
                <a:solidFill>
                  <a:srgbClr val="16181D"/>
                </a:solidFill>
                <a:latin typeface="Arial" pitchFamily="34" charset="0"/>
                <a:ea typeface="Arial" pitchFamily="34" charset="-122"/>
                <a:cs typeface="Arial" pitchFamily="34" charset="-120"/>
              </a:rPr>
              <a:t>1,205 </a:t>
            </a:r>
            <a:pPr algn="r" indent="0" marL="0">
              <a:buNone/>
            </a:pPr>
            <a:r>
              <a:rPr lang="en-US" sz="1875" dirty="0">
                <a:solidFill>
                  <a:srgbClr val="16181D"/>
                </a:solidFill>
                <a:latin typeface="Arial" pitchFamily="34" charset="0"/>
                <a:ea typeface="Arial" pitchFamily="34" charset="-122"/>
                <a:cs typeface="Arial" pitchFamily="34" charset="-120"/>
              </a:rPr>
              <a:t>· 노선 </a:t>
            </a:r>
            <a:pPr algn="r" indent="0" marL="0">
              <a:buNone/>
            </a:pPr>
            <a:r>
              <a:rPr lang="en-US" sz="1875" b="1" dirty="0">
                <a:solidFill>
                  <a:srgbClr val="16181D"/>
                </a:solidFill>
                <a:latin typeface="Arial" pitchFamily="34" charset="0"/>
                <a:ea typeface="Arial" pitchFamily="34" charset="-122"/>
                <a:cs typeface="Arial" pitchFamily="34" charset="-120"/>
              </a:rPr>
              <a:t>163</a:t>
            </a:r>
            <a:endParaRPr lang="en-US" sz="1875" dirty="0"/>
          </a:p>
        </p:txBody>
      </p:sp>
      <p:sp>
        <p:nvSpPr>
          <p:cNvPr id="38" name="Shape 36"/>
          <p:cNvSpPr/>
          <p:nvPr/>
        </p:nvSpPr>
        <p:spPr>
          <a:xfrm>
            <a:off x="10181987" y="6545580"/>
            <a:ext cx="6726674" cy="9525"/>
          </a:xfrm>
          <a:prstGeom prst="rect">
            <a:avLst/>
          </a:prstGeom>
          <a:solidFill>
            <a:srgbClr val="ECEDED"/>
          </a:solidFill>
          <a:ln/>
        </p:spPr>
      </p:sp>
      <p:sp>
        <p:nvSpPr>
          <p:cNvPr id="39" name="Text 37"/>
          <p:cNvSpPr/>
          <p:nvPr/>
        </p:nvSpPr>
        <p:spPr>
          <a:xfrm>
            <a:off x="10181987" y="5791200"/>
            <a:ext cx="2892314"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subway_stations.json</a:t>
            </a:r>
            <a:endParaRPr lang="en-US" sz="1725" dirty="0"/>
          </a:p>
        </p:txBody>
      </p:sp>
      <p:sp>
        <p:nvSpPr>
          <p:cNvPr id="40" name="Text 38"/>
          <p:cNvSpPr/>
          <p:nvPr/>
        </p:nvSpPr>
        <p:spPr>
          <a:xfrm>
            <a:off x="12884659" y="5745480"/>
            <a:ext cx="4024002" cy="72390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Arial" pitchFamily="34" charset="0"/>
                <a:ea typeface="Arial" pitchFamily="34" charset="-122"/>
                <a:cs typeface="Arial" pitchFamily="34" charset="-120"/>
              </a:rPr>
              <a:t>도시철도역 </a:t>
            </a:r>
            <a:pPr algn="r" indent="0" marL="0">
              <a:buNone/>
            </a:pPr>
            <a:r>
              <a:rPr lang="en-US" sz="1875" b="1" dirty="0">
                <a:solidFill>
                  <a:srgbClr val="16181D"/>
                </a:solidFill>
                <a:latin typeface="Arial" pitchFamily="34" charset="0"/>
                <a:ea typeface="Arial" pitchFamily="34" charset="-122"/>
                <a:cs typeface="Arial" pitchFamily="34" charset="-120"/>
              </a:rPr>
              <a:t>1,034 </a:t>
            </a:r>
            <a:pPr algn="r" indent="0" marL="0">
              <a:buNone/>
            </a:pPr>
            <a:r>
              <a:rPr lang="en-US" sz="1875" dirty="0">
                <a:solidFill>
                  <a:srgbClr val="16181D"/>
                </a:solidFill>
                <a:latin typeface="Arial" pitchFamily="34" charset="0"/>
                <a:ea typeface="Arial" pitchFamily="34" charset="-122"/>
                <a:cs typeface="Arial" pitchFamily="34" charset="-120"/>
              </a:rPr>
              <a:t>· 노선 </a:t>
            </a:r>
            <a:pPr algn="r" indent="0" marL="0">
              <a:buNone/>
            </a:pPr>
            <a:r>
              <a:rPr lang="en-US" sz="1875" b="1" dirty="0">
                <a:solidFill>
                  <a:srgbClr val="16181D"/>
                </a:solidFill>
                <a:latin typeface="Arial" pitchFamily="34" charset="0"/>
                <a:ea typeface="Arial" pitchFamily="34" charset="-122"/>
                <a:cs typeface="Arial" pitchFamily="34" charset="-120"/>
              </a:rPr>
              <a:t>43 </a:t>
            </a:r>
            <a:pPr algn="r" indent="0" marL="0">
              <a:buNone/>
            </a:pPr>
            <a:r>
              <a:rPr lang="en-US" sz="1875" dirty="0">
                <a:solidFill>
                  <a:srgbClr val="16181D"/>
                </a:solidFill>
                <a:latin typeface="Arial" pitchFamily="34" charset="0"/>
                <a:ea typeface="Arial" pitchFamily="34" charset="-122"/>
                <a:cs typeface="Arial" pitchFamily="34" charset="-120"/>
              </a:rPr>
              <a:t>· 20개 운영기관</a:t>
            </a:r>
            <a:endParaRPr lang="en-US" sz="1875" dirty="0"/>
          </a:p>
        </p:txBody>
      </p:sp>
      <p:sp>
        <p:nvSpPr>
          <p:cNvPr id="41" name="Shape 39"/>
          <p:cNvSpPr/>
          <p:nvPr/>
        </p:nvSpPr>
        <p:spPr>
          <a:xfrm>
            <a:off x="10181987" y="7219950"/>
            <a:ext cx="6726674" cy="9525"/>
          </a:xfrm>
          <a:prstGeom prst="rect">
            <a:avLst/>
          </a:prstGeom>
          <a:solidFill>
            <a:srgbClr val="ECEDED"/>
          </a:solidFill>
          <a:ln/>
        </p:spPr>
      </p:sp>
      <p:sp>
        <p:nvSpPr>
          <p:cNvPr id="42" name="Text 40"/>
          <p:cNvSpPr/>
          <p:nvPr/>
        </p:nvSpPr>
        <p:spPr>
          <a:xfrm>
            <a:off x="10181987" y="6808470"/>
            <a:ext cx="4746700"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bus_terminals.json</a:t>
            </a:r>
            <a:endParaRPr lang="en-US" sz="1725" dirty="0"/>
          </a:p>
        </p:txBody>
      </p:sp>
      <p:sp>
        <p:nvSpPr>
          <p:cNvPr id="43" name="Text 41"/>
          <p:cNvSpPr/>
          <p:nvPr/>
        </p:nvSpPr>
        <p:spPr>
          <a:xfrm>
            <a:off x="14465571" y="6762750"/>
            <a:ext cx="2443091" cy="38100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Arial" pitchFamily="34" charset="0"/>
                <a:ea typeface="Arial" pitchFamily="34" charset="-122"/>
                <a:cs typeface="Arial" pitchFamily="34" charset="-120"/>
              </a:rPr>
              <a:t>터미널 </a:t>
            </a:r>
            <a:pPr algn="r" indent="0" marL="0">
              <a:buNone/>
            </a:pPr>
            <a:r>
              <a:rPr lang="en-US" sz="1875" b="1" dirty="0">
                <a:solidFill>
                  <a:srgbClr val="16181D"/>
                </a:solidFill>
                <a:latin typeface="Arial" pitchFamily="34" charset="0"/>
                <a:ea typeface="Arial" pitchFamily="34" charset="-122"/>
                <a:cs typeface="Arial" pitchFamily="34" charset="-120"/>
              </a:rPr>
              <a:t>453 </a:t>
            </a:r>
            <a:pPr algn="r" indent="0" marL="0">
              <a:buNone/>
            </a:pPr>
            <a:r>
              <a:rPr lang="en-US" sz="1875" dirty="0">
                <a:solidFill>
                  <a:srgbClr val="16181D"/>
                </a:solidFill>
                <a:latin typeface="Arial" pitchFamily="34" charset="0"/>
                <a:ea typeface="Arial" pitchFamily="34" charset="-122"/>
                <a:cs typeface="Arial" pitchFamily="34" charset="-120"/>
              </a:rPr>
              <a:t>· 도시 </a:t>
            </a:r>
            <a:pPr algn="r" indent="0" marL="0">
              <a:buNone/>
            </a:pPr>
            <a:r>
              <a:rPr lang="en-US" sz="1875" b="1" dirty="0">
                <a:solidFill>
                  <a:srgbClr val="16181D"/>
                </a:solidFill>
                <a:latin typeface="Arial" pitchFamily="34" charset="0"/>
                <a:ea typeface="Arial" pitchFamily="34" charset="-122"/>
                <a:cs typeface="Arial" pitchFamily="34" charset="-120"/>
              </a:rPr>
              <a:t>110</a:t>
            </a:r>
            <a:endParaRPr lang="en-US" sz="1875" dirty="0"/>
          </a:p>
        </p:txBody>
      </p:sp>
      <p:sp>
        <p:nvSpPr>
          <p:cNvPr id="44" name="Shape 42"/>
          <p:cNvSpPr/>
          <p:nvPr/>
        </p:nvSpPr>
        <p:spPr>
          <a:xfrm>
            <a:off x="10181987" y="7894320"/>
            <a:ext cx="6726674" cy="9525"/>
          </a:xfrm>
          <a:prstGeom prst="rect">
            <a:avLst/>
          </a:prstGeom>
          <a:solidFill>
            <a:srgbClr val="ECEDED"/>
          </a:solidFill>
          <a:ln/>
        </p:spPr>
      </p:sp>
      <p:sp>
        <p:nvSpPr>
          <p:cNvPr id="45" name="Text 43"/>
          <p:cNvSpPr/>
          <p:nvPr/>
        </p:nvSpPr>
        <p:spPr>
          <a:xfrm>
            <a:off x="10181987" y="7482840"/>
            <a:ext cx="3328833"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seoul_areas.json</a:t>
            </a:r>
            <a:endParaRPr lang="en-US" sz="1725" dirty="0"/>
          </a:p>
        </p:txBody>
      </p:sp>
      <p:sp>
        <p:nvSpPr>
          <p:cNvPr id="46" name="Text 44"/>
          <p:cNvSpPr/>
          <p:nvPr/>
        </p:nvSpPr>
        <p:spPr>
          <a:xfrm>
            <a:off x="13047702" y="7437120"/>
            <a:ext cx="3860959" cy="38100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Arial" pitchFamily="34" charset="0"/>
                <a:ea typeface="Arial" pitchFamily="34" charset="-122"/>
                <a:cs typeface="Arial" pitchFamily="34" charset="-120"/>
              </a:rPr>
              <a:t>서울 실시간 도시데이터 </a:t>
            </a:r>
            <a:pPr algn="r" indent="0" marL="0">
              <a:buNone/>
            </a:pPr>
            <a:r>
              <a:rPr lang="en-US" sz="1875" b="1" dirty="0">
                <a:solidFill>
                  <a:srgbClr val="16181D"/>
                </a:solidFill>
                <a:latin typeface="Arial" pitchFamily="34" charset="0"/>
                <a:ea typeface="Arial" pitchFamily="34" charset="-122"/>
                <a:cs typeface="Arial" pitchFamily="34" charset="-120"/>
              </a:rPr>
              <a:t>121</a:t>
            </a:r>
            <a:pPr algn="r" indent="0" marL="0">
              <a:buNone/>
            </a:pPr>
            <a:r>
              <a:rPr lang="en-US" sz="1875" dirty="0">
                <a:solidFill>
                  <a:srgbClr val="16181D"/>
                </a:solidFill>
                <a:latin typeface="Arial" pitchFamily="34" charset="0"/>
                <a:ea typeface="Arial" pitchFamily="34" charset="-122"/>
                <a:cs typeface="Arial" pitchFamily="34" charset="-120"/>
              </a:rPr>
              <a:t>개 장소</a:t>
            </a:r>
            <a:endParaRPr lang="en-US" sz="1875" dirty="0"/>
          </a:p>
        </p:txBody>
      </p:sp>
      <p:sp>
        <p:nvSpPr>
          <p:cNvPr id="47" name="Text 45"/>
          <p:cNvSpPr/>
          <p:nvPr/>
        </p:nvSpPr>
        <p:spPr>
          <a:xfrm>
            <a:off x="10181987" y="8157210"/>
            <a:ext cx="3927491"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transit_nodes.json</a:t>
            </a:r>
            <a:endParaRPr lang="en-US" sz="1725" dirty="0"/>
          </a:p>
        </p:txBody>
      </p:sp>
      <p:sp>
        <p:nvSpPr>
          <p:cNvPr id="48" name="Text 46"/>
          <p:cNvSpPr/>
          <p:nvPr/>
        </p:nvSpPr>
        <p:spPr>
          <a:xfrm>
            <a:off x="13646361" y="8111490"/>
            <a:ext cx="3262301" cy="381000"/>
          </a:xfrm>
          <a:prstGeom prst="rect">
            <a:avLst/>
          </a:prstGeom>
          <a:noFill/>
          <a:ln/>
        </p:spPr>
        <p:txBody>
          <a:bodyPr wrap="square" lIns="25400" tIns="25400" rIns="25400" bIns="25400" rtlCol="0" anchor="t">
            <a:normAutofit/>
          </a:bodyPr>
          <a:lstStyle/>
          <a:p>
            <a:pPr algn="r" indent="0" marL="0">
              <a:buNone/>
            </a:pPr>
            <a:r>
              <a:rPr lang="en-US" sz="1875" dirty="0">
                <a:solidFill>
                  <a:srgbClr val="16181D"/>
                </a:solidFill>
                <a:latin typeface="Arial" pitchFamily="34" charset="0"/>
                <a:ea typeface="Arial" pitchFamily="34" charset="-122"/>
                <a:cs typeface="Arial" pitchFamily="34" charset="-120"/>
              </a:rPr>
              <a:t>공항·터미널·주요역 접근점 </a:t>
            </a:r>
            <a:pPr algn="r" indent="0" marL="0">
              <a:buNone/>
            </a:pPr>
            <a:r>
              <a:rPr lang="en-US" sz="1875" b="1" dirty="0">
                <a:solidFill>
                  <a:srgbClr val="16181D"/>
                </a:solidFill>
                <a:latin typeface="Arial" pitchFamily="34" charset="0"/>
                <a:ea typeface="Arial" pitchFamily="34" charset="-122"/>
                <a:cs typeface="Arial" pitchFamily="34" charset="-120"/>
              </a:rPr>
              <a:t>68</a:t>
            </a:r>
            <a:endParaRPr lang="en-US" sz="1875" dirty="0"/>
          </a:p>
        </p:txBody>
      </p:sp>
      <p:sp>
        <p:nvSpPr>
          <p:cNvPr id="49" name="Shape 47"/>
          <p:cNvSpPr/>
          <p:nvPr/>
        </p:nvSpPr>
        <p:spPr>
          <a:xfrm>
            <a:off x="10181987" y="8740140"/>
            <a:ext cx="6726674" cy="1531620"/>
          </a:xfrm>
          <a:prstGeom prst="rect">
            <a:avLst/>
          </a:prstGeom>
          <a:solidFill>
            <a:srgbClr val="F6F7F8"/>
          </a:solidFill>
          <a:ln w="7620">
            <a:solidFill>
              <a:srgbClr val="DFE1E6"/>
            </a:solidFill>
            <a:prstDash val="solid"/>
          </a:ln>
        </p:spPr>
      </p:sp>
      <p:sp>
        <p:nvSpPr>
          <p:cNvPr id="50" name="Text 48"/>
          <p:cNvSpPr/>
          <p:nvPr/>
        </p:nvSpPr>
        <p:spPr>
          <a:xfrm>
            <a:off x="10437257" y="8957310"/>
            <a:ext cx="6417935" cy="113538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4A5058"/>
                </a:solidFill>
                <a:highlight>
                  <a:srgbClr val="F6F7F8"/>
                </a:highlight>
                <a:latin typeface="Arial" pitchFamily="34" charset="0"/>
                <a:ea typeface="Arial" pitchFamily="34" charset="-122"/>
                <a:cs typeface="Arial" pitchFamily="34" charset="-120"/>
              </a:rPr>
              <a:t>부수 효과: 이 캐시가 </a:t>
            </a:r>
            <a:pPr algn="l" indent="0" marL="0">
              <a:lnSpc>
                <a:spcPct val="141176"/>
              </a:lnSpc>
              <a:buNone/>
            </a:pPr>
            <a:r>
              <a:rPr lang="en-US" sz="1800" b="1" dirty="0">
                <a:solidFill>
                  <a:srgbClr val="4A5058"/>
                </a:solidFill>
                <a:latin typeface="Arial" pitchFamily="34" charset="0"/>
                <a:ea typeface="Arial" pitchFamily="34" charset="-122"/>
                <a:cs typeface="Arial" pitchFamily="34" charset="-120"/>
              </a:rPr>
              <a:t>가드레일 지명 오탐 판별 </a:t>
            </a:r>
            <a:pPr algn="l" indent="0" marL="0">
              <a:lnSpc>
                <a:spcPct val="141176"/>
              </a:lnSpc>
              <a:buNone/>
            </a:pPr>
            <a:r>
              <a:rPr lang="en-US" sz="1800" dirty="0">
                <a:solidFill>
                  <a:srgbClr val="4A5058"/>
                </a:solidFill>
                <a:highlight>
                  <a:srgbClr val="F6F7F8"/>
                </a:highlight>
                <a:latin typeface="Arial" pitchFamily="34" charset="0"/>
                <a:ea typeface="Arial" pitchFamily="34" charset="-122"/>
                <a:cs typeface="Arial" pitchFamily="34" charset="-120"/>
              </a:rPr>
              <a:t>(지명 1,251개)에도 쓰인다. 공공데이터 활용가이드 </a:t>
            </a:r>
            <a:pPr algn="l" indent="0" marL="0">
              <a:lnSpc>
                <a:spcPct val="141176"/>
              </a:lnSpc>
              <a:buNone/>
            </a:pPr>
            <a:r>
              <a:rPr lang="en-US" sz="1575" dirty="0">
                <a:solidFill>
                  <a:srgbClr val="4A5058"/>
                </a:solidFill>
                <a:latin typeface="Roboto Mono" pitchFamily="34" charset="0"/>
                <a:ea typeface="Roboto Mono" pitchFamily="34" charset="-122"/>
                <a:cs typeface="Roboto Mono" pitchFamily="34" charset="-120"/>
              </a:rPr>
              <a:t>.docx </a:t>
            </a:r>
            <a:pPr algn="l" indent="0" marL="0">
              <a:lnSpc>
                <a:spcPct val="141176"/>
              </a:lnSpc>
              <a:buNone/>
            </a:pPr>
            <a:r>
              <a:rPr lang="en-US" sz="1800" dirty="0">
                <a:solidFill>
                  <a:srgbClr val="4A5058"/>
                </a:solidFill>
                <a:highlight>
                  <a:srgbClr val="F6F7F8"/>
                </a:highlight>
                <a:latin typeface="Arial" pitchFamily="34" charset="0"/>
                <a:ea typeface="Arial" pitchFamily="34" charset="-122"/>
                <a:cs typeface="Arial" pitchFamily="34" charset="-120"/>
              </a:rPr>
              <a:t>부록 코드표까지 파싱해 만들었다.</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23900"/>
            <a:ext cx="749639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20 · PUBLIC API 실측 (1/2)</a:t>
            </a:r>
            <a:endParaRPr lang="en-US" sz="1800" dirty="0"/>
          </a:p>
        </p:txBody>
      </p:sp>
      <p:sp>
        <p:nvSpPr>
          <p:cNvPr id="3" name="Text 1"/>
          <p:cNvSpPr/>
          <p:nvPr/>
        </p:nvSpPr>
        <p:spPr>
          <a:xfrm>
            <a:off x="1047750" y="1135380"/>
            <a:ext cx="7496390"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이름과 실제 내용이 다르다</a:t>
            </a:r>
            <a:endParaRPr lang="en-US" sz="4950" dirty="0"/>
          </a:p>
        </p:txBody>
      </p:sp>
      <p:sp>
        <p:nvSpPr>
          <p:cNvPr id="4" name="Shape 2"/>
          <p:cNvSpPr/>
          <p:nvPr/>
        </p:nvSpPr>
        <p:spPr>
          <a:xfrm>
            <a:off x="10778371" y="1426845"/>
            <a:ext cx="6461879" cy="638175"/>
          </a:xfrm>
          <a:prstGeom prst="rect">
            <a:avLst/>
          </a:prstGeom>
          <a:solidFill>
            <a:srgbClr val="16181D"/>
          </a:solidFill>
          <a:ln/>
        </p:spPr>
      </p:sp>
      <p:sp>
        <p:nvSpPr>
          <p:cNvPr id="5" name="Text 3"/>
          <p:cNvSpPr/>
          <p:nvPr/>
        </p:nvSpPr>
        <p:spPr>
          <a:xfrm>
            <a:off x="11006971" y="1579245"/>
            <a:ext cx="6198536" cy="371475"/>
          </a:xfrm>
          <a:prstGeom prst="rect">
            <a:avLst/>
          </a:prstGeom>
          <a:noFill/>
          <a:ln/>
        </p:spPr>
        <p:txBody>
          <a:bodyPr wrap="square" lIns="25400" tIns="25400" rIns="25400" bIns="25400" rtlCol="0" anchor="t">
            <a:normAutofit/>
          </a:bodyPr>
          <a:lstStyle/>
          <a:p>
            <a:pPr algn="l" indent="0" marL="0">
              <a:lnSpc>
                <a:spcPct val="121528"/>
              </a:lnSpc>
              <a:buNone/>
            </a:pPr>
            <a:r>
              <a:rPr lang="en-US" sz="1875" dirty="0">
                <a:solidFill>
                  <a:srgbClr val="FBFBFA"/>
                </a:solidFill>
                <a:highlight>
                  <a:srgbClr val="16181D"/>
                </a:highlight>
                <a:latin typeface="Arial" pitchFamily="34" charset="0"/>
                <a:ea typeface="Arial" pitchFamily="34" charset="-122"/>
                <a:cs typeface="Arial" pitchFamily="34" charset="-120"/>
              </a:rPr>
              <a:t>네 번 겪은 뒤 원칙을 세웠다 — </a:t>
            </a:r>
            <a:pPr algn="l" indent="0" marL="0">
              <a:lnSpc>
                <a:spcPct val="121528"/>
              </a:lnSpc>
              <a:buNone/>
            </a:pPr>
            <a:r>
              <a:rPr lang="en-US" sz="1875" b="1" dirty="0">
                <a:solidFill>
                  <a:srgbClr val="9DB4FF"/>
                </a:solidFill>
                <a:latin typeface="Arial" pitchFamily="34" charset="0"/>
                <a:ea typeface="Arial" pitchFamily="34" charset="-122"/>
                <a:cs typeface="Arial" pitchFamily="34" charset="-120"/>
              </a:rPr>
              <a:t>어댑터를 쓰기 전에 실측부터.</a:t>
            </a:r>
            <a:endParaRPr lang="en-US" sz="1875" dirty="0"/>
          </a:p>
        </p:txBody>
      </p:sp>
      <p:sp>
        <p:nvSpPr>
          <p:cNvPr id="6" name="Shape 4"/>
          <p:cNvSpPr/>
          <p:nvPr/>
        </p:nvSpPr>
        <p:spPr>
          <a:xfrm>
            <a:off x="1047750" y="2369820"/>
            <a:ext cx="7398425" cy="3166110"/>
          </a:xfrm>
          <a:prstGeom prst="rect">
            <a:avLst/>
          </a:prstGeom>
          <a:solidFill>
            <a:srgbClr val="FFFFFF"/>
          </a:solidFill>
          <a:ln w="7620">
            <a:solidFill>
              <a:srgbClr val="DFE1E6"/>
            </a:solidFill>
            <a:prstDash val="solid"/>
          </a:ln>
        </p:spPr>
      </p:sp>
      <p:sp>
        <p:nvSpPr>
          <p:cNvPr id="7" name="Text 5"/>
          <p:cNvSpPr/>
          <p:nvPr/>
        </p:nvSpPr>
        <p:spPr>
          <a:xfrm>
            <a:off x="1360170" y="2644140"/>
            <a:ext cx="7450943"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API 이름 vs 실제 내용</a:t>
            </a:r>
            <a:endParaRPr lang="en-US" sz="2100" dirty="0"/>
          </a:p>
        </p:txBody>
      </p:sp>
      <p:sp>
        <p:nvSpPr>
          <p:cNvPr id="8" name="Shape 6"/>
          <p:cNvSpPr/>
          <p:nvPr/>
        </p:nvSpPr>
        <p:spPr>
          <a:xfrm>
            <a:off x="1360170" y="3509010"/>
            <a:ext cx="3291483" cy="15240"/>
          </a:xfrm>
          <a:prstGeom prst="rect">
            <a:avLst/>
          </a:prstGeom>
          <a:solidFill>
            <a:srgbClr val="16181D"/>
          </a:solidFill>
          <a:ln/>
        </p:spPr>
      </p:sp>
      <p:sp>
        <p:nvSpPr>
          <p:cNvPr id="9" name="Text 7"/>
          <p:cNvSpPr/>
          <p:nvPr/>
        </p:nvSpPr>
        <p:spPr>
          <a:xfrm>
            <a:off x="1360170" y="3166110"/>
            <a:ext cx="3390227" cy="304800"/>
          </a:xfrm>
          <a:prstGeom prst="rect">
            <a:avLst/>
          </a:prstGeom>
          <a:noFill/>
          <a:ln/>
        </p:spPr>
        <p:txBody>
          <a:bodyPr wrap="square" lIns="25400" tIns="25400" rIns="25400" bIns="25400" rtlCol="0" anchor="t">
            <a:normAutofit/>
          </a:bodyPr>
          <a:lstStyle/>
          <a:p>
            <a:pPr algn="l" indent="0" marL="0">
              <a:buNone/>
            </a:pPr>
            <a:r>
              <a:rPr lang="en-US" sz="1575" dirty="0">
                <a:solidFill>
                  <a:srgbClr val="8A9099"/>
                </a:solidFill>
                <a:latin typeface="Roboto Mono" pitchFamily="34" charset="0"/>
                <a:ea typeface="Roboto Mono" pitchFamily="34" charset="-122"/>
                <a:cs typeface="Roboto Mono" pitchFamily="34" charset="-120"/>
              </a:rPr>
              <a:t>이름</a:t>
            </a:r>
            <a:endParaRPr lang="en-US" sz="1575" dirty="0"/>
          </a:p>
        </p:txBody>
      </p:sp>
      <p:sp>
        <p:nvSpPr>
          <p:cNvPr id="10" name="Shape 8"/>
          <p:cNvSpPr/>
          <p:nvPr/>
        </p:nvSpPr>
        <p:spPr>
          <a:xfrm>
            <a:off x="4842153" y="3509010"/>
            <a:ext cx="3291602" cy="15240"/>
          </a:xfrm>
          <a:prstGeom prst="rect">
            <a:avLst/>
          </a:prstGeom>
          <a:solidFill>
            <a:srgbClr val="16181D"/>
          </a:solidFill>
          <a:ln/>
        </p:spPr>
      </p:sp>
      <p:sp>
        <p:nvSpPr>
          <p:cNvPr id="11" name="Text 9"/>
          <p:cNvSpPr/>
          <p:nvPr/>
        </p:nvSpPr>
        <p:spPr>
          <a:xfrm>
            <a:off x="4842153" y="3166110"/>
            <a:ext cx="3390350" cy="304800"/>
          </a:xfrm>
          <a:prstGeom prst="rect">
            <a:avLst/>
          </a:prstGeom>
          <a:noFill/>
          <a:ln/>
        </p:spPr>
        <p:txBody>
          <a:bodyPr wrap="square" lIns="25400" tIns="25400" rIns="25400" bIns="25400" rtlCol="0" anchor="t">
            <a:normAutofit/>
          </a:bodyPr>
          <a:lstStyle/>
          <a:p>
            <a:pPr algn="l" indent="0" marL="0">
              <a:buNone/>
            </a:pPr>
            <a:r>
              <a:rPr lang="en-US" sz="1575" dirty="0">
                <a:solidFill>
                  <a:srgbClr val="8A9099"/>
                </a:solidFill>
                <a:latin typeface="Roboto Mono" pitchFamily="34" charset="0"/>
                <a:ea typeface="Roboto Mono" pitchFamily="34" charset="-122"/>
                <a:cs typeface="Roboto Mono" pitchFamily="34" charset="-120"/>
              </a:rPr>
              <a:t>실제</a:t>
            </a:r>
            <a:endParaRPr lang="en-US" sz="1575" dirty="0"/>
          </a:p>
        </p:txBody>
      </p:sp>
      <p:sp>
        <p:nvSpPr>
          <p:cNvPr id="12" name="Text 10"/>
          <p:cNvSpPr/>
          <p:nvPr/>
        </p:nvSpPr>
        <p:spPr>
          <a:xfrm>
            <a:off x="1360170" y="3638550"/>
            <a:ext cx="3620631"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16181D"/>
                </a:solidFill>
                <a:latin typeface="Arial" pitchFamily="34" charset="0"/>
                <a:ea typeface="Arial" pitchFamily="34" charset="-122"/>
                <a:cs typeface="Arial" pitchFamily="34" charset="-120"/>
              </a:rPr>
              <a:t>철도운영정보_운임</a:t>
            </a:r>
            <a:endParaRPr lang="en-US" sz="1800" dirty="0"/>
          </a:p>
        </p:txBody>
      </p:sp>
      <p:sp>
        <p:nvSpPr>
          <p:cNvPr id="13" name="Text 11"/>
          <p:cNvSpPr/>
          <p:nvPr/>
        </p:nvSpPr>
        <p:spPr>
          <a:xfrm>
            <a:off x="4842153" y="3638550"/>
            <a:ext cx="3620762"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C2410C"/>
                </a:solidFill>
                <a:latin typeface="Arial" pitchFamily="34" charset="0"/>
                <a:ea typeface="Arial" pitchFamily="34" charset="-122"/>
                <a:cs typeface="Arial" pitchFamily="34" charset="-120"/>
              </a:rPr>
              <a:t>2003~2007년 </a:t>
            </a:r>
            <a:pPr algn="l" indent="0" marL="0">
              <a:lnSpc>
                <a:spcPct val="123529"/>
              </a:lnSpc>
              <a:buNone/>
            </a:pPr>
            <a:r>
              <a:rPr lang="en-US" sz="1800" b="1" dirty="0">
                <a:solidFill>
                  <a:srgbClr val="C2410C"/>
                </a:solidFill>
                <a:latin typeface="Arial" pitchFamily="34" charset="0"/>
                <a:ea typeface="Arial" pitchFamily="34" charset="-122"/>
                <a:cs typeface="Arial" pitchFamily="34" charset="-120"/>
              </a:rPr>
              <a:t>화물 </a:t>
            </a:r>
            <a:pPr algn="l" indent="0" marL="0">
              <a:lnSpc>
                <a:spcPct val="123529"/>
              </a:lnSpc>
              <a:buNone/>
            </a:pPr>
            <a:r>
              <a:rPr lang="en-US" sz="1800" dirty="0">
                <a:solidFill>
                  <a:srgbClr val="C2410C"/>
                </a:solidFill>
                <a:latin typeface="Arial" pitchFamily="34" charset="0"/>
                <a:ea typeface="Arial" pitchFamily="34" charset="-122"/>
                <a:cs typeface="Arial" pitchFamily="34" charset="-120"/>
              </a:rPr>
              <a:t>최저운임 7건</a:t>
            </a:r>
            <a:endParaRPr lang="en-US" sz="1800" dirty="0"/>
          </a:p>
        </p:txBody>
      </p:sp>
      <p:sp>
        <p:nvSpPr>
          <p:cNvPr id="14" name="Text 12"/>
          <p:cNvSpPr/>
          <p:nvPr/>
        </p:nvSpPr>
        <p:spPr>
          <a:xfrm>
            <a:off x="1360170" y="4072890"/>
            <a:ext cx="3620631"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16181D"/>
                </a:solidFill>
                <a:latin typeface="Arial" pitchFamily="34" charset="0"/>
                <a:ea typeface="Arial" pitchFamily="34" charset="-122"/>
                <a:cs typeface="Arial" pitchFamily="34" charset="-120"/>
              </a:rPr>
              <a:t>열차운행정보</a:t>
            </a:r>
            <a:endParaRPr lang="en-US" sz="1800" dirty="0"/>
          </a:p>
        </p:txBody>
      </p:sp>
      <p:sp>
        <p:nvSpPr>
          <p:cNvPr id="15" name="Text 13"/>
          <p:cNvSpPr/>
          <p:nvPr/>
        </p:nvSpPr>
        <p:spPr>
          <a:xfrm>
            <a:off x="4842153" y="4072890"/>
            <a:ext cx="3620762"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C2410C"/>
                </a:solidFill>
                <a:latin typeface="Arial" pitchFamily="34" charset="0"/>
                <a:ea typeface="Arial" pitchFamily="34" charset="-122"/>
                <a:cs typeface="Arial" pitchFamily="34" charset="-120"/>
              </a:rPr>
              <a:t>미래 시간표 없이 </a:t>
            </a:r>
            <a:pPr algn="l" indent="0" marL="0">
              <a:lnSpc>
                <a:spcPct val="123529"/>
              </a:lnSpc>
              <a:buNone/>
            </a:pPr>
            <a:r>
              <a:rPr lang="en-US" sz="1800" b="1" dirty="0">
                <a:solidFill>
                  <a:srgbClr val="C2410C"/>
                </a:solidFill>
                <a:latin typeface="Arial" pitchFamily="34" charset="0"/>
                <a:ea typeface="Arial" pitchFamily="34" charset="-122"/>
                <a:cs typeface="Arial" pitchFamily="34" charset="-120"/>
              </a:rPr>
              <a:t>과거 실적</a:t>
            </a:r>
            <a:pPr algn="l" indent="0" marL="0">
              <a:lnSpc>
                <a:spcPct val="123529"/>
              </a:lnSpc>
              <a:buNone/>
            </a:pPr>
            <a:r>
              <a:rPr lang="en-US" sz="1800" dirty="0">
                <a:solidFill>
                  <a:srgbClr val="C2410C"/>
                </a:solidFill>
                <a:latin typeface="Arial" pitchFamily="34" charset="0"/>
                <a:ea typeface="Arial" pitchFamily="34" charset="-122"/>
                <a:cs typeface="Arial" pitchFamily="34" charset="-120"/>
              </a:rPr>
              <a:t>만</a:t>
            </a:r>
            <a:endParaRPr lang="en-US" sz="1800" dirty="0"/>
          </a:p>
        </p:txBody>
      </p:sp>
      <p:sp>
        <p:nvSpPr>
          <p:cNvPr id="16" name="Text 14"/>
          <p:cNvSpPr/>
          <p:nvPr/>
        </p:nvSpPr>
        <p:spPr>
          <a:xfrm>
            <a:off x="1360170" y="4507230"/>
            <a:ext cx="3620631"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16181D"/>
                </a:solidFill>
                <a:latin typeface="Arial" pitchFamily="34" charset="0"/>
                <a:ea typeface="Arial" pitchFamily="34" charset="-122"/>
                <a:cs typeface="Arial" pitchFamily="34" charset="-120"/>
              </a:rPr>
              <a:t>열차별운행시각표</a:t>
            </a:r>
            <a:endParaRPr lang="en-US" sz="1800" dirty="0"/>
          </a:p>
        </p:txBody>
      </p:sp>
      <p:sp>
        <p:nvSpPr>
          <p:cNvPr id="17" name="Text 15"/>
          <p:cNvSpPr/>
          <p:nvPr/>
        </p:nvSpPr>
        <p:spPr>
          <a:xfrm>
            <a:off x="4842153" y="4507230"/>
            <a:ext cx="3620762"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C2410C"/>
                </a:solidFill>
                <a:latin typeface="Arial" pitchFamily="34" charset="0"/>
                <a:ea typeface="Arial" pitchFamily="34" charset="-122"/>
                <a:cs typeface="Arial" pitchFamily="34" charset="-120"/>
              </a:rPr>
              <a:t>실제로는 </a:t>
            </a:r>
            <a:pPr algn="l" indent="0" marL="0">
              <a:lnSpc>
                <a:spcPct val="123529"/>
              </a:lnSpc>
              <a:buNone/>
            </a:pPr>
            <a:r>
              <a:rPr lang="en-US" sz="1800" b="1" dirty="0">
                <a:solidFill>
                  <a:srgbClr val="C2410C"/>
                </a:solidFill>
                <a:latin typeface="Arial" pitchFamily="34" charset="0"/>
                <a:ea typeface="Arial" pitchFamily="34" charset="-122"/>
                <a:cs typeface="Arial" pitchFamily="34" charset="-120"/>
              </a:rPr>
              <a:t>도시철도 </a:t>
            </a:r>
            <a:pPr algn="l" indent="0" marL="0">
              <a:lnSpc>
                <a:spcPct val="123529"/>
              </a:lnSpc>
              <a:buNone/>
            </a:pPr>
            <a:r>
              <a:rPr lang="en-US" sz="1800" dirty="0">
                <a:solidFill>
                  <a:srgbClr val="C2410C"/>
                </a:solidFill>
                <a:latin typeface="Arial" pitchFamily="34" charset="0"/>
                <a:ea typeface="Arial" pitchFamily="34" charset="-122"/>
                <a:cs typeface="Arial" pitchFamily="34" charset="-120"/>
              </a:rPr>
              <a:t>시각표</a:t>
            </a:r>
            <a:endParaRPr lang="en-US" sz="1800" dirty="0"/>
          </a:p>
        </p:txBody>
      </p:sp>
      <p:sp>
        <p:nvSpPr>
          <p:cNvPr id="18" name="Text 16"/>
          <p:cNvSpPr/>
          <p:nvPr/>
        </p:nvSpPr>
        <p:spPr>
          <a:xfrm>
            <a:off x="1360170" y="4941570"/>
            <a:ext cx="3620631"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16181D"/>
                </a:solidFill>
                <a:latin typeface="Arial" pitchFamily="34" charset="0"/>
                <a:ea typeface="Arial" pitchFamily="34" charset="-122"/>
                <a:cs typeface="Arial" pitchFamily="34" charset="-120"/>
              </a:rPr>
              <a:t>열차운임 및 시간표</a:t>
            </a:r>
            <a:endParaRPr lang="en-US" sz="1800" dirty="0"/>
          </a:p>
        </p:txBody>
      </p:sp>
      <p:sp>
        <p:nvSpPr>
          <p:cNvPr id="19" name="Text 17"/>
          <p:cNvSpPr/>
          <p:nvPr/>
        </p:nvSpPr>
        <p:spPr>
          <a:xfrm>
            <a:off x="4842153" y="4941570"/>
            <a:ext cx="3620762"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C2410C"/>
                </a:solidFill>
                <a:latin typeface="Arial" pitchFamily="34" charset="0"/>
                <a:ea typeface="Arial" pitchFamily="34" charset="-122"/>
                <a:cs typeface="Arial" pitchFamily="34" charset="-120"/>
              </a:rPr>
              <a:t>2021년 XLSX 51행</a:t>
            </a:r>
            <a:endParaRPr lang="en-US" sz="1800" dirty="0"/>
          </a:p>
        </p:txBody>
      </p:sp>
      <p:sp>
        <p:nvSpPr>
          <p:cNvPr id="20" name="Shape 18"/>
          <p:cNvSpPr/>
          <p:nvPr/>
        </p:nvSpPr>
        <p:spPr>
          <a:xfrm>
            <a:off x="1047750" y="5726430"/>
            <a:ext cx="7398425" cy="5304949"/>
          </a:xfrm>
          <a:prstGeom prst="rect">
            <a:avLst/>
          </a:prstGeom>
          <a:solidFill>
            <a:srgbClr val="FFFFFF"/>
          </a:solidFill>
          <a:ln w="7620">
            <a:solidFill>
              <a:srgbClr val="DFE1E6"/>
            </a:solidFill>
            <a:prstDash val="solid"/>
          </a:ln>
        </p:spPr>
      </p:sp>
      <p:sp>
        <p:nvSpPr>
          <p:cNvPr id="21" name="Text 19"/>
          <p:cNvSpPr/>
          <p:nvPr/>
        </p:nvSpPr>
        <p:spPr>
          <a:xfrm>
            <a:off x="1360170" y="6000750"/>
            <a:ext cx="7450943"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응답 구조도 API 마다 다르다</a:t>
            </a:r>
            <a:endParaRPr lang="en-US" sz="2100" dirty="0"/>
          </a:p>
        </p:txBody>
      </p:sp>
      <p:sp>
        <p:nvSpPr>
          <p:cNvPr id="22" name="Text 20"/>
          <p:cNvSpPr/>
          <p:nvPr/>
        </p:nvSpPr>
        <p:spPr>
          <a:xfrm>
            <a:off x="1360170" y="6522720"/>
            <a:ext cx="3620631"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16181D"/>
                </a:solidFill>
                <a:latin typeface="Arial" pitchFamily="34" charset="0"/>
                <a:ea typeface="Arial" pitchFamily="34" charset="-122"/>
                <a:cs typeface="Arial" pitchFamily="34" charset="-120"/>
              </a:rPr>
              <a:t>TAGO · 한국공항공사</a:t>
            </a:r>
            <a:endParaRPr lang="en-US" sz="1800" dirty="0"/>
          </a:p>
        </p:txBody>
      </p:sp>
      <p:sp>
        <p:nvSpPr>
          <p:cNvPr id="23" name="Text 21"/>
          <p:cNvSpPr/>
          <p:nvPr/>
        </p:nvSpPr>
        <p:spPr>
          <a:xfrm>
            <a:off x="4842153" y="6537960"/>
            <a:ext cx="3620762"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body.items.item[]</a:t>
            </a:r>
            <a:endParaRPr lang="en-US" sz="1650" dirty="0"/>
          </a:p>
        </p:txBody>
      </p:sp>
      <p:sp>
        <p:nvSpPr>
          <p:cNvPr id="24" name="Text 22"/>
          <p:cNvSpPr/>
          <p:nvPr/>
        </p:nvSpPr>
        <p:spPr>
          <a:xfrm>
            <a:off x="1360170" y="6957060"/>
            <a:ext cx="3620631" cy="358140"/>
          </a:xfrm>
          <a:prstGeom prst="rect">
            <a:avLst/>
          </a:prstGeom>
          <a:noFill/>
          <a:ln/>
        </p:spPr>
        <p:txBody>
          <a:bodyPr wrap="square" lIns="25400" tIns="25400" rIns="25400" bIns="25400" rtlCol="0" anchor="t">
            <a:normAutofit/>
          </a:bodyPr>
          <a:lstStyle/>
          <a:p>
            <a:pPr algn="l" indent="0" marL="0">
              <a:lnSpc>
                <a:spcPct val="123529"/>
              </a:lnSpc>
              <a:buNone/>
            </a:pPr>
            <a:r>
              <a:rPr lang="en-US" sz="1800" dirty="0">
                <a:solidFill>
                  <a:srgbClr val="16181D"/>
                </a:solidFill>
                <a:latin typeface="Arial" pitchFamily="34" charset="0"/>
                <a:ea typeface="Arial" pitchFamily="34" charset="-122"/>
                <a:cs typeface="Arial" pitchFamily="34" charset="-120"/>
              </a:rPr>
              <a:t>인천공항공사</a:t>
            </a:r>
            <a:endParaRPr lang="en-US" sz="1800" dirty="0"/>
          </a:p>
        </p:txBody>
      </p:sp>
      <p:sp>
        <p:nvSpPr>
          <p:cNvPr id="25" name="Text 23"/>
          <p:cNvSpPr/>
          <p:nvPr/>
        </p:nvSpPr>
        <p:spPr>
          <a:xfrm>
            <a:off x="4842153" y="6972300"/>
            <a:ext cx="3620762" cy="312420"/>
          </a:xfrm>
          <a:prstGeom prst="rect">
            <a:avLst/>
          </a:prstGeom>
          <a:noFill/>
          <a:ln/>
        </p:spPr>
        <p:txBody>
          <a:bodyPr wrap="square" lIns="25400" tIns="25400" rIns="25400" bIns="25400" rtlCol="0" anchor="t">
            <a:normAutofit/>
          </a:bodyPr>
          <a:lstStyle/>
          <a:p>
            <a:pPr algn="l" indent="0" marL="0">
              <a:buNone/>
            </a:pPr>
            <a:r>
              <a:rPr lang="en-US" sz="1650" dirty="0">
                <a:solidFill>
                  <a:srgbClr val="C2410C"/>
                </a:solidFill>
                <a:latin typeface="Roboto Mono" pitchFamily="34" charset="0"/>
                <a:ea typeface="Roboto Mono" pitchFamily="34" charset="-122"/>
                <a:cs typeface="Roboto Mono" pitchFamily="34" charset="-120"/>
              </a:rPr>
              <a:t>body.items[] — 래퍼 없음</a:t>
            </a:r>
            <a:endParaRPr lang="en-US" sz="1650" dirty="0"/>
          </a:p>
        </p:txBody>
      </p:sp>
      <p:sp>
        <p:nvSpPr>
          <p:cNvPr id="26" name="Text 24"/>
          <p:cNvSpPr/>
          <p:nvPr/>
        </p:nvSpPr>
        <p:spPr>
          <a:xfrm>
            <a:off x="1360170" y="7410450"/>
            <a:ext cx="6976792"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거기에 결과가 </a:t>
            </a:r>
            <a:pPr algn="l" indent="0" marL="0">
              <a:lnSpc>
                <a:spcPct val="141176"/>
              </a:lnSpc>
              <a:buNone/>
            </a:pPr>
            <a:r>
              <a:rPr lang="en-US" sz="1800" b="1" dirty="0">
                <a:solidFill>
                  <a:srgbClr val="4A5058"/>
                </a:solidFill>
                <a:latin typeface="Arial" pitchFamily="34" charset="0"/>
                <a:ea typeface="Arial" pitchFamily="34" charset="-122"/>
                <a:cs typeface="Arial" pitchFamily="34" charset="-120"/>
              </a:rPr>
              <a:t>1건일 때 배열이 아니라 단일 객체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를 주는 경우가 있다. 세 경우를 모두 흡수하는 정규화 함수를 어댑터마다 둔다.</a:t>
            </a:r>
            <a:endParaRPr lang="en-US" sz="1800" dirty="0"/>
          </a:p>
        </p:txBody>
      </p:sp>
      <p:sp>
        <p:nvSpPr>
          <p:cNvPr id="27" name="Shape 25"/>
          <p:cNvSpPr/>
          <p:nvPr/>
        </p:nvSpPr>
        <p:spPr>
          <a:xfrm>
            <a:off x="1360170" y="9719786"/>
            <a:ext cx="6773585" cy="1037273"/>
          </a:xfrm>
          <a:prstGeom prst="rect">
            <a:avLst/>
          </a:prstGeom>
          <a:solidFill>
            <a:srgbClr val="F6F7F8"/>
          </a:solidFill>
          <a:ln w="7620">
            <a:solidFill>
              <a:srgbClr val="DFE1E6"/>
            </a:solidFill>
            <a:prstDash val="solid"/>
          </a:ln>
        </p:spPr>
      </p:sp>
      <p:sp>
        <p:nvSpPr>
          <p:cNvPr id="28" name="Text 26"/>
          <p:cNvSpPr/>
          <p:nvPr/>
        </p:nvSpPr>
        <p:spPr>
          <a:xfrm>
            <a:off x="1577340" y="9898856"/>
            <a:ext cx="6542452" cy="717233"/>
          </a:xfrm>
          <a:prstGeom prst="rect">
            <a:avLst/>
          </a:prstGeom>
          <a:noFill/>
          <a:ln/>
        </p:spPr>
        <p:txBody>
          <a:bodyPr wrap="square" lIns="25400" tIns="25400" rIns="25400" bIns="25400" rtlCol="0" anchor="t">
            <a:normAutofit/>
          </a:bodyPr>
          <a:lstStyle/>
          <a:p>
            <a:pPr algn="l" indent="0" marL="0">
              <a:lnSpc>
                <a:spcPct val="135038"/>
              </a:lnSpc>
              <a:buNone/>
            </a:pPr>
            <a:r>
              <a:rPr lang="en-US" sz="1725" b="1" dirty="0">
                <a:solidFill>
                  <a:srgbClr val="4A5058"/>
                </a:solidFill>
                <a:latin typeface="Arial" pitchFamily="34" charset="0"/>
                <a:ea typeface="Arial" pitchFamily="34" charset="-122"/>
                <a:cs typeface="Arial" pitchFamily="34" charset="-120"/>
              </a:rPr>
              <a:t>인증키는 unquote 해서 쓴다. </a:t>
            </a:r>
            <a:pPr algn="l" indent="0" marL="0">
              <a:lnSpc>
                <a:spcPct val="135038"/>
              </a:lnSpc>
              <a:buNone/>
            </a:pPr>
            <a:r>
              <a:rPr lang="en-US" sz="1725" dirty="0">
                <a:solidFill>
                  <a:srgbClr val="4A5058"/>
                </a:solidFill>
                <a:highlight>
                  <a:srgbClr val="F6F7F8"/>
                </a:highlight>
                <a:latin typeface="Arial" pitchFamily="34" charset="0"/>
                <a:ea typeface="Arial" pitchFamily="34" charset="-122"/>
                <a:cs typeface="Arial" pitchFamily="34" charset="-120"/>
              </a:rPr>
              <a:t>포털 키는 Encoding 형태(</a:t>
            </a:r>
            <a:pPr algn="l" indent="0" marL="0">
              <a:lnSpc>
                <a:spcPct val="135038"/>
              </a:lnSpc>
              <a:buNone/>
            </a:pPr>
            <a:r>
              <a:rPr lang="en-US" sz="1575" dirty="0">
                <a:solidFill>
                  <a:srgbClr val="4A5058"/>
                </a:solidFill>
                <a:latin typeface="Roboto Mono" pitchFamily="34" charset="0"/>
                <a:ea typeface="Roboto Mono" pitchFamily="34" charset="-122"/>
                <a:cs typeface="Roboto Mono" pitchFamily="34" charset="-120"/>
              </a:rPr>
              <a:t>%2F </a:t>
            </a:r>
            <a:pPr algn="l" indent="0" marL="0">
              <a:lnSpc>
                <a:spcPct val="135038"/>
              </a:lnSpc>
              <a:buNone/>
            </a:pPr>
            <a:r>
              <a:rPr lang="en-US" sz="1725" dirty="0">
                <a:solidFill>
                  <a:srgbClr val="4A5058"/>
                </a:solidFill>
                <a:highlight>
                  <a:srgbClr val="F6F7F8"/>
                </a:highlight>
                <a:latin typeface="Arial" pitchFamily="34" charset="0"/>
                <a:ea typeface="Arial" pitchFamily="34" charset="-122"/>
                <a:cs typeface="Arial" pitchFamily="34" charset="-120"/>
              </a:rPr>
              <a:t>)라 httpx params 가 다시 인코딩하면 이중 인코딩( </a:t>
            </a:r>
            <a:pPr algn="l" indent="0" marL="0">
              <a:lnSpc>
                <a:spcPct val="135038"/>
              </a:lnSpc>
              <a:buNone/>
            </a:pPr>
            <a:r>
              <a:rPr lang="en-US" sz="1575" dirty="0">
                <a:solidFill>
                  <a:srgbClr val="4A5058"/>
                </a:solidFill>
                <a:latin typeface="Roboto Mono" pitchFamily="34" charset="0"/>
                <a:ea typeface="Roboto Mono" pitchFamily="34" charset="-122"/>
                <a:cs typeface="Roboto Mono" pitchFamily="34" charset="-120"/>
              </a:rPr>
              <a:t>%252F</a:t>
            </a:r>
            <a:pPr algn="l" indent="0" marL="0">
              <a:lnSpc>
                <a:spcPct val="135038"/>
              </a:lnSpc>
              <a:buNone/>
            </a:pPr>
            <a:r>
              <a:rPr lang="en-US" sz="1725" dirty="0">
                <a:solidFill>
                  <a:srgbClr val="4A5058"/>
                </a:solidFill>
                <a:highlight>
                  <a:srgbClr val="F6F7F8"/>
                </a:highlight>
                <a:latin typeface="Arial" pitchFamily="34" charset="0"/>
                <a:ea typeface="Arial" pitchFamily="34" charset="-122"/>
                <a:cs typeface="Arial" pitchFamily="34" charset="-120"/>
              </a:rPr>
              <a:t>) → 403.</a:t>
            </a:r>
            <a:endParaRPr lang="en-US" sz="1725" dirty="0"/>
          </a:p>
        </p:txBody>
      </p:sp>
      <p:sp>
        <p:nvSpPr>
          <p:cNvPr id="29" name="Shape 27"/>
          <p:cNvSpPr/>
          <p:nvPr/>
        </p:nvSpPr>
        <p:spPr>
          <a:xfrm>
            <a:off x="8731925" y="2369820"/>
            <a:ext cx="8508206" cy="4351020"/>
          </a:xfrm>
          <a:prstGeom prst="rect">
            <a:avLst/>
          </a:prstGeom>
          <a:solidFill>
            <a:srgbClr val="FFFFFF"/>
          </a:solidFill>
          <a:ln/>
        </p:spPr>
      </p:sp>
      <p:sp>
        <p:nvSpPr>
          <p:cNvPr id="30" name="Shape 28"/>
          <p:cNvSpPr/>
          <p:nvPr/>
        </p:nvSpPr>
        <p:spPr>
          <a:xfrm>
            <a:off x="8731925" y="6713220"/>
            <a:ext cx="8508206" cy="9525"/>
          </a:xfrm>
          <a:prstGeom prst="rect">
            <a:avLst/>
          </a:prstGeom>
          <a:solidFill>
            <a:srgbClr val="DFE1E6"/>
          </a:solidFill>
          <a:ln/>
        </p:spPr>
      </p:sp>
      <p:sp>
        <p:nvSpPr>
          <p:cNvPr id="31" name="Shape 29"/>
          <p:cNvSpPr/>
          <p:nvPr/>
        </p:nvSpPr>
        <p:spPr>
          <a:xfrm>
            <a:off x="8731925" y="2369820"/>
            <a:ext cx="8508206" cy="45720"/>
          </a:xfrm>
          <a:prstGeom prst="rect">
            <a:avLst/>
          </a:prstGeom>
          <a:solidFill>
            <a:srgbClr val="4F7CFF"/>
          </a:solidFill>
          <a:ln/>
        </p:spPr>
      </p:sp>
      <p:sp>
        <p:nvSpPr>
          <p:cNvPr id="32" name="Shape 30"/>
          <p:cNvSpPr/>
          <p:nvPr/>
        </p:nvSpPr>
        <p:spPr>
          <a:xfrm>
            <a:off x="8731925" y="2369820"/>
            <a:ext cx="9525" cy="4351020"/>
          </a:xfrm>
          <a:prstGeom prst="rect">
            <a:avLst/>
          </a:prstGeom>
          <a:solidFill>
            <a:srgbClr val="DFE1E6"/>
          </a:solidFill>
          <a:ln/>
        </p:spPr>
      </p:sp>
      <p:sp>
        <p:nvSpPr>
          <p:cNvPr id="33" name="Shape 31"/>
          <p:cNvSpPr/>
          <p:nvPr/>
        </p:nvSpPr>
        <p:spPr>
          <a:xfrm>
            <a:off x="17232511" y="2369820"/>
            <a:ext cx="9525" cy="4351020"/>
          </a:xfrm>
          <a:prstGeom prst="rect">
            <a:avLst/>
          </a:prstGeom>
          <a:solidFill>
            <a:srgbClr val="DFE1E6"/>
          </a:solidFill>
          <a:ln/>
        </p:spPr>
      </p:sp>
      <p:sp>
        <p:nvSpPr>
          <p:cNvPr id="34" name="Text 32"/>
          <p:cNvSpPr/>
          <p:nvPr/>
        </p:nvSpPr>
        <p:spPr>
          <a:xfrm>
            <a:off x="9044345" y="2682240"/>
            <a:ext cx="8671703" cy="43434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코레일 </a:t>
            </a:r>
            <a:pPr algn="l" indent="0" marL="0">
              <a:buNone/>
            </a:pPr>
            <a:r>
              <a:rPr lang="en-US" sz="1950" b="1" dirty="0">
                <a:solidFill>
                  <a:srgbClr val="16181D"/>
                </a:solidFill>
                <a:latin typeface="Roboto Mono" pitchFamily="34" charset="0"/>
                <a:ea typeface="Roboto Mono" pitchFamily="34" charset="-122"/>
                <a:cs typeface="Roboto Mono" pitchFamily="34" charset="-120"/>
              </a:rPr>
              <a:t>cond </a:t>
            </a:r>
            <a:pPr algn="l" indent="0" marL="0">
              <a:buNone/>
            </a:pPr>
            <a:r>
              <a:rPr lang="en-US" sz="2100" b="1" dirty="0">
                <a:solidFill>
                  <a:srgbClr val="16181D"/>
                </a:solidFill>
                <a:latin typeface="Arial" pitchFamily="34" charset="0"/>
                <a:ea typeface="Arial" pitchFamily="34" charset="-122"/>
                <a:cs typeface="Arial" pitchFamily="34" charset="-120"/>
              </a:rPr>
              <a:t>— 문제는 이름이 아니라 형식이었다</a:t>
            </a:r>
            <a:endParaRPr lang="en-US" sz="2100" dirty="0"/>
          </a:p>
        </p:txBody>
      </p:sp>
      <p:sp>
        <p:nvSpPr>
          <p:cNvPr id="35" name="Text 33"/>
          <p:cNvSpPr/>
          <p:nvPr/>
        </p:nvSpPr>
        <p:spPr>
          <a:xfrm>
            <a:off x="9044345" y="3211830"/>
            <a:ext cx="8119867" cy="83058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필터가 전혀 동작하지 않아 </a:t>
            </a:r>
            <a:pPr algn="l" indent="0" marL="0">
              <a:lnSpc>
                <a:spcPct val="138889"/>
              </a:lnSpc>
              <a:buNone/>
            </a:pPr>
            <a:r>
              <a:rPr lang="en-US" sz="1875" dirty="0">
                <a:solidFill>
                  <a:srgbClr val="4A5058"/>
                </a:solidFill>
                <a:latin typeface="Roboto Mono" pitchFamily="34" charset="0"/>
                <a:ea typeface="Roboto Mono" pitchFamily="34" charset="-122"/>
                <a:cs typeface="Roboto Mono" pitchFamily="34" charset="-120"/>
              </a:rPr>
              <a:t>totalCount </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가 69,503 으로 고정됐다. </a:t>
            </a:r>
            <a:pPr algn="l" indent="0" marL="0">
              <a:lnSpc>
                <a:spcPct val="138889"/>
              </a:lnSpc>
              <a:buNone/>
            </a:pPr>
            <a:r>
              <a:rPr lang="en-US" sz="1875" dirty="0">
                <a:solidFill>
                  <a:srgbClr val="4A5058"/>
                </a:solidFill>
                <a:latin typeface="Roboto Mono" pitchFamily="34" charset="0"/>
                <a:ea typeface="Roboto Mono" pitchFamily="34" charset="-122"/>
                <a:cs typeface="Roboto Mono" pitchFamily="34" charset="-120"/>
              </a:rPr>
              <a:t>runDt</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a:t>
            </a:r>
            <a:pPr algn="l" indent="0" marL="0">
              <a:lnSpc>
                <a:spcPct val="138889"/>
              </a:lnSpc>
              <a:buNone/>
            </a:pPr>
            <a:r>
              <a:rPr lang="en-US" sz="1875" dirty="0">
                <a:solidFill>
                  <a:srgbClr val="4A5058"/>
                </a:solidFill>
                <a:latin typeface="Roboto Mono" pitchFamily="34" charset="0"/>
                <a:ea typeface="Roboto Mono" pitchFamily="34" charset="-122"/>
                <a:cs typeface="Roboto Mono" pitchFamily="34" charset="-120"/>
              </a:rPr>
              <a:t>runYmd</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a:t>
            </a:r>
            <a:pPr algn="l" indent="0" marL="0">
              <a:lnSpc>
                <a:spcPct val="138889"/>
              </a:lnSpc>
              <a:buNone/>
            </a:pPr>
            <a:r>
              <a:rPr lang="en-US" sz="1875" dirty="0">
                <a:solidFill>
                  <a:srgbClr val="4A5058"/>
                </a:solidFill>
                <a:latin typeface="Roboto Mono" pitchFamily="34" charset="0"/>
                <a:ea typeface="Roboto Mono" pitchFamily="34" charset="-122"/>
                <a:cs typeface="Roboto Mono" pitchFamily="34" charset="-120"/>
              </a:rPr>
              <a:t>depStnCd </a:t>
            </a:r>
            <a:pPr algn="l" indent="0" marL="0">
              <a:lnSpc>
                <a:spcPct val="138889"/>
              </a:lnSpc>
              <a:buNone/>
            </a:pPr>
            <a:r>
              <a:rPr lang="en-US" sz="1875" dirty="0">
                <a:solidFill>
                  <a:srgbClr val="4A5058"/>
                </a:solidFill>
                <a:latin typeface="Arial" pitchFamily="34" charset="0"/>
                <a:ea typeface="Arial" pitchFamily="34" charset="-122"/>
                <a:cs typeface="Arial" pitchFamily="34" charset="-120"/>
              </a:rPr>
              <a:t>를 다 시도했지만 전부 무시됐다.</a:t>
            </a:r>
            <a:endParaRPr lang="en-US" sz="1875" dirty="0"/>
          </a:p>
        </p:txBody>
      </p:sp>
      <p:sp>
        <p:nvSpPr>
          <p:cNvPr id="36" name="Shape 34"/>
          <p:cNvSpPr/>
          <p:nvPr/>
        </p:nvSpPr>
        <p:spPr>
          <a:xfrm>
            <a:off x="9044345" y="4137660"/>
            <a:ext cx="7883366" cy="1550670"/>
          </a:xfrm>
          <a:prstGeom prst="rect">
            <a:avLst/>
          </a:prstGeom>
          <a:solidFill>
            <a:srgbClr val="16181D"/>
          </a:solidFill>
          <a:ln/>
        </p:spPr>
      </p:sp>
      <p:sp>
        <p:nvSpPr>
          <p:cNvPr id="37" name="Text 35"/>
          <p:cNvSpPr/>
          <p:nvPr/>
        </p:nvSpPr>
        <p:spPr>
          <a:xfrm>
            <a:off x="9272945" y="4347210"/>
            <a:ext cx="7662667" cy="1169670"/>
          </a:xfrm>
          <a:prstGeom prst="rect">
            <a:avLst/>
          </a:prstGeom>
          <a:noFill/>
          <a:ln/>
        </p:spPr>
        <p:txBody>
          <a:bodyPr wrap="square" lIns="25400" tIns="25400" rIns="25400" bIns="25400" rtlCol="0" anchor="t">
            <a:normAutofit/>
          </a:bodyPr>
          <a:lstStyle/>
          <a:p>
            <a:pPr algn="l" indent="0" marL="0">
              <a:lnSpc>
                <a:spcPct val="137500"/>
              </a:lnSpc>
              <a:buNone/>
            </a:pPr>
            <a:r>
              <a:rPr lang="en-US" sz="1650" dirty="0">
                <a:solidFill>
                  <a:srgbClr val="4ADE80"/>
                </a:solidFill>
                <a:latin typeface="Roboto Mono" pitchFamily="34" charset="0"/>
                <a:ea typeface="Roboto Mono" pitchFamily="34" charset="-122"/>
                <a:cs typeface="Roboto Mono" pitchFamily="34" charset="-120"/>
              </a:rPr>
              <a:t>cond[dptre_stn_nm::EQ]=서울</a:t>
            </a:r>
            <a:endParaRPr lang="en-US" sz="1650" dirty="0"/>
          </a:p>
          <a:p>
            <a:pPr algn="l" indent="0" marL="0">
              <a:lnSpc>
                <a:spcPct val="137500"/>
              </a:lnSpc>
              <a:buNone/>
            </a:pPr>
            <a:r>
              <a:rPr lang="en-US" sz="1650" dirty="0">
                <a:solidFill>
                  <a:srgbClr val="4ADE80"/>
                </a:solidFill>
                <a:latin typeface="Roboto Mono" pitchFamily="34" charset="0"/>
                <a:ea typeface="Roboto Mono" pitchFamily="34" charset="-122"/>
                <a:cs typeface="Roboto Mono" pitchFamily="34" charset="-120"/>
              </a:rPr>
              <a:t>cond[arvl_stn_nm::EQ]=부산</a:t>
            </a:r>
            <a:endParaRPr lang="en-US" sz="1650" dirty="0"/>
          </a:p>
          <a:p>
            <a:pPr algn="l" indent="0" marL="0">
              <a:lnSpc>
                <a:spcPct val="137500"/>
              </a:lnSpc>
              <a:buNone/>
            </a:pPr>
            <a:r>
              <a:rPr lang="en-US" sz="1650" dirty="0">
                <a:solidFill>
                  <a:srgbClr val="4ADE80"/>
                </a:solidFill>
                <a:latin typeface="Roboto Mono" pitchFamily="34" charset="0"/>
                <a:ea typeface="Roboto Mono" pitchFamily="34" charset="-122"/>
                <a:cs typeface="Roboto Mono" pitchFamily="34" charset="-120"/>
              </a:rPr>
              <a:t>→ 70,198 건  →  5,987 건</a:t>
            </a:r>
            <a:endParaRPr lang="en-US" sz="1650" dirty="0"/>
          </a:p>
        </p:txBody>
      </p:sp>
      <p:sp>
        <p:nvSpPr>
          <p:cNvPr id="38" name="Shape 36"/>
          <p:cNvSpPr/>
          <p:nvPr/>
        </p:nvSpPr>
        <p:spPr>
          <a:xfrm>
            <a:off x="9044345" y="5821680"/>
            <a:ext cx="3865483" cy="624840"/>
          </a:xfrm>
          <a:prstGeom prst="rect">
            <a:avLst/>
          </a:prstGeom>
          <a:solidFill>
            <a:srgbClr val="F0FDF4"/>
          </a:solidFill>
          <a:ln w="7620">
            <a:solidFill>
              <a:srgbClr val="BBF7D0"/>
            </a:solidFill>
            <a:prstDash val="solid"/>
          </a:ln>
        </p:spPr>
      </p:sp>
      <p:sp>
        <p:nvSpPr>
          <p:cNvPr id="39" name="Text 37"/>
          <p:cNvSpPr/>
          <p:nvPr/>
        </p:nvSpPr>
        <p:spPr>
          <a:xfrm>
            <a:off x="9223415" y="5962650"/>
            <a:ext cx="3623308" cy="3810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14532D"/>
                </a:solidFill>
                <a:highlight>
                  <a:srgbClr val="F0FDF4"/>
                </a:highlight>
                <a:latin typeface="Arial" pitchFamily="34" charset="0"/>
                <a:ea typeface="Arial" pitchFamily="34" charset="-122"/>
                <a:cs typeface="Arial" pitchFamily="34" charset="-120"/>
              </a:rPr>
              <a:t>동작: </a:t>
            </a:r>
            <a:pPr algn="l" indent="0" marL="0">
              <a:lnSpc>
                <a:spcPct val="132353"/>
              </a:lnSpc>
              <a:buNone/>
            </a:pPr>
            <a:r>
              <a:rPr lang="en-US" sz="1650" dirty="0">
                <a:solidFill>
                  <a:srgbClr val="14532D"/>
                </a:solidFill>
                <a:latin typeface="Roboto Mono" pitchFamily="34" charset="0"/>
                <a:ea typeface="Roboto Mono" pitchFamily="34" charset="-122"/>
                <a:cs typeface="Roboto Mono" pitchFamily="34" charset="-120"/>
              </a:rPr>
              <a:t>EQ GT GTE LT LTE LIKE</a:t>
            </a:r>
            <a:endParaRPr lang="en-US" sz="1800" dirty="0"/>
          </a:p>
        </p:txBody>
      </p:sp>
      <p:sp>
        <p:nvSpPr>
          <p:cNvPr id="40" name="Shape 38"/>
          <p:cNvSpPr/>
          <p:nvPr/>
        </p:nvSpPr>
        <p:spPr>
          <a:xfrm>
            <a:off x="13062228" y="5821680"/>
            <a:ext cx="3865483" cy="624840"/>
          </a:xfrm>
          <a:prstGeom prst="rect">
            <a:avLst/>
          </a:prstGeom>
          <a:solidFill>
            <a:srgbClr val="FFF7ED"/>
          </a:solidFill>
          <a:ln w="7620">
            <a:solidFill>
              <a:srgbClr val="FED7AA"/>
            </a:solidFill>
            <a:prstDash val="solid"/>
          </a:ln>
        </p:spPr>
      </p:sp>
      <p:sp>
        <p:nvSpPr>
          <p:cNvPr id="41" name="Text 39"/>
          <p:cNvSpPr/>
          <p:nvPr/>
        </p:nvSpPr>
        <p:spPr>
          <a:xfrm>
            <a:off x="13241298" y="5962650"/>
            <a:ext cx="3623308" cy="3810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7C2D12"/>
                </a:solidFill>
                <a:highlight>
                  <a:srgbClr val="FFF7ED"/>
                </a:highlight>
                <a:latin typeface="Arial" pitchFamily="34" charset="0"/>
                <a:ea typeface="Arial" pitchFamily="34" charset="-122"/>
                <a:cs typeface="Arial" pitchFamily="34" charset="-120"/>
              </a:rPr>
              <a:t>금지: </a:t>
            </a:r>
            <a:pPr algn="l" indent="0" marL="0">
              <a:lnSpc>
                <a:spcPct val="132353"/>
              </a:lnSpc>
              <a:buNone/>
            </a:pPr>
            <a:r>
              <a:rPr lang="en-US" sz="1650" dirty="0">
                <a:solidFill>
                  <a:srgbClr val="7C2D12"/>
                </a:solidFill>
                <a:latin typeface="Roboto Mono" pitchFamily="34" charset="0"/>
                <a:ea typeface="Roboto Mono" pitchFamily="34" charset="-122"/>
                <a:cs typeface="Roboto Mono" pitchFamily="34" charset="-120"/>
              </a:rPr>
              <a:t>NE BETWEEN </a:t>
            </a:r>
            <a:pPr algn="l" indent="0" marL="0">
              <a:lnSpc>
                <a:spcPct val="132353"/>
              </a:lnSpc>
              <a:buNone/>
            </a:pPr>
            <a:r>
              <a:rPr lang="en-US" sz="1800" dirty="0">
                <a:solidFill>
                  <a:srgbClr val="7C2D12"/>
                </a:solidFill>
                <a:highlight>
                  <a:srgbClr val="FFF7ED"/>
                </a:highlight>
                <a:latin typeface="Arial" pitchFamily="34" charset="0"/>
                <a:ea typeface="Arial" pitchFamily="34" charset="-122"/>
                <a:cs typeface="Arial" pitchFamily="34" charset="-120"/>
              </a:rPr>
              <a:t>— 응답이 깨진다</a:t>
            </a:r>
            <a:endParaRPr lang="en-US" sz="1800" dirty="0"/>
          </a:p>
        </p:txBody>
      </p:sp>
      <p:sp>
        <p:nvSpPr>
          <p:cNvPr id="42" name="Shape 40"/>
          <p:cNvSpPr/>
          <p:nvPr/>
        </p:nvSpPr>
        <p:spPr>
          <a:xfrm>
            <a:off x="8731925" y="6911340"/>
            <a:ext cx="8508206" cy="4120039"/>
          </a:xfrm>
          <a:prstGeom prst="rect">
            <a:avLst/>
          </a:prstGeom>
          <a:solidFill>
            <a:srgbClr val="16181D"/>
          </a:solidFill>
          <a:ln/>
        </p:spPr>
      </p:sp>
      <p:sp>
        <p:nvSpPr>
          <p:cNvPr id="43" name="Text 41"/>
          <p:cNvSpPr/>
          <p:nvPr/>
        </p:nvSpPr>
        <p:spPr>
          <a:xfrm>
            <a:off x="9036725" y="7178040"/>
            <a:ext cx="8688467" cy="304800"/>
          </a:xfrm>
          <a:prstGeom prst="rect">
            <a:avLst/>
          </a:prstGeom>
          <a:noFill/>
          <a:ln/>
        </p:spPr>
        <p:txBody>
          <a:bodyPr wrap="square" lIns="25400" tIns="25400" rIns="25400" bIns="25400" rtlCol="0" anchor="t">
            <a:normAutofit/>
          </a:bodyPr>
          <a:lstStyle/>
          <a:p>
            <a:pPr algn="l" indent="0" marL="0">
              <a:buNone/>
            </a:pPr>
            <a:r>
              <a:rPr lang="en-US" sz="1575" dirty="0">
                <a:solidFill>
                  <a:srgbClr val="9DB4FF"/>
                </a:solidFill>
                <a:latin typeface="Roboto Mono" pitchFamily="34" charset="0"/>
                <a:ea typeface="Roboto Mono" pitchFamily="34" charset="-122"/>
                <a:cs typeface="Roboto Mono" pitchFamily="34" charset="-120"/>
              </a:rPr>
              <a:t>가장 위험했던 케이스</a:t>
            </a:r>
            <a:endParaRPr lang="en-US" sz="1575" dirty="0"/>
          </a:p>
        </p:txBody>
      </p:sp>
      <p:sp>
        <p:nvSpPr>
          <p:cNvPr id="44" name="Text 42"/>
          <p:cNvSpPr/>
          <p:nvPr/>
        </p:nvSpPr>
        <p:spPr>
          <a:xfrm>
            <a:off x="9036725" y="7597140"/>
            <a:ext cx="8688467" cy="440055"/>
          </a:xfrm>
          <a:prstGeom prst="rect">
            <a:avLst/>
          </a:prstGeom>
          <a:noFill/>
          <a:ln/>
        </p:spPr>
        <p:txBody>
          <a:bodyPr wrap="square" lIns="25400" tIns="25400" rIns="25400" bIns="25400" rtlCol="0" anchor="t">
            <a:normAutofit/>
          </a:bodyPr>
          <a:lstStyle/>
          <a:p>
            <a:pPr algn="l" indent="0" marL="0">
              <a:lnSpc>
                <a:spcPct val="120833"/>
              </a:lnSpc>
              <a:buNone/>
            </a:pPr>
            <a:r>
              <a:rPr lang="en-US" sz="2025" b="1" dirty="0">
                <a:solidFill>
                  <a:srgbClr val="9DB4FF"/>
                </a:solidFill>
                <a:latin typeface="Roboto Mono" pitchFamily="34" charset="0"/>
                <a:ea typeface="Roboto Mono" pitchFamily="34" charset="-122"/>
                <a:cs typeface="Roboto Mono" pitchFamily="34" charset="-120"/>
              </a:rPr>
              <a:t>RunPlan2 </a:t>
            </a:r>
            <a:pPr algn="l" indent="0" marL="0">
              <a:lnSpc>
                <a:spcPct val="120833"/>
              </a:lnSpc>
              <a:buNone/>
            </a:pPr>
            <a:r>
              <a:rPr lang="en-US" sz="2175" b="1" dirty="0">
                <a:solidFill>
                  <a:srgbClr val="FBFBFA"/>
                </a:solidFill>
                <a:latin typeface="Arial" pitchFamily="34" charset="0"/>
                <a:ea typeface="Arial" pitchFamily="34" charset="-122"/>
                <a:cs typeface="Arial" pitchFamily="34" charset="-120"/>
              </a:rPr>
              <a:t>는 시종착역만 기록한다</a:t>
            </a:r>
            <a:endParaRPr lang="en-US" sz="2175" dirty="0"/>
          </a:p>
        </p:txBody>
      </p:sp>
      <p:sp>
        <p:nvSpPr>
          <p:cNvPr id="45" name="Text 43"/>
          <p:cNvSpPr/>
          <p:nvPr/>
        </p:nvSpPr>
        <p:spPr>
          <a:xfrm>
            <a:off x="9036725" y="8151495"/>
            <a:ext cx="8135564" cy="80010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C9CDD3"/>
                </a:solidFill>
                <a:latin typeface="Arial" pitchFamily="34" charset="0"/>
                <a:ea typeface="Arial" pitchFamily="34" charset="-122"/>
                <a:cs typeface="Arial" pitchFamily="34" charset="-120"/>
              </a:rPr>
              <a:t>중간 정차역 구간을 조회하면 0건이 나온다 — 서울→광명·천안아산·오송, 청량리→원주가 전부 0건인데 </a:t>
            </a:r>
            <a:pPr algn="l" indent="0" marL="0">
              <a:lnSpc>
                <a:spcPct val="138889"/>
              </a:lnSpc>
              <a:buNone/>
            </a:pPr>
            <a:r>
              <a:rPr lang="en-US" sz="1875" b="1" dirty="0">
                <a:solidFill>
                  <a:srgbClr val="FFFFFF"/>
                </a:solidFill>
                <a:latin typeface="Arial" pitchFamily="34" charset="0"/>
                <a:ea typeface="Arial" pitchFamily="34" charset="-122"/>
                <a:cs typeface="Arial" pitchFamily="34" charset="-120"/>
              </a:rPr>
              <a:t>실제로는 수십 편이 선다.</a:t>
            </a:r>
            <a:endParaRPr lang="en-US" sz="1875" dirty="0"/>
          </a:p>
        </p:txBody>
      </p:sp>
      <p:sp>
        <p:nvSpPr>
          <p:cNvPr id="46" name="Shape 44"/>
          <p:cNvSpPr/>
          <p:nvPr/>
        </p:nvSpPr>
        <p:spPr>
          <a:xfrm>
            <a:off x="9036725" y="9065895"/>
            <a:ext cx="7898606" cy="1017270"/>
          </a:xfrm>
          <a:prstGeom prst="rect">
            <a:avLst/>
          </a:prstGeom>
          <a:solidFill>
            <a:srgbClr val="0E1013"/>
          </a:solidFill>
          <a:ln w="7620">
            <a:solidFill>
              <a:srgbClr val="2C313A"/>
            </a:solidFill>
            <a:prstDash val="solid"/>
          </a:ln>
        </p:spPr>
      </p:sp>
      <p:sp>
        <p:nvSpPr>
          <p:cNvPr id="47" name="Text 45"/>
          <p:cNvSpPr/>
          <p:nvPr/>
        </p:nvSpPr>
        <p:spPr>
          <a:xfrm>
            <a:off x="9272945" y="9425940"/>
            <a:ext cx="1559183" cy="33528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Roboto Mono" pitchFamily="34" charset="0"/>
                <a:ea typeface="Roboto Mono" pitchFamily="34" charset="-122"/>
                <a:cs typeface="Roboto Mono" pitchFamily="34" charset="-120"/>
              </a:rPr>
              <a:t>서울 → 광명</a:t>
            </a:r>
            <a:endParaRPr lang="en-US" sz="1800" dirty="0"/>
          </a:p>
        </p:txBody>
      </p:sp>
      <p:sp>
        <p:nvSpPr>
          <p:cNvPr id="48" name="Text 46"/>
          <p:cNvSpPr/>
          <p:nvPr/>
        </p:nvSpPr>
        <p:spPr>
          <a:xfrm>
            <a:off x="10899934" y="9357360"/>
            <a:ext cx="600789" cy="472440"/>
          </a:xfrm>
          <a:prstGeom prst="rect">
            <a:avLst/>
          </a:prstGeom>
          <a:noFill/>
          <a:ln/>
        </p:spPr>
        <p:txBody>
          <a:bodyPr wrap="square" lIns="25400" tIns="25400" rIns="25400" bIns="25400" rtlCol="0" anchor="t">
            <a:normAutofit/>
          </a:bodyPr>
          <a:lstStyle/>
          <a:p>
            <a:pPr algn="l" indent="0" marL="0">
              <a:buNone/>
            </a:pPr>
            <a:r>
              <a:rPr lang="en-US" sz="2550" b="1" dirty="0">
                <a:solidFill>
                  <a:srgbClr val="F87171"/>
                </a:solidFill>
                <a:latin typeface="Roboto Mono" pitchFamily="34" charset="0"/>
                <a:ea typeface="Roboto Mono" pitchFamily="34" charset="-122"/>
                <a:cs typeface="Roboto Mono" pitchFamily="34" charset="-120"/>
              </a:rPr>
              <a:t>0편</a:t>
            </a:r>
            <a:endParaRPr lang="en-US" sz="2550" dirty="0"/>
          </a:p>
        </p:txBody>
      </p:sp>
      <p:sp>
        <p:nvSpPr>
          <p:cNvPr id="49" name="Text 47"/>
          <p:cNvSpPr/>
          <p:nvPr/>
        </p:nvSpPr>
        <p:spPr>
          <a:xfrm>
            <a:off x="11634074" y="9433560"/>
            <a:ext cx="323850" cy="320040"/>
          </a:xfrm>
          <a:prstGeom prst="rect">
            <a:avLst/>
          </a:prstGeom>
          <a:noFill/>
          <a:ln/>
        </p:spPr>
        <p:txBody>
          <a:bodyPr wrap="square" lIns="25400" tIns="25400" rIns="25400" bIns="25400" rtlCol="0" anchor="t">
            <a:normAutofit/>
          </a:bodyPr>
          <a:lstStyle/>
          <a:p>
            <a:pPr algn="l" indent="0" marL="0">
              <a:buNone/>
            </a:pPr>
            <a:r>
              <a:rPr lang="en-US" sz="1950" dirty="0">
                <a:solidFill>
                  <a:srgbClr val="9AA0A8"/>
                </a:solidFill>
                <a:latin typeface="Arial" pitchFamily="34" charset="0"/>
                <a:ea typeface="Arial" pitchFamily="34" charset="-122"/>
                <a:cs typeface="Arial" pitchFamily="34" charset="-120"/>
              </a:rPr>
              <a:t>→</a:t>
            </a:r>
            <a:endParaRPr lang="en-US" sz="1950" dirty="0"/>
          </a:p>
        </p:txBody>
      </p:sp>
      <p:sp>
        <p:nvSpPr>
          <p:cNvPr id="50" name="Text 48"/>
          <p:cNvSpPr/>
          <p:nvPr/>
        </p:nvSpPr>
        <p:spPr>
          <a:xfrm>
            <a:off x="12091274" y="9357360"/>
            <a:ext cx="795099" cy="472440"/>
          </a:xfrm>
          <a:prstGeom prst="rect">
            <a:avLst/>
          </a:prstGeom>
          <a:noFill/>
          <a:ln/>
        </p:spPr>
        <p:txBody>
          <a:bodyPr wrap="square" lIns="25400" tIns="25400" rIns="25400" bIns="25400" rtlCol="0" anchor="t">
            <a:normAutofit/>
          </a:bodyPr>
          <a:lstStyle/>
          <a:p>
            <a:pPr algn="l" indent="0" marL="0">
              <a:buNone/>
            </a:pPr>
            <a:r>
              <a:rPr lang="en-US" sz="2550" b="1" dirty="0">
                <a:solidFill>
                  <a:srgbClr val="4ADE80"/>
                </a:solidFill>
                <a:latin typeface="Roboto Mono" pitchFamily="34" charset="0"/>
                <a:ea typeface="Roboto Mono" pitchFamily="34" charset="-122"/>
                <a:cs typeface="Roboto Mono" pitchFamily="34" charset="-120"/>
              </a:rPr>
              <a:t>86편</a:t>
            </a:r>
            <a:endParaRPr lang="en-US" sz="2550" dirty="0"/>
          </a:p>
        </p:txBody>
      </p:sp>
      <p:sp>
        <p:nvSpPr>
          <p:cNvPr id="51" name="Text 49"/>
          <p:cNvSpPr/>
          <p:nvPr/>
        </p:nvSpPr>
        <p:spPr>
          <a:xfrm>
            <a:off x="13019723" y="9264015"/>
            <a:ext cx="1591985" cy="659130"/>
          </a:xfrm>
          <a:prstGeom prst="rect">
            <a:avLst/>
          </a:prstGeom>
          <a:noFill/>
          <a:ln/>
        </p:spPr>
        <p:txBody>
          <a:bodyPr wrap="square" lIns="25400" tIns="25400" rIns="25400" bIns="25400" rtlCol="0" anchor="t">
            <a:normAutofit/>
          </a:bodyPr>
          <a:lstStyle/>
          <a:p>
            <a:pPr algn="l" indent="0" marL="0">
              <a:lnSpc>
                <a:spcPct val="121970"/>
              </a:lnSpc>
              <a:buNone/>
            </a:pPr>
            <a:r>
              <a:rPr lang="en-US" sz="1725" dirty="0">
                <a:solidFill>
                  <a:srgbClr val="9AA0A8"/>
                </a:solidFill>
                <a:latin typeface="Arial" pitchFamily="34" charset="0"/>
                <a:ea typeface="Arial" pitchFamily="34" charset="-122"/>
                <a:cs typeface="Arial" pitchFamily="34" charset="-120"/>
              </a:rPr>
              <a:t>정차역 단위 </a:t>
            </a:r>
            <a:pPr algn="l" indent="0" marL="0">
              <a:lnSpc>
                <a:spcPct val="121970"/>
              </a:lnSpc>
              <a:buNone/>
            </a:pPr>
            <a:r>
              <a:rPr lang="en-US" sz="1725" dirty="0">
                <a:solidFill>
                  <a:srgbClr val="9AA0A8"/>
                </a:solidFill>
                <a:latin typeface="Roboto Mono" pitchFamily="34" charset="0"/>
                <a:ea typeface="Roboto Mono" pitchFamily="34" charset="-122"/>
                <a:cs typeface="Roboto Mono" pitchFamily="34" charset="-120"/>
              </a:rPr>
              <a:t>RunInfo2 </a:t>
            </a:r>
            <a:pPr algn="l" indent="0" marL="0">
              <a:lnSpc>
                <a:spcPct val="121970"/>
              </a:lnSpc>
              <a:buNone/>
            </a:pPr>
            <a:r>
              <a:rPr lang="en-US" sz="1725" dirty="0">
                <a:solidFill>
                  <a:srgbClr val="9AA0A8"/>
                </a:solidFill>
                <a:latin typeface="Arial" pitchFamily="34" charset="0"/>
                <a:ea typeface="Arial" pitchFamily="34" charset="-122"/>
                <a:cs typeface="Arial" pitchFamily="34" charset="-120"/>
              </a:rPr>
              <a:t>조인</a:t>
            </a:r>
            <a:endParaRPr lang="en-US" sz="1725" dirty="0"/>
          </a:p>
        </p:txBody>
      </p:sp>
      <p:sp>
        <p:nvSpPr>
          <p:cNvPr id="52" name="Shape 50"/>
          <p:cNvSpPr/>
          <p:nvPr/>
        </p:nvSpPr>
        <p:spPr>
          <a:xfrm>
            <a:off x="9036725" y="10235565"/>
            <a:ext cx="7898606" cy="9525"/>
          </a:xfrm>
          <a:prstGeom prst="rect">
            <a:avLst/>
          </a:prstGeom>
          <a:solidFill>
            <a:srgbClr val="2C313A"/>
          </a:solidFill>
          <a:ln/>
        </p:spPr>
      </p:sp>
      <p:sp>
        <p:nvSpPr>
          <p:cNvPr id="53" name="Text 51"/>
          <p:cNvSpPr/>
          <p:nvPr/>
        </p:nvSpPr>
        <p:spPr>
          <a:xfrm>
            <a:off x="9036725" y="10395585"/>
            <a:ext cx="8135564" cy="407194"/>
          </a:xfrm>
          <a:prstGeom prst="rect">
            <a:avLst/>
          </a:prstGeom>
          <a:noFill/>
          <a:ln/>
        </p:spPr>
        <p:txBody>
          <a:bodyPr wrap="square" lIns="25400" tIns="25400" rIns="25400" bIns="25400" rtlCol="0" anchor="t">
            <a:normAutofit/>
          </a:bodyPr>
          <a:lstStyle/>
          <a:p>
            <a:pPr algn="l" indent="0" marL="0">
              <a:lnSpc>
                <a:spcPct val="134549"/>
              </a:lnSpc>
              <a:buNone/>
            </a:pPr>
            <a:r>
              <a:rPr lang="en-US" sz="1875" dirty="0">
                <a:solidFill>
                  <a:srgbClr val="9DB4FF"/>
                </a:solidFill>
                <a:latin typeface="Arial" pitchFamily="34" charset="0"/>
                <a:ea typeface="Arial" pitchFamily="34" charset="-122"/>
                <a:cs typeface="Arial" pitchFamily="34" charset="-120"/>
              </a:rPr>
              <a:t>0건이 나오면 "없다"가 아니라 </a:t>
            </a:r>
            <a:pPr algn="l" indent="0" marL="0">
              <a:lnSpc>
                <a:spcPct val="134549"/>
              </a:lnSpc>
              <a:buNone/>
            </a:pPr>
            <a:r>
              <a:rPr lang="en-US" sz="1875" b="1" dirty="0">
                <a:solidFill>
                  <a:srgbClr val="9DB4FF"/>
                </a:solidFill>
                <a:latin typeface="Arial" pitchFamily="34" charset="0"/>
                <a:ea typeface="Arial" pitchFamily="34" charset="-122"/>
                <a:cs typeface="Arial" pitchFamily="34" charset="-120"/>
              </a:rPr>
              <a:t>"내가 잘못 물었다"</a:t>
            </a:r>
            <a:pPr algn="l" indent="0" marL="0">
              <a:lnSpc>
                <a:spcPct val="134549"/>
              </a:lnSpc>
              <a:buNone/>
            </a:pPr>
            <a:r>
              <a:rPr lang="en-US" sz="1875" dirty="0">
                <a:solidFill>
                  <a:srgbClr val="9DB4FF"/>
                </a:solidFill>
                <a:latin typeface="Arial" pitchFamily="34" charset="0"/>
                <a:ea typeface="Arial" pitchFamily="34" charset="-122"/>
                <a:cs typeface="Arial" pitchFamily="34" charset="-120"/>
              </a:rPr>
              <a:t>를 먼저 의심해야 한다.</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239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21 · PUBLIC API 실측 (2/2)</a:t>
            </a:r>
            <a:endParaRPr lang="en-US" sz="1800" dirty="0"/>
          </a:p>
        </p:txBody>
      </p:sp>
      <p:sp>
        <p:nvSpPr>
          <p:cNvPr id="3" name="Text 1"/>
          <p:cNvSpPr/>
          <p:nvPr/>
        </p:nvSpPr>
        <p:spPr>
          <a:xfrm>
            <a:off x="1047750" y="1135380"/>
            <a:ext cx="17811750"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문서를 믿지 말고 포털과 실측을 믿는다</a:t>
            </a:r>
            <a:endParaRPr lang="en-US" sz="4950" dirty="0"/>
          </a:p>
        </p:txBody>
      </p:sp>
      <p:sp>
        <p:nvSpPr>
          <p:cNvPr id="4" name="Shape 2"/>
          <p:cNvSpPr/>
          <p:nvPr/>
        </p:nvSpPr>
        <p:spPr>
          <a:xfrm>
            <a:off x="1047750" y="2350770"/>
            <a:ext cx="7962900" cy="3624739"/>
          </a:xfrm>
          <a:prstGeom prst="rect">
            <a:avLst/>
          </a:prstGeom>
          <a:solidFill>
            <a:srgbClr val="FFFFFF"/>
          </a:solidFill>
          <a:ln/>
        </p:spPr>
      </p:sp>
      <p:sp>
        <p:nvSpPr>
          <p:cNvPr id="5" name="Shape 3"/>
          <p:cNvSpPr/>
          <p:nvPr/>
        </p:nvSpPr>
        <p:spPr>
          <a:xfrm>
            <a:off x="1047750" y="5967889"/>
            <a:ext cx="7962900" cy="9525"/>
          </a:xfrm>
          <a:prstGeom prst="rect">
            <a:avLst/>
          </a:prstGeom>
          <a:solidFill>
            <a:srgbClr val="DFE1E6"/>
          </a:solidFill>
          <a:ln/>
        </p:spPr>
      </p:sp>
      <p:sp>
        <p:nvSpPr>
          <p:cNvPr id="6" name="Shape 4"/>
          <p:cNvSpPr/>
          <p:nvPr/>
        </p:nvSpPr>
        <p:spPr>
          <a:xfrm>
            <a:off x="1047750" y="2350770"/>
            <a:ext cx="7962900" cy="9525"/>
          </a:xfrm>
          <a:prstGeom prst="rect">
            <a:avLst/>
          </a:prstGeom>
          <a:solidFill>
            <a:srgbClr val="DFE1E6"/>
          </a:solidFill>
          <a:ln/>
        </p:spPr>
      </p:sp>
      <p:sp>
        <p:nvSpPr>
          <p:cNvPr id="7" name="Shape 5"/>
          <p:cNvSpPr/>
          <p:nvPr/>
        </p:nvSpPr>
        <p:spPr>
          <a:xfrm>
            <a:off x="1047750" y="2350770"/>
            <a:ext cx="45720" cy="3624739"/>
          </a:xfrm>
          <a:prstGeom prst="rect">
            <a:avLst/>
          </a:prstGeom>
          <a:solidFill>
            <a:srgbClr val="4F7CFF"/>
          </a:solidFill>
          <a:ln/>
        </p:spPr>
      </p:sp>
      <p:sp>
        <p:nvSpPr>
          <p:cNvPr id="8" name="Shape 6"/>
          <p:cNvSpPr/>
          <p:nvPr/>
        </p:nvSpPr>
        <p:spPr>
          <a:xfrm>
            <a:off x="9003030" y="2350770"/>
            <a:ext cx="9525" cy="3624739"/>
          </a:xfrm>
          <a:prstGeom prst="rect">
            <a:avLst/>
          </a:prstGeom>
          <a:solidFill>
            <a:srgbClr val="DFE1E6"/>
          </a:solidFill>
          <a:ln/>
        </p:spPr>
      </p:sp>
      <p:sp>
        <p:nvSpPr>
          <p:cNvPr id="9" name="Text 7"/>
          <p:cNvSpPr/>
          <p:nvPr/>
        </p:nvSpPr>
        <p:spPr>
          <a:xfrm>
            <a:off x="1379220" y="2606040"/>
            <a:ext cx="8071866" cy="43434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엔드포인트는 포털 값이 맞았다</a:t>
            </a:r>
            <a:endParaRPr lang="en-US" sz="2100" dirty="0"/>
          </a:p>
        </p:txBody>
      </p:sp>
      <p:sp>
        <p:nvSpPr>
          <p:cNvPr id="10" name="Text 8"/>
          <p:cNvSpPr/>
          <p:nvPr/>
        </p:nvSpPr>
        <p:spPr>
          <a:xfrm>
            <a:off x="1379220" y="3116580"/>
            <a:ext cx="49530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C2410C"/>
                </a:solidFill>
                <a:latin typeface="Roboto Mono" pitchFamily="34" charset="0"/>
                <a:ea typeface="Roboto Mono" pitchFamily="34" charset="-122"/>
                <a:cs typeface="Roboto Mono" pitchFamily="34" charset="-120"/>
              </a:rPr>
              <a:t>문서</a:t>
            </a:r>
            <a:endParaRPr lang="en-US" sz="1650" dirty="0"/>
          </a:p>
        </p:txBody>
      </p:sp>
      <p:sp>
        <p:nvSpPr>
          <p:cNvPr id="11" name="Text 9"/>
          <p:cNvSpPr/>
          <p:nvPr/>
        </p:nvSpPr>
        <p:spPr>
          <a:xfrm>
            <a:off x="1969770" y="3116580"/>
            <a:ext cx="7422261"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DmstcFlightNvgInfo</a:t>
            </a:r>
            <a:pPr algn="l" indent="0" marL="0">
              <a:buNone/>
            </a:pPr>
            <a:r>
              <a:rPr lang="en-US" sz="1650" b="1" dirty="0">
                <a:solidFill>
                  <a:srgbClr val="4A5058"/>
                </a:solidFill>
                <a:latin typeface="Roboto Mono" pitchFamily="34" charset="0"/>
                <a:ea typeface="Roboto Mono" pitchFamily="34" charset="-122"/>
                <a:cs typeface="Roboto Mono" pitchFamily="34" charset="-120"/>
              </a:rPr>
              <a:t>Service </a:t>
            </a:r>
            <a:pPr algn="l" indent="0" marL="0">
              <a:buNone/>
            </a:pPr>
            <a:r>
              <a:rPr lang="en-US" sz="1650" dirty="0">
                <a:solidFill>
                  <a:srgbClr val="4A5058"/>
                </a:solidFill>
                <a:latin typeface="Roboto Mono" pitchFamily="34" charset="0"/>
                <a:ea typeface="Roboto Mono" pitchFamily="34" charset="-122"/>
                <a:cs typeface="Roboto Mono" pitchFamily="34" charset="-120"/>
              </a:rPr>
              <a:t>· statusOfAllFlt</a:t>
            </a:r>
            <a:endParaRPr lang="en-US" sz="1650" dirty="0"/>
          </a:p>
        </p:txBody>
      </p:sp>
      <p:sp>
        <p:nvSpPr>
          <p:cNvPr id="12" name="Text 10"/>
          <p:cNvSpPr/>
          <p:nvPr/>
        </p:nvSpPr>
        <p:spPr>
          <a:xfrm>
            <a:off x="1379220" y="3486150"/>
            <a:ext cx="49530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00845C"/>
                </a:solidFill>
                <a:latin typeface="Roboto Mono" pitchFamily="34" charset="0"/>
                <a:ea typeface="Roboto Mono" pitchFamily="34" charset="-122"/>
                <a:cs typeface="Roboto Mono" pitchFamily="34" charset="-120"/>
              </a:rPr>
              <a:t>포털</a:t>
            </a:r>
            <a:endParaRPr lang="en-US" sz="1650" dirty="0"/>
          </a:p>
        </p:txBody>
      </p:sp>
      <p:sp>
        <p:nvSpPr>
          <p:cNvPr id="13" name="Text 11"/>
          <p:cNvSpPr/>
          <p:nvPr/>
        </p:nvSpPr>
        <p:spPr>
          <a:xfrm>
            <a:off x="1969770" y="3486150"/>
            <a:ext cx="7422261"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DmstcFlightNvgInfo · statusOfAllFlt</a:t>
            </a:r>
            <a:pPr algn="l" indent="0" marL="0">
              <a:buNone/>
            </a:pPr>
            <a:r>
              <a:rPr lang="en-US" sz="1650" b="1" dirty="0">
                <a:solidFill>
                  <a:srgbClr val="4A5058"/>
                </a:solidFill>
                <a:latin typeface="Roboto Mono" pitchFamily="34" charset="0"/>
                <a:ea typeface="Roboto Mono" pitchFamily="34" charset="-122"/>
                <a:cs typeface="Roboto Mono" pitchFamily="34" charset="-120"/>
              </a:rPr>
              <a:t>DeOdp</a:t>
            </a:r>
            <a:endParaRPr lang="en-US" sz="1650" dirty="0"/>
          </a:p>
        </p:txBody>
      </p:sp>
      <p:sp>
        <p:nvSpPr>
          <p:cNvPr id="14" name="Text 12"/>
          <p:cNvSpPr/>
          <p:nvPr/>
        </p:nvSpPr>
        <p:spPr>
          <a:xfrm>
            <a:off x="1379220" y="3874770"/>
            <a:ext cx="8071866"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문서대로 부르면 </a:t>
            </a:r>
            <a:pPr algn="l" indent="0" marL="0">
              <a:lnSpc>
                <a:spcPct val="136765"/>
              </a:lnSpc>
              <a:buNone/>
            </a:pPr>
            <a:r>
              <a:rPr lang="en-US" sz="1650" dirty="0">
                <a:solidFill>
                  <a:srgbClr val="4A5058"/>
                </a:solidFill>
                <a:latin typeface="Roboto Mono" pitchFamily="34" charset="0"/>
                <a:ea typeface="Roboto Mono" pitchFamily="34" charset="-122"/>
                <a:cs typeface="Roboto Mono" pitchFamily="34" charset="-120"/>
              </a:rPr>
              <a:t>NO_OPENAPI_SERVICE_ERROR(12)</a:t>
            </a:r>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a:t>
            </a:r>
            <a:endParaRPr lang="en-US" sz="1800" dirty="0"/>
          </a:p>
        </p:txBody>
      </p:sp>
      <p:sp>
        <p:nvSpPr>
          <p:cNvPr id="15" name="Shape 13"/>
          <p:cNvSpPr/>
          <p:nvPr/>
        </p:nvSpPr>
        <p:spPr>
          <a:xfrm>
            <a:off x="1379220" y="4343400"/>
            <a:ext cx="7338060" cy="1376839"/>
          </a:xfrm>
          <a:prstGeom prst="rect">
            <a:avLst/>
          </a:prstGeom>
          <a:solidFill>
            <a:srgbClr val="FFF7ED"/>
          </a:solidFill>
          <a:ln w="7620">
            <a:solidFill>
              <a:srgbClr val="FED7AA"/>
            </a:solidFill>
            <a:prstDash val="solid"/>
          </a:ln>
        </p:spPr>
      </p:sp>
      <p:sp>
        <p:nvSpPr>
          <p:cNvPr id="16" name="Text 14"/>
          <p:cNvSpPr/>
          <p:nvPr/>
        </p:nvSpPr>
        <p:spPr>
          <a:xfrm>
            <a:off x="1596390" y="4522470"/>
            <a:ext cx="7123862" cy="1056799"/>
          </a:xfrm>
          <a:prstGeom prst="rect">
            <a:avLst/>
          </a:prstGeom>
          <a:noFill/>
          <a:ln/>
        </p:spPr>
        <p:txBody>
          <a:bodyPr wrap="square" lIns="25400" tIns="25400" rIns="25400" bIns="25400" rtlCol="0" anchor="t">
            <a:normAutofit/>
          </a:bodyPr>
          <a:lstStyle/>
          <a:p>
            <a:pPr algn="l" indent="0" marL="0">
              <a:lnSpc>
                <a:spcPct val="135038"/>
              </a:lnSpc>
              <a:buNone/>
            </a:pPr>
            <a:r>
              <a:rPr lang="en-US" sz="1725" b="1" dirty="0">
                <a:solidFill>
                  <a:srgbClr val="7C2D12"/>
                </a:solidFill>
                <a:latin typeface="Arial" pitchFamily="34" charset="0"/>
                <a:ea typeface="Arial" pitchFamily="34" charset="-122"/>
                <a:cs typeface="Arial" pitchFamily="34" charset="-120"/>
              </a:rPr>
              <a:t>호스트를 잘못 짚어 "키 미등록"으로 오판했다. </a:t>
            </a:r>
            <a:pPr algn="l" indent="0" marL="0">
              <a:lnSpc>
                <a:spcPct val="135038"/>
              </a:lnSpc>
              <a:buNone/>
            </a:pPr>
            <a:r>
              <a:rPr lang="en-US" sz="1575" dirty="0">
                <a:solidFill>
                  <a:srgbClr val="7C2D12"/>
                </a:solidFill>
                <a:latin typeface="Roboto Mono" pitchFamily="34" charset="0"/>
                <a:ea typeface="Roboto Mono" pitchFamily="34" charset="-122"/>
                <a:cs typeface="Roboto Mono" pitchFamily="34" charset="-120"/>
              </a:rPr>
              <a:t>openapi.airport.co.kr </a:t>
            </a:r>
            <a:pPr algn="l" indent="0" marL="0">
              <a:lnSpc>
                <a:spcPct val="135038"/>
              </a:lnSpc>
              <a:buNone/>
            </a:pPr>
            <a:r>
              <a:rPr lang="en-US" sz="1725" dirty="0">
                <a:solidFill>
                  <a:srgbClr val="7C2D12"/>
                </a:solidFill>
                <a:highlight>
                  <a:srgbClr val="FFF7ED"/>
                </a:highlight>
                <a:latin typeface="Arial" pitchFamily="34" charset="0"/>
                <a:ea typeface="Arial" pitchFamily="34" charset="-122"/>
                <a:cs typeface="Arial" pitchFamily="34" charset="-120"/>
              </a:rPr>
              <a:t>은 실재하는 </a:t>
            </a:r>
            <a:pPr algn="l" indent="0" marL="0">
              <a:lnSpc>
                <a:spcPct val="135038"/>
              </a:lnSpc>
              <a:buNone/>
            </a:pPr>
            <a:r>
              <a:rPr lang="en-US" sz="1725" b="1" dirty="0">
                <a:solidFill>
                  <a:srgbClr val="7C2D12"/>
                </a:solidFill>
                <a:latin typeface="Arial" pitchFamily="34" charset="0"/>
                <a:ea typeface="Arial" pitchFamily="34" charset="-122"/>
                <a:cs typeface="Arial" pitchFamily="34" charset="-120"/>
              </a:rPr>
              <a:t>다른 </a:t>
            </a:r>
            <a:pPr algn="l" indent="0" marL="0">
              <a:lnSpc>
                <a:spcPct val="135038"/>
              </a:lnSpc>
              <a:buNone/>
            </a:pPr>
            <a:r>
              <a:rPr lang="en-US" sz="1725" dirty="0">
                <a:solidFill>
                  <a:srgbClr val="7C2D12"/>
                </a:solidFill>
                <a:highlight>
                  <a:srgbClr val="FFF7ED"/>
                </a:highlight>
                <a:latin typeface="Arial" pitchFamily="34" charset="0"/>
                <a:ea typeface="Arial" pitchFamily="34" charset="-122"/>
                <a:cs typeface="Arial" pitchFamily="34" charset="-120"/>
              </a:rPr>
              <a:t>게이트웨이라, 경로가 틀리면 다른 오류를 준다 → "경로는 맞고 키만 없다"고 결론지었다.</a:t>
            </a:r>
            <a:endParaRPr lang="en-US" sz="1725" dirty="0"/>
          </a:p>
        </p:txBody>
      </p:sp>
      <p:sp>
        <p:nvSpPr>
          <p:cNvPr id="17" name="Shape 15"/>
          <p:cNvSpPr/>
          <p:nvPr/>
        </p:nvSpPr>
        <p:spPr>
          <a:xfrm>
            <a:off x="1047750" y="6146959"/>
            <a:ext cx="7962900" cy="4048601"/>
          </a:xfrm>
          <a:prstGeom prst="rect">
            <a:avLst/>
          </a:prstGeom>
          <a:solidFill>
            <a:srgbClr val="FFFFFF"/>
          </a:solidFill>
          <a:ln/>
        </p:spPr>
      </p:sp>
      <p:sp>
        <p:nvSpPr>
          <p:cNvPr id="18" name="Shape 16"/>
          <p:cNvSpPr/>
          <p:nvPr/>
        </p:nvSpPr>
        <p:spPr>
          <a:xfrm>
            <a:off x="1047750" y="10187941"/>
            <a:ext cx="7962900" cy="9525"/>
          </a:xfrm>
          <a:prstGeom prst="rect">
            <a:avLst/>
          </a:prstGeom>
          <a:solidFill>
            <a:srgbClr val="DFE1E6"/>
          </a:solidFill>
          <a:ln/>
        </p:spPr>
      </p:sp>
      <p:sp>
        <p:nvSpPr>
          <p:cNvPr id="19" name="Shape 17"/>
          <p:cNvSpPr/>
          <p:nvPr/>
        </p:nvSpPr>
        <p:spPr>
          <a:xfrm>
            <a:off x="1047750" y="6146959"/>
            <a:ext cx="7962900" cy="9525"/>
          </a:xfrm>
          <a:prstGeom prst="rect">
            <a:avLst/>
          </a:prstGeom>
          <a:solidFill>
            <a:srgbClr val="DFE1E6"/>
          </a:solidFill>
          <a:ln/>
        </p:spPr>
      </p:sp>
      <p:sp>
        <p:nvSpPr>
          <p:cNvPr id="20" name="Shape 18"/>
          <p:cNvSpPr/>
          <p:nvPr/>
        </p:nvSpPr>
        <p:spPr>
          <a:xfrm>
            <a:off x="1047750" y="6146959"/>
            <a:ext cx="45720" cy="4048601"/>
          </a:xfrm>
          <a:prstGeom prst="rect">
            <a:avLst/>
          </a:prstGeom>
          <a:solidFill>
            <a:srgbClr val="4F7CFF"/>
          </a:solidFill>
          <a:ln/>
        </p:spPr>
      </p:sp>
      <p:sp>
        <p:nvSpPr>
          <p:cNvPr id="21" name="Shape 19"/>
          <p:cNvSpPr/>
          <p:nvPr/>
        </p:nvSpPr>
        <p:spPr>
          <a:xfrm>
            <a:off x="9003030" y="6146959"/>
            <a:ext cx="9525" cy="4048601"/>
          </a:xfrm>
          <a:prstGeom prst="rect">
            <a:avLst/>
          </a:prstGeom>
          <a:solidFill>
            <a:srgbClr val="DFE1E6"/>
          </a:solidFill>
          <a:ln/>
        </p:spPr>
      </p:sp>
      <p:sp>
        <p:nvSpPr>
          <p:cNvPr id="22" name="Text 20"/>
          <p:cNvSpPr/>
          <p:nvPr/>
        </p:nvSpPr>
        <p:spPr>
          <a:xfrm>
            <a:off x="1379220" y="6402229"/>
            <a:ext cx="8071866"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같은 서비스인데 오퍼레이션마다 규칙이 다르다</a:t>
            </a:r>
            <a:endParaRPr lang="en-US" sz="2100" dirty="0"/>
          </a:p>
        </p:txBody>
      </p:sp>
      <p:sp>
        <p:nvSpPr>
          <p:cNvPr id="23" name="Text 21"/>
          <p:cNvSpPr/>
          <p:nvPr/>
        </p:nvSpPr>
        <p:spPr>
          <a:xfrm>
            <a:off x="1379220" y="6905149"/>
            <a:ext cx="1127998"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/info</a:t>
            </a:r>
            <a:endParaRPr lang="en-US" sz="1725" dirty="0"/>
          </a:p>
        </p:txBody>
      </p:sp>
      <p:sp>
        <p:nvSpPr>
          <p:cNvPr id="24" name="Text 22"/>
          <p:cNvSpPr/>
          <p:nvPr/>
        </p:nvSpPr>
        <p:spPr>
          <a:xfrm>
            <a:off x="2602468" y="6905149"/>
            <a:ext cx="6298257" cy="673418"/>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camelCase · </a:t>
            </a:r>
            <a:pPr algn="l" indent="0" marL="0">
              <a:lnSpc>
                <a:spcPct val="126326"/>
              </a:lnSpc>
              <a:buNone/>
            </a:pPr>
            <a:r>
              <a:rPr lang="en-US" sz="1725" b="1" dirty="0">
                <a:solidFill>
                  <a:srgbClr val="4A5058"/>
                </a:solidFill>
                <a:latin typeface="Arial" pitchFamily="34" charset="0"/>
                <a:ea typeface="Arial" pitchFamily="34" charset="-122"/>
                <a:cs typeface="Arial" pitchFamily="34" charset="-120"/>
              </a:rPr>
              <a:t>오늘 전용 </a:t>
            </a:r>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피드(searchday 무시) · </a:t>
            </a:r>
            <a:pPr algn="l" indent="0" marL="0">
              <a:lnSpc>
                <a:spcPct val="126326"/>
              </a:lnSpc>
              <a:buNone/>
            </a:pPr>
            <a:r>
              <a:rPr lang="en-US" sz="1725" b="1" dirty="0">
                <a:solidFill>
                  <a:srgbClr val="4A5058"/>
                </a:solidFill>
                <a:latin typeface="Arial" pitchFamily="34" charset="0"/>
                <a:ea typeface="Arial" pitchFamily="34" charset="-122"/>
                <a:cs typeface="Arial" pitchFamily="34" charset="-120"/>
              </a:rPr>
              <a:t>gate 를 주는 유일한 목록</a:t>
            </a:r>
            <a:endParaRPr lang="en-US" sz="1725" dirty="0"/>
          </a:p>
        </p:txBody>
      </p:sp>
      <p:sp>
        <p:nvSpPr>
          <p:cNvPr id="25" name="Text 23"/>
          <p:cNvSpPr/>
          <p:nvPr/>
        </p:nvSpPr>
        <p:spPr>
          <a:xfrm>
            <a:off x="1379220" y="7654766"/>
            <a:ext cx="1127998" cy="61722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/depart /arrival</a:t>
            </a:r>
            <a:endParaRPr lang="en-US" sz="1725" dirty="0"/>
          </a:p>
        </p:txBody>
      </p:sp>
      <p:sp>
        <p:nvSpPr>
          <p:cNvPr id="26" name="Text 24"/>
          <p:cNvSpPr/>
          <p:nvPr/>
        </p:nvSpPr>
        <p:spPr>
          <a:xfrm>
            <a:off x="2602468" y="7654766"/>
            <a:ext cx="6298257" cy="673418"/>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snake_case · D-3~D+6 · 코드셰어 정보 있음 · </a:t>
            </a:r>
            <a:pPr algn="l" indent="0" marL="0">
              <a:lnSpc>
                <a:spcPct val="126326"/>
              </a:lnSpc>
              <a:buNone/>
            </a:pPr>
            <a:r>
              <a:rPr lang="en-US" sz="1725" b="1" dirty="0">
                <a:solidFill>
                  <a:srgbClr val="4A5058"/>
                </a:solidFill>
                <a:latin typeface="Arial" pitchFamily="34" charset="0"/>
                <a:ea typeface="Arial" pitchFamily="34" charset="-122"/>
                <a:cs typeface="Arial" pitchFamily="34" charset="-120"/>
              </a:rPr>
              <a:t>gate 필드 없음 </a:t>
            </a:r>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필드명도 갈린다: </a:t>
            </a:r>
            <a:pPr algn="l" indent="0" marL="0">
              <a:lnSpc>
                <a:spcPct val="126326"/>
              </a:lnSpc>
              <a:buNone/>
            </a:pPr>
            <a:r>
              <a:rPr lang="en-US" sz="1575" dirty="0">
                <a:solidFill>
                  <a:srgbClr val="4A5058"/>
                </a:solidFill>
                <a:latin typeface="Roboto Mono" pitchFamily="34" charset="0"/>
                <a:ea typeface="Roboto Mono" pitchFamily="34" charset="-122"/>
                <a:cs typeface="Roboto Mono" pitchFamily="34" charset="-120"/>
              </a:rPr>
              <a:t>arrvAirportCode </a:t>
            </a:r>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vs </a:t>
            </a:r>
            <a:pPr algn="l" indent="0" marL="0">
              <a:lnSpc>
                <a:spcPct val="126326"/>
              </a:lnSpc>
              <a:buNone/>
            </a:pPr>
            <a:r>
              <a:rPr lang="en-US" sz="1575" dirty="0">
                <a:solidFill>
                  <a:srgbClr val="4A5058"/>
                </a:solidFill>
                <a:latin typeface="Roboto Mono" pitchFamily="34" charset="0"/>
                <a:ea typeface="Roboto Mono" pitchFamily="34" charset="-122"/>
                <a:cs typeface="Roboto Mono" pitchFamily="34" charset="-120"/>
              </a:rPr>
              <a:t>arrAirportCode</a:t>
            </a:r>
            <a:endParaRPr lang="en-US" sz="1725" dirty="0"/>
          </a:p>
        </p:txBody>
      </p:sp>
      <p:sp>
        <p:nvSpPr>
          <p:cNvPr id="27" name="Text 25"/>
          <p:cNvSpPr/>
          <p:nvPr/>
        </p:nvSpPr>
        <p:spPr>
          <a:xfrm>
            <a:off x="1379220" y="8404384"/>
            <a:ext cx="1127998"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/detail</a:t>
            </a:r>
            <a:endParaRPr lang="en-US" sz="1725" dirty="0"/>
          </a:p>
        </p:txBody>
      </p:sp>
      <p:sp>
        <p:nvSpPr>
          <p:cNvPr id="28" name="Text 26"/>
          <p:cNvSpPr/>
          <p:nvPr/>
        </p:nvSpPr>
        <p:spPr>
          <a:xfrm>
            <a:off x="2602468" y="8404384"/>
            <a:ext cx="6298257" cy="673418"/>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필터 파라미터 </a:t>
            </a:r>
            <a:pPr algn="l" indent="0" marL="0">
              <a:lnSpc>
                <a:spcPct val="126326"/>
              </a:lnSpc>
              <a:buNone/>
            </a:pPr>
            <a:r>
              <a:rPr lang="en-US" sz="1725" b="1" dirty="0">
                <a:solidFill>
                  <a:srgbClr val="4A5058"/>
                </a:solidFill>
                <a:latin typeface="Arial" pitchFamily="34" charset="0"/>
                <a:ea typeface="Arial" pitchFamily="34" charset="-122"/>
                <a:cs typeface="Arial" pitchFamily="34" charset="-120"/>
              </a:rPr>
              <a:t>없음 </a:t>
            </a:r>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 4,778건 48페이지 통째로 · </a:t>
            </a:r>
            <a:pPr algn="l" indent="0" marL="0">
              <a:lnSpc>
                <a:spcPct val="126326"/>
              </a:lnSpc>
              <a:buNone/>
            </a:pPr>
            <a:r>
              <a:rPr lang="en-US" sz="1575" dirty="0">
                <a:solidFill>
                  <a:srgbClr val="4A5058"/>
                </a:solidFill>
                <a:latin typeface="Roboto Mono" pitchFamily="34" charset="0"/>
                <a:ea typeface="Roboto Mono" pitchFamily="34" charset="-122"/>
                <a:cs typeface="Roboto Mono" pitchFamily="34" charset="-120"/>
              </a:rPr>
              <a:t>BAGGAGE_CLAIM </a:t>
            </a:r>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을 주는 유일한 곳</a:t>
            </a:r>
            <a:endParaRPr lang="en-US" sz="1725" dirty="0"/>
          </a:p>
        </p:txBody>
      </p:sp>
      <p:sp>
        <p:nvSpPr>
          <p:cNvPr id="29" name="Text 27"/>
          <p:cNvSpPr/>
          <p:nvPr/>
        </p:nvSpPr>
        <p:spPr>
          <a:xfrm>
            <a:off x="1379220" y="9600724"/>
            <a:ext cx="8071866" cy="377666"/>
          </a:xfrm>
          <a:prstGeom prst="rect">
            <a:avLst/>
          </a:prstGeom>
          <a:noFill/>
          <a:ln/>
        </p:spPr>
        <p:txBody>
          <a:bodyPr wrap="square" lIns="25400" tIns="25400" rIns="25400" bIns="25400" rtlCol="0" anchor="t">
            <a:normAutofit/>
          </a:bodyPr>
          <a:lstStyle/>
          <a:p>
            <a:pPr algn="l" indent="0" marL="0">
              <a:lnSpc>
                <a:spcPct val="135038"/>
              </a:lnSpc>
              <a:buNone/>
            </a:pPr>
            <a:r>
              <a:rPr lang="en-US" sz="1575" dirty="0">
                <a:solidFill>
                  <a:srgbClr val="6B7280"/>
                </a:solidFill>
                <a:latin typeface="Roboto Mono" pitchFamily="34" charset="0"/>
                <a:ea typeface="Roboto Mono" pitchFamily="34" charset="-122"/>
                <a:cs typeface="Roboto Mono" pitchFamily="34" charset="-120"/>
              </a:rPr>
              <a:t>numOfRows </a:t>
            </a:r>
            <a:pPr algn="l" indent="0" marL="0">
              <a:lnSpc>
                <a:spcPct val="135038"/>
              </a:lnSpc>
              <a:buNone/>
            </a:pPr>
            <a:r>
              <a:rPr lang="en-US" sz="1725" dirty="0">
                <a:solidFill>
                  <a:srgbClr val="6B7280"/>
                </a:solidFill>
                <a:latin typeface="Arial" pitchFamily="34" charset="0"/>
                <a:ea typeface="Arial" pitchFamily="34" charset="-122"/>
                <a:cs typeface="Arial" pitchFamily="34" charset="-120"/>
              </a:rPr>
              <a:t>상한은 100 이고 200 이상은 </a:t>
            </a:r>
            <a:pPr algn="l" indent="0" marL="0">
              <a:lnSpc>
                <a:spcPct val="135038"/>
              </a:lnSpc>
              <a:buNone/>
            </a:pPr>
            <a:r>
              <a:rPr lang="en-US" sz="1575" dirty="0">
                <a:solidFill>
                  <a:srgbClr val="6B7280"/>
                </a:solidFill>
                <a:latin typeface="Roboto Mono" pitchFamily="34" charset="0"/>
                <a:ea typeface="Roboto Mono" pitchFamily="34" charset="-122"/>
                <a:cs typeface="Roboto Mono" pitchFamily="34" charset="-120"/>
              </a:rPr>
              <a:t>HTTP_ERROR(04)</a:t>
            </a:r>
            <a:pPr algn="l" indent="0" marL="0">
              <a:lnSpc>
                <a:spcPct val="135038"/>
              </a:lnSpc>
              <a:buNone/>
            </a:pPr>
            <a:r>
              <a:rPr lang="en-US" sz="1725" dirty="0">
                <a:solidFill>
                  <a:srgbClr val="6B7280"/>
                </a:solidFill>
                <a:latin typeface="Arial" pitchFamily="34" charset="0"/>
                <a:ea typeface="Arial" pitchFamily="34" charset="-122"/>
                <a:cs typeface="Arial" pitchFamily="34" charset="-120"/>
              </a:rPr>
              <a:t>.</a:t>
            </a:r>
            <a:endParaRPr lang="en-US" sz="1725" dirty="0"/>
          </a:p>
        </p:txBody>
      </p:sp>
      <p:sp>
        <p:nvSpPr>
          <p:cNvPr id="30" name="Shape 28"/>
          <p:cNvSpPr/>
          <p:nvPr/>
        </p:nvSpPr>
        <p:spPr>
          <a:xfrm>
            <a:off x="9277350" y="2350770"/>
            <a:ext cx="7962900" cy="3653790"/>
          </a:xfrm>
          <a:prstGeom prst="rect">
            <a:avLst/>
          </a:prstGeom>
          <a:solidFill>
            <a:srgbClr val="16181D"/>
          </a:solidFill>
          <a:ln/>
        </p:spPr>
      </p:sp>
      <p:sp>
        <p:nvSpPr>
          <p:cNvPr id="31" name="Text 29"/>
          <p:cNvSpPr/>
          <p:nvPr/>
        </p:nvSpPr>
        <p:spPr>
          <a:xfrm>
            <a:off x="9563100" y="2598420"/>
            <a:ext cx="8130540" cy="304800"/>
          </a:xfrm>
          <a:prstGeom prst="rect">
            <a:avLst/>
          </a:prstGeom>
          <a:noFill/>
          <a:ln/>
        </p:spPr>
        <p:txBody>
          <a:bodyPr wrap="square" lIns="25400" tIns="25400" rIns="25400" bIns="25400" rtlCol="0" anchor="t">
            <a:normAutofit/>
          </a:bodyPr>
          <a:lstStyle/>
          <a:p>
            <a:pPr algn="l" indent="0" marL="0">
              <a:buNone/>
            </a:pPr>
            <a:r>
              <a:rPr lang="en-US" sz="1575" dirty="0">
                <a:solidFill>
                  <a:srgbClr val="9DB4FF"/>
                </a:solidFill>
                <a:latin typeface="Roboto Mono" pitchFamily="34" charset="0"/>
                <a:ea typeface="Roboto Mono" pitchFamily="34" charset="-122"/>
                <a:cs typeface="Roboto Mono" pitchFamily="34" charset="-120"/>
              </a:rPr>
              <a:t>코드셰어 플래그를 그대로 믿으면 운항편이 사라진다</a:t>
            </a:r>
            <a:endParaRPr lang="en-US" sz="1575" dirty="0"/>
          </a:p>
        </p:txBody>
      </p:sp>
      <p:sp>
        <p:nvSpPr>
          <p:cNvPr id="32" name="Text 30"/>
          <p:cNvSpPr/>
          <p:nvPr/>
        </p:nvSpPr>
        <p:spPr>
          <a:xfrm>
            <a:off x="9563100" y="2998470"/>
            <a:ext cx="7613142" cy="800100"/>
          </a:xfrm>
          <a:prstGeom prst="rect">
            <a:avLst/>
          </a:prstGeom>
          <a:noFill/>
          <a:ln/>
        </p:spPr>
        <p:txBody>
          <a:bodyPr wrap="square" lIns="25400" tIns="25400" rIns="25400" bIns="25400" rtlCol="0" anchor="t">
            <a:normAutofit/>
          </a:bodyPr>
          <a:lstStyle/>
          <a:p>
            <a:pPr algn="l" indent="0" marL="0">
              <a:lnSpc>
                <a:spcPct val="122500"/>
              </a:lnSpc>
              <a:buNone/>
            </a:pPr>
            <a:r>
              <a:rPr lang="en-US" sz="1950" b="1" dirty="0">
                <a:solidFill>
                  <a:srgbClr val="9DB4FF"/>
                </a:solidFill>
                <a:latin typeface="Roboto Mono" pitchFamily="34" charset="0"/>
                <a:ea typeface="Roboto Mono" pitchFamily="34" charset="-122"/>
                <a:cs typeface="Roboto Mono" pitchFamily="34" charset="-120"/>
              </a:rPr>
              <a:t>codeshare=Y </a:t>
            </a:r>
            <a:pPr algn="l" indent="0" marL="0">
              <a:lnSpc>
                <a:spcPct val="122500"/>
              </a:lnSpc>
              <a:buNone/>
            </a:pPr>
            <a:r>
              <a:rPr lang="en-US" sz="2100" b="1" dirty="0">
                <a:solidFill>
                  <a:srgbClr val="FBFBFA"/>
                </a:solidFill>
                <a:latin typeface="Arial" pitchFamily="34" charset="0"/>
                <a:ea typeface="Arial" pitchFamily="34" charset="-122"/>
                <a:cs typeface="Arial" pitchFamily="34" charset="-120"/>
              </a:rPr>
              <a:t>는 "코드셰어에 엮여 있다"는 뜻이지 "중복"이라는 뜻이 아니다</a:t>
            </a:r>
            <a:endParaRPr lang="en-US" sz="2100" dirty="0"/>
          </a:p>
        </p:txBody>
      </p:sp>
      <p:sp>
        <p:nvSpPr>
          <p:cNvPr id="33" name="Text 31"/>
          <p:cNvSpPr/>
          <p:nvPr/>
        </p:nvSpPr>
        <p:spPr>
          <a:xfrm>
            <a:off x="9563100" y="3893820"/>
            <a:ext cx="7613142" cy="113538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김포 하루치 Y 75건 중 </a:t>
            </a:r>
            <a:pPr algn="l" indent="0" marL="0">
              <a:lnSpc>
                <a:spcPct val="141176"/>
              </a:lnSpc>
              <a:buNone/>
            </a:pPr>
            <a:r>
              <a:rPr lang="en-US" sz="1800" b="1" dirty="0">
                <a:solidFill>
                  <a:srgbClr val="FFFFFF"/>
                </a:solidFill>
                <a:latin typeface="Arial" pitchFamily="34" charset="0"/>
                <a:ea typeface="Arial" pitchFamily="34" charset="-122"/>
                <a:cs typeface="Arial" pitchFamily="34" charset="-120"/>
              </a:rPr>
              <a:t>36건이 masterflightid 가 자기 자신 </a:t>
            </a:r>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이었다 (BX8025 → BX8025, 에어부산이 실제 운항). Y 를 중복으로 보고 지우면 그 36편이 목록에서 사라진다.</a:t>
            </a:r>
            <a:endParaRPr lang="en-US" sz="1800" dirty="0"/>
          </a:p>
        </p:txBody>
      </p:sp>
      <p:sp>
        <p:nvSpPr>
          <p:cNvPr id="34" name="Shape 32"/>
          <p:cNvSpPr/>
          <p:nvPr/>
        </p:nvSpPr>
        <p:spPr>
          <a:xfrm>
            <a:off x="9563100" y="5124450"/>
            <a:ext cx="7391400" cy="632460"/>
          </a:xfrm>
          <a:prstGeom prst="rect">
            <a:avLst/>
          </a:prstGeom>
          <a:solidFill>
            <a:srgbClr val="0E1013"/>
          </a:solidFill>
          <a:ln w="7620">
            <a:solidFill>
              <a:srgbClr val="2C313A"/>
            </a:solidFill>
            <a:prstDash val="solid"/>
          </a:ln>
        </p:spPr>
      </p:sp>
      <p:sp>
        <p:nvSpPr>
          <p:cNvPr id="35" name="Text 33"/>
          <p:cNvSpPr/>
          <p:nvPr/>
        </p:nvSpPr>
        <p:spPr>
          <a:xfrm>
            <a:off x="9780270" y="5303520"/>
            <a:ext cx="7178802"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DE80"/>
                </a:solidFill>
                <a:latin typeface="Roboto Mono" pitchFamily="34" charset="0"/>
                <a:ea typeface="Roboto Mono" pitchFamily="34" charset="-122"/>
                <a:cs typeface="Roboto Mono" pitchFamily="34" charset="-120"/>
              </a:rPr>
              <a:t>판정 기준: masterflightid == flightid</a:t>
            </a:r>
            <a:endParaRPr lang="en-US" sz="1650" dirty="0"/>
          </a:p>
        </p:txBody>
      </p:sp>
      <p:sp>
        <p:nvSpPr>
          <p:cNvPr id="36" name="Shape 34"/>
          <p:cNvSpPr/>
          <p:nvPr/>
        </p:nvSpPr>
        <p:spPr>
          <a:xfrm>
            <a:off x="9277350" y="6176010"/>
            <a:ext cx="7962900" cy="4019550"/>
          </a:xfrm>
          <a:prstGeom prst="rect">
            <a:avLst/>
          </a:prstGeom>
          <a:solidFill>
            <a:srgbClr val="FFFFFF"/>
          </a:solidFill>
          <a:ln/>
        </p:spPr>
      </p:sp>
      <p:sp>
        <p:nvSpPr>
          <p:cNvPr id="37" name="Shape 35"/>
          <p:cNvSpPr/>
          <p:nvPr/>
        </p:nvSpPr>
        <p:spPr>
          <a:xfrm>
            <a:off x="9277350" y="10187940"/>
            <a:ext cx="7962900" cy="9525"/>
          </a:xfrm>
          <a:prstGeom prst="rect">
            <a:avLst/>
          </a:prstGeom>
          <a:solidFill>
            <a:srgbClr val="DFE1E6"/>
          </a:solidFill>
          <a:ln/>
        </p:spPr>
      </p:sp>
      <p:sp>
        <p:nvSpPr>
          <p:cNvPr id="38" name="Shape 36"/>
          <p:cNvSpPr/>
          <p:nvPr/>
        </p:nvSpPr>
        <p:spPr>
          <a:xfrm>
            <a:off x="9277350" y="6176010"/>
            <a:ext cx="7962900" cy="9525"/>
          </a:xfrm>
          <a:prstGeom prst="rect">
            <a:avLst/>
          </a:prstGeom>
          <a:solidFill>
            <a:srgbClr val="DFE1E6"/>
          </a:solidFill>
          <a:ln/>
        </p:spPr>
      </p:sp>
      <p:sp>
        <p:nvSpPr>
          <p:cNvPr id="39" name="Shape 37"/>
          <p:cNvSpPr/>
          <p:nvPr/>
        </p:nvSpPr>
        <p:spPr>
          <a:xfrm>
            <a:off x="9277350" y="6176010"/>
            <a:ext cx="45720" cy="4019550"/>
          </a:xfrm>
          <a:prstGeom prst="rect">
            <a:avLst/>
          </a:prstGeom>
          <a:solidFill>
            <a:srgbClr val="B45309"/>
          </a:solidFill>
          <a:ln/>
        </p:spPr>
      </p:sp>
      <p:sp>
        <p:nvSpPr>
          <p:cNvPr id="40" name="Shape 38"/>
          <p:cNvSpPr/>
          <p:nvPr/>
        </p:nvSpPr>
        <p:spPr>
          <a:xfrm>
            <a:off x="17232630" y="6176010"/>
            <a:ext cx="9525" cy="4019550"/>
          </a:xfrm>
          <a:prstGeom prst="rect">
            <a:avLst/>
          </a:prstGeom>
          <a:solidFill>
            <a:srgbClr val="DFE1E6"/>
          </a:solidFill>
          <a:ln/>
        </p:spPr>
      </p:sp>
      <p:sp>
        <p:nvSpPr>
          <p:cNvPr id="41" name="Text 39"/>
          <p:cNvSpPr/>
          <p:nvPr/>
        </p:nvSpPr>
        <p:spPr>
          <a:xfrm>
            <a:off x="9608820" y="6431280"/>
            <a:ext cx="8071866"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운임은 생각보다 비어 있다 — 975편 전수 조사</a:t>
            </a:r>
            <a:endParaRPr lang="en-US" sz="2100" dirty="0"/>
          </a:p>
        </p:txBody>
      </p:sp>
      <p:sp>
        <p:nvSpPr>
          <p:cNvPr id="42" name="Text 40"/>
          <p:cNvSpPr/>
          <p:nvPr/>
        </p:nvSpPr>
        <p:spPr>
          <a:xfrm>
            <a:off x="9608820" y="6953250"/>
            <a:ext cx="2448723" cy="571500"/>
          </a:xfrm>
          <a:prstGeom prst="rect">
            <a:avLst/>
          </a:prstGeom>
          <a:noFill/>
          <a:ln/>
        </p:spPr>
        <p:txBody>
          <a:bodyPr wrap="square" lIns="25400" tIns="25400" rIns="25400" bIns="25400" rtlCol="0" anchor="t">
            <a:normAutofit/>
          </a:bodyPr>
          <a:lstStyle/>
          <a:p>
            <a:pPr algn="l" indent="0" marL="0">
              <a:lnSpc>
                <a:spcPct val="76087"/>
              </a:lnSpc>
              <a:buNone/>
            </a:pPr>
            <a:r>
              <a:rPr lang="en-US" sz="4200" b="1" dirty="0">
                <a:solidFill>
                  <a:srgbClr val="B45309"/>
                </a:solidFill>
                <a:latin typeface="Roboto Mono" pitchFamily="34" charset="0"/>
                <a:ea typeface="Roboto Mono" pitchFamily="34" charset="-122"/>
                <a:cs typeface="Roboto Mono" pitchFamily="34" charset="-120"/>
              </a:rPr>
              <a:t>22.8</a:t>
            </a:r>
            <a:pPr algn="l" indent="0" marL="0">
              <a:lnSpc>
                <a:spcPct val="76087"/>
              </a:lnSpc>
              <a:buNone/>
            </a:pPr>
            <a:r>
              <a:rPr lang="en-US" sz="2250" b="1" dirty="0">
                <a:solidFill>
                  <a:srgbClr val="B45309"/>
                </a:solidFill>
                <a:latin typeface="Roboto Mono" pitchFamily="34" charset="0"/>
                <a:ea typeface="Roboto Mono" pitchFamily="34" charset="-122"/>
                <a:cs typeface="Roboto Mono" pitchFamily="34" charset="-120"/>
              </a:rPr>
              <a:t>%</a:t>
            </a:r>
            <a:endParaRPr lang="en-US" sz="4200" dirty="0"/>
          </a:p>
        </p:txBody>
      </p:sp>
      <p:sp>
        <p:nvSpPr>
          <p:cNvPr id="43" name="Text 41"/>
          <p:cNvSpPr/>
          <p:nvPr/>
        </p:nvSpPr>
        <p:spPr>
          <a:xfrm>
            <a:off x="9608820" y="7562850"/>
            <a:ext cx="2448723" cy="350520"/>
          </a:xfrm>
          <a:prstGeom prst="rect">
            <a:avLst/>
          </a:prstGeom>
          <a:noFill/>
          <a:ln/>
        </p:spPr>
        <p:txBody>
          <a:bodyPr wrap="square" lIns="25400" tIns="25400" rIns="25400" bIns="25400" rtlCol="0" anchor="t">
            <a:normAutofit/>
          </a:bodyPr>
          <a:lstStyle/>
          <a:p>
            <a:pPr algn="l" indent="0" marL="0">
              <a:buNone/>
            </a:pPr>
            <a:r>
              <a:rPr lang="en-US" sz="1575" dirty="0">
                <a:solidFill>
                  <a:srgbClr val="6B7280"/>
                </a:solidFill>
                <a:latin typeface="Roboto Mono" pitchFamily="34" charset="0"/>
                <a:ea typeface="Roboto Mono" pitchFamily="34" charset="-122"/>
                <a:cs typeface="Roboto Mono" pitchFamily="34" charset="-120"/>
              </a:rPr>
              <a:t>economyCharge </a:t>
            </a:r>
            <a:pPr algn="l" indent="0" marL="0">
              <a:buNone/>
            </a:pPr>
            <a:r>
              <a:rPr lang="en-US" sz="1725" dirty="0">
                <a:solidFill>
                  <a:srgbClr val="6B7280"/>
                </a:solidFill>
                <a:latin typeface="Arial" pitchFamily="34" charset="0"/>
                <a:ea typeface="Arial" pitchFamily="34" charset="-122"/>
                <a:cs typeface="Arial" pitchFamily="34" charset="-120"/>
              </a:rPr>
              <a:t>보유율</a:t>
            </a:r>
            <a:endParaRPr lang="en-US" sz="1725" dirty="0"/>
          </a:p>
        </p:txBody>
      </p:sp>
      <p:sp>
        <p:nvSpPr>
          <p:cNvPr id="44" name="Text 42"/>
          <p:cNvSpPr/>
          <p:nvPr/>
        </p:nvSpPr>
        <p:spPr>
          <a:xfrm>
            <a:off x="12139732" y="6998970"/>
            <a:ext cx="2257377" cy="571500"/>
          </a:xfrm>
          <a:prstGeom prst="rect">
            <a:avLst/>
          </a:prstGeom>
          <a:noFill/>
          <a:ln/>
        </p:spPr>
        <p:txBody>
          <a:bodyPr wrap="square" lIns="25400" tIns="25400" rIns="25400" bIns="25400" rtlCol="0" anchor="t">
            <a:normAutofit/>
          </a:bodyPr>
          <a:lstStyle/>
          <a:p>
            <a:pPr algn="l" indent="0" marL="0">
              <a:lnSpc>
                <a:spcPct val="76087"/>
              </a:lnSpc>
              <a:buNone/>
            </a:pPr>
            <a:r>
              <a:rPr lang="en-US" sz="4200" b="1" dirty="0">
                <a:solidFill>
                  <a:srgbClr val="B45309"/>
                </a:solidFill>
                <a:latin typeface="Roboto Mono" pitchFamily="34" charset="0"/>
                <a:ea typeface="Roboto Mono" pitchFamily="34" charset="-122"/>
                <a:cs typeface="Roboto Mono" pitchFamily="34" charset="-120"/>
              </a:rPr>
              <a:t>93.3</a:t>
            </a:r>
            <a:pPr algn="l" indent="0" marL="0">
              <a:lnSpc>
                <a:spcPct val="76087"/>
              </a:lnSpc>
              <a:buNone/>
            </a:pPr>
            <a:r>
              <a:rPr lang="en-US" sz="2250" b="1" dirty="0">
                <a:solidFill>
                  <a:srgbClr val="B45309"/>
                </a:solidFill>
                <a:latin typeface="Roboto Mono" pitchFamily="34" charset="0"/>
                <a:ea typeface="Roboto Mono" pitchFamily="34" charset="-122"/>
                <a:cs typeface="Roboto Mono" pitchFamily="34" charset="-120"/>
              </a:rPr>
              <a:t>%</a:t>
            </a:r>
            <a:endParaRPr lang="en-US" sz="4200" dirty="0"/>
          </a:p>
        </p:txBody>
      </p:sp>
      <p:sp>
        <p:nvSpPr>
          <p:cNvPr id="45" name="Text 43"/>
          <p:cNvSpPr/>
          <p:nvPr/>
        </p:nvSpPr>
        <p:spPr>
          <a:xfrm>
            <a:off x="12139732" y="7608570"/>
            <a:ext cx="2257377" cy="304800"/>
          </a:xfrm>
          <a:prstGeom prst="rect">
            <a:avLst/>
          </a:prstGeom>
          <a:noFill/>
          <a:ln/>
        </p:spPr>
        <p:txBody>
          <a:bodyPr wrap="square" lIns="25400" tIns="25400" rIns="25400" bIns="25400" rtlCol="0" anchor="t">
            <a:normAutofit/>
          </a:bodyPr>
          <a:lstStyle/>
          <a:p>
            <a:pPr algn="l" indent="0" marL="0">
              <a:buNone/>
            </a:pPr>
            <a:r>
              <a:rPr lang="en-US" sz="1575" dirty="0">
                <a:solidFill>
                  <a:srgbClr val="6B7280"/>
                </a:solidFill>
                <a:latin typeface="Roboto Mono" pitchFamily="34" charset="0"/>
                <a:ea typeface="Roboto Mono" pitchFamily="34" charset="-122"/>
                <a:cs typeface="Roboto Mono" pitchFamily="34" charset="-120"/>
              </a:rPr>
              <a:t>prestigeCharge </a:t>
            </a:r>
            <a:pPr algn="l" indent="0" marL="0">
              <a:buNone/>
            </a:pPr>
            <a:r>
              <a:rPr lang="en-US" sz="1725" dirty="0">
                <a:solidFill>
                  <a:srgbClr val="6B7280"/>
                </a:solidFill>
                <a:latin typeface="Arial" pitchFamily="34" charset="0"/>
                <a:ea typeface="Arial" pitchFamily="34" charset="-122"/>
                <a:cs typeface="Arial" pitchFamily="34" charset="-120"/>
              </a:rPr>
              <a:t>= 0</a:t>
            </a:r>
            <a:endParaRPr lang="en-US" sz="1725" dirty="0"/>
          </a:p>
        </p:txBody>
      </p:sp>
      <p:sp>
        <p:nvSpPr>
          <p:cNvPr id="46" name="Text 44"/>
          <p:cNvSpPr/>
          <p:nvPr/>
        </p:nvSpPr>
        <p:spPr>
          <a:xfrm>
            <a:off x="9608820" y="8008620"/>
            <a:ext cx="7558202"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LCC 7사는 전부 0, 제주→김포는 111편 전부 0. </a:t>
            </a:r>
            <a:pPr algn="l" indent="0" marL="0">
              <a:lnSpc>
                <a:spcPct val="141176"/>
              </a:lnSpc>
              <a:buNone/>
            </a:pPr>
            <a:r>
              <a:rPr lang="en-US" sz="1650" dirty="0">
                <a:solidFill>
                  <a:srgbClr val="4A5058"/>
                </a:solidFill>
                <a:latin typeface="Roboto Mono" pitchFamily="34" charset="0"/>
                <a:ea typeface="Roboto Mono" pitchFamily="34" charset="-122"/>
                <a:cs typeface="Roboto Mono" pitchFamily="34" charset="-120"/>
              </a:rPr>
              <a:t>prestigeCharge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의 0 은 "0원"이 아니라 </a:t>
            </a:r>
            <a:pPr algn="l" indent="0" marL="0">
              <a:lnSpc>
                <a:spcPct val="141176"/>
              </a:lnSpc>
              <a:buNone/>
            </a:pPr>
            <a:r>
              <a:rPr lang="en-US" sz="1800" b="1" dirty="0">
                <a:solidFill>
                  <a:srgbClr val="4A5058"/>
                </a:solidFill>
                <a:latin typeface="Arial" pitchFamily="34" charset="0"/>
                <a:ea typeface="Arial" pitchFamily="34" charset="-122"/>
                <a:cs typeface="Arial" pitchFamily="34" charset="-120"/>
              </a:rPr>
              <a:t>비즈니스석이 없다</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는 뜻이다.</a:t>
            </a:r>
            <a:endParaRPr lang="en-US" sz="1800" dirty="0"/>
          </a:p>
        </p:txBody>
      </p:sp>
      <p:sp>
        <p:nvSpPr>
          <p:cNvPr id="47" name="Shape 45"/>
          <p:cNvSpPr/>
          <p:nvPr/>
        </p:nvSpPr>
        <p:spPr>
          <a:xfrm>
            <a:off x="9608820" y="8873490"/>
            <a:ext cx="7338060" cy="1066800"/>
          </a:xfrm>
          <a:prstGeom prst="rect">
            <a:avLst/>
          </a:prstGeom>
          <a:solidFill>
            <a:srgbClr val="FFF7ED"/>
          </a:solidFill>
          <a:ln w="7620">
            <a:solidFill>
              <a:srgbClr val="FED7AA"/>
            </a:solidFill>
            <a:prstDash val="solid"/>
          </a:ln>
        </p:spPr>
      </p:sp>
      <p:sp>
        <p:nvSpPr>
          <p:cNvPr id="48" name="Text 46"/>
          <p:cNvSpPr/>
          <p:nvPr/>
        </p:nvSpPr>
        <p:spPr>
          <a:xfrm>
            <a:off x="9825990" y="9052560"/>
            <a:ext cx="7123862" cy="746760"/>
          </a:xfrm>
          <a:prstGeom prst="rect">
            <a:avLst/>
          </a:prstGeom>
          <a:noFill/>
          <a:ln/>
        </p:spPr>
        <p:txBody>
          <a:bodyPr wrap="square" lIns="25400" tIns="25400" rIns="25400" bIns="25400" rtlCol="0" anchor="t">
            <a:normAutofit/>
          </a:bodyPr>
          <a:lstStyle/>
          <a:p>
            <a:pPr algn="l" indent="0" marL="0">
              <a:lnSpc>
                <a:spcPct val="136765"/>
              </a:lnSpc>
              <a:buNone/>
            </a:pPr>
            <a:r>
              <a:rPr lang="en-US" sz="1800" b="1" dirty="0">
                <a:solidFill>
                  <a:srgbClr val="7C2D12"/>
                </a:solidFill>
                <a:latin typeface="Arial" pitchFamily="34" charset="0"/>
                <a:ea typeface="Arial" pitchFamily="34" charset="-122"/>
                <a:cs typeface="Arial" pitchFamily="34" charset="-120"/>
              </a:rPr>
              <a:t>0 을 요금으로 안내하면 안 된다. </a:t>
            </a:r>
            <a:pPr algn="l" indent="0" marL="0">
              <a:lnSpc>
                <a:spcPct val="136765"/>
              </a:lnSpc>
              <a:buNone/>
            </a:pPr>
            <a:r>
              <a:rPr lang="en-US" sz="1800" dirty="0">
                <a:solidFill>
                  <a:srgbClr val="7C2D12"/>
                </a:solidFill>
                <a:highlight>
                  <a:srgbClr val="FFF7ED"/>
                </a:highlight>
                <a:latin typeface="Arial" pitchFamily="34" charset="0"/>
                <a:ea typeface="Arial" pitchFamily="34" charset="-122"/>
                <a:cs typeface="Arial" pitchFamily="34" charset="-120"/>
              </a:rPr>
              <a:t>있는 편에만 표시하고 </a:t>
            </a:r>
            <a:pPr algn="l" indent="0" marL="0">
              <a:lnSpc>
                <a:spcPct val="136765"/>
              </a:lnSpc>
              <a:buNone/>
            </a:pPr>
            <a:r>
              <a:rPr lang="en-US" sz="1575" dirty="0">
                <a:solidFill>
                  <a:srgbClr val="7C2D12"/>
                </a:solidFill>
                <a:latin typeface="Roboto Mono" pitchFamily="34" charset="0"/>
                <a:ea typeface="Roboto Mono" pitchFamily="34" charset="-122"/>
                <a:cs typeface="Roboto Mono" pitchFamily="34" charset="-120"/>
              </a:rPr>
              <a:t>fare_coverage_note </a:t>
            </a:r>
            <a:pPr algn="l" indent="0" marL="0">
              <a:lnSpc>
                <a:spcPct val="136765"/>
              </a:lnSpc>
              <a:buNone/>
            </a:pPr>
            <a:r>
              <a:rPr lang="en-US" sz="1800" dirty="0">
                <a:solidFill>
                  <a:srgbClr val="7C2D12"/>
                </a:solidFill>
                <a:highlight>
                  <a:srgbClr val="FFF7ED"/>
                </a:highlight>
                <a:latin typeface="Arial" pitchFamily="34" charset="0"/>
                <a:ea typeface="Arial" pitchFamily="34" charset="-122"/>
                <a:cs typeface="Arial" pitchFamily="34" charset="-120"/>
              </a:rPr>
              <a:t>로 그 사실을 함께 알린다.</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952500" y="723900"/>
            <a:ext cx="10474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22 · CODE MAP</a:t>
            </a:r>
            <a:endParaRPr lang="en-US" sz="1800" dirty="0"/>
          </a:p>
        </p:txBody>
      </p:sp>
      <p:sp>
        <p:nvSpPr>
          <p:cNvPr id="3" name="Text 1"/>
          <p:cNvSpPr/>
          <p:nvPr/>
        </p:nvSpPr>
        <p:spPr>
          <a:xfrm>
            <a:off x="952500" y="1135380"/>
            <a:ext cx="10474750"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저장소 구조 — 무엇이 실제로 도는가</a:t>
            </a:r>
            <a:endParaRPr lang="en-US" sz="4950" dirty="0"/>
          </a:p>
        </p:txBody>
      </p:sp>
      <p:sp>
        <p:nvSpPr>
          <p:cNvPr id="4" name="Text 2"/>
          <p:cNvSpPr/>
          <p:nvPr/>
        </p:nvSpPr>
        <p:spPr>
          <a:xfrm>
            <a:off x="14356466" y="1407795"/>
            <a:ext cx="2979034" cy="695325"/>
          </a:xfrm>
          <a:prstGeom prst="rect">
            <a:avLst/>
          </a:prstGeom>
          <a:noFill/>
          <a:ln/>
        </p:spPr>
        <p:txBody>
          <a:bodyPr wrap="square" lIns="25400" tIns="25400" rIns="25400" bIns="25400" rtlCol="0" anchor="t">
            <a:normAutofit/>
          </a:bodyPr>
          <a:lstStyle/>
          <a:p>
            <a:pPr algn="r" indent="0" marL="0">
              <a:lnSpc>
                <a:spcPct val="113487"/>
              </a:lnSpc>
              <a:buNone/>
            </a:pPr>
            <a:r>
              <a:rPr lang="en-US" sz="1725" dirty="0">
                <a:solidFill>
                  <a:srgbClr val="8A9099"/>
                </a:solidFill>
                <a:latin typeface="Roboto Mono" pitchFamily="34" charset="0"/>
                <a:ea typeface="Roboto Mono" pitchFamily="34" charset="-122"/>
                <a:cs typeface="Roboto Mono" pitchFamily="34" charset="-120"/>
              </a:rPr>
              <a:t>71 files · Python 3.12 의존성 5개 (torch 없음)</a:t>
            </a:r>
            <a:endParaRPr lang="en-US" sz="1725" dirty="0"/>
          </a:p>
        </p:txBody>
      </p:sp>
      <p:sp>
        <p:nvSpPr>
          <p:cNvPr id="5" name="Shape 3"/>
          <p:cNvSpPr/>
          <p:nvPr/>
        </p:nvSpPr>
        <p:spPr>
          <a:xfrm>
            <a:off x="952500" y="2350770"/>
            <a:ext cx="8780264" cy="8647748"/>
          </a:xfrm>
          <a:prstGeom prst="rect">
            <a:avLst/>
          </a:prstGeom>
          <a:solidFill>
            <a:srgbClr val="16181D"/>
          </a:solidFill>
          <a:ln/>
        </p:spPr>
      </p:sp>
      <p:sp>
        <p:nvSpPr>
          <p:cNvPr id="6" name="Text 4"/>
          <p:cNvSpPr/>
          <p:nvPr/>
        </p:nvSpPr>
        <p:spPr>
          <a:xfrm>
            <a:off x="1276350" y="2636520"/>
            <a:ext cx="8376541" cy="378143"/>
          </a:xfrm>
          <a:prstGeom prst="rect">
            <a:avLst/>
          </a:prstGeom>
          <a:noFill/>
          <a:ln/>
        </p:spPr>
        <p:txBody>
          <a:bodyPr wrap="square" lIns="25400" tIns="25400" rIns="25400" bIns="25400" rtlCol="0" anchor="t">
            <a:normAutofit/>
          </a:bodyPr>
          <a:lstStyle/>
          <a:p>
            <a:pPr algn="l" indent="0" marL="0">
              <a:lnSpc>
                <a:spcPct val="127500"/>
              </a:lnSpc>
              <a:buNone/>
            </a:pPr>
            <a:r>
              <a:rPr lang="en-US" sz="1575" spc="126" kern="0" dirty="0">
                <a:solidFill>
                  <a:srgbClr val="9DB4FF"/>
                </a:solidFill>
                <a:latin typeface="Roboto Mono" pitchFamily="34" charset="0"/>
                <a:ea typeface="Roboto Mono" pitchFamily="34" charset="-122"/>
                <a:cs typeface="Roboto Mono" pitchFamily="34" charset="-120"/>
              </a:rPr>
              <a:t>gate/ — 파이프라인 본체</a:t>
            </a:r>
            <a:endParaRPr lang="en-US" sz="1575" dirty="0"/>
          </a:p>
        </p:txBody>
      </p:sp>
      <p:sp>
        <p:nvSpPr>
          <p:cNvPr id="7" name="Text 5"/>
          <p:cNvSpPr/>
          <p:nvPr/>
        </p:nvSpPr>
        <p:spPr>
          <a:xfrm>
            <a:off x="1276350" y="3148013"/>
            <a:ext cx="8376541" cy="410528"/>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4ADE80"/>
                </a:solidFill>
                <a:latin typeface="Roboto Mono" pitchFamily="34" charset="0"/>
                <a:ea typeface="Roboto Mono" pitchFamily="34" charset="-122"/>
                <a:cs typeface="Roboto Mono" pitchFamily="34" charset="-120"/>
              </a:rPr>
              <a:t>pipeline.py </a:t>
            </a:r>
            <a:pPr algn="l" indent="0" marL="0">
              <a:lnSpc>
                <a:spcPct val="128618"/>
              </a:lnSpc>
              <a:buNone/>
            </a:pPr>
            <a:r>
              <a:rPr lang="en-US" sz="1725" dirty="0">
                <a:solidFill>
                  <a:srgbClr val="9AA0A8"/>
                </a:solidFill>
                <a:latin typeface="Roboto Mono" pitchFamily="34" charset="0"/>
                <a:ea typeface="Roboto Mono" pitchFamily="34" charset="-122"/>
                <a:cs typeface="Roboto Mono" pitchFamily="34" charset="-120"/>
              </a:rPr>
              <a:t>①~⑧ 엔드투엔드, CLI(--text/--demo/--serve)</a:t>
            </a:r>
            <a:endParaRPr lang="en-US" sz="1725" dirty="0"/>
          </a:p>
        </p:txBody>
      </p:sp>
      <p:sp>
        <p:nvSpPr>
          <p:cNvPr id="8" name="Text 6"/>
          <p:cNvSpPr/>
          <p:nvPr/>
        </p:nvSpPr>
        <p:spPr>
          <a:xfrm>
            <a:off x="1276350" y="3577590"/>
            <a:ext cx="8376541" cy="410528"/>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4ADE80"/>
                </a:solidFill>
                <a:latin typeface="Roboto Mono" pitchFamily="34" charset="0"/>
                <a:ea typeface="Roboto Mono" pitchFamily="34" charset="-122"/>
                <a:cs typeface="Roboto Mono" pitchFamily="34" charset="-120"/>
              </a:rPr>
              <a:t>tools.py </a:t>
            </a:r>
            <a:pPr algn="l" indent="0" marL="0">
              <a:lnSpc>
                <a:spcPct val="128618"/>
              </a:lnSpc>
              <a:buNone/>
            </a:pPr>
            <a:r>
              <a:rPr lang="en-US" sz="1725" dirty="0">
                <a:solidFill>
                  <a:srgbClr val="9AA0A8"/>
                </a:solidFill>
                <a:latin typeface="Roboto Mono" pitchFamily="34" charset="0"/>
                <a:ea typeface="Roboto Mono" pitchFamily="34" charset="-122"/>
                <a:cs typeface="Roboto Mono" pitchFamily="34" charset="-120"/>
              </a:rPr>
              <a:t>의도→도구 매핑, TOOL_MAP, 원문 재검사</a:t>
            </a:r>
            <a:endParaRPr lang="en-US" sz="1725" dirty="0"/>
          </a:p>
        </p:txBody>
      </p:sp>
      <p:sp>
        <p:nvSpPr>
          <p:cNvPr id="9" name="Text 7"/>
          <p:cNvSpPr/>
          <p:nvPr/>
        </p:nvSpPr>
        <p:spPr>
          <a:xfrm>
            <a:off x="1276350" y="4159568"/>
            <a:ext cx="8376541" cy="410528"/>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9DB4FF"/>
                </a:solidFill>
                <a:latin typeface="Roboto Mono" pitchFamily="34" charset="0"/>
                <a:ea typeface="Roboto Mono" pitchFamily="34" charset="-122"/>
                <a:cs typeface="Roboto Mono" pitchFamily="34" charset="-120"/>
              </a:rPr>
              <a:t>korail_api.py </a:t>
            </a:r>
            <a:pPr algn="l" indent="0" marL="0">
              <a:lnSpc>
                <a:spcPct val="128618"/>
              </a:lnSpc>
              <a:buNone/>
            </a:pPr>
            <a:r>
              <a:rPr lang="en-US" sz="1725" dirty="0">
                <a:solidFill>
                  <a:srgbClr val="9AA0A8"/>
                </a:solidFill>
                <a:latin typeface="Roboto Mono" pitchFamily="34" charset="0"/>
                <a:ea typeface="Roboto Mono" pitchFamily="34" charset="-122"/>
                <a:cs typeface="Roboto Mono" pitchFamily="34" charset="-120"/>
              </a:rPr>
              <a:t>코레일 RunPlan2 / RunInfo2</a:t>
            </a:r>
            <a:endParaRPr lang="en-US" sz="1725" dirty="0"/>
          </a:p>
        </p:txBody>
      </p:sp>
      <p:sp>
        <p:nvSpPr>
          <p:cNvPr id="10" name="Text 8"/>
          <p:cNvSpPr/>
          <p:nvPr/>
        </p:nvSpPr>
        <p:spPr>
          <a:xfrm>
            <a:off x="1276350" y="4589145"/>
            <a:ext cx="8376541" cy="410528"/>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9DB4FF"/>
                </a:solidFill>
                <a:latin typeface="Roboto Mono" pitchFamily="34" charset="0"/>
                <a:ea typeface="Roboto Mono" pitchFamily="34" charset="-122"/>
                <a:cs typeface="Roboto Mono" pitchFamily="34" charset="-120"/>
              </a:rPr>
              <a:t>expbus_api.py </a:t>
            </a:r>
            <a:pPr algn="l" indent="0" marL="0">
              <a:lnSpc>
                <a:spcPct val="128618"/>
              </a:lnSpc>
              <a:buNone/>
            </a:pPr>
            <a:r>
              <a:rPr lang="en-US" sz="1725" dirty="0">
                <a:solidFill>
                  <a:srgbClr val="9AA0A8"/>
                </a:solidFill>
                <a:latin typeface="Roboto Mono" pitchFamily="34" charset="0"/>
                <a:ea typeface="Roboto Mono" pitchFamily="34" charset="-122"/>
                <a:cs typeface="Roboto Mono" pitchFamily="34" charset="-120"/>
              </a:rPr>
              <a:t>TAGO 고속버스</a:t>
            </a:r>
            <a:endParaRPr lang="en-US" sz="1725" dirty="0"/>
          </a:p>
        </p:txBody>
      </p:sp>
      <p:sp>
        <p:nvSpPr>
          <p:cNvPr id="11" name="Text 9"/>
          <p:cNvSpPr/>
          <p:nvPr/>
        </p:nvSpPr>
        <p:spPr>
          <a:xfrm>
            <a:off x="1276350" y="5018723"/>
            <a:ext cx="8376541" cy="410528"/>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9DB4FF"/>
                </a:solidFill>
                <a:latin typeface="Roboto Mono" pitchFamily="34" charset="0"/>
                <a:ea typeface="Roboto Mono" pitchFamily="34" charset="-122"/>
                <a:cs typeface="Roboto Mono" pitchFamily="34" charset="-120"/>
              </a:rPr>
              <a:t>flight_api.py </a:t>
            </a:r>
            <a:pPr algn="l" indent="0" marL="0">
              <a:lnSpc>
                <a:spcPct val="128618"/>
              </a:lnSpc>
              <a:buNone/>
            </a:pPr>
            <a:r>
              <a:rPr lang="en-US" sz="1725" dirty="0">
                <a:solidFill>
                  <a:srgbClr val="9AA0A8"/>
                </a:solidFill>
                <a:latin typeface="Roboto Mono" pitchFamily="34" charset="0"/>
                <a:ea typeface="Roboto Mono" pitchFamily="34" charset="-122"/>
                <a:cs typeface="Roboto Mono" pitchFamily="34" charset="-120"/>
              </a:rPr>
              <a:t>TAGO 국내항공 (시간표·운임)</a:t>
            </a:r>
            <a:endParaRPr lang="en-US" sz="1725" dirty="0"/>
          </a:p>
        </p:txBody>
      </p:sp>
      <p:sp>
        <p:nvSpPr>
          <p:cNvPr id="12" name="Text 10"/>
          <p:cNvSpPr/>
          <p:nvPr/>
        </p:nvSpPr>
        <p:spPr>
          <a:xfrm>
            <a:off x="1276350" y="5448300"/>
            <a:ext cx="8376541" cy="410528"/>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9DB4FF"/>
                </a:solidFill>
                <a:latin typeface="Roboto Mono" pitchFamily="34" charset="0"/>
                <a:ea typeface="Roboto Mono" pitchFamily="34" charset="-122"/>
                <a:cs typeface="Roboto Mono" pitchFamily="34" charset="-120"/>
              </a:rPr>
              <a:t>airport_status_api.py </a:t>
            </a:r>
            <a:pPr algn="l" indent="0" marL="0">
              <a:lnSpc>
                <a:spcPct val="128618"/>
              </a:lnSpc>
              <a:buNone/>
            </a:pPr>
            <a:r>
              <a:rPr lang="en-US" sz="1725" dirty="0">
                <a:solidFill>
                  <a:srgbClr val="9AA0A8"/>
                </a:solidFill>
                <a:latin typeface="Roboto Mono" pitchFamily="34" charset="0"/>
                <a:ea typeface="Roboto Mono" pitchFamily="34" charset="-122"/>
                <a:cs typeface="Roboto Mono" pitchFamily="34" charset="-120"/>
              </a:rPr>
              <a:t>인천공항공사 + 한국공항공사</a:t>
            </a:r>
            <a:endParaRPr lang="en-US" sz="1725" dirty="0"/>
          </a:p>
        </p:txBody>
      </p:sp>
      <p:sp>
        <p:nvSpPr>
          <p:cNvPr id="13" name="Text 11"/>
          <p:cNvSpPr/>
          <p:nvPr/>
        </p:nvSpPr>
        <p:spPr>
          <a:xfrm>
            <a:off x="1276350" y="5877878"/>
            <a:ext cx="8376541" cy="410528"/>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9DB4FF"/>
                </a:solidFill>
                <a:latin typeface="Roboto Mono" pitchFamily="34" charset="0"/>
                <a:ea typeface="Roboto Mono" pitchFamily="34" charset="-122"/>
                <a:cs typeface="Roboto Mono" pitchFamily="34" charset="-120"/>
              </a:rPr>
              <a:t>citydata_api.py </a:t>
            </a:r>
            <a:pPr algn="l" indent="0" marL="0">
              <a:lnSpc>
                <a:spcPct val="128618"/>
              </a:lnSpc>
              <a:buNone/>
            </a:pPr>
            <a:r>
              <a:rPr lang="en-US" sz="1725" dirty="0">
                <a:solidFill>
                  <a:srgbClr val="9AA0A8"/>
                </a:solidFill>
                <a:latin typeface="Roboto Mono" pitchFamily="34" charset="0"/>
                <a:ea typeface="Roboto Mono" pitchFamily="34" charset="-122"/>
                <a:cs typeface="Roboto Mono" pitchFamily="34" charset="-120"/>
              </a:rPr>
              <a:t>서울시 실시간 도시데이터</a:t>
            </a:r>
            <a:endParaRPr lang="en-US" sz="1725" dirty="0"/>
          </a:p>
        </p:txBody>
      </p:sp>
      <p:sp>
        <p:nvSpPr>
          <p:cNvPr id="14" name="Text 12"/>
          <p:cNvSpPr/>
          <p:nvPr/>
        </p:nvSpPr>
        <p:spPr>
          <a:xfrm>
            <a:off x="1276350" y="6307455"/>
            <a:ext cx="8376541" cy="410528"/>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6B7280"/>
                </a:solidFill>
                <a:latin typeface="Roboto Mono" pitchFamily="34" charset="0"/>
                <a:ea typeface="Roboto Mono" pitchFamily="34" charset="-122"/>
                <a:cs typeface="Roboto Mono" pitchFamily="34" charset="-120"/>
              </a:rPr>
              <a:t>odsay_api.py </a:t>
            </a:r>
            <a:pPr algn="l" indent="0" marL="0">
              <a:lnSpc>
                <a:spcPct val="128618"/>
              </a:lnSpc>
              <a:buNone/>
            </a:pPr>
            <a:r>
              <a:rPr lang="en-US" sz="1725" dirty="0">
                <a:solidFill>
                  <a:srgbClr val="9AA0A8"/>
                </a:solidFill>
                <a:latin typeface="Roboto Mono" pitchFamily="34" charset="0"/>
                <a:ea typeface="Roboto Mono" pitchFamily="34" charset="-122"/>
                <a:cs typeface="Roboto Mono" pitchFamily="34" charset="-120"/>
              </a:rPr>
              <a:t>키 미설정, 미검증</a:t>
            </a:r>
            <a:endParaRPr lang="en-US" sz="1725" dirty="0"/>
          </a:p>
        </p:txBody>
      </p:sp>
      <p:sp>
        <p:nvSpPr>
          <p:cNvPr id="15" name="Text 13"/>
          <p:cNvSpPr/>
          <p:nvPr/>
        </p:nvSpPr>
        <p:spPr>
          <a:xfrm>
            <a:off x="1276350" y="6889432"/>
            <a:ext cx="8376541" cy="410528"/>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9DB4FF"/>
                </a:solidFill>
                <a:latin typeface="Roboto Mono" pitchFamily="34" charset="0"/>
                <a:ea typeface="Roboto Mono" pitchFamily="34" charset="-122"/>
                <a:cs typeface="Roboto Mono" pitchFamily="34" charset="-120"/>
              </a:rPr>
              <a:t>subway_stations.py · transit_nodes.py · geocode.py</a:t>
            </a:r>
            <a:endParaRPr lang="en-US" sz="1725" dirty="0"/>
          </a:p>
        </p:txBody>
      </p:sp>
      <p:sp>
        <p:nvSpPr>
          <p:cNvPr id="16" name="Text 14"/>
          <p:cNvSpPr/>
          <p:nvPr/>
        </p:nvSpPr>
        <p:spPr>
          <a:xfrm>
            <a:off x="1466850" y="7319010"/>
            <a:ext cx="8186041" cy="410528"/>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9AA0A8"/>
                </a:solidFill>
                <a:latin typeface="Roboto Mono" pitchFamily="34" charset="0"/>
                <a:ea typeface="Roboto Mono" pitchFamily="34" charset="-122"/>
                <a:cs typeface="Roboto Mono" pitchFamily="34" charset="-120"/>
              </a:rPr>
              <a:t>장소 해석 계층 (3단 폴백)</a:t>
            </a:r>
            <a:endParaRPr lang="en-US" sz="1725" dirty="0"/>
          </a:p>
        </p:txBody>
      </p:sp>
      <p:sp>
        <p:nvSpPr>
          <p:cNvPr id="17" name="Text 15"/>
          <p:cNvSpPr/>
          <p:nvPr/>
        </p:nvSpPr>
        <p:spPr>
          <a:xfrm>
            <a:off x="1276350" y="7748588"/>
            <a:ext cx="8376541" cy="410528"/>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9DB4FF"/>
                </a:solidFill>
                <a:latin typeface="Roboto Mono" pitchFamily="34" charset="0"/>
                <a:ea typeface="Roboto Mono" pitchFamily="34" charset="-122"/>
                <a:cs typeface="Roboto Mono" pitchFamily="34" charset="-120"/>
              </a:rPr>
              <a:t>build_*.py </a:t>
            </a:r>
            <a:pPr algn="l" indent="0" marL="0">
              <a:lnSpc>
                <a:spcPct val="128618"/>
              </a:lnSpc>
              <a:buNone/>
            </a:pPr>
            <a:r>
              <a:rPr lang="en-US" sz="1725" dirty="0">
                <a:solidFill>
                  <a:srgbClr val="9AA0A8"/>
                </a:solidFill>
                <a:latin typeface="Roboto Mono" pitchFamily="34" charset="0"/>
                <a:ea typeface="Roboto Mono" pitchFamily="34" charset="-122"/>
                <a:cs typeface="Roboto Mono" pitchFamily="34" charset="-120"/>
              </a:rPr>
              <a:t>*.json 캐시 생성 (5종)</a:t>
            </a:r>
            <a:endParaRPr lang="en-US" sz="1725" dirty="0"/>
          </a:p>
        </p:txBody>
      </p:sp>
      <p:sp>
        <p:nvSpPr>
          <p:cNvPr id="18" name="Text 16"/>
          <p:cNvSpPr/>
          <p:nvPr/>
        </p:nvSpPr>
        <p:spPr>
          <a:xfrm>
            <a:off x="1276350" y="8178165"/>
            <a:ext cx="8376541" cy="410528"/>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9DB4FF"/>
                </a:solidFill>
                <a:latin typeface="Roboto Mono" pitchFamily="34" charset="0"/>
                <a:ea typeface="Roboto Mono" pitchFamily="34" charset="-122"/>
                <a:cs typeface="Roboto Mono" pitchFamily="34" charset="-120"/>
              </a:rPr>
              <a:t>*.json </a:t>
            </a:r>
            <a:pPr algn="l" indent="0" marL="0">
              <a:lnSpc>
                <a:spcPct val="128618"/>
              </a:lnSpc>
              <a:buNone/>
            </a:pPr>
            <a:r>
              <a:rPr lang="en-US" sz="1725" dirty="0">
                <a:solidFill>
                  <a:srgbClr val="9AA0A8"/>
                </a:solidFill>
                <a:latin typeface="Roboto Mono" pitchFamily="34" charset="0"/>
                <a:ea typeface="Roboto Mono" pitchFamily="34" charset="-122"/>
                <a:cs typeface="Roboto Mono" pitchFamily="34" charset="-120"/>
              </a:rPr>
              <a:t>역·공항·터미널·행정구역·서울 121개 장소</a:t>
            </a:r>
            <a:endParaRPr lang="en-US" sz="1725" dirty="0"/>
          </a:p>
        </p:txBody>
      </p:sp>
      <p:sp>
        <p:nvSpPr>
          <p:cNvPr id="19" name="Text 17"/>
          <p:cNvSpPr/>
          <p:nvPr/>
        </p:nvSpPr>
        <p:spPr>
          <a:xfrm>
            <a:off x="1276350" y="8798243"/>
            <a:ext cx="8376541" cy="378143"/>
          </a:xfrm>
          <a:prstGeom prst="rect">
            <a:avLst/>
          </a:prstGeom>
          <a:noFill/>
          <a:ln/>
        </p:spPr>
        <p:txBody>
          <a:bodyPr wrap="square" lIns="25400" tIns="25400" rIns="25400" bIns="25400" rtlCol="0" anchor="t">
            <a:normAutofit/>
          </a:bodyPr>
          <a:lstStyle/>
          <a:p>
            <a:pPr algn="l" indent="0" marL="0">
              <a:lnSpc>
                <a:spcPct val="127500"/>
              </a:lnSpc>
              <a:buNone/>
            </a:pPr>
            <a:r>
              <a:rPr lang="en-US" sz="1575" spc="126" kern="0" dirty="0">
                <a:solidFill>
                  <a:srgbClr val="F87171"/>
                </a:solidFill>
                <a:latin typeface="Roboto Mono" pitchFamily="34" charset="0"/>
                <a:ea typeface="Roboto Mono" pitchFamily="34" charset="-122"/>
                <a:cs typeface="Roboto Mono" pitchFamily="34" charset="-120"/>
              </a:rPr>
              <a:t>gate/api.py · server.py · eval_endpoint.py</a:t>
            </a:r>
            <a:endParaRPr lang="en-US" sz="1575" dirty="0"/>
          </a:p>
        </p:txBody>
      </p:sp>
      <p:sp>
        <p:nvSpPr>
          <p:cNvPr id="20" name="Text 18"/>
          <p:cNvSpPr/>
          <p:nvPr/>
        </p:nvSpPr>
        <p:spPr>
          <a:xfrm>
            <a:off x="1466850" y="9195435"/>
            <a:ext cx="8186041" cy="739140"/>
          </a:xfrm>
          <a:prstGeom prst="rect">
            <a:avLst/>
          </a:prstGeom>
          <a:noFill/>
          <a:ln/>
        </p:spPr>
        <p:txBody>
          <a:bodyPr wrap="square" lIns="25400" tIns="25400" rIns="25400" bIns="25400" rtlCol="0" anchor="t">
            <a:normAutofit/>
          </a:bodyPr>
          <a:lstStyle/>
          <a:p>
            <a:pPr algn="l" indent="0" marL="0">
              <a:lnSpc>
                <a:spcPct val="121053"/>
              </a:lnSpc>
              <a:buNone/>
            </a:pPr>
            <a:r>
              <a:rPr lang="en-US" sz="1725" dirty="0">
                <a:solidFill>
                  <a:srgbClr val="9AA0A8"/>
                </a:solidFill>
                <a:latin typeface="Roboto Mono" pitchFamily="34" charset="0"/>
                <a:ea typeface="Roboto Mono" pitchFamily="34" charset="-122"/>
                <a:cs typeface="Roboto Mono" pitchFamily="34" charset="-120"/>
              </a:rPr>
              <a:t>ui/ 의 같은 이름 파일과 </a:t>
            </a:r>
            <a:pPr algn="l" indent="0" marL="0">
              <a:lnSpc>
                <a:spcPct val="121053"/>
              </a:lnSpc>
              <a:buNone/>
            </a:pPr>
            <a:r>
              <a:rPr lang="en-US" sz="1725" dirty="0">
                <a:solidFill>
                  <a:srgbClr val="F87171"/>
                </a:solidFill>
                <a:latin typeface="Roboto Mono" pitchFamily="34" charset="0"/>
                <a:ea typeface="Roboto Mono" pitchFamily="34" charset="-122"/>
                <a:cs typeface="Roboto Mono" pitchFamily="34" charset="-120"/>
              </a:rPr>
              <a:t>거의 같은 코드 </a:t>
            </a:r>
            <a:pPr algn="l" indent="0" marL="0">
              <a:lnSpc>
                <a:spcPct val="121053"/>
              </a:lnSpc>
              <a:buNone/>
            </a:pPr>
            <a:r>
              <a:rPr lang="en-US" sz="1725" dirty="0">
                <a:solidFill>
                  <a:srgbClr val="9AA0A8"/>
                </a:solidFill>
                <a:latin typeface="Roboto Mono" pitchFamily="34" charset="0"/>
                <a:ea typeface="Roboto Mono" pitchFamily="34" charset="-122"/>
                <a:cs typeface="Roboto Mono" pitchFamily="34" charset="-120"/>
              </a:rPr>
              <a:t>. vLLM 호스트 단독 실행용 </a:t>
            </a:r>
            <a:pPr algn="l" indent="0" marL="0">
              <a:lnSpc>
                <a:spcPct val="121053"/>
              </a:lnSpc>
              <a:buNone/>
            </a:pPr>
            <a:r>
              <a:rPr lang="en-US" sz="1725" dirty="0">
                <a:solidFill>
                  <a:srgbClr val="F87171"/>
                </a:solidFill>
                <a:latin typeface="Roboto Mono" pitchFamily="34" charset="0"/>
                <a:ea typeface="Roboto Mono" pitchFamily="34" charset="-122"/>
                <a:cs typeface="Roboto Mono" pitchFamily="34" charset="-120"/>
              </a:rPr>
              <a:t>사본 </a:t>
            </a:r>
            <a:pPr algn="l" indent="0" marL="0">
              <a:lnSpc>
                <a:spcPct val="121053"/>
              </a:lnSpc>
              <a:buNone/>
            </a:pPr>
            <a:r>
              <a:rPr lang="en-US" sz="1725" dirty="0">
                <a:solidFill>
                  <a:srgbClr val="9AA0A8"/>
                </a:solidFill>
                <a:latin typeface="Roboto Mono" pitchFamily="34" charset="0"/>
                <a:ea typeface="Roboto Mono" pitchFamily="34" charset="-122"/>
                <a:cs typeface="Roboto Mono" pitchFamily="34" charset="-120"/>
              </a:rPr>
              <a:t>— 운영에서 돌지 않는다.</a:t>
            </a:r>
            <a:endParaRPr lang="en-US" sz="1725" dirty="0"/>
          </a:p>
        </p:txBody>
      </p:sp>
      <p:sp>
        <p:nvSpPr>
          <p:cNvPr id="21" name="Shape 19"/>
          <p:cNvSpPr/>
          <p:nvPr/>
        </p:nvSpPr>
        <p:spPr>
          <a:xfrm>
            <a:off x="10018514" y="2350770"/>
            <a:ext cx="7316867" cy="3791903"/>
          </a:xfrm>
          <a:prstGeom prst="rect">
            <a:avLst/>
          </a:prstGeom>
          <a:solidFill>
            <a:srgbClr val="FFFFFF"/>
          </a:solidFill>
          <a:ln/>
        </p:spPr>
      </p:sp>
      <p:sp>
        <p:nvSpPr>
          <p:cNvPr id="22" name="Shape 20"/>
          <p:cNvSpPr/>
          <p:nvPr/>
        </p:nvSpPr>
        <p:spPr>
          <a:xfrm>
            <a:off x="10018514" y="6135053"/>
            <a:ext cx="7316867" cy="9525"/>
          </a:xfrm>
          <a:prstGeom prst="rect">
            <a:avLst/>
          </a:prstGeom>
          <a:solidFill>
            <a:srgbClr val="DFE1E6"/>
          </a:solidFill>
          <a:ln/>
        </p:spPr>
      </p:sp>
      <p:sp>
        <p:nvSpPr>
          <p:cNvPr id="23" name="Shape 21"/>
          <p:cNvSpPr/>
          <p:nvPr/>
        </p:nvSpPr>
        <p:spPr>
          <a:xfrm>
            <a:off x="10018514" y="2350770"/>
            <a:ext cx="7316867" cy="9525"/>
          </a:xfrm>
          <a:prstGeom prst="rect">
            <a:avLst/>
          </a:prstGeom>
          <a:solidFill>
            <a:srgbClr val="DFE1E6"/>
          </a:solidFill>
          <a:ln/>
        </p:spPr>
      </p:sp>
      <p:sp>
        <p:nvSpPr>
          <p:cNvPr id="24" name="Shape 22"/>
          <p:cNvSpPr/>
          <p:nvPr/>
        </p:nvSpPr>
        <p:spPr>
          <a:xfrm>
            <a:off x="10018514" y="2350770"/>
            <a:ext cx="45720" cy="3791903"/>
          </a:xfrm>
          <a:prstGeom prst="rect">
            <a:avLst/>
          </a:prstGeom>
          <a:solidFill>
            <a:srgbClr val="00845C"/>
          </a:solidFill>
          <a:ln/>
        </p:spPr>
      </p:sp>
      <p:sp>
        <p:nvSpPr>
          <p:cNvPr id="25" name="Shape 23"/>
          <p:cNvSpPr/>
          <p:nvPr/>
        </p:nvSpPr>
        <p:spPr>
          <a:xfrm>
            <a:off x="17327761" y="2350770"/>
            <a:ext cx="9525" cy="3791903"/>
          </a:xfrm>
          <a:prstGeom prst="rect">
            <a:avLst/>
          </a:prstGeom>
          <a:solidFill>
            <a:srgbClr val="DFE1E6"/>
          </a:solidFill>
          <a:ln/>
        </p:spPr>
      </p:sp>
      <p:sp>
        <p:nvSpPr>
          <p:cNvPr id="26" name="Text 24"/>
          <p:cNvSpPr/>
          <p:nvPr/>
        </p:nvSpPr>
        <p:spPr>
          <a:xfrm>
            <a:off x="10349985" y="2606040"/>
            <a:ext cx="2581132"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ui/ — 실제 배포 대상</a:t>
            </a:r>
            <a:endParaRPr lang="en-US" sz="2100" dirty="0"/>
          </a:p>
        </p:txBody>
      </p:sp>
      <p:sp>
        <p:nvSpPr>
          <p:cNvPr id="27" name="Text 25"/>
          <p:cNvSpPr/>
          <p:nvPr/>
        </p:nvSpPr>
        <p:spPr>
          <a:xfrm>
            <a:off x="14641473" y="2705100"/>
            <a:ext cx="2640592" cy="304800"/>
          </a:xfrm>
          <a:prstGeom prst="rect">
            <a:avLst/>
          </a:prstGeom>
          <a:noFill/>
          <a:ln/>
        </p:spPr>
        <p:txBody>
          <a:bodyPr wrap="square" lIns="25400" tIns="25400" rIns="25400" bIns="25400" rtlCol="0" anchor="t">
            <a:normAutofit/>
          </a:bodyPr>
          <a:lstStyle/>
          <a:p>
            <a:pPr algn="l" indent="0" marL="0">
              <a:buNone/>
            </a:pPr>
            <a:r>
              <a:rPr lang="en-US" sz="1575" dirty="0">
                <a:solidFill>
                  <a:srgbClr val="00845C"/>
                </a:solidFill>
                <a:latin typeface="Roboto Mono" pitchFamily="34" charset="0"/>
                <a:ea typeface="Roboto Mono" pitchFamily="34" charset="-122"/>
                <a:cs typeface="Roboto Mono" pitchFamily="34" charset="-120"/>
              </a:rPr>
              <a:t>systemd 가 띄우는 코드</a:t>
            </a:r>
            <a:endParaRPr lang="en-US" sz="1575" dirty="0"/>
          </a:p>
        </p:txBody>
      </p:sp>
      <p:sp>
        <p:nvSpPr>
          <p:cNvPr id="28" name="Text 26"/>
          <p:cNvSpPr/>
          <p:nvPr/>
        </p:nvSpPr>
        <p:spPr>
          <a:xfrm>
            <a:off x="10349985" y="3139440"/>
            <a:ext cx="2414409"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api.py</a:t>
            </a:r>
            <a:endParaRPr lang="en-US" sz="1800" dirty="0"/>
          </a:p>
        </p:txBody>
      </p:sp>
      <p:sp>
        <p:nvSpPr>
          <p:cNvPr id="29" name="Text 27"/>
          <p:cNvSpPr/>
          <p:nvPr/>
        </p:nvSpPr>
        <p:spPr>
          <a:xfrm>
            <a:off x="12716352" y="3108960"/>
            <a:ext cx="4758226"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공개 HTTP API (:8080) · </a:t>
            </a:r>
            <a:pPr algn="l" indent="0" marL="0">
              <a:buNone/>
            </a:pPr>
            <a:r>
              <a:rPr lang="en-US" sz="1575" dirty="0">
                <a:solidFill>
                  <a:srgbClr val="4A5058"/>
                </a:solidFill>
                <a:latin typeface="Roboto Mono" pitchFamily="34" charset="0"/>
                <a:ea typeface="Roboto Mono" pitchFamily="34" charset="-122"/>
                <a:cs typeface="Roboto Mono" pitchFamily="34" charset="-120"/>
              </a:rPr>
              <a:t>ui.api:app</a:t>
            </a:r>
            <a:endParaRPr lang="en-US" sz="1800" dirty="0"/>
          </a:p>
        </p:txBody>
      </p:sp>
      <p:sp>
        <p:nvSpPr>
          <p:cNvPr id="30" name="Text 28"/>
          <p:cNvSpPr/>
          <p:nvPr/>
        </p:nvSpPr>
        <p:spPr>
          <a:xfrm>
            <a:off x="10349985" y="3569970"/>
            <a:ext cx="2414409"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server.py</a:t>
            </a:r>
            <a:endParaRPr lang="en-US" sz="1800" dirty="0"/>
          </a:p>
        </p:txBody>
      </p:sp>
      <p:sp>
        <p:nvSpPr>
          <p:cNvPr id="31" name="Text 29"/>
          <p:cNvSpPr/>
          <p:nvPr/>
        </p:nvSpPr>
        <p:spPr>
          <a:xfrm>
            <a:off x="12716352" y="3539490"/>
            <a:ext cx="4758226"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채팅 UI 서버 (:7860) · </a:t>
            </a:r>
            <a:pPr algn="l" indent="0" marL="0">
              <a:buNone/>
            </a:pPr>
            <a:r>
              <a:rPr lang="en-US" sz="1575" dirty="0">
                <a:solidFill>
                  <a:srgbClr val="4A5058"/>
                </a:solidFill>
                <a:latin typeface="Roboto Mono" pitchFamily="34" charset="0"/>
                <a:ea typeface="Roboto Mono" pitchFamily="34" charset="-122"/>
                <a:cs typeface="Roboto Mono" pitchFamily="34" charset="-120"/>
              </a:rPr>
              <a:t>ui.server:app</a:t>
            </a:r>
            <a:endParaRPr lang="en-US" sz="1800" dirty="0"/>
          </a:p>
        </p:txBody>
      </p:sp>
      <p:sp>
        <p:nvSpPr>
          <p:cNvPr id="32" name="Text 30"/>
          <p:cNvSpPr/>
          <p:nvPr/>
        </p:nvSpPr>
        <p:spPr>
          <a:xfrm>
            <a:off x="10349985" y="4000500"/>
            <a:ext cx="2414409"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session_slots.py</a:t>
            </a:r>
            <a:endParaRPr lang="en-US" sz="1800" dirty="0"/>
          </a:p>
        </p:txBody>
      </p:sp>
      <p:sp>
        <p:nvSpPr>
          <p:cNvPr id="33" name="Text 31"/>
          <p:cNvSpPr/>
          <p:nvPr/>
        </p:nvSpPr>
        <p:spPr>
          <a:xfrm>
            <a:off x="12716352" y="3970020"/>
            <a:ext cx="4758226"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멀티턴 슬롯 승계 (단일 소스)</a:t>
            </a:r>
            <a:endParaRPr lang="en-US" sz="1800" dirty="0"/>
          </a:p>
        </p:txBody>
      </p:sp>
      <p:sp>
        <p:nvSpPr>
          <p:cNvPr id="34" name="Text 32"/>
          <p:cNvSpPr/>
          <p:nvPr/>
        </p:nvSpPr>
        <p:spPr>
          <a:xfrm>
            <a:off x="10349985" y="4431030"/>
            <a:ext cx="2414409"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index.html</a:t>
            </a:r>
            <a:endParaRPr lang="en-US" sz="1800" dirty="0"/>
          </a:p>
        </p:txBody>
      </p:sp>
      <p:sp>
        <p:nvSpPr>
          <p:cNvPr id="35" name="Text 33"/>
          <p:cNvSpPr/>
          <p:nvPr/>
        </p:nvSpPr>
        <p:spPr>
          <a:xfrm>
            <a:off x="12716352" y="4400550"/>
            <a:ext cx="4758226"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단일 페이지 프런트</a:t>
            </a:r>
            <a:endParaRPr lang="en-US" sz="1800" dirty="0"/>
          </a:p>
        </p:txBody>
      </p:sp>
      <p:sp>
        <p:nvSpPr>
          <p:cNvPr id="36" name="Shape 34"/>
          <p:cNvSpPr/>
          <p:nvPr/>
        </p:nvSpPr>
        <p:spPr>
          <a:xfrm>
            <a:off x="10349985" y="4850130"/>
            <a:ext cx="6692027" cy="1037273"/>
          </a:xfrm>
          <a:prstGeom prst="rect">
            <a:avLst/>
          </a:prstGeom>
          <a:solidFill>
            <a:srgbClr val="FFF7ED"/>
          </a:solidFill>
          <a:ln w="7620">
            <a:solidFill>
              <a:srgbClr val="FED7AA"/>
            </a:solidFill>
            <a:prstDash val="solid"/>
          </a:ln>
        </p:spPr>
      </p:sp>
      <p:sp>
        <p:nvSpPr>
          <p:cNvPr id="37" name="Text 35"/>
          <p:cNvSpPr/>
          <p:nvPr/>
        </p:nvSpPr>
        <p:spPr>
          <a:xfrm>
            <a:off x="10567155" y="5029200"/>
            <a:ext cx="6458448" cy="717233"/>
          </a:xfrm>
          <a:prstGeom prst="rect">
            <a:avLst/>
          </a:prstGeom>
          <a:noFill/>
          <a:ln/>
        </p:spPr>
        <p:txBody>
          <a:bodyPr wrap="square" lIns="25400" tIns="25400" rIns="25400" bIns="25400" rtlCol="0" anchor="t">
            <a:normAutofit/>
          </a:bodyPr>
          <a:lstStyle/>
          <a:p>
            <a:pPr algn="l" indent="0" marL="0">
              <a:lnSpc>
                <a:spcPct val="135038"/>
              </a:lnSpc>
              <a:buNone/>
            </a:pPr>
            <a:r>
              <a:rPr lang="en-US" sz="1725" dirty="0">
                <a:solidFill>
                  <a:srgbClr val="7C2D12"/>
                </a:solidFill>
                <a:highlight>
                  <a:srgbClr val="FFF7ED"/>
                </a:highlight>
                <a:latin typeface="Arial" pitchFamily="34" charset="0"/>
                <a:ea typeface="Arial" pitchFamily="34" charset="-122"/>
                <a:cs typeface="Arial" pitchFamily="34" charset="-120"/>
              </a:rPr>
              <a:t>멀티턴 좌표 전달과 슬롯 승계 개선은 </a:t>
            </a:r>
            <a:pPr algn="l" indent="0" marL="0">
              <a:lnSpc>
                <a:spcPct val="135038"/>
              </a:lnSpc>
              <a:buNone/>
            </a:pPr>
            <a:r>
              <a:rPr lang="en-US" sz="1725" b="1" dirty="0">
                <a:solidFill>
                  <a:srgbClr val="7C2D12"/>
                </a:solidFill>
                <a:latin typeface="Arial" pitchFamily="34" charset="0"/>
                <a:ea typeface="Arial" pitchFamily="34" charset="-122"/>
                <a:cs typeface="Arial" pitchFamily="34" charset="-120"/>
              </a:rPr>
              <a:t>ui/ 에만 </a:t>
            </a:r>
            <a:pPr algn="l" indent="0" marL="0">
              <a:lnSpc>
                <a:spcPct val="135038"/>
              </a:lnSpc>
              <a:buNone/>
            </a:pPr>
            <a:r>
              <a:rPr lang="en-US" sz="1725" dirty="0">
                <a:solidFill>
                  <a:srgbClr val="7C2D12"/>
                </a:solidFill>
                <a:highlight>
                  <a:srgbClr val="FFF7ED"/>
                </a:highlight>
                <a:latin typeface="Arial" pitchFamily="34" charset="0"/>
                <a:ea typeface="Arial" pitchFamily="34" charset="-122"/>
                <a:cs typeface="Arial" pitchFamily="34" charset="-120"/>
              </a:rPr>
              <a:t>들어가 있다. 두 사본을 헷갈리면 "고쳤는데 안 바뀐다"가 된다.</a:t>
            </a:r>
            <a:endParaRPr lang="en-US" sz="1725" dirty="0"/>
          </a:p>
        </p:txBody>
      </p:sp>
      <p:sp>
        <p:nvSpPr>
          <p:cNvPr id="38" name="Shape 36"/>
          <p:cNvSpPr/>
          <p:nvPr/>
        </p:nvSpPr>
        <p:spPr>
          <a:xfrm>
            <a:off x="10018514" y="6314123"/>
            <a:ext cx="7316867" cy="2099310"/>
          </a:xfrm>
          <a:prstGeom prst="rect">
            <a:avLst/>
          </a:prstGeom>
          <a:solidFill>
            <a:srgbClr val="FFFFFF"/>
          </a:solidFill>
          <a:ln w="7620">
            <a:solidFill>
              <a:srgbClr val="DFE1E6"/>
            </a:solidFill>
            <a:prstDash val="solid"/>
          </a:ln>
        </p:spPr>
      </p:sp>
      <p:sp>
        <p:nvSpPr>
          <p:cNvPr id="39" name="Text 37"/>
          <p:cNvSpPr/>
          <p:nvPr/>
        </p:nvSpPr>
        <p:spPr>
          <a:xfrm>
            <a:off x="10311885" y="6580823"/>
            <a:ext cx="1173718"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eval/</a:t>
            </a:r>
            <a:endParaRPr lang="en-US" sz="1800" dirty="0"/>
          </a:p>
        </p:txBody>
      </p:sp>
      <p:sp>
        <p:nvSpPr>
          <p:cNvPr id="40" name="Text 38"/>
          <p:cNvSpPr/>
          <p:nvPr/>
        </p:nvSpPr>
        <p:spPr>
          <a:xfrm>
            <a:off x="11580852" y="6550343"/>
            <a:ext cx="6007275"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평가셋 2벌 + </a:t>
            </a:r>
            <a:pPr algn="l" indent="0" marL="0">
              <a:buNone/>
            </a:pPr>
            <a:r>
              <a:rPr lang="en-US" sz="1575" dirty="0">
                <a:solidFill>
                  <a:srgbClr val="4A5058"/>
                </a:solidFill>
                <a:latin typeface="Roboto Mono" pitchFamily="34" charset="0"/>
                <a:ea typeface="Roboto Mono" pitchFamily="34" charset="-122"/>
                <a:cs typeface="Roboto Mono" pitchFamily="34" charset="-120"/>
              </a:rPr>
              <a:t>score.py </a:t>
            </a:r>
            <a:pPr algn="l" indent="0" marL="0">
              <a:buNone/>
            </a:pPr>
            <a:r>
              <a:rPr lang="en-US" sz="1800" dirty="0">
                <a:solidFill>
                  <a:srgbClr val="4A5058"/>
                </a:solidFill>
                <a:latin typeface="Arial" pitchFamily="34" charset="0"/>
                <a:ea typeface="Arial" pitchFamily="34" charset="-122"/>
                <a:cs typeface="Arial" pitchFamily="34" charset="-120"/>
              </a:rPr>
              <a:t>채점 하네스</a:t>
            </a:r>
            <a:endParaRPr lang="en-US" sz="1800" dirty="0"/>
          </a:p>
        </p:txBody>
      </p:sp>
      <p:sp>
        <p:nvSpPr>
          <p:cNvPr id="41" name="Text 39"/>
          <p:cNvSpPr/>
          <p:nvPr/>
        </p:nvSpPr>
        <p:spPr>
          <a:xfrm>
            <a:off x="10311885" y="7011353"/>
            <a:ext cx="1173718"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scripts/</a:t>
            </a:r>
            <a:endParaRPr lang="en-US" sz="1800" dirty="0"/>
          </a:p>
        </p:txBody>
      </p:sp>
      <p:sp>
        <p:nvSpPr>
          <p:cNvPr id="42" name="Text 40"/>
          <p:cNvSpPr/>
          <p:nvPr/>
        </p:nvSpPr>
        <p:spPr>
          <a:xfrm>
            <a:off x="11580852" y="6980873"/>
            <a:ext cx="6007275"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CI 검증 2종 · CodeDeploy 훅 5종 · 파이프라인 생성</a:t>
            </a:r>
            <a:endParaRPr lang="en-US" sz="1800" dirty="0"/>
          </a:p>
        </p:txBody>
      </p:sp>
      <p:sp>
        <p:nvSpPr>
          <p:cNvPr id="43" name="Text 41"/>
          <p:cNvSpPr/>
          <p:nvPr/>
        </p:nvSpPr>
        <p:spPr>
          <a:xfrm>
            <a:off x="10311885" y="7441882"/>
            <a:ext cx="1173718"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docs/</a:t>
            </a:r>
            <a:endParaRPr lang="en-US" sz="1800" dirty="0"/>
          </a:p>
        </p:txBody>
      </p:sp>
      <p:sp>
        <p:nvSpPr>
          <p:cNvPr id="44" name="Text 42"/>
          <p:cNvSpPr/>
          <p:nvPr/>
        </p:nvSpPr>
        <p:spPr>
          <a:xfrm>
            <a:off x="11580852" y="7411403"/>
            <a:ext cx="6007275"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아키텍처 4문서 + FINDINGS(실증 기록)</a:t>
            </a:r>
            <a:endParaRPr lang="en-US" sz="1800" dirty="0"/>
          </a:p>
        </p:txBody>
      </p:sp>
      <p:sp>
        <p:nvSpPr>
          <p:cNvPr id="45" name="Text 43"/>
          <p:cNvSpPr/>
          <p:nvPr/>
        </p:nvSpPr>
        <p:spPr>
          <a:xfrm>
            <a:off x="10311885" y="7872413"/>
            <a:ext cx="1173718" cy="335280"/>
          </a:xfrm>
          <a:prstGeom prst="rect">
            <a:avLst/>
          </a:prstGeom>
          <a:noFill/>
          <a:ln/>
        </p:spPr>
        <p:txBody>
          <a:bodyPr wrap="square" lIns="25400" tIns="25400" rIns="25400" bIns="25400" rtlCol="0" anchor="t">
            <a:normAutofit/>
          </a:bodyPr>
          <a:lstStyle/>
          <a:p>
            <a:pPr algn="l" indent="0" marL="0">
              <a:buNone/>
            </a:pPr>
            <a:r>
              <a:rPr lang="en-US" sz="1800" dirty="0">
                <a:solidFill>
                  <a:srgbClr val="2B57D6"/>
                </a:solidFill>
                <a:latin typeface="Roboto Mono" pitchFamily="34" charset="0"/>
                <a:ea typeface="Roboto Mono" pitchFamily="34" charset="-122"/>
                <a:cs typeface="Roboto Mono" pitchFamily="34" charset="-120"/>
              </a:rPr>
              <a:t>infra/</a:t>
            </a:r>
            <a:endParaRPr lang="en-US" sz="1800" dirty="0"/>
          </a:p>
        </p:txBody>
      </p:sp>
      <p:sp>
        <p:nvSpPr>
          <p:cNvPr id="46" name="Text 44"/>
          <p:cNvSpPr/>
          <p:nvPr/>
        </p:nvSpPr>
        <p:spPr>
          <a:xfrm>
            <a:off x="11580852" y="7841932"/>
            <a:ext cx="6007275" cy="373380"/>
          </a:xfrm>
          <a:prstGeom prst="rect">
            <a:avLst/>
          </a:prstGeom>
          <a:noFill/>
          <a:ln/>
        </p:spPr>
        <p:txBody>
          <a:bodyPr wrap="square" lIns="25400" tIns="25400" rIns="25400" bIns="25400" rtlCol="0" anchor="t">
            <a:normAutofit/>
          </a:bodyPr>
          <a:lstStyle/>
          <a:p>
            <a:pPr algn="l" indent="0" marL="0">
              <a:buNone/>
            </a:pPr>
            <a:r>
              <a:rPr lang="en-US" sz="1800" dirty="0">
                <a:solidFill>
                  <a:srgbClr val="4A5058"/>
                </a:solidFill>
                <a:latin typeface="Arial" pitchFamily="34" charset="0"/>
                <a:ea typeface="Arial" pitchFamily="34" charset="-122"/>
                <a:cs typeface="Arial" pitchFamily="34" charset="-120"/>
              </a:rPr>
              <a:t>Guardrail 정의 v2 · v3 (판본 보존)</a:t>
            </a:r>
            <a:endParaRPr lang="en-US" sz="1800" dirty="0"/>
          </a:p>
        </p:txBody>
      </p:sp>
      <p:sp>
        <p:nvSpPr>
          <p:cNvPr id="47" name="Shape 45"/>
          <p:cNvSpPr/>
          <p:nvPr/>
        </p:nvSpPr>
        <p:spPr>
          <a:xfrm>
            <a:off x="10018514" y="8584882"/>
            <a:ext cx="7316867" cy="2413635"/>
          </a:xfrm>
          <a:prstGeom prst="rect">
            <a:avLst/>
          </a:prstGeom>
          <a:solidFill>
            <a:srgbClr val="F3F6FF"/>
          </a:solidFill>
          <a:ln w="7620">
            <a:solidFill>
              <a:srgbClr val="C9D6FF"/>
            </a:solidFill>
            <a:prstDash val="solid"/>
          </a:ln>
        </p:spPr>
      </p:sp>
      <p:sp>
        <p:nvSpPr>
          <p:cNvPr id="48" name="Text 46"/>
          <p:cNvSpPr/>
          <p:nvPr/>
        </p:nvSpPr>
        <p:spPr>
          <a:xfrm>
            <a:off x="10311885" y="8821103"/>
            <a:ext cx="740314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requirements.txt — 얇다</a:t>
            </a:r>
            <a:endParaRPr lang="en-US" sz="1650" dirty="0"/>
          </a:p>
        </p:txBody>
      </p:sp>
      <p:sp>
        <p:nvSpPr>
          <p:cNvPr id="49" name="Text 47"/>
          <p:cNvSpPr/>
          <p:nvPr/>
        </p:nvSpPr>
        <p:spPr>
          <a:xfrm>
            <a:off x="10311885" y="9190673"/>
            <a:ext cx="6932031" cy="782955"/>
          </a:xfrm>
          <a:prstGeom prst="rect">
            <a:avLst/>
          </a:prstGeom>
          <a:noFill/>
          <a:ln/>
        </p:spPr>
        <p:txBody>
          <a:bodyPr wrap="square" lIns="25400" tIns="25400" rIns="25400" bIns="25400" rtlCol="0" anchor="t">
            <a:normAutofit/>
          </a:bodyPr>
          <a:lstStyle/>
          <a:p>
            <a:pPr algn="l" indent="0" marL="0">
              <a:lnSpc>
                <a:spcPct val="128618"/>
              </a:lnSpc>
              <a:buNone/>
            </a:pPr>
            <a:r>
              <a:rPr lang="en-US" sz="1725" dirty="0">
                <a:solidFill>
                  <a:srgbClr val="1F2937"/>
                </a:solidFill>
                <a:latin typeface="Roboto Mono" pitchFamily="34" charset="0"/>
                <a:ea typeface="Roboto Mono" pitchFamily="34" charset="-122"/>
                <a:cs typeface="Roboto Mono" pitchFamily="34" charset="-120"/>
              </a:rPr>
              <a:t>httpx · boto3 · botocore[crt] fastapi · uvicorn · pydantic</a:t>
            </a:r>
            <a:endParaRPr lang="en-US" sz="1725" dirty="0"/>
          </a:p>
        </p:txBody>
      </p:sp>
      <p:sp>
        <p:nvSpPr>
          <p:cNvPr id="50" name="Text 48"/>
          <p:cNvSpPr/>
          <p:nvPr/>
        </p:nvSpPr>
        <p:spPr>
          <a:xfrm>
            <a:off x="10311885" y="10030777"/>
            <a:ext cx="6932031"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b="1" dirty="0">
                <a:solidFill>
                  <a:srgbClr val="4A5058"/>
                </a:solidFill>
                <a:latin typeface="Arial" pitchFamily="34" charset="0"/>
                <a:ea typeface="Arial" pitchFamily="34" charset="-122"/>
                <a:cs typeface="Arial" pitchFamily="34" charset="-120"/>
              </a:rPr>
              <a:t>torch·transformers 가 없다. </a:t>
            </a:r>
            <a:pPr algn="l" indent="0" marL="0">
              <a:lnSpc>
                <a:spcPct val="141176"/>
              </a:lnSpc>
              <a:buNone/>
            </a:pPr>
            <a:r>
              <a:rPr lang="en-US" sz="1800" dirty="0">
                <a:solidFill>
                  <a:srgbClr val="4A5058"/>
                </a:solidFill>
                <a:latin typeface="Arial" pitchFamily="34" charset="0"/>
                <a:ea typeface="Arial" pitchFamily="34" charset="-122"/>
                <a:cs typeface="Arial" pitchFamily="34" charset="-120"/>
              </a:rPr>
              <a:t>모델은 EC2 의 vLLM 컨테이너가 서빙하고 애플리케이션은 HTTP(OpenAI 호환)로만 부른다.</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620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23 · MULTI-TURN</a:t>
            </a:r>
            <a:endParaRPr lang="en-US" sz="1800" dirty="0"/>
          </a:p>
        </p:txBody>
      </p:sp>
      <p:sp>
        <p:nvSpPr>
          <p:cNvPr id="3" name="Text 1"/>
          <p:cNvSpPr/>
          <p:nvPr/>
        </p:nvSpPr>
        <p:spPr>
          <a:xfrm>
            <a:off x="1047750" y="1192530"/>
            <a:ext cx="17811750" cy="1021080"/>
          </a:xfrm>
          <a:prstGeom prst="rect">
            <a:avLst/>
          </a:prstGeom>
          <a:noFill/>
          <a:ln/>
        </p:spPr>
        <p:txBody>
          <a:bodyPr wrap="square" lIns="25400" tIns="25400" rIns="25400" bIns="25400" rtlCol="0" anchor="t">
            <a:normAutofit/>
          </a:bodyPr>
          <a:lstStyle/>
          <a:p>
            <a:pPr algn="l" indent="0" marL="0">
              <a:buNone/>
            </a:pPr>
            <a:r>
              <a:rPr lang="en-US" sz="5250" b="1" spc="-105" kern="0" dirty="0">
                <a:solidFill>
                  <a:srgbClr val="16181D"/>
                </a:solidFill>
                <a:latin typeface="Arial" pitchFamily="34" charset="0"/>
                <a:ea typeface="Arial" pitchFamily="34" charset="-122"/>
                <a:cs typeface="Arial" pitchFamily="34" charset="-120"/>
              </a:rPr>
              <a:t>슬롯을 무엇까지 이어받을 것인가</a:t>
            </a:r>
            <a:endParaRPr lang="en-US" sz="5250" dirty="0"/>
          </a:p>
        </p:txBody>
      </p:sp>
      <p:sp>
        <p:nvSpPr>
          <p:cNvPr id="4" name="Shape 2"/>
          <p:cNvSpPr/>
          <p:nvPr/>
        </p:nvSpPr>
        <p:spPr>
          <a:xfrm>
            <a:off x="1047750" y="2499360"/>
            <a:ext cx="7389614" cy="4244340"/>
          </a:xfrm>
          <a:prstGeom prst="rect">
            <a:avLst/>
          </a:prstGeom>
          <a:solidFill>
            <a:srgbClr val="FFFFFF"/>
          </a:solidFill>
          <a:ln w="7620">
            <a:solidFill>
              <a:srgbClr val="DFE1E6"/>
            </a:solidFill>
            <a:prstDash val="solid"/>
          </a:ln>
        </p:spPr>
      </p:sp>
      <p:sp>
        <p:nvSpPr>
          <p:cNvPr id="5" name="Text 3"/>
          <p:cNvSpPr/>
          <p:nvPr/>
        </p:nvSpPr>
        <p:spPr>
          <a:xfrm>
            <a:off x="1360170" y="2773680"/>
            <a:ext cx="7441252"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16181D"/>
                </a:solidFill>
                <a:latin typeface="Arial" pitchFamily="34" charset="0"/>
                <a:ea typeface="Arial" pitchFamily="34" charset="-122"/>
                <a:cs typeface="Arial" pitchFamily="34" charset="-120"/>
              </a:rPr>
              <a:t>승계 대상</a:t>
            </a:r>
            <a:endParaRPr lang="en-US" sz="2175" dirty="0"/>
          </a:p>
        </p:txBody>
      </p:sp>
      <p:sp>
        <p:nvSpPr>
          <p:cNvPr id="6" name="Shape 4"/>
          <p:cNvSpPr/>
          <p:nvPr/>
        </p:nvSpPr>
        <p:spPr>
          <a:xfrm>
            <a:off x="1360170" y="3741420"/>
            <a:ext cx="6764774" cy="9525"/>
          </a:xfrm>
          <a:prstGeom prst="rect">
            <a:avLst/>
          </a:prstGeom>
          <a:solidFill>
            <a:srgbClr val="ECEDED"/>
          </a:solidFill>
          <a:ln/>
        </p:spPr>
      </p:sp>
      <p:sp>
        <p:nvSpPr>
          <p:cNvPr id="7" name="Text 5"/>
          <p:cNvSpPr/>
          <p:nvPr/>
        </p:nvSpPr>
        <p:spPr>
          <a:xfrm>
            <a:off x="1360170" y="3303270"/>
            <a:ext cx="933688" cy="381000"/>
          </a:xfrm>
          <a:prstGeom prst="rect">
            <a:avLst/>
          </a:prstGeom>
          <a:noFill/>
          <a:ln/>
        </p:spPr>
        <p:txBody>
          <a:bodyPr wrap="square" lIns="25400" tIns="25400" rIns="25400" bIns="25400" rtlCol="0" anchor="t">
            <a:normAutofit/>
          </a:bodyPr>
          <a:lstStyle/>
          <a:p>
            <a:pPr algn="l" indent="0" marL="0">
              <a:buNone/>
            </a:pPr>
            <a:r>
              <a:rPr lang="en-US" sz="1875" dirty="0">
                <a:solidFill>
                  <a:srgbClr val="2B57D6"/>
                </a:solidFill>
                <a:latin typeface="Roboto Mono" pitchFamily="34" charset="0"/>
                <a:ea typeface="Roboto Mono" pitchFamily="34" charset="-122"/>
                <a:cs typeface="Roboto Mono" pitchFamily="34" charset="-120"/>
              </a:rPr>
              <a:t>origin</a:t>
            </a:r>
            <a:endParaRPr lang="en-US" sz="1875" dirty="0"/>
          </a:p>
        </p:txBody>
      </p:sp>
      <p:sp>
        <p:nvSpPr>
          <p:cNvPr id="8" name="Text 6"/>
          <p:cNvSpPr/>
          <p:nvPr/>
        </p:nvSpPr>
        <p:spPr>
          <a:xfrm>
            <a:off x="7686794" y="3303270"/>
            <a:ext cx="514350" cy="381000"/>
          </a:xfrm>
          <a:prstGeom prst="rect">
            <a:avLst/>
          </a:prstGeom>
          <a:noFill/>
          <a:ln/>
        </p:spPr>
        <p:txBody>
          <a:bodyPr wrap="square" lIns="25400" tIns="25400" rIns="25400" bIns="25400" rtlCol="0" anchor="t">
            <a:normAutofit/>
          </a:bodyPr>
          <a:lstStyle/>
          <a:p>
            <a:pPr algn="l" indent="0" marL="0">
              <a:buNone/>
            </a:pPr>
            <a:r>
              <a:rPr lang="en-US" sz="1875" dirty="0">
                <a:solidFill>
                  <a:srgbClr val="00845C"/>
                </a:solidFill>
                <a:latin typeface="Arial" pitchFamily="34" charset="0"/>
                <a:ea typeface="Arial" pitchFamily="34" charset="-122"/>
                <a:cs typeface="Arial" pitchFamily="34" charset="-120"/>
              </a:rPr>
              <a:t>승계</a:t>
            </a:r>
            <a:endParaRPr lang="en-US" sz="1875" dirty="0"/>
          </a:p>
        </p:txBody>
      </p:sp>
      <p:sp>
        <p:nvSpPr>
          <p:cNvPr id="9" name="Shape 7"/>
          <p:cNvSpPr/>
          <p:nvPr/>
        </p:nvSpPr>
        <p:spPr>
          <a:xfrm>
            <a:off x="1360170" y="4282440"/>
            <a:ext cx="6764774" cy="9525"/>
          </a:xfrm>
          <a:prstGeom prst="rect">
            <a:avLst/>
          </a:prstGeom>
          <a:solidFill>
            <a:srgbClr val="ECEDED"/>
          </a:solidFill>
          <a:ln/>
        </p:spPr>
      </p:sp>
      <p:sp>
        <p:nvSpPr>
          <p:cNvPr id="10" name="Text 8"/>
          <p:cNvSpPr/>
          <p:nvPr/>
        </p:nvSpPr>
        <p:spPr>
          <a:xfrm>
            <a:off x="1360170" y="3844290"/>
            <a:ext cx="1729180" cy="381000"/>
          </a:xfrm>
          <a:prstGeom prst="rect">
            <a:avLst/>
          </a:prstGeom>
          <a:noFill/>
          <a:ln/>
        </p:spPr>
        <p:txBody>
          <a:bodyPr wrap="square" lIns="25400" tIns="25400" rIns="25400" bIns="25400" rtlCol="0" anchor="t">
            <a:normAutofit/>
          </a:bodyPr>
          <a:lstStyle/>
          <a:p>
            <a:pPr algn="l" indent="0" marL="0">
              <a:buNone/>
            </a:pPr>
            <a:r>
              <a:rPr lang="en-US" sz="1875" dirty="0">
                <a:solidFill>
                  <a:srgbClr val="2B57D6"/>
                </a:solidFill>
                <a:latin typeface="Roboto Mono" pitchFamily="34" charset="0"/>
                <a:ea typeface="Roboto Mono" pitchFamily="34" charset="-122"/>
                <a:cs typeface="Roboto Mono" pitchFamily="34" charset="-120"/>
              </a:rPr>
              <a:t>destination</a:t>
            </a:r>
            <a:endParaRPr lang="en-US" sz="1875" dirty="0"/>
          </a:p>
        </p:txBody>
      </p:sp>
      <p:sp>
        <p:nvSpPr>
          <p:cNvPr id="11" name="Text 9"/>
          <p:cNvSpPr/>
          <p:nvPr/>
        </p:nvSpPr>
        <p:spPr>
          <a:xfrm>
            <a:off x="7686794" y="3844290"/>
            <a:ext cx="514350" cy="381000"/>
          </a:xfrm>
          <a:prstGeom prst="rect">
            <a:avLst/>
          </a:prstGeom>
          <a:noFill/>
          <a:ln/>
        </p:spPr>
        <p:txBody>
          <a:bodyPr wrap="square" lIns="25400" tIns="25400" rIns="25400" bIns="25400" rtlCol="0" anchor="t">
            <a:normAutofit/>
          </a:bodyPr>
          <a:lstStyle/>
          <a:p>
            <a:pPr algn="l" indent="0" marL="0">
              <a:buNone/>
            </a:pPr>
            <a:r>
              <a:rPr lang="en-US" sz="1875" dirty="0">
                <a:solidFill>
                  <a:srgbClr val="00845C"/>
                </a:solidFill>
                <a:latin typeface="Arial" pitchFamily="34" charset="0"/>
                <a:ea typeface="Arial" pitchFamily="34" charset="-122"/>
                <a:cs typeface="Arial" pitchFamily="34" charset="-120"/>
              </a:rPr>
              <a:t>승계</a:t>
            </a:r>
            <a:endParaRPr lang="en-US" sz="1875" dirty="0"/>
          </a:p>
        </p:txBody>
      </p:sp>
      <p:sp>
        <p:nvSpPr>
          <p:cNvPr id="12" name="Shape 10"/>
          <p:cNvSpPr/>
          <p:nvPr/>
        </p:nvSpPr>
        <p:spPr>
          <a:xfrm>
            <a:off x="1360170" y="4823460"/>
            <a:ext cx="6764774" cy="9525"/>
          </a:xfrm>
          <a:prstGeom prst="rect">
            <a:avLst/>
          </a:prstGeom>
          <a:solidFill>
            <a:srgbClr val="ECEDED"/>
          </a:solidFill>
          <a:ln/>
        </p:spPr>
      </p:sp>
      <p:sp>
        <p:nvSpPr>
          <p:cNvPr id="13" name="Text 11"/>
          <p:cNvSpPr/>
          <p:nvPr/>
        </p:nvSpPr>
        <p:spPr>
          <a:xfrm>
            <a:off x="1360170" y="4385310"/>
            <a:ext cx="504944" cy="381000"/>
          </a:xfrm>
          <a:prstGeom prst="rect">
            <a:avLst/>
          </a:prstGeom>
          <a:noFill/>
          <a:ln/>
        </p:spPr>
        <p:txBody>
          <a:bodyPr wrap="square" lIns="25400" tIns="25400" rIns="25400" bIns="25400" rtlCol="0" anchor="t">
            <a:normAutofit/>
          </a:bodyPr>
          <a:lstStyle/>
          <a:p>
            <a:pPr algn="l" indent="0" marL="0">
              <a:buNone/>
            </a:pPr>
            <a:r>
              <a:rPr lang="en-US" sz="1875" dirty="0">
                <a:solidFill>
                  <a:srgbClr val="2B57D6"/>
                </a:solidFill>
                <a:latin typeface="Roboto Mono" pitchFamily="34" charset="0"/>
                <a:ea typeface="Roboto Mono" pitchFamily="34" charset="-122"/>
                <a:cs typeface="Roboto Mono" pitchFamily="34" charset="-120"/>
              </a:rPr>
              <a:t>pax</a:t>
            </a:r>
            <a:endParaRPr lang="en-US" sz="1875" dirty="0"/>
          </a:p>
        </p:txBody>
      </p:sp>
      <p:sp>
        <p:nvSpPr>
          <p:cNvPr id="14" name="Text 12"/>
          <p:cNvSpPr/>
          <p:nvPr/>
        </p:nvSpPr>
        <p:spPr>
          <a:xfrm>
            <a:off x="5949077" y="4385310"/>
            <a:ext cx="2393454" cy="381000"/>
          </a:xfrm>
          <a:prstGeom prst="rect">
            <a:avLst/>
          </a:prstGeom>
          <a:noFill/>
          <a:ln/>
        </p:spPr>
        <p:txBody>
          <a:bodyPr wrap="square" lIns="25400" tIns="25400" rIns="25400" bIns="25400" rtlCol="0" anchor="t">
            <a:normAutofit/>
          </a:bodyPr>
          <a:lstStyle/>
          <a:p>
            <a:pPr algn="l" indent="0" marL="0">
              <a:buNone/>
            </a:pPr>
            <a:r>
              <a:rPr lang="en-US" sz="1875" dirty="0">
                <a:solidFill>
                  <a:srgbClr val="00845C"/>
                </a:solidFill>
                <a:latin typeface="Arial" pitchFamily="34" charset="0"/>
                <a:ea typeface="Arial" pitchFamily="34" charset="-122"/>
                <a:cs typeface="Arial" pitchFamily="34" charset="-120"/>
              </a:rPr>
              <a:t>승계 (의도 무관, 항상)</a:t>
            </a:r>
            <a:endParaRPr lang="en-US" sz="1875" dirty="0"/>
          </a:p>
        </p:txBody>
      </p:sp>
      <p:sp>
        <p:nvSpPr>
          <p:cNvPr id="15" name="Text 13"/>
          <p:cNvSpPr/>
          <p:nvPr/>
        </p:nvSpPr>
        <p:spPr>
          <a:xfrm>
            <a:off x="1360170" y="4926330"/>
            <a:ext cx="1219438" cy="381000"/>
          </a:xfrm>
          <a:prstGeom prst="rect">
            <a:avLst/>
          </a:prstGeom>
          <a:noFill/>
          <a:ln/>
        </p:spPr>
        <p:txBody>
          <a:bodyPr wrap="square" lIns="25400" tIns="25400" rIns="25400" bIns="25400" rtlCol="0" anchor="t">
            <a:normAutofit/>
          </a:bodyPr>
          <a:lstStyle/>
          <a:p>
            <a:pPr algn="l" indent="0" marL="0">
              <a:buNone/>
            </a:pPr>
            <a:r>
              <a:rPr lang="en-US" sz="1875" dirty="0">
                <a:solidFill>
                  <a:srgbClr val="2B57D6"/>
                </a:solidFill>
                <a:latin typeface="Roboto Mono" pitchFamily="34" charset="0"/>
                <a:ea typeface="Roboto Mono" pitchFamily="34" charset="-122"/>
                <a:cs typeface="Roboto Mono" pitchFamily="34" charset="-120"/>
              </a:rPr>
              <a:t>datetime</a:t>
            </a:r>
            <a:endParaRPr lang="en-US" sz="1875" dirty="0"/>
          </a:p>
        </p:txBody>
      </p:sp>
      <p:sp>
        <p:nvSpPr>
          <p:cNvPr id="16" name="Text 14"/>
          <p:cNvSpPr/>
          <p:nvPr/>
        </p:nvSpPr>
        <p:spPr>
          <a:xfrm>
            <a:off x="6525220" y="4926330"/>
            <a:ext cx="1759696" cy="381000"/>
          </a:xfrm>
          <a:prstGeom prst="rect">
            <a:avLst/>
          </a:prstGeom>
          <a:noFill/>
          <a:ln/>
        </p:spPr>
        <p:txBody>
          <a:bodyPr wrap="square" lIns="25400" tIns="25400" rIns="25400" bIns="25400" rtlCol="0" anchor="t">
            <a:normAutofit/>
          </a:bodyPr>
          <a:lstStyle/>
          <a:p>
            <a:pPr algn="l" indent="0" marL="0">
              <a:buNone/>
            </a:pPr>
            <a:r>
              <a:rPr lang="en-US" sz="1875" dirty="0">
                <a:solidFill>
                  <a:srgbClr val="C2410C"/>
                </a:solidFill>
                <a:latin typeface="Arial" pitchFamily="34" charset="0"/>
                <a:ea typeface="Arial" pitchFamily="34" charset="-122"/>
                <a:cs typeface="Arial" pitchFamily="34" charset="-120"/>
              </a:rPr>
              <a:t>승계하지 않는다</a:t>
            </a:r>
            <a:endParaRPr lang="en-US" sz="1875" dirty="0"/>
          </a:p>
        </p:txBody>
      </p:sp>
      <p:sp>
        <p:nvSpPr>
          <p:cNvPr id="17" name="Shape 15"/>
          <p:cNvSpPr/>
          <p:nvPr/>
        </p:nvSpPr>
        <p:spPr>
          <a:xfrm>
            <a:off x="1360170" y="5402580"/>
            <a:ext cx="6764774" cy="1066800"/>
          </a:xfrm>
          <a:prstGeom prst="rect">
            <a:avLst/>
          </a:prstGeom>
          <a:solidFill>
            <a:srgbClr val="FFF7ED"/>
          </a:solidFill>
          <a:ln w="7620">
            <a:solidFill>
              <a:srgbClr val="FED7AA"/>
            </a:solidFill>
            <a:prstDash val="solid"/>
          </a:ln>
        </p:spPr>
      </p:sp>
      <p:sp>
        <p:nvSpPr>
          <p:cNvPr id="18" name="Text 16"/>
          <p:cNvSpPr/>
          <p:nvPr/>
        </p:nvSpPr>
        <p:spPr>
          <a:xfrm>
            <a:off x="1577340" y="5581650"/>
            <a:ext cx="6533378" cy="746760"/>
          </a:xfrm>
          <a:prstGeom prst="rect">
            <a:avLst/>
          </a:prstGeom>
          <a:noFill/>
          <a:ln/>
        </p:spPr>
        <p:txBody>
          <a:bodyPr wrap="square" lIns="25400" tIns="25400" rIns="25400" bIns="25400" rtlCol="0" anchor="t">
            <a:normAutofit/>
          </a:bodyPr>
          <a:lstStyle/>
          <a:p>
            <a:pPr algn="l" indent="0" marL="0">
              <a:lnSpc>
                <a:spcPct val="136765"/>
              </a:lnSpc>
              <a:buNone/>
            </a:pPr>
            <a:r>
              <a:rPr lang="en-US" sz="1800" b="1" dirty="0">
                <a:solidFill>
                  <a:srgbClr val="7C2D12"/>
                </a:solidFill>
                <a:latin typeface="Arial" pitchFamily="34" charset="0"/>
                <a:ea typeface="Arial" pitchFamily="34" charset="-122"/>
                <a:cs typeface="Arial" pitchFamily="34" charset="-120"/>
              </a:rPr>
              <a:t>부작용을 알고 남겨둔 결정. </a:t>
            </a:r>
            <a:pPr algn="l" indent="0" marL="0">
              <a:lnSpc>
                <a:spcPct val="136765"/>
              </a:lnSpc>
              <a:buNone/>
            </a:pPr>
            <a:r>
              <a:rPr lang="en-US" sz="1800" dirty="0">
                <a:solidFill>
                  <a:srgbClr val="7C2D12"/>
                </a:solidFill>
                <a:highlight>
                  <a:srgbClr val="FFF7ED"/>
                </a:highlight>
                <a:latin typeface="Arial" pitchFamily="34" charset="0"/>
                <a:ea typeface="Arial" pitchFamily="34" charset="-122"/>
                <a:cs typeface="Arial" pitchFamily="34" charset="-120"/>
              </a:rPr>
              <a:t>"그럼 다음 열차는?"이 직전 시각이 아니라 </a:t>
            </a:r>
            <a:pPr algn="l" indent="0" marL="0">
              <a:lnSpc>
                <a:spcPct val="136765"/>
              </a:lnSpc>
              <a:buNone/>
            </a:pPr>
            <a:r>
              <a:rPr lang="en-US" sz="1800" b="1" dirty="0">
                <a:solidFill>
                  <a:srgbClr val="7C2D12"/>
                </a:solidFill>
                <a:latin typeface="Arial" pitchFamily="34" charset="0"/>
                <a:ea typeface="Arial" pitchFamily="34" charset="-122"/>
                <a:cs typeface="Arial" pitchFamily="34" charset="-120"/>
              </a:rPr>
              <a:t>질문 시점("지금") 기준</a:t>
            </a:r>
            <a:pPr algn="l" indent="0" marL="0">
              <a:lnSpc>
                <a:spcPct val="136765"/>
              </a:lnSpc>
              <a:buNone/>
            </a:pPr>
            <a:r>
              <a:rPr lang="en-US" sz="1800" dirty="0">
                <a:solidFill>
                  <a:srgbClr val="7C2D12"/>
                </a:solidFill>
                <a:highlight>
                  <a:srgbClr val="FFF7ED"/>
                </a:highlight>
                <a:latin typeface="Arial" pitchFamily="34" charset="0"/>
                <a:ea typeface="Arial" pitchFamily="34" charset="-122"/>
                <a:cs typeface="Arial" pitchFamily="34" charset="-120"/>
              </a:rPr>
              <a:t>으로 계산돼 이른 시각이 나올 수 있다.</a:t>
            </a:r>
            <a:endParaRPr lang="en-US" sz="1800" dirty="0"/>
          </a:p>
        </p:txBody>
      </p:sp>
      <p:sp>
        <p:nvSpPr>
          <p:cNvPr id="19" name="Shape 17"/>
          <p:cNvSpPr/>
          <p:nvPr/>
        </p:nvSpPr>
        <p:spPr>
          <a:xfrm>
            <a:off x="1047750" y="6934200"/>
            <a:ext cx="7389614" cy="3352800"/>
          </a:xfrm>
          <a:prstGeom prst="rect">
            <a:avLst/>
          </a:prstGeom>
          <a:solidFill>
            <a:srgbClr val="16181D"/>
          </a:solidFill>
          <a:ln/>
        </p:spPr>
      </p:sp>
      <p:sp>
        <p:nvSpPr>
          <p:cNvPr id="20" name="Text 18"/>
          <p:cNvSpPr/>
          <p:nvPr/>
        </p:nvSpPr>
        <p:spPr>
          <a:xfrm>
            <a:off x="1352550" y="7200900"/>
            <a:ext cx="7458015" cy="304800"/>
          </a:xfrm>
          <a:prstGeom prst="rect">
            <a:avLst/>
          </a:prstGeom>
          <a:noFill/>
          <a:ln/>
        </p:spPr>
        <p:txBody>
          <a:bodyPr wrap="square" lIns="25400" tIns="25400" rIns="25400" bIns="25400" rtlCol="0" anchor="t">
            <a:normAutofit/>
          </a:bodyPr>
          <a:lstStyle/>
          <a:p>
            <a:pPr algn="l" indent="0" marL="0">
              <a:buNone/>
            </a:pPr>
            <a:r>
              <a:rPr lang="en-US" sz="1575" dirty="0">
                <a:solidFill>
                  <a:srgbClr val="9DB4FF"/>
                </a:solidFill>
                <a:latin typeface="Roboto Mono" pitchFamily="34" charset="0"/>
                <a:ea typeface="Roboto Mono" pitchFamily="34" charset="-122"/>
                <a:cs typeface="Roboto Mono" pitchFamily="34" charset="-120"/>
              </a:rPr>
              <a:t>OpenAI 호환 경로는 무상태다</a:t>
            </a:r>
            <a:endParaRPr lang="en-US" sz="1575" dirty="0"/>
          </a:p>
        </p:txBody>
      </p:sp>
      <p:sp>
        <p:nvSpPr>
          <p:cNvPr id="21" name="Text 19"/>
          <p:cNvSpPr/>
          <p:nvPr/>
        </p:nvSpPr>
        <p:spPr>
          <a:xfrm>
            <a:off x="1352550" y="7600950"/>
            <a:ext cx="6983414" cy="80010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C9CDD3"/>
                </a:solidFill>
                <a:latin typeface="Arial" pitchFamily="34" charset="0"/>
                <a:ea typeface="Arial" pitchFamily="34" charset="-122"/>
                <a:cs typeface="Arial" pitchFamily="34" charset="-120"/>
              </a:rPr>
              <a:t>클라이언트가 매번 전체 </a:t>
            </a:r>
            <a:pPr algn="l" indent="0" marL="0">
              <a:lnSpc>
                <a:spcPct val="138889"/>
              </a:lnSpc>
              <a:buNone/>
            </a:pPr>
            <a:r>
              <a:rPr lang="en-US" sz="1650" dirty="0">
                <a:solidFill>
                  <a:srgbClr val="C9CDD3"/>
                </a:solidFill>
                <a:latin typeface="Roboto Mono" pitchFamily="34" charset="0"/>
                <a:ea typeface="Roboto Mono" pitchFamily="34" charset="-122"/>
                <a:cs typeface="Roboto Mono" pitchFamily="34" charset="-120"/>
              </a:rPr>
              <a:t>messages </a:t>
            </a:r>
            <a:pPr algn="l" indent="0" marL="0">
              <a:lnSpc>
                <a:spcPct val="138889"/>
              </a:lnSpc>
              <a:buNone/>
            </a:pPr>
            <a:r>
              <a:rPr lang="en-US" sz="1875" dirty="0">
                <a:solidFill>
                  <a:srgbClr val="C9CDD3"/>
                </a:solidFill>
                <a:latin typeface="Arial" pitchFamily="34" charset="0"/>
                <a:ea typeface="Arial" pitchFamily="34" charset="-122"/>
                <a:cs typeface="Arial" pitchFamily="34" charset="-120"/>
              </a:rPr>
              <a:t>를 보낸다 → </a:t>
            </a:r>
            <a:pPr algn="l" indent="0" marL="0">
              <a:lnSpc>
                <a:spcPct val="138889"/>
              </a:lnSpc>
              <a:buNone/>
            </a:pPr>
            <a:r>
              <a:rPr lang="en-US" sz="1875" b="1" dirty="0">
                <a:solidFill>
                  <a:srgbClr val="FFFFFF"/>
                </a:solidFill>
                <a:latin typeface="Arial" pitchFamily="34" charset="0"/>
                <a:ea typeface="Arial" pitchFamily="34" charset="-122"/>
                <a:cs typeface="Arial" pitchFamily="34" charset="-120"/>
              </a:rPr>
              <a:t>마지막 user 메시지 앞부분의 해시 </a:t>
            </a:r>
            <a:pPr algn="l" indent="0" marL="0">
              <a:lnSpc>
                <a:spcPct val="138889"/>
              </a:lnSpc>
              <a:buNone/>
            </a:pPr>
            <a:r>
              <a:rPr lang="en-US" sz="1875" dirty="0">
                <a:solidFill>
                  <a:srgbClr val="C9CDD3"/>
                </a:solidFill>
                <a:latin typeface="Arial" pitchFamily="34" charset="0"/>
                <a:ea typeface="Arial" pitchFamily="34" charset="-122"/>
                <a:cs typeface="Arial" pitchFamily="34" charset="-120"/>
              </a:rPr>
              <a:t>를 세션 키로 삼아 슬롯을 잇는다.</a:t>
            </a:r>
            <a:endParaRPr lang="en-US" sz="1875" dirty="0"/>
          </a:p>
        </p:txBody>
      </p:sp>
      <p:sp>
        <p:nvSpPr>
          <p:cNvPr id="22" name="Text 20"/>
          <p:cNvSpPr/>
          <p:nvPr/>
        </p:nvSpPr>
        <p:spPr>
          <a:xfrm>
            <a:off x="1352550" y="9665970"/>
            <a:ext cx="7458015"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9AA0A8"/>
                </a:solidFill>
                <a:latin typeface="Arial" pitchFamily="34" charset="0"/>
                <a:ea typeface="Arial" pitchFamily="34" charset="-122"/>
                <a:cs typeface="Arial" pitchFamily="34" charset="-120"/>
              </a:rPr>
              <a:t>이력을 편집하면 새 세션이 된다 — 의도된 동작이다.</a:t>
            </a:r>
            <a:endParaRPr lang="en-US" sz="1800" dirty="0"/>
          </a:p>
        </p:txBody>
      </p:sp>
      <p:sp>
        <p:nvSpPr>
          <p:cNvPr id="23" name="Shape 21"/>
          <p:cNvSpPr/>
          <p:nvPr/>
        </p:nvSpPr>
        <p:spPr>
          <a:xfrm>
            <a:off x="8742164" y="2499360"/>
            <a:ext cx="8497967" cy="4293870"/>
          </a:xfrm>
          <a:prstGeom prst="rect">
            <a:avLst/>
          </a:prstGeom>
          <a:solidFill>
            <a:srgbClr val="FFFFFF"/>
          </a:solidFill>
          <a:ln/>
        </p:spPr>
      </p:sp>
      <p:sp>
        <p:nvSpPr>
          <p:cNvPr id="24" name="Shape 22"/>
          <p:cNvSpPr/>
          <p:nvPr/>
        </p:nvSpPr>
        <p:spPr>
          <a:xfrm>
            <a:off x="8742164" y="6785610"/>
            <a:ext cx="8497967" cy="9525"/>
          </a:xfrm>
          <a:prstGeom prst="rect">
            <a:avLst/>
          </a:prstGeom>
          <a:solidFill>
            <a:srgbClr val="DFE1E6"/>
          </a:solidFill>
          <a:ln/>
        </p:spPr>
      </p:sp>
      <p:sp>
        <p:nvSpPr>
          <p:cNvPr id="25" name="Shape 23"/>
          <p:cNvSpPr/>
          <p:nvPr/>
        </p:nvSpPr>
        <p:spPr>
          <a:xfrm>
            <a:off x="8742164" y="2499360"/>
            <a:ext cx="8497967" cy="45720"/>
          </a:xfrm>
          <a:prstGeom prst="rect">
            <a:avLst/>
          </a:prstGeom>
          <a:solidFill>
            <a:srgbClr val="4F7CFF"/>
          </a:solidFill>
          <a:ln/>
        </p:spPr>
      </p:sp>
      <p:sp>
        <p:nvSpPr>
          <p:cNvPr id="26" name="Shape 24"/>
          <p:cNvSpPr/>
          <p:nvPr/>
        </p:nvSpPr>
        <p:spPr>
          <a:xfrm>
            <a:off x="8742164" y="2499360"/>
            <a:ext cx="9525" cy="4293870"/>
          </a:xfrm>
          <a:prstGeom prst="rect">
            <a:avLst/>
          </a:prstGeom>
          <a:solidFill>
            <a:srgbClr val="DFE1E6"/>
          </a:solidFill>
          <a:ln/>
        </p:spPr>
      </p:sp>
      <p:sp>
        <p:nvSpPr>
          <p:cNvPr id="27" name="Shape 25"/>
          <p:cNvSpPr/>
          <p:nvPr/>
        </p:nvSpPr>
        <p:spPr>
          <a:xfrm>
            <a:off x="17232511" y="2499360"/>
            <a:ext cx="9525" cy="4293870"/>
          </a:xfrm>
          <a:prstGeom prst="rect">
            <a:avLst/>
          </a:prstGeom>
          <a:solidFill>
            <a:srgbClr val="DFE1E6"/>
          </a:solidFill>
          <a:ln/>
        </p:spPr>
      </p:sp>
      <p:sp>
        <p:nvSpPr>
          <p:cNvPr id="28" name="Text 26"/>
          <p:cNvSpPr/>
          <p:nvPr/>
        </p:nvSpPr>
        <p:spPr>
          <a:xfrm>
            <a:off x="9054584" y="2811780"/>
            <a:ext cx="8660440" cy="434340"/>
          </a:xfrm>
          <a:prstGeom prst="rect">
            <a:avLst/>
          </a:prstGeom>
          <a:noFill/>
          <a:ln/>
        </p:spPr>
        <p:txBody>
          <a:bodyPr wrap="square" lIns="25400" tIns="25400" rIns="25400" bIns="25400" rtlCol="0" anchor="t">
            <a:normAutofit/>
          </a:bodyPr>
          <a:lstStyle/>
          <a:p>
            <a:pPr algn="l" indent="0" marL="0">
              <a:buNone/>
            </a:pPr>
            <a:r>
              <a:rPr lang="en-US" sz="2175" b="1" dirty="0">
                <a:solidFill>
                  <a:srgbClr val="16181D"/>
                </a:solidFill>
                <a:latin typeface="Arial" pitchFamily="34" charset="0"/>
                <a:ea typeface="Arial" pitchFamily="34" charset="-122"/>
                <a:cs typeface="Arial" pitchFamily="34" charset="-120"/>
              </a:rPr>
              <a:t>"근처" 의 장소는 목적지가 아니다</a:t>
            </a:r>
            <a:endParaRPr lang="en-US" sz="2175" dirty="0"/>
          </a:p>
        </p:txBody>
      </p:sp>
      <p:sp>
        <p:nvSpPr>
          <p:cNvPr id="29" name="Shape 27"/>
          <p:cNvSpPr/>
          <p:nvPr/>
        </p:nvSpPr>
        <p:spPr>
          <a:xfrm>
            <a:off x="9054584" y="3360420"/>
            <a:ext cx="7873127" cy="1158240"/>
          </a:xfrm>
          <a:prstGeom prst="rect">
            <a:avLst/>
          </a:prstGeom>
          <a:solidFill>
            <a:srgbClr val="FFF7ED"/>
          </a:solidFill>
          <a:ln w="7620">
            <a:solidFill>
              <a:srgbClr val="FED7AA"/>
            </a:solidFill>
            <a:prstDash val="solid"/>
          </a:ln>
        </p:spPr>
      </p:sp>
      <p:sp>
        <p:nvSpPr>
          <p:cNvPr id="30" name="Text 28"/>
          <p:cNvSpPr/>
          <p:nvPr/>
        </p:nvSpPr>
        <p:spPr>
          <a:xfrm>
            <a:off x="9290804" y="3558540"/>
            <a:ext cx="7636881" cy="800100"/>
          </a:xfrm>
          <a:prstGeom prst="rect">
            <a:avLst/>
          </a:prstGeom>
          <a:noFill/>
          <a:ln/>
        </p:spPr>
        <p:txBody>
          <a:bodyPr wrap="square" lIns="25400" tIns="25400" rIns="25400" bIns="25400" rtlCol="0" anchor="t">
            <a:normAutofit/>
          </a:bodyPr>
          <a:lstStyle/>
          <a:p>
            <a:pPr algn="l" indent="0" marL="0">
              <a:lnSpc>
                <a:spcPct val="138889"/>
              </a:lnSpc>
              <a:buNone/>
            </a:pPr>
            <a:r>
              <a:rPr lang="en-US" sz="1875" dirty="0">
                <a:solidFill>
                  <a:srgbClr val="7C2D12"/>
                </a:solidFill>
                <a:highlight>
                  <a:srgbClr val="FFF7ED"/>
                </a:highlight>
                <a:latin typeface="Arial" pitchFamily="34" charset="0"/>
                <a:ea typeface="Arial" pitchFamily="34" charset="-122"/>
                <a:cs typeface="Arial" pitchFamily="34" charset="-120"/>
              </a:rPr>
              <a:t>"광명역 근처 호텔" → "인천공항에서는?" = 인천공항 → </a:t>
            </a:r>
            <a:pPr algn="l" indent="0" marL="0">
              <a:lnSpc>
                <a:spcPct val="138889"/>
              </a:lnSpc>
              <a:buNone/>
            </a:pPr>
            <a:r>
              <a:rPr lang="en-US" sz="1875" b="1" dirty="0">
                <a:solidFill>
                  <a:srgbClr val="7C2D12"/>
                </a:solidFill>
                <a:latin typeface="Arial" pitchFamily="34" charset="0"/>
                <a:ea typeface="Arial" pitchFamily="34" charset="-122"/>
                <a:cs typeface="Arial" pitchFamily="34" charset="-120"/>
              </a:rPr>
              <a:t>광명역 </a:t>
            </a:r>
            <a:pPr algn="l" indent="0" marL="0">
              <a:lnSpc>
                <a:spcPct val="138889"/>
              </a:lnSpc>
              <a:buNone/>
            </a:pPr>
            <a:r>
              <a:rPr lang="en-US" sz="1875" dirty="0">
                <a:solidFill>
                  <a:srgbClr val="7C2D12"/>
                </a:solidFill>
                <a:highlight>
                  <a:srgbClr val="FFF7ED"/>
                </a:highlight>
                <a:latin typeface="Arial" pitchFamily="34" charset="0"/>
                <a:ea typeface="Arial" pitchFamily="34" charset="-122"/>
                <a:cs typeface="Arial" pitchFamily="34" charset="-120"/>
              </a:rPr>
              <a:t>으로 샌다</a:t>
            </a:r>
            <a:endParaRPr lang="en-US" sz="1875" dirty="0"/>
          </a:p>
        </p:txBody>
      </p:sp>
      <p:sp>
        <p:nvSpPr>
          <p:cNvPr id="31" name="Text 29"/>
          <p:cNvSpPr/>
          <p:nvPr/>
        </p:nvSpPr>
        <p:spPr>
          <a:xfrm>
            <a:off x="9054584" y="4701540"/>
            <a:ext cx="2351544" cy="312420"/>
          </a:xfrm>
          <a:prstGeom prst="rect">
            <a:avLst/>
          </a:prstGeom>
          <a:noFill/>
          <a:ln/>
        </p:spPr>
        <p:txBody>
          <a:bodyPr wrap="none" lIns="25400" tIns="25400" rIns="25400" bIns="25400" rtlCol="0" anchor="t">
            <a:normAutofit/>
          </a:bodyPr>
          <a:lstStyle/>
          <a:p>
            <a:pPr algn="l" indent="0" marL="0">
              <a:buNone/>
            </a:pPr>
            <a:r>
              <a:rPr lang="en-US" sz="1650" dirty="0">
                <a:solidFill>
                  <a:srgbClr val="C2410C"/>
                </a:solidFill>
                <a:latin typeface="Roboto Mono" pitchFamily="34" charset="0"/>
                <a:ea typeface="Roboto Mono" pitchFamily="34" charset="-122"/>
                <a:cs typeface="Roboto Mono" pitchFamily="34" charset="-120"/>
              </a:rPr>
              <a:t>PROXIMITY_INTENTS</a:t>
            </a:r>
            <a:endParaRPr lang="en-US" sz="1650" dirty="0"/>
          </a:p>
        </p:txBody>
      </p:sp>
      <p:sp>
        <p:nvSpPr>
          <p:cNvPr id="32" name="Text 30"/>
          <p:cNvSpPr/>
          <p:nvPr/>
        </p:nvSpPr>
        <p:spPr>
          <a:xfrm>
            <a:off x="11382852" y="4671060"/>
            <a:ext cx="5711206"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search_lodging · share_mobility · search_parking · search_ev_charger </a:t>
            </a:r>
            <a:pPr algn="l" indent="0" marL="0">
              <a:lnSpc>
                <a:spcPct val="132353"/>
              </a:lnSpc>
              <a:buNone/>
            </a:pPr>
            <a:r>
              <a:rPr lang="en-US" sz="1800" b="1" dirty="0">
                <a:solidFill>
                  <a:srgbClr val="4A5058"/>
                </a:solidFill>
                <a:latin typeface="Arial" pitchFamily="34" charset="0"/>
                <a:ea typeface="Arial" pitchFamily="34" charset="-122"/>
                <a:cs typeface="Arial" pitchFamily="34" charset="-120"/>
              </a:rPr>
              <a:t>origin/destination 을 세션에 저장하지 않는다</a:t>
            </a:r>
            <a:endParaRPr lang="en-US" sz="1800" dirty="0"/>
          </a:p>
        </p:txBody>
      </p:sp>
      <p:sp>
        <p:nvSpPr>
          <p:cNvPr id="33" name="Text 31"/>
          <p:cNvSpPr/>
          <p:nvPr/>
        </p:nvSpPr>
        <p:spPr>
          <a:xfrm>
            <a:off x="9054584" y="5863590"/>
            <a:ext cx="2351544" cy="312420"/>
          </a:xfrm>
          <a:prstGeom prst="rect">
            <a:avLst/>
          </a:prstGeom>
          <a:noFill/>
          <a:ln/>
        </p:spPr>
        <p:txBody>
          <a:bodyPr wrap="none" lIns="25400" tIns="25400" rIns="25400" bIns="25400" rtlCol="0" anchor="t">
            <a:normAutofit/>
          </a:bodyPr>
          <a:lstStyle/>
          <a:p>
            <a:pPr algn="l" indent="0" marL="0">
              <a:buNone/>
            </a:pPr>
            <a:r>
              <a:rPr lang="en-US" sz="1650" dirty="0">
                <a:solidFill>
                  <a:srgbClr val="00845C"/>
                </a:solidFill>
                <a:latin typeface="Roboto Mono" pitchFamily="34" charset="0"/>
                <a:ea typeface="Roboto Mono" pitchFamily="34" charset="-122"/>
                <a:cs typeface="Roboto Mono" pitchFamily="34" charset="-120"/>
              </a:rPr>
              <a:t>ROUTE_INTENTS</a:t>
            </a:r>
            <a:endParaRPr lang="en-US" sz="1650" dirty="0"/>
          </a:p>
        </p:txBody>
      </p:sp>
      <p:sp>
        <p:nvSpPr>
          <p:cNvPr id="34" name="Text 32"/>
          <p:cNvSpPr/>
          <p:nvPr/>
        </p:nvSpPr>
        <p:spPr>
          <a:xfrm>
            <a:off x="11382852" y="5833110"/>
            <a:ext cx="5711206"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search_rail · search_bus · search_flight · plan_journey </a:t>
            </a:r>
            <a:pPr algn="l" indent="0" marL="0">
              <a:lnSpc>
                <a:spcPct val="132353"/>
              </a:lnSpc>
              <a:buNone/>
            </a:pPr>
            <a:r>
              <a:rPr lang="en-US" sz="1800" b="1" dirty="0">
                <a:solidFill>
                  <a:srgbClr val="4A5058"/>
                </a:solidFill>
                <a:latin typeface="Arial" pitchFamily="34" charset="0"/>
                <a:ea typeface="Arial" pitchFamily="34" charset="-122"/>
                <a:cs typeface="Arial" pitchFamily="34" charset="-120"/>
              </a:rPr>
              <a:t>여기서만 저장한다</a:t>
            </a:r>
            <a:endParaRPr lang="en-US" sz="1800" dirty="0"/>
          </a:p>
        </p:txBody>
      </p:sp>
      <p:sp>
        <p:nvSpPr>
          <p:cNvPr id="35" name="Shape 33"/>
          <p:cNvSpPr/>
          <p:nvPr/>
        </p:nvSpPr>
        <p:spPr>
          <a:xfrm>
            <a:off x="8742164" y="6983730"/>
            <a:ext cx="8497967" cy="3303270"/>
          </a:xfrm>
          <a:prstGeom prst="rect">
            <a:avLst/>
          </a:prstGeom>
          <a:solidFill>
            <a:srgbClr val="F3F6FF"/>
          </a:solidFill>
          <a:ln w="7620">
            <a:solidFill>
              <a:srgbClr val="C9D6FF"/>
            </a:solidFill>
            <a:prstDash val="solid"/>
          </a:ln>
        </p:spPr>
      </p:sp>
      <p:sp>
        <p:nvSpPr>
          <p:cNvPr id="36" name="Text 34"/>
          <p:cNvSpPr/>
          <p:nvPr/>
        </p:nvSpPr>
        <p:spPr>
          <a:xfrm>
            <a:off x="9054584" y="7258050"/>
            <a:ext cx="8660440"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왜 파일 하나로 뽑았는가 — 주석에 남은 사고</a:t>
            </a:r>
            <a:endParaRPr lang="en-US" sz="1650" dirty="0"/>
          </a:p>
        </p:txBody>
      </p:sp>
      <p:sp>
        <p:nvSpPr>
          <p:cNvPr id="37" name="Text 35"/>
          <p:cNvSpPr/>
          <p:nvPr/>
        </p:nvSpPr>
        <p:spPr>
          <a:xfrm>
            <a:off x="9054584" y="7665720"/>
            <a:ext cx="8109321" cy="83058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1F2937"/>
                </a:solidFill>
                <a:latin typeface="Arial" pitchFamily="34" charset="0"/>
                <a:ea typeface="Arial" pitchFamily="34" charset="-122"/>
                <a:cs typeface="Arial" pitchFamily="34" charset="-120"/>
              </a:rPr>
              <a:t>과거 이 로직이 </a:t>
            </a:r>
            <a:pPr algn="l" indent="0" marL="0">
              <a:lnSpc>
                <a:spcPct val="140541"/>
              </a:lnSpc>
              <a:buNone/>
            </a:pPr>
            <a:r>
              <a:rPr lang="en-US" sz="1950" b="1" dirty="0">
                <a:solidFill>
                  <a:srgbClr val="1F2937"/>
                </a:solidFill>
                <a:latin typeface="Arial" pitchFamily="34" charset="0"/>
                <a:ea typeface="Arial" pitchFamily="34" charset="-122"/>
                <a:cs typeface="Arial" pitchFamily="34" charset="-120"/>
              </a:rPr>
              <a:t>두 파일에 중복 </a:t>
            </a:r>
            <a:pPr algn="l" indent="0" marL="0">
              <a:lnSpc>
                <a:spcPct val="140541"/>
              </a:lnSpc>
              <a:buNone/>
            </a:pPr>
            <a:r>
              <a:rPr lang="en-US" sz="1950" dirty="0">
                <a:solidFill>
                  <a:srgbClr val="1F2937"/>
                </a:solidFill>
                <a:latin typeface="Arial" pitchFamily="34" charset="0"/>
                <a:ea typeface="Arial" pitchFamily="34" charset="-122"/>
                <a:cs typeface="Arial" pitchFamily="34" charset="-120"/>
              </a:rPr>
              <a:t>돼 있었고, 한쪽만 고치고 다른 쪽을 방치해 사고가 났다( </a:t>
            </a:r>
            <a:pPr algn="l" indent="0" marL="0">
              <a:lnSpc>
                <a:spcPct val="140541"/>
              </a:lnSpc>
              <a:buNone/>
            </a:pPr>
            <a:r>
              <a:rPr lang="en-US" sz="1650" dirty="0">
                <a:solidFill>
                  <a:srgbClr val="1F2937"/>
                </a:solidFill>
                <a:latin typeface="Roboto Mono" pitchFamily="34" charset="0"/>
                <a:ea typeface="Roboto Mono" pitchFamily="34" charset="-122"/>
                <a:cs typeface="Roboto Mono" pitchFamily="34" charset="-120"/>
              </a:rPr>
              <a:t>832f422 </a:t>
            </a:r>
            <a:pPr algn="l" indent="0" marL="0">
              <a:lnSpc>
                <a:spcPct val="140541"/>
              </a:lnSpc>
              <a:buNone/>
            </a:pPr>
            <a:r>
              <a:rPr lang="en-US" sz="1950" dirty="0">
                <a:solidFill>
                  <a:srgbClr val="1F2937"/>
                </a:solidFill>
                <a:latin typeface="Arial" pitchFamily="34" charset="0"/>
                <a:ea typeface="Arial" pitchFamily="34" charset="-122"/>
                <a:cs typeface="Arial" pitchFamily="34" charset="-120"/>
              </a:rPr>
              <a:t>— ui/api.py 에만 버그가 남아 있었음).</a:t>
            </a:r>
            <a:endParaRPr lang="en-US" sz="1950" dirty="0"/>
          </a:p>
        </p:txBody>
      </p:sp>
      <p:sp>
        <p:nvSpPr>
          <p:cNvPr id="38" name="Text 36"/>
          <p:cNvSpPr/>
          <p:nvPr/>
        </p:nvSpPr>
        <p:spPr>
          <a:xfrm>
            <a:off x="9054584" y="8591550"/>
            <a:ext cx="8109321" cy="830580"/>
          </a:xfrm>
          <a:prstGeom prst="rect">
            <a:avLst/>
          </a:prstGeom>
          <a:noFill/>
          <a:ln/>
        </p:spPr>
        <p:txBody>
          <a:bodyPr wrap="square" lIns="25400" tIns="25400" rIns="25400" bIns="25400" rtlCol="0" anchor="t">
            <a:normAutofit/>
          </a:bodyPr>
          <a:lstStyle/>
          <a:p>
            <a:pPr algn="l" indent="0" marL="0">
              <a:lnSpc>
                <a:spcPct val="140541"/>
              </a:lnSpc>
              <a:buNone/>
            </a:pPr>
            <a:r>
              <a:rPr lang="en-US" sz="1950" dirty="0">
                <a:solidFill>
                  <a:srgbClr val="1F2937"/>
                </a:solidFill>
                <a:latin typeface="Arial" pitchFamily="34" charset="0"/>
                <a:ea typeface="Arial" pitchFamily="34" charset="-122"/>
                <a:cs typeface="Arial" pitchFamily="34" charset="-120"/>
              </a:rPr>
              <a:t>"새로 손볼 일이 생기면 </a:t>
            </a:r>
            <a:pPr algn="l" indent="0" marL="0">
              <a:lnSpc>
                <a:spcPct val="140541"/>
              </a:lnSpc>
              <a:buNone/>
            </a:pPr>
            <a:r>
              <a:rPr lang="en-US" sz="1950" b="1" dirty="0">
                <a:solidFill>
                  <a:srgbClr val="1F2937"/>
                </a:solidFill>
                <a:latin typeface="Arial" pitchFamily="34" charset="0"/>
                <a:ea typeface="Arial" pitchFamily="34" charset="-122"/>
                <a:cs typeface="Arial" pitchFamily="34" charset="-120"/>
              </a:rPr>
              <a:t>반드시 이 파일 하나만 </a:t>
            </a:r>
            <a:pPr algn="l" indent="0" marL="0">
              <a:lnSpc>
                <a:spcPct val="140541"/>
              </a:lnSpc>
              <a:buNone/>
            </a:pPr>
            <a:r>
              <a:rPr lang="en-US" sz="1950" dirty="0">
                <a:solidFill>
                  <a:srgbClr val="1F2937"/>
                </a:solidFill>
                <a:latin typeface="Arial" pitchFamily="34" charset="0"/>
                <a:ea typeface="Arial" pitchFamily="34" charset="-122"/>
                <a:cs typeface="Arial" pitchFamily="34" charset="-120"/>
              </a:rPr>
              <a:t>고친다." — </a:t>
            </a:r>
            <a:pPr algn="l" indent="0" marL="0">
              <a:lnSpc>
                <a:spcPct val="140541"/>
              </a:lnSpc>
              <a:buNone/>
            </a:pPr>
            <a:r>
              <a:rPr lang="en-US" sz="1650" dirty="0">
                <a:solidFill>
                  <a:srgbClr val="1F2937"/>
                </a:solidFill>
                <a:latin typeface="Roboto Mono" pitchFamily="34" charset="0"/>
                <a:ea typeface="Roboto Mono" pitchFamily="34" charset="-122"/>
                <a:cs typeface="Roboto Mono" pitchFamily="34" charset="-120"/>
              </a:rPr>
              <a:t>ui/session_slots.py</a:t>
            </a:r>
            <a:endParaRPr lang="en-US" sz="1950" dirty="0"/>
          </a:p>
        </p:txBody>
      </p:sp>
      <p:sp>
        <p:nvSpPr>
          <p:cNvPr id="39" name="Shape 37"/>
          <p:cNvSpPr/>
          <p:nvPr/>
        </p:nvSpPr>
        <p:spPr>
          <a:xfrm>
            <a:off x="9054584" y="9517380"/>
            <a:ext cx="7873127" cy="9525"/>
          </a:xfrm>
          <a:prstGeom prst="rect">
            <a:avLst/>
          </a:prstGeom>
          <a:solidFill>
            <a:srgbClr val="C9D6FF"/>
          </a:solidFill>
          <a:ln/>
        </p:spPr>
      </p:sp>
      <p:sp>
        <p:nvSpPr>
          <p:cNvPr id="40" name="Text 38"/>
          <p:cNvSpPr/>
          <p:nvPr/>
        </p:nvSpPr>
        <p:spPr>
          <a:xfrm>
            <a:off x="9054584" y="9658350"/>
            <a:ext cx="8109321" cy="39243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응답의 </a:t>
            </a:r>
            <a:pPr algn="l" indent="0" marL="0">
              <a:lnSpc>
                <a:spcPct val="136765"/>
              </a:lnSpc>
              <a:buNone/>
            </a:pPr>
            <a:r>
              <a:rPr lang="en-US" sz="1575" dirty="0">
                <a:solidFill>
                  <a:srgbClr val="4A5058"/>
                </a:solidFill>
                <a:latin typeface="Roboto Mono" pitchFamily="34" charset="0"/>
                <a:ea typeface="Roboto Mono" pitchFamily="34" charset="-122"/>
                <a:cs typeface="Roboto Mono" pitchFamily="34" charset="-120"/>
              </a:rPr>
              <a:t>carried_slots </a:t>
            </a:r>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로 어떤 슬롯이 승계됐는지 클라이언트가 확인할 수 있다.</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1047750" y="723900"/>
            <a:ext cx="1781175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24 · API SURFACE</a:t>
            </a:r>
            <a:endParaRPr lang="en-US" sz="1800" dirty="0"/>
          </a:p>
        </p:txBody>
      </p:sp>
      <p:sp>
        <p:nvSpPr>
          <p:cNvPr id="3" name="Text 1"/>
          <p:cNvSpPr/>
          <p:nvPr/>
        </p:nvSpPr>
        <p:spPr>
          <a:xfrm>
            <a:off x="1047750" y="1135380"/>
            <a:ext cx="17811750"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자체 스키마 + OpenAI 호환, 두 벌</a:t>
            </a:r>
            <a:endParaRPr lang="en-US" sz="4950" dirty="0"/>
          </a:p>
        </p:txBody>
      </p:sp>
      <p:sp>
        <p:nvSpPr>
          <p:cNvPr id="4" name="Shape 2"/>
          <p:cNvSpPr/>
          <p:nvPr/>
        </p:nvSpPr>
        <p:spPr>
          <a:xfrm>
            <a:off x="1047750" y="2350770"/>
            <a:ext cx="8331994" cy="3371850"/>
          </a:xfrm>
          <a:prstGeom prst="rect">
            <a:avLst/>
          </a:prstGeom>
          <a:solidFill>
            <a:srgbClr val="FFFFFF"/>
          </a:solidFill>
          <a:ln w="7620">
            <a:solidFill>
              <a:srgbClr val="DFE1E6"/>
            </a:solidFill>
            <a:prstDash val="solid"/>
          </a:ln>
        </p:spPr>
      </p:sp>
      <p:sp>
        <p:nvSpPr>
          <p:cNvPr id="5" name="Shape 3"/>
          <p:cNvSpPr/>
          <p:nvPr/>
        </p:nvSpPr>
        <p:spPr>
          <a:xfrm>
            <a:off x="1341120" y="2948940"/>
            <a:ext cx="4176594" cy="15240"/>
          </a:xfrm>
          <a:prstGeom prst="rect">
            <a:avLst/>
          </a:prstGeom>
          <a:solidFill>
            <a:srgbClr val="16181D"/>
          </a:solidFill>
          <a:ln/>
        </p:spPr>
      </p:sp>
      <p:sp>
        <p:nvSpPr>
          <p:cNvPr id="6" name="Text 4"/>
          <p:cNvSpPr/>
          <p:nvPr/>
        </p:nvSpPr>
        <p:spPr>
          <a:xfrm>
            <a:off x="1341120" y="2606040"/>
            <a:ext cx="4301891" cy="304800"/>
          </a:xfrm>
          <a:prstGeom prst="rect">
            <a:avLst/>
          </a:prstGeom>
          <a:noFill/>
          <a:ln/>
        </p:spPr>
        <p:txBody>
          <a:bodyPr wrap="square" lIns="25400" tIns="25400" rIns="25400" bIns="25400" rtlCol="0" anchor="t">
            <a:normAutofit/>
          </a:bodyPr>
          <a:lstStyle/>
          <a:p>
            <a:pPr algn="l" indent="0" marL="0">
              <a:buNone/>
            </a:pPr>
            <a:r>
              <a:rPr lang="en-US" sz="1575" dirty="0">
                <a:solidFill>
                  <a:srgbClr val="8A9099"/>
                </a:solidFill>
                <a:latin typeface="Roboto Mono" pitchFamily="34" charset="0"/>
                <a:ea typeface="Roboto Mono" pitchFamily="34" charset="-122"/>
                <a:cs typeface="Roboto Mono" pitchFamily="34" charset="-120"/>
              </a:rPr>
              <a:t>엔드포인트</a:t>
            </a:r>
            <a:endParaRPr lang="en-US" sz="1575" dirty="0"/>
          </a:p>
        </p:txBody>
      </p:sp>
      <p:sp>
        <p:nvSpPr>
          <p:cNvPr id="7" name="Shape 5"/>
          <p:cNvSpPr/>
          <p:nvPr/>
        </p:nvSpPr>
        <p:spPr>
          <a:xfrm>
            <a:off x="5708214" y="2948940"/>
            <a:ext cx="2784515" cy="15240"/>
          </a:xfrm>
          <a:prstGeom prst="rect">
            <a:avLst/>
          </a:prstGeom>
          <a:solidFill>
            <a:srgbClr val="16181D"/>
          </a:solidFill>
          <a:ln/>
        </p:spPr>
      </p:sp>
      <p:sp>
        <p:nvSpPr>
          <p:cNvPr id="8" name="Text 6"/>
          <p:cNvSpPr/>
          <p:nvPr/>
        </p:nvSpPr>
        <p:spPr>
          <a:xfrm>
            <a:off x="5708214" y="2606040"/>
            <a:ext cx="2868050" cy="304800"/>
          </a:xfrm>
          <a:prstGeom prst="rect">
            <a:avLst/>
          </a:prstGeom>
          <a:noFill/>
          <a:ln/>
        </p:spPr>
        <p:txBody>
          <a:bodyPr wrap="square" lIns="25400" tIns="25400" rIns="25400" bIns="25400" rtlCol="0" anchor="t">
            <a:normAutofit/>
          </a:bodyPr>
          <a:lstStyle/>
          <a:p>
            <a:pPr algn="l" indent="0" marL="0">
              <a:buNone/>
            </a:pPr>
            <a:r>
              <a:rPr lang="en-US" sz="1575" dirty="0">
                <a:solidFill>
                  <a:srgbClr val="8A9099"/>
                </a:solidFill>
                <a:latin typeface="Roboto Mono" pitchFamily="34" charset="0"/>
                <a:ea typeface="Roboto Mono" pitchFamily="34" charset="-122"/>
                <a:cs typeface="Roboto Mono" pitchFamily="34" charset="-120"/>
              </a:rPr>
              <a:t>용도</a:t>
            </a:r>
            <a:endParaRPr lang="en-US" sz="1575" dirty="0"/>
          </a:p>
        </p:txBody>
      </p:sp>
      <p:sp>
        <p:nvSpPr>
          <p:cNvPr id="9" name="Shape 7"/>
          <p:cNvSpPr/>
          <p:nvPr/>
        </p:nvSpPr>
        <p:spPr>
          <a:xfrm>
            <a:off x="8683228" y="2948940"/>
            <a:ext cx="403146" cy="15240"/>
          </a:xfrm>
          <a:prstGeom prst="rect">
            <a:avLst/>
          </a:prstGeom>
          <a:solidFill>
            <a:srgbClr val="16181D"/>
          </a:solidFill>
          <a:ln/>
        </p:spPr>
      </p:sp>
      <p:sp>
        <p:nvSpPr>
          <p:cNvPr id="10" name="Text 8"/>
          <p:cNvSpPr/>
          <p:nvPr/>
        </p:nvSpPr>
        <p:spPr>
          <a:xfrm>
            <a:off x="8683228" y="2606040"/>
            <a:ext cx="479346" cy="304800"/>
          </a:xfrm>
          <a:prstGeom prst="rect">
            <a:avLst/>
          </a:prstGeom>
          <a:noFill/>
          <a:ln/>
        </p:spPr>
        <p:txBody>
          <a:bodyPr wrap="square" lIns="25400" tIns="25400" rIns="25400" bIns="25400" rtlCol="0" anchor="t">
            <a:normAutofit/>
          </a:bodyPr>
          <a:lstStyle/>
          <a:p>
            <a:pPr algn="l" indent="0" marL="0">
              <a:buNone/>
            </a:pPr>
            <a:r>
              <a:rPr lang="en-US" sz="1575" dirty="0">
                <a:solidFill>
                  <a:srgbClr val="8A9099"/>
                </a:solidFill>
                <a:latin typeface="Roboto Mono" pitchFamily="34" charset="0"/>
                <a:ea typeface="Roboto Mono" pitchFamily="34" charset="-122"/>
                <a:cs typeface="Roboto Mono" pitchFamily="34" charset="-120"/>
              </a:rPr>
              <a:t>인증</a:t>
            </a:r>
            <a:endParaRPr lang="en-US" sz="1575" dirty="0"/>
          </a:p>
        </p:txBody>
      </p:sp>
      <p:sp>
        <p:nvSpPr>
          <p:cNvPr id="11" name="Text 9"/>
          <p:cNvSpPr/>
          <p:nvPr/>
        </p:nvSpPr>
        <p:spPr>
          <a:xfrm>
            <a:off x="1341120" y="3091815"/>
            <a:ext cx="4594253"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POST /v1/chat/completions</a:t>
            </a:r>
            <a:endParaRPr lang="en-US" sz="1725" dirty="0"/>
          </a:p>
        </p:txBody>
      </p:sp>
      <p:sp>
        <p:nvSpPr>
          <p:cNvPr id="12" name="Text 10"/>
          <p:cNvSpPr/>
          <p:nvPr/>
        </p:nvSpPr>
        <p:spPr>
          <a:xfrm>
            <a:off x="5708214" y="3068955"/>
            <a:ext cx="3062966"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OpenAI 호환</a:t>
            </a:r>
            <a:endParaRPr lang="en-US" sz="1725" dirty="0"/>
          </a:p>
        </p:txBody>
      </p:sp>
      <p:sp>
        <p:nvSpPr>
          <p:cNvPr id="13" name="Text 11"/>
          <p:cNvSpPr/>
          <p:nvPr/>
        </p:nvSpPr>
        <p:spPr>
          <a:xfrm>
            <a:off x="8683228" y="3068955"/>
            <a:ext cx="479346" cy="350520"/>
          </a:xfrm>
          <a:prstGeom prst="rect">
            <a:avLst/>
          </a:prstGeom>
          <a:noFill/>
          <a:ln/>
        </p:spPr>
        <p:txBody>
          <a:bodyPr wrap="squar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없음</a:t>
            </a:r>
            <a:endParaRPr lang="en-US" sz="1725" dirty="0"/>
          </a:p>
        </p:txBody>
      </p:sp>
      <p:sp>
        <p:nvSpPr>
          <p:cNvPr id="14" name="Text 12"/>
          <p:cNvSpPr/>
          <p:nvPr/>
        </p:nvSpPr>
        <p:spPr>
          <a:xfrm>
            <a:off x="1341120" y="3509010"/>
            <a:ext cx="4594253"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GET /v1/models</a:t>
            </a:r>
            <a:endParaRPr lang="en-US" sz="1725" dirty="0"/>
          </a:p>
        </p:txBody>
      </p:sp>
      <p:sp>
        <p:nvSpPr>
          <p:cNvPr id="15" name="Text 13"/>
          <p:cNvSpPr/>
          <p:nvPr/>
        </p:nvSpPr>
        <p:spPr>
          <a:xfrm>
            <a:off x="5708214" y="3486150"/>
            <a:ext cx="3062966"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모델 목록</a:t>
            </a:r>
            <a:endParaRPr lang="en-US" sz="1725" dirty="0"/>
          </a:p>
        </p:txBody>
      </p:sp>
      <p:sp>
        <p:nvSpPr>
          <p:cNvPr id="16" name="Text 14"/>
          <p:cNvSpPr/>
          <p:nvPr/>
        </p:nvSpPr>
        <p:spPr>
          <a:xfrm>
            <a:off x="8683228" y="3486150"/>
            <a:ext cx="479346" cy="350520"/>
          </a:xfrm>
          <a:prstGeom prst="rect">
            <a:avLst/>
          </a:prstGeom>
          <a:noFill/>
          <a:ln/>
        </p:spPr>
        <p:txBody>
          <a:bodyPr wrap="squar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없음</a:t>
            </a:r>
            <a:endParaRPr lang="en-US" sz="1725" dirty="0"/>
          </a:p>
        </p:txBody>
      </p:sp>
      <p:sp>
        <p:nvSpPr>
          <p:cNvPr id="17" name="Text 15"/>
          <p:cNvSpPr/>
          <p:nvPr/>
        </p:nvSpPr>
        <p:spPr>
          <a:xfrm>
            <a:off x="1341120" y="3926205"/>
            <a:ext cx="4594253"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POST /v1/chat</a:t>
            </a:r>
            <a:endParaRPr lang="en-US" sz="1725" dirty="0"/>
          </a:p>
        </p:txBody>
      </p:sp>
      <p:sp>
        <p:nvSpPr>
          <p:cNvPr id="18" name="Text 16"/>
          <p:cNvSpPr/>
          <p:nvPr/>
        </p:nvSpPr>
        <p:spPr>
          <a:xfrm>
            <a:off x="5708214" y="3903345"/>
            <a:ext cx="3062966"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대화 (자체 스키마)</a:t>
            </a:r>
            <a:endParaRPr lang="en-US" sz="1725" dirty="0"/>
          </a:p>
        </p:txBody>
      </p:sp>
      <p:sp>
        <p:nvSpPr>
          <p:cNvPr id="19" name="Text 17"/>
          <p:cNvSpPr/>
          <p:nvPr/>
        </p:nvSpPr>
        <p:spPr>
          <a:xfrm>
            <a:off x="8683228" y="3903345"/>
            <a:ext cx="479346" cy="350520"/>
          </a:xfrm>
          <a:prstGeom prst="rect">
            <a:avLst/>
          </a:prstGeom>
          <a:noFill/>
          <a:ln/>
        </p:spPr>
        <p:txBody>
          <a:bodyPr wrap="square" lIns="25400" tIns="25400" rIns="25400" bIns="25400" rtlCol="0" anchor="t">
            <a:normAutofit/>
          </a:bodyPr>
          <a:lstStyle/>
          <a:p>
            <a:pPr algn="l" indent="0" marL="0">
              <a:buNone/>
            </a:pPr>
            <a:r>
              <a:rPr lang="en-US" sz="1725" dirty="0">
                <a:solidFill>
                  <a:srgbClr val="00845C"/>
                </a:solidFill>
                <a:latin typeface="Arial" pitchFamily="34" charset="0"/>
                <a:ea typeface="Arial" pitchFamily="34" charset="-122"/>
                <a:cs typeface="Arial" pitchFamily="34" charset="-120"/>
              </a:rPr>
              <a:t>필요</a:t>
            </a:r>
            <a:endParaRPr lang="en-US" sz="1725" dirty="0"/>
          </a:p>
        </p:txBody>
      </p:sp>
      <p:sp>
        <p:nvSpPr>
          <p:cNvPr id="20" name="Text 18"/>
          <p:cNvSpPr/>
          <p:nvPr/>
        </p:nvSpPr>
        <p:spPr>
          <a:xfrm>
            <a:off x="1341120" y="4343400"/>
            <a:ext cx="4594253"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POST /v1/evaluate</a:t>
            </a:r>
            <a:endParaRPr lang="en-US" sz="1725" dirty="0"/>
          </a:p>
        </p:txBody>
      </p:sp>
      <p:sp>
        <p:nvSpPr>
          <p:cNvPr id="21" name="Text 19"/>
          <p:cNvSpPr/>
          <p:nvPr/>
        </p:nvSpPr>
        <p:spPr>
          <a:xfrm>
            <a:off x="5708214" y="4320540"/>
            <a:ext cx="3062966"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단건 계층 평가</a:t>
            </a:r>
            <a:endParaRPr lang="en-US" sz="1725" dirty="0"/>
          </a:p>
        </p:txBody>
      </p:sp>
      <p:sp>
        <p:nvSpPr>
          <p:cNvPr id="22" name="Text 20"/>
          <p:cNvSpPr/>
          <p:nvPr/>
        </p:nvSpPr>
        <p:spPr>
          <a:xfrm>
            <a:off x="8683228" y="4320540"/>
            <a:ext cx="479346" cy="350520"/>
          </a:xfrm>
          <a:prstGeom prst="rect">
            <a:avLst/>
          </a:prstGeom>
          <a:noFill/>
          <a:ln/>
        </p:spPr>
        <p:txBody>
          <a:bodyPr wrap="square" lIns="25400" tIns="25400" rIns="25400" bIns="25400" rtlCol="0" anchor="t">
            <a:normAutofit/>
          </a:bodyPr>
          <a:lstStyle/>
          <a:p>
            <a:pPr algn="l" indent="0" marL="0">
              <a:buNone/>
            </a:pPr>
            <a:r>
              <a:rPr lang="en-US" sz="1725" dirty="0">
                <a:solidFill>
                  <a:srgbClr val="00845C"/>
                </a:solidFill>
                <a:latin typeface="Arial" pitchFamily="34" charset="0"/>
                <a:ea typeface="Arial" pitchFamily="34" charset="-122"/>
                <a:cs typeface="Arial" pitchFamily="34" charset="-120"/>
              </a:rPr>
              <a:t>필요</a:t>
            </a:r>
            <a:endParaRPr lang="en-US" sz="1725" dirty="0"/>
          </a:p>
        </p:txBody>
      </p:sp>
      <p:sp>
        <p:nvSpPr>
          <p:cNvPr id="23" name="Text 21"/>
          <p:cNvSpPr/>
          <p:nvPr/>
        </p:nvSpPr>
        <p:spPr>
          <a:xfrm>
            <a:off x="1341120" y="4760595"/>
            <a:ext cx="4594253"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POST /v1/evaluate/batch</a:t>
            </a:r>
            <a:endParaRPr lang="en-US" sz="1725" dirty="0"/>
          </a:p>
        </p:txBody>
      </p:sp>
      <p:sp>
        <p:nvSpPr>
          <p:cNvPr id="24" name="Text 22"/>
          <p:cNvSpPr/>
          <p:nvPr/>
        </p:nvSpPr>
        <p:spPr>
          <a:xfrm>
            <a:off x="5708214" y="4737735"/>
            <a:ext cx="3062966"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배치 (최대 200)</a:t>
            </a:r>
            <a:endParaRPr lang="en-US" sz="1725" dirty="0"/>
          </a:p>
        </p:txBody>
      </p:sp>
      <p:sp>
        <p:nvSpPr>
          <p:cNvPr id="25" name="Text 23"/>
          <p:cNvSpPr/>
          <p:nvPr/>
        </p:nvSpPr>
        <p:spPr>
          <a:xfrm>
            <a:off x="8683228" y="4737735"/>
            <a:ext cx="479346" cy="350520"/>
          </a:xfrm>
          <a:prstGeom prst="rect">
            <a:avLst/>
          </a:prstGeom>
          <a:noFill/>
          <a:ln/>
        </p:spPr>
        <p:txBody>
          <a:bodyPr wrap="square" lIns="25400" tIns="25400" rIns="25400" bIns="25400" rtlCol="0" anchor="t">
            <a:normAutofit/>
          </a:bodyPr>
          <a:lstStyle/>
          <a:p>
            <a:pPr algn="l" indent="0" marL="0">
              <a:buNone/>
            </a:pPr>
            <a:r>
              <a:rPr lang="en-US" sz="1725" dirty="0">
                <a:solidFill>
                  <a:srgbClr val="00845C"/>
                </a:solidFill>
                <a:latin typeface="Arial" pitchFamily="34" charset="0"/>
                <a:ea typeface="Arial" pitchFamily="34" charset="-122"/>
                <a:cs typeface="Arial" pitchFamily="34" charset="-120"/>
              </a:rPr>
              <a:t>필요</a:t>
            </a:r>
            <a:endParaRPr lang="en-US" sz="1725" dirty="0"/>
          </a:p>
        </p:txBody>
      </p:sp>
      <p:sp>
        <p:nvSpPr>
          <p:cNvPr id="26" name="Text 24"/>
          <p:cNvSpPr/>
          <p:nvPr/>
        </p:nvSpPr>
        <p:spPr>
          <a:xfrm>
            <a:off x="1341120" y="5177790"/>
            <a:ext cx="4594253" cy="327660"/>
          </a:xfrm>
          <a:prstGeom prst="rect">
            <a:avLst/>
          </a:prstGeom>
          <a:noFill/>
          <a:ln/>
        </p:spPr>
        <p:txBody>
          <a:bodyPr wrap="square" lIns="25400" tIns="25400" rIns="25400" bIns="25400" rtlCol="0" anchor="t">
            <a:normAutofit/>
          </a:bodyPr>
          <a:lstStyle/>
          <a:p>
            <a:pPr algn="l" indent="0" marL="0">
              <a:buNone/>
            </a:pPr>
            <a:r>
              <a:rPr lang="en-US" sz="1725" dirty="0">
                <a:solidFill>
                  <a:srgbClr val="2B57D6"/>
                </a:solidFill>
                <a:latin typeface="Roboto Mono" pitchFamily="34" charset="0"/>
                <a:ea typeface="Roboto Mono" pitchFamily="34" charset="-122"/>
                <a:cs typeface="Roboto Mono" pitchFamily="34" charset="-120"/>
              </a:rPr>
              <a:t>GET /v1/health · /v1/spec</a:t>
            </a:r>
            <a:endParaRPr lang="en-US" sz="1725" dirty="0"/>
          </a:p>
        </p:txBody>
      </p:sp>
      <p:sp>
        <p:nvSpPr>
          <p:cNvPr id="27" name="Text 25"/>
          <p:cNvSpPr/>
          <p:nvPr/>
        </p:nvSpPr>
        <p:spPr>
          <a:xfrm>
            <a:off x="5708214" y="5154930"/>
            <a:ext cx="3062966"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상태 · 계층 정의</a:t>
            </a:r>
            <a:endParaRPr lang="en-US" sz="1725" dirty="0"/>
          </a:p>
        </p:txBody>
      </p:sp>
      <p:sp>
        <p:nvSpPr>
          <p:cNvPr id="28" name="Text 26"/>
          <p:cNvSpPr/>
          <p:nvPr/>
        </p:nvSpPr>
        <p:spPr>
          <a:xfrm>
            <a:off x="8683228" y="5154930"/>
            <a:ext cx="479346" cy="350520"/>
          </a:xfrm>
          <a:prstGeom prst="rect">
            <a:avLst/>
          </a:prstGeom>
          <a:noFill/>
          <a:ln/>
        </p:spPr>
        <p:txBody>
          <a:bodyPr wrap="square" lIns="25400" tIns="25400" rIns="25400" bIns="25400" rtlCol="0" anchor="t">
            <a:normAutofit/>
          </a:bodyPr>
          <a:lstStyle/>
          <a:p>
            <a:pPr algn="l" indent="0" marL="0">
              <a:buNone/>
            </a:pPr>
            <a:r>
              <a:rPr lang="en-US" sz="1725" dirty="0">
                <a:solidFill>
                  <a:srgbClr val="6B7280"/>
                </a:solidFill>
                <a:latin typeface="Arial" pitchFamily="34" charset="0"/>
                <a:ea typeface="Arial" pitchFamily="34" charset="-122"/>
                <a:cs typeface="Arial" pitchFamily="34" charset="-120"/>
              </a:rPr>
              <a:t>없음</a:t>
            </a:r>
            <a:endParaRPr lang="en-US" sz="1725" dirty="0"/>
          </a:p>
        </p:txBody>
      </p:sp>
      <p:sp>
        <p:nvSpPr>
          <p:cNvPr id="29" name="Shape 27"/>
          <p:cNvSpPr/>
          <p:nvPr/>
        </p:nvSpPr>
        <p:spPr>
          <a:xfrm>
            <a:off x="1047750" y="5894070"/>
            <a:ext cx="8331994" cy="4792980"/>
          </a:xfrm>
          <a:prstGeom prst="rect">
            <a:avLst/>
          </a:prstGeom>
          <a:solidFill>
            <a:srgbClr val="16181D"/>
          </a:solidFill>
          <a:ln/>
        </p:spPr>
      </p:sp>
      <p:sp>
        <p:nvSpPr>
          <p:cNvPr id="30" name="Text 28"/>
          <p:cNvSpPr/>
          <p:nvPr/>
        </p:nvSpPr>
        <p:spPr>
          <a:xfrm>
            <a:off x="1333500" y="6141720"/>
            <a:ext cx="8536543" cy="304800"/>
          </a:xfrm>
          <a:prstGeom prst="rect">
            <a:avLst/>
          </a:prstGeom>
          <a:noFill/>
          <a:ln/>
        </p:spPr>
        <p:txBody>
          <a:bodyPr wrap="square" lIns="25400" tIns="25400" rIns="25400" bIns="25400" rtlCol="0" anchor="t">
            <a:normAutofit/>
          </a:bodyPr>
          <a:lstStyle/>
          <a:p>
            <a:pPr algn="l" indent="0" marL="0">
              <a:buNone/>
            </a:pPr>
            <a:r>
              <a:rPr lang="en-US" sz="1575" dirty="0">
                <a:solidFill>
                  <a:srgbClr val="9DB4FF"/>
                </a:solidFill>
                <a:latin typeface="Roboto Mono" pitchFamily="34" charset="0"/>
                <a:ea typeface="Roboto Mono" pitchFamily="34" charset="-122"/>
                <a:cs typeface="Roboto Mono" pitchFamily="34" charset="-120"/>
              </a:rPr>
              <a:t>평가 도구를 위한 신호 설계</a:t>
            </a:r>
            <a:endParaRPr lang="en-US" sz="1575" dirty="0"/>
          </a:p>
        </p:txBody>
      </p:sp>
      <p:sp>
        <p:nvSpPr>
          <p:cNvPr id="31" name="Text 29"/>
          <p:cNvSpPr/>
          <p:nvPr/>
        </p:nvSpPr>
        <p:spPr>
          <a:xfrm>
            <a:off x="1333500" y="6522720"/>
            <a:ext cx="7993309" cy="800100"/>
          </a:xfrm>
          <a:prstGeom prst="rect">
            <a:avLst/>
          </a:prstGeom>
          <a:noFill/>
          <a:ln/>
        </p:spPr>
        <p:txBody>
          <a:bodyPr wrap="square" lIns="25400" tIns="25400" rIns="25400" bIns="25400" rtlCol="0" anchor="t">
            <a:normAutofit/>
          </a:bodyPr>
          <a:lstStyle/>
          <a:p>
            <a:pPr algn="l" indent="0" marL="0">
              <a:lnSpc>
                <a:spcPct val="138889"/>
              </a:lnSpc>
              <a:buNone/>
            </a:pPr>
            <a:r>
              <a:rPr lang="en-US" sz="1875" b="1" dirty="0">
                <a:solidFill>
                  <a:srgbClr val="FFFFFF"/>
                </a:solidFill>
                <a:latin typeface="Arial" pitchFamily="34" charset="0"/>
                <a:ea typeface="Arial" pitchFamily="34" charset="-122"/>
                <a:cs typeface="Arial" pitchFamily="34" charset="-120"/>
              </a:rPr>
              <a:t>답변 텍스트만으로는 차단과 조회 실패를 가릴 수 없다 </a:t>
            </a:r>
            <a:pPr algn="l" indent="0" marL="0">
              <a:lnSpc>
                <a:spcPct val="138889"/>
              </a:lnSpc>
              <a:buNone/>
            </a:pPr>
            <a:r>
              <a:rPr lang="en-US" sz="1875" dirty="0">
                <a:solidFill>
                  <a:srgbClr val="C9CDD3"/>
                </a:solidFill>
                <a:latin typeface="Arial" pitchFamily="34" charset="0"/>
                <a:ea typeface="Arial" pitchFamily="34" charset="-122"/>
                <a:cs typeface="Arial" pitchFamily="34" charset="-120"/>
              </a:rPr>
              <a:t>— 둘 다 멀쩡한 문장이라 평가 도구가 구분하지 못한다.</a:t>
            </a:r>
            <a:endParaRPr lang="en-US" sz="1875" dirty="0"/>
          </a:p>
        </p:txBody>
      </p:sp>
      <p:sp>
        <p:nvSpPr>
          <p:cNvPr id="32" name="Shape 30"/>
          <p:cNvSpPr/>
          <p:nvPr/>
        </p:nvSpPr>
        <p:spPr>
          <a:xfrm>
            <a:off x="1333500" y="7399020"/>
            <a:ext cx="7760494" cy="2436495"/>
          </a:xfrm>
          <a:prstGeom prst="rect">
            <a:avLst/>
          </a:prstGeom>
          <a:solidFill>
            <a:srgbClr val="0E1013"/>
          </a:solidFill>
          <a:ln w="7620">
            <a:solidFill>
              <a:srgbClr val="2C313A"/>
            </a:solidFill>
            <a:prstDash val="solid"/>
          </a:ln>
        </p:spPr>
      </p:sp>
      <p:sp>
        <p:nvSpPr>
          <p:cNvPr id="33" name="Text 31"/>
          <p:cNvSpPr/>
          <p:nvPr/>
        </p:nvSpPr>
        <p:spPr>
          <a:xfrm>
            <a:off x="1550670" y="7597140"/>
            <a:ext cx="7558969" cy="2078355"/>
          </a:xfrm>
          <a:prstGeom prst="rect">
            <a:avLst/>
          </a:prstGeom>
          <a:noFill/>
          <a:ln/>
        </p:spPr>
        <p:txBody>
          <a:bodyPr wrap="square" lIns="25400" tIns="25400" rIns="25400" bIns="25400" rtlCol="0" anchor="t">
            <a:normAutofit/>
          </a:bodyPr>
          <a:lstStyle/>
          <a:p>
            <a:pPr algn="l" indent="0" marL="0">
              <a:lnSpc>
                <a:spcPct val="127500"/>
              </a:lnSpc>
              <a:buNone/>
            </a:pPr>
            <a:r>
              <a:rPr lang="en-US" sz="1575" dirty="0">
                <a:solidFill>
                  <a:srgbClr val="E6E8EA"/>
                </a:solidFill>
                <a:latin typeface="Roboto Mono" pitchFamily="34" charset="0"/>
                <a:ea typeface="Roboto Mono" pitchFamily="34" charset="-122"/>
                <a:cs typeface="Roboto Mono" pitchFamily="34" charset="-120"/>
              </a:rPr>
              <a:t>finish_reason: "stop"           정상 (조회 실패 포함)</a:t>
            </a:r>
            <a:endParaRPr lang="en-US" sz="1575" dirty="0"/>
          </a:p>
          <a:p>
            <a:pPr algn="l" indent="0" marL="0">
              <a:lnSpc>
                <a:spcPct val="127500"/>
              </a:lnSpc>
              <a:buNone/>
            </a:pPr>
            <a:r>
              <a:rPr lang="en-US" sz="1575" dirty="0">
                <a:solidFill>
                  <a:srgbClr val="E6E8EA"/>
                </a:solidFill>
                <a:latin typeface="Roboto Mono" pitchFamily="34" charset="0"/>
                <a:ea typeface="Roboto Mono" pitchFamily="34" charset="-122"/>
                <a:cs typeface="Roboto Mono" pitchFamily="34" charset="-120"/>
              </a:rPr>
              <a:t>finish_reason: "content_filter" 방어 계층이 차단</a:t>
            </a:r>
            <a:endParaRPr lang="en-US" sz="1575" dirty="0"/>
          </a:p>
          <a:p>
            <a:pPr algn="l" indent="0" marL="0">
              <a:lnSpc>
                <a:spcPct val="127500"/>
              </a:lnSpc>
              <a:buNone/>
            </a:pPr>
            <a:endParaRPr lang="en-US" sz="1575" dirty="0"/>
          </a:p>
          <a:p>
            <a:pPr algn="l" indent="0" marL="0">
              <a:lnSpc>
                <a:spcPct val="127500"/>
              </a:lnSpc>
              <a:buNone/>
            </a:pPr>
            <a:r>
              <a:rPr lang="en-US" sz="1575" dirty="0">
                <a:solidFill>
                  <a:srgbClr val="E6E8EA"/>
                </a:solidFill>
                <a:latin typeface="Roboto Mono" pitchFamily="34" charset="0"/>
                <a:ea typeface="Roboto Mono" pitchFamily="34" charset="-122"/>
                <a:cs typeface="Roboto Mono" pitchFamily="34" charset="-120"/>
              </a:rPr>
              <a:t>"x_maas": {"blocked_by": "local_gate",</a:t>
            </a:r>
            <a:endParaRPr lang="en-US" sz="1575" dirty="0"/>
          </a:p>
          <a:p>
            <a:pPr algn="l" indent="0" marL="0">
              <a:lnSpc>
                <a:spcPct val="127500"/>
              </a:lnSpc>
              <a:buNone/>
            </a:pPr>
            <a:r>
              <a:rPr lang="en-US" sz="1575" dirty="0">
                <a:solidFill>
                  <a:srgbClr val="E6E8EA"/>
                </a:solidFill>
                <a:latin typeface="Roboto Mono" pitchFamily="34" charset="0"/>
                <a:ea typeface="Roboto Mono" pitchFamily="34" charset="-122"/>
                <a:cs typeface="Roboto Mono" pitchFamily="34" charset="-120"/>
              </a:rPr>
              <a:t>  "language": "ko", "answered": false,</a:t>
            </a:r>
            <a:endParaRPr lang="en-US" sz="1575" dirty="0"/>
          </a:p>
          <a:p>
            <a:pPr algn="l" indent="0" marL="0">
              <a:lnSpc>
                <a:spcPct val="127500"/>
              </a:lnSpc>
              <a:buNone/>
            </a:pPr>
            <a:r>
              <a:rPr lang="en-US" sz="1575" dirty="0">
                <a:solidFill>
                  <a:srgbClr val="E6E8EA"/>
                </a:solidFill>
                <a:latin typeface="Roboto Mono" pitchFamily="34" charset="0"/>
                <a:ea typeface="Roboto Mono" pitchFamily="34" charset="-122"/>
                <a:cs typeface="Roboto Mono" pitchFamily="34" charset="-120"/>
              </a:rPr>
              <a:t>  "carried_slots": ["origin"], "latency_ms": 4210}</a:t>
            </a:r>
            <a:endParaRPr lang="en-US" sz="1575" dirty="0"/>
          </a:p>
        </p:txBody>
      </p:sp>
      <p:sp>
        <p:nvSpPr>
          <p:cNvPr id="34" name="Text 32"/>
          <p:cNvSpPr/>
          <p:nvPr/>
        </p:nvSpPr>
        <p:spPr>
          <a:xfrm>
            <a:off x="1333500" y="10099834"/>
            <a:ext cx="8536543" cy="377666"/>
          </a:xfrm>
          <a:prstGeom prst="rect">
            <a:avLst/>
          </a:prstGeom>
          <a:noFill/>
          <a:ln/>
        </p:spPr>
        <p:txBody>
          <a:bodyPr wrap="square" lIns="25400" tIns="25400" rIns="25400" bIns="25400" rtlCol="0" anchor="t">
            <a:normAutofit/>
          </a:bodyPr>
          <a:lstStyle/>
          <a:p>
            <a:pPr algn="l" indent="0" marL="0">
              <a:lnSpc>
                <a:spcPct val="135038"/>
              </a:lnSpc>
              <a:buNone/>
            </a:pPr>
            <a:r>
              <a:rPr lang="en-US" sz="1575" dirty="0">
                <a:solidFill>
                  <a:srgbClr val="9AA0A8"/>
                </a:solidFill>
                <a:latin typeface="Roboto Mono" pitchFamily="34" charset="0"/>
                <a:ea typeface="Roboto Mono" pitchFamily="34" charset="-122"/>
                <a:cs typeface="Roboto Mono" pitchFamily="34" charset="-120"/>
              </a:rPr>
              <a:t>x_maas </a:t>
            </a:r>
            <a:pPr algn="l" indent="0" marL="0">
              <a:lnSpc>
                <a:spcPct val="135038"/>
              </a:lnSpc>
              <a:buNone/>
            </a:pPr>
            <a:r>
              <a:rPr lang="en-US" sz="1725" dirty="0">
                <a:solidFill>
                  <a:srgbClr val="9AA0A8"/>
                </a:solidFill>
                <a:latin typeface="Arial" pitchFamily="34" charset="0"/>
                <a:ea typeface="Arial" pitchFamily="34" charset="-122"/>
                <a:cs typeface="Arial" pitchFamily="34" charset="-120"/>
              </a:rPr>
              <a:t>는 비표준 확장 — 표준 클라이언트는 무시하고 평가 도구만 읽는다.</a:t>
            </a:r>
            <a:endParaRPr lang="en-US" sz="1725" dirty="0"/>
          </a:p>
        </p:txBody>
      </p:sp>
      <p:sp>
        <p:nvSpPr>
          <p:cNvPr id="35" name="Shape 33"/>
          <p:cNvSpPr/>
          <p:nvPr/>
        </p:nvSpPr>
        <p:spPr>
          <a:xfrm>
            <a:off x="9665494" y="2350770"/>
            <a:ext cx="7574756" cy="4072890"/>
          </a:xfrm>
          <a:prstGeom prst="rect">
            <a:avLst/>
          </a:prstGeom>
          <a:solidFill>
            <a:srgbClr val="FFFFFF"/>
          </a:solidFill>
          <a:ln/>
        </p:spPr>
      </p:sp>
      <p:sp>
        <p:nvSpPr>
          <p:cNvPr id="36" name="Shape 34"/>
          <p:cNvSpPr/>
          <p:nvPr/>
        </p:nvSpPr>
        <p:spPr>
          <a:xfrm>
            <a:off x="9665494" y="6416040"/>
            <a:ext cx="7574756" cy="9525"/>
          </a:xfrm>
          <a:prstGeom prst="rect">
            <a:avLst/>
          </a:prstGeom>
          <a:solidFill>
            <a:srgbClr val="DFE1E6"/>
          </a:solidFill>
          <a:ln/>
        </p:spPr>
      </p:sp>
      <p:sp>
        <p:nvSpPr>
          <p:cNvPr id="37" name="Shape 35"/>
          <p:cNvSpPr/>
          <p:nvPr/>
        </p:nvSpPr>
        <p:spPr>
          <a:xfrm>
            <a:off x="9665494" y="2350770"/>
            <a:ext cx="7574756" cy="9525"/>
          </a:xfrm>
          <a:prstGeom prst="rect">
            <a:avLst/>
          </a:prstGeom>
          <a:solidFill>
            <a:srgbClr val="DFE1E6"/>
          </a:solidFill>
          <a:ln/>
        </p:spPr>
      </p:sp>
      <p:sp>
        <p:nvSpPr>
          <p:cNvPr id="38" name="Shape 36"/>
          <p:cNvSpPr/>
          <p:nvPr/>
        </p:nvSpPr>
        <p:spPr>
          <a:xfrm>
            <a:off x="9665494" y="2350770"/>
            <a:ext cx="45720" cy="4072890"/>
          </a:xfrm>
          <a:prstGeom prst="rect">
            <a:avLst/>
          </a:prstGeom>
          <a:solidFill>
            <a:srgbClr val="4F7CFF"/>
          </a:solidFill>
          <a:ln/>
        </p:spPr>
      </p:sp>
      <p:sp>
        <p:nvSpPr>
          <p:cNvPr id="39" name="Shape 37"/>
          <p:cNvSpPr/>
          <p:nvPr/>
        </p:nvSpPr>
        <p:spPr>
          <a:xfrm>
            <a:off x="17232630" y="2350770"/>
            <a:ext cx="9525" cy="4072890"/>
          </a:xfrm>
          <a:prstGeom prst="rect">
            <a:avLst/>
          </a:prstGeom>
          <a:solidFill>
            <a:srgbClr val="DFE1E6"/>
          </a:solidFill>
          <a:ln/>
        </p:spPr>
      </p:sp>
      <p:sp>
        <p:nvSpPr>
          <p:cNvPr id="40" name="Text 38"/>
          <p:cNvSpPr/>
          <p:nvPr/>
        </p:nvSpPr>
        <p:spPr>
          <a:xfrm>
            <a:off x="9996964" y="2606040"/>
            <a:ext cx="7644908"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의도적으로 지원하지 않는 것</a:t>
            </a:r>
            <a:endParaRPr lang="en-US" sz="2100" dirty="0"/>
          </a:p>
        </p:txBody>
      </p:sp>
      <p:sp>
        <p:nvSpPr>
          <p:cNvPr id="41" name="Text 39"/>
          <p:cNvSpPr/>
          <p:nvPr/>
        </p:nvSpPr>
        <p:spPr>
          <a:xfrm>
            <a:off x="9996964" y="3128010"/>
            <a:ext cx="1630692" cy="373380"/>
          </a:xfrm>
          <a:prstGeom prst="rect">
            <a:avLst/>
          </a:prstGeom>
          <a:noFill/>
          <a:ln/>
        </p:spPr>
        <p:txBody>
          <a:bodyPr wrap="none" lIns="25400" tIns="25400" rIns="25400" bIns="25400" rtlCol="0" anchor="t">
            <a:normAutofit/>
          </a:bodyPr>
          <a:lstStyle/>
          <a:p>
            <a:pPr algn="l" indent="0" marL="0">
              <a:buNone/>
            </a:pPr>
            <a:r>
              <a:rPr lang="en-US" sz="1800" b="1" dirty="0">
                <a:solidFill>
                  <a:srgbClr val="16181D"/>
                </a:solidFill>
                <a:latin typeface="Arial" pitchFamily="34" charset="0"/>
                <a:ea typeface="Arial" pitchFamily="34" charset="-122"/>
                <a:cs typeface="Arial" pitchFamily="34" charset="-120"/>
              </a:rPr>
              <a:t>스트리밍</a:t>
            </a:r>
            <a:endParaRPr lang="en-US" sz="1800" dirty="0"/>
          </a:p>
        </p:txBody>
      </p:sp>
      <p:sp>
        <p:nvSpPr>
          <p:cNvPr id="42" name="Text 40"/>
          <p:cNvSpPr/>
          <p:nvPr/>
        </p:nvSpPr>
        <p:spPr>
          <a:xfrm>
            <a:off x="11669911" y="3143250"/>
            <a:ext cx="5435278" cy="1066800"/>
          </a:xfrm>
          <a:prstGeom prst="rect">
            <a:avLst/>
          </a:prstGeom>
          <a:noFill/>
          <a:ln/>
        </p:spPr>
        <p:txBody>
          <a:bodyPr wrap="square" lIns="25400" tIns="25400" rIns="25400" bIns="25400" rtlCol="0" anchor="t">
            <a:normAutofit/>
          </a:bodyPr>
          <a:lstStyle/>
          <a:p>
            <a:pPr algn="l" indent="0" marL="0">
              <a:lnSpc>
                <a:spcPct val="132353"/>
              </a:lnSpc>
              <a:buNone/>
            </a:pPr>
            <a:r>
              <a:rPr lang="en-US" sz="1575" dirty="0">
                <a:solidFill>
                  <a:srgbClr val="4A5058"/>
                </a:solidFill>
                <a:latin typeface="Roboto Mono" pitchFamily="34" charset="0"/>
                <a:ea typeface="Roboto Mono" pitchFamily="34" charset="-122"/>
                <a:cs typeface="Roboto Mono" pitchFamily="34" charset="-120"/>
              </a:rPr>
              <a:t>stream=true </a:t>
            </a:r>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는 400. 근거성 검증이 끝나야 최종 응답이 정해진다 — 토큰 단위로 흘려보내면 </a:t>
            </a:r>
            <a:pPr algn="l" indent="0" marL="0">
              <a:lnSpc>
                <a:spcPct val="132353"/>
              </a:lnSpc>
              <a:buNone/>
            </a:pPr>
            <a:r>
              <a:rPr lang="en-US" sz="1800" b="1" dirty="0">
                <a:solidFill>
                  <a:srgbClr val="4A5058"/>
                </a:solidFill>
                <a:latin typeface="Arial" pitchFamily="34" charset="0"/>
                <a:ea typeface="Arial" pitchFamily="34" charset="-122"/>
                <a:cs typeface="Arial" pitchFamily="34" charset="-120"/>
              </a:rPr>
              <a:t>검증 전에 환각이 노출 </a:t>
            </a:r>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돼 전제가 무너진다</a:t>
            </a:r>
            <a:endParaRPr lang="en-US" sz="1800" dirty="0"/>
          </a:p>
        </p:txBody>
      </p:sp>
      <p:sp>
        <p:nvSpPr>
          <p:cNvPr id="43" name="Text 41"/>
          <p:cNvSpPr/>
          <p:nvPr/>
        </p:nvSpPr>
        <p:spPr>
          <a:xfrm>
            <a:off x="9996964" y="4305300"/>
            <a:ext cx="1630692" cy="373380"/>
          </a:xfrm>
          <a:prstGeom prst="rect">
            <a:avLst/>
          </a:prstGeom>
          <a:noFill/>
          <a:ln/>
        </p:spPr>
        <p:txBody>
          <a:bodyPr wrap="none" lIns="25400" tIns="25400" rIns="25400" bIns="25400" rtlCol="0" anchor="t">
            <a:normAutofit/>
          </a:bodyPr>
          <a:lstStyle/>
          <a:p>
            <a:pPr algn="l" indent="0" marL="0">
              <a:buNone/>
            </a:pPr>
            <a:r>
              <a:rPr lang="en-US" sz="1800" b="1" dirty="0">
                <a:solidFill>
                  <a:srgbClr val="16181D"/>
                </a:solidFill>
                <a:latin typeface="Arial" pitchFamily="34" charset="0"/>
                <a:ea typeface="Arial" pitchFamily="34" charset="-122"/>
                <a:cs typeface="Arial" pitchFamily="34" charset="-120"/>
              </a:rPr>
              <a:t>system 메시지</a:t>
            </a:r>
            <a:endParaRPr lang="en-US" sz="1800" dirty="0"/>
          </a:p>
        </p:txBody>
      </p:sp>
      <p:sp>
        <p:nvSpPr>
          <p:cNvPr id="44" name="Text 42"/>
          <p:cNvSpPr/>
          <p:nvPr/>
        </p:nvSpPr>
        <p:spPr>
          <a:xfrm>
            <a:off x="11669911" y="4320540"/>
            <a:ext cx="5435278"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무시한다. 외부에서 Supervisor 프롬프트를 덮어쓰면 방어 계층이 통째로 무력화된다 — </a:t>
            </a:r>
            <a:pPr algn="l" indent="0" marL="0">
              <a:lnSpc>
                <a:spcPct val="132353"/>
              </a:lnSpc>
              <a:buNone/>
            </a:pPr>
            <a:r>
              <a:rPr lang="en-US" sz="1800" b="1" dirty="0">
                <a:solidFill>
                  <a:srgbClr val="4A5058"/>
                </a:solidFill>
                <a:latin typeface="Arial" pitchFamily="34" charset="0"/>
                <a:ea typeface="Arial" pitchFamily="34" charset="-122"/>
                <a:cs typeface="Arial" pitchFamily="34" charset="-120"/>
              </a:rPr>
              <a:t>인젝션의 정석 경로 </a:t>
            </a:r>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 무시한 사실은 stderr 로그에 남는다</a:t>
            </a:r>
            <a:endParaRPr lang="en-US" sz="1800" dirty="0"/>
          </a:p>
        </p:txBody>
      </p:sp>
      <p:sp>
        <p:nvSpPr>
          <p:cNvPr id="45" name="Text 43"/>
          <p:cNvSpPr/>
          <p:nvPr/>
        </p:nvSpPr>
        <p:spPr>
          <a:xfrm>
            <a:off x="9996964" y="5528310"/>
            <a:ext cx="1630692" cy="297180"/>
          </a:xfrm>
          <a:prstGeom prst="rect">
            <a:avLst/>
          </a:prstGeom>
          <a:noFill/>
          <a:ln/>
        </p:spPr>
        <p:txBody>
          <a:bodyPr wrap="none" lIns="25400" tIns="25400" rIns="25400" bIns="25400" rtlCol="0" anchor="t">
            <a:normAutofit/>
          </a:bodyPr>
          <a:lstStyle/>
          <a:p>
            <a:pPr algn="l" indent="0" marL="0">
              <a:buNone/>
            </a:pPr>
            <a:r>
              <a:rPr lang="en-US" sz="1800" b="1" dirty="0">
                <a:solidFill>
                  <a:srgbClr val="16181D"/>
                </a:solidFill>
                <a:latin typeface="Arial" pitchFamily="34" charset="0"/>
                <a:ea typeface="Arial" pitchFamily="34" charset="-122"/>
                <a:cs typeface="Arial" pitchFamily="34" charset="-120"/>
              </a:rPr>
              <a:t>usage</a:t>
            </a:r>
            <a:endParaRPr lang="en-US" sz="1800" dirty="0"/>
          </a:p>
        </p:txBody>
      </p:sp>
      <p:sp>
        <p:nvSpPr>
          <p:cNvPr id="46" name="Text 44"/>
          <p:cNvSpPr/>
          <p:nvPr/>
        </p:nvSpPr>
        <p:spPr>
          <a:xfrm>
            <a:off x="11669911" y="5482590"/>
            <a:ext cx="5435278"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4A5058"/>
                </a:solidFill>
                <a:latin typeface="Arial" pitchFamily="34" charset="0"/>
                <a:ea typeface="Arial" pitchFamily="34" charset="-122"/>
                <a:cs typeface="Arial" pitchFamily="34" charset="-120"/>
              </a:rPr>
              <a:t>토큰을 세지 않아 전부 0. 필드를 생략하지 않되 </a:t>
            </a:r>
            <a:pPr algn="l" indent="0" marL="0">
              <a:lnSpc>
                <a:spcPct val="132353"/>
              </a:lnSpc>
              <a:buNone/>
            </a:pPr>
            <a:r>
              <a:rPr lang="en-US" sz="1800" b="1" dirty="0">
                <a:solidFill>
                  <a:srgbClr val="4A5058"/>
                </a:solidFill>
                <a:latin typeface="Arial" pitchFamily="34" charset="0"/>
                <a:ea typeface="Arial" pitchFamily="34" charset="-122"/>
                <a:cs typeface="Arial" pitchFamily="34" charset="-120"/>
              </a:rPr>
              <a:t>추정치를 지어내지 않는다</a:t>
            </a:r>
            <a:endParaRPr lang="en-US" sz="1800" dirty="0"/>
          </a:p>
        </p:txBody>
      </p:sp>
      <p:sp>
        <p:nvSpPr>
          <p:cNvPr id="47" name="Shape 45"/>
          <p:cNvSpPr/>
          <p:nvPr/>
        </p:nvSpPr>
        <p:spPr>
          <a:xfrm>
            <a:off x="9665494" y="6595110"/>
            <a:ext cx="7574756" cy="4091940"/>
          </a:xfrm>
          <a:prstGeom prst="rect">
            <a:avLst/>
          </a:prstGeom>
          <a:solidFill>
            <a:srgbClr val="FFF7ED"/>
          </a:solidFill>
          <a:ln w="15240">
            <a:solidFill>
              <a:srgbClr val="C2410C"/>
            </a:solidFill>
            <a:prstDash val="solid"/>
          </a:ln>
        </p:spPr>
      </p:sp>
      <p:sp>
        <p:nvSpPr>
          <p:cNvPr id="48" name="Text 46"/>
          <p:cNvSpPr/>
          <p:nvPr/>
        </p:nvSpPr>
        <p:spPr>
          <a:xfrm>
            <a:off x="9966484" y="6858000"/>
            <a:ext cx="7670054" cy="304800"/>
          </a:xfrm>
          <a:prstGeom prst="rect">
            <a:avLst/>
          </a:prstGeom>
          <a:noFill/>
          <a:ln/>
        </p:spPr>
        <p:txBody>
          <a:bodyPr wrap="square" lIns="25400" tIns="25400" rIns="25400" bIns="25400" rtlCol="0" anchor="t">
            <a:normAutofit/>
          </a:bodyPr>
          <a:lstStyle/>
          <a:p>
            <a:pPr algn="l" indent="0" marL="0">
              <a:buNone/>
            </a:pPr>
            <a:r>
              <a:rPr lang="en-US" sz="1575" dirty="0">
                <a:solidFill>
                  <a:srgbClr val="C2410C"/>
                </a:solidFill>
                <a:latin typeface="Roboto Mono" pitchFamily="34" charset="0"/>
                <a:ea typeface="Roboto Mono" pitchFamily="34" charset="-122"/>
                <a:cs typeface="Roboto Mono" pitchFamily="34" charset="-120"/>
              </a:rPr>
              <a:t>알려진 리스크 — 반드시 고지</a:t>
            </a:r>
            <a:endParaRPr lang="en-US" sz="1575" dirty="0"/>
          </a:p>
        </p:txBody>
      </p:sp>
      <p:sp>
        <p:nvSpPr>
          <p:cNvPr id="49" name="Text 47"/>
          <p:cNvSpPr/>
          <p:nvPr/>
        </p:nvSpPr>
        <p:spPr>
          <a:xfrm>
            <a:off x="9966484" y="7239000"/>
            <a:ext cx="7181959" cy="842010"/>
          </a:xfrm>
          <a:prstGeom prst="rect">
            <a:avLst/>
          </a:prstGeom>
          <a:noFill/>
          <a:ln/>
        </p:spPr>
        <p:txBody>
          <a:bodyPr wrap="square" lIns="25400" tIns="25400" rIns="25400" bIns="25400" rtlCol="0" anchor="t">
            <a:normAutofit/>
          </a:bodyPr>
          <a:lstStyle/>
          <a:p>
            <a:pPr algn="l" indent="0" marL="0">
              <a:lnSpc>
                <a:spcPct val="120833"/>
              </a:lnSpc>
              <a:buNone/>
            </a:pPr>
            <a:r>
              <a:rPr lang="en-US" sz="2175" b="1" dirty="0">
                <a:solidFill>
                  <a:srgbClr val="7C2D12"/>
                </a:solidFill>
                <a:latin typeface="Arial" pitchFamily="34" charset="0"/>
                <a:ea typeface="Arial" pitchFamily="34" charset="-122"/>
                <a:cs typeface="Arial" pitchFamily="34" charset="-120"/>
              </a:rPr>
              <a:t>OpenAI 호환 두 경로는 공개 인터넷에 무인증으로 열려 있다</a:t>
            </a:r>
            <a:endParaRPr lang="en-US" sz="2175" dirty="0"/>
          </a:p>
        </p:txBody>
      </p:sp>
      <p:sp>
        <p:nvSpPr>
          <p:cNvPr id="50" name="Text 48"/>
          <p:cNvSpPr/>
          <p:nvPr/>
        </p:nvSpPr>
        <p:spPr>
          <a:xfrm>
            <a:off x="9966484" y="8157210"/>
            <a:ext cx="7181959"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7C2D12"/>
                </a:solidFill>
                <a:latin typeface="Arial" pitchFamily="34" charset="0"/>
                <a:ea typeface="Arial" pitchFamily="34" charset="-122"/>
                <a:cs typeface="Arial" pitchFamily="34" charset="-120"/>
              </a:rPr>
              <a:t>GuardBench 등록 화면에 API 키·Authorization 헤더를 넣을 자리가 없어서다. 보낸 인증 헤더는 </a:t>
            </a:r>
            <a:pPr algn="l" indent="0" marL="0">
              <a:lnSpc>
                <a:spcPct val="141176"/>
              </a:lnSpc>
              <a:buNone/>
            </a:pPr>
            <a:r>
              <a:rPr lang="en-US" sz="1800" b="1" dirty="0">
                <a:solidFill>
                  <a:srgbClr val="7C2D12"/>
                </a:solidFill>
                <a:latin typeface="Arial" pitchFamily="34" charset="0"/>
                <a:ea typeface="Arial" pitchFamily="34" charset="-122"/>
                <a:cs typeface="Arial" pitchFamily="34" charset="-120"/>
              </a:rPr>
              <a:t>무시</a:t>
            </a:r>
            <a:pPr algn="l" indent="0" marL="0">
              <a:lnSpc>
                <a:spcPct val="141176"/>
              </a:lnSpc>
              <a:buNone/>
            </a:pPr>
            <a:r>
              <a:rPr lang="en-US" sz="1800" dirty="0">
                <a:solidFill>
                  <a:srgbClr val="7C2D12"/>
                </a:solidFill>
                <a:latin typeface="Arial" pitchFamily="34" charset="0"/>
                <a:ea typeface="Arial" pitchFamily="34" charset="-122"/>
                <a:cs typeface="Arial" pitchFamily="34" charset="-120"/>
              </a:rPr>
              <a:t>하고, 있다고 거부하지도 않는다.</a:t>
            </a:r>
            <a:endParaRPr lang="en-US" sz="1800" dirty="0"/>
          </a:p>
        </p:txBody>
      </p:sp>
      <p:sp>
        <p:nvSpPr>
          <p:cNvPr id="51" name="Shape 49"/>
          <p:cNvSpPr/>
          <p:nvPr/>
        </p:nvSpPr>
        <p:spPr>
          <a:xfrm>
            <a:off x="9966484" y="9003030"/>
            <a:ext cx="6972776" cy="1421130"/>
          </a:xfrm>
          <a:prstGeom prst="rect">
            <a:avLst/>
          </a:prstGeom>
          <a:solidFill>
            <a:srgbClr val="FFFFFF"/>
          </a:solidFill>
          <a:ln w="7620">
            <a:solidFill>
              <a:srgbClr val="FED7AA"/>
            </a:solidFill>
            <a:prstDash val="solid"/>
          </a:ln>
        </p:spPr>
      </p:sp>
      <p:sp>
        <p:nvSpPr>
          <p:cNvPr id="52" name="Text 50"/>
          <p:cNvSpPr/>
          <p:nvPr/>
        </p:nvSpPr>
        <p:spPr>
          <a:xfrm>
            <a:off x="10183654" y="9182100"/>
            <a:ext cx="6747619" cy="110109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7C2D12"/>
                </a:solidFill>
                <a:highlight>
                  <a:srgbClr val="FFFFFF"/>
                </a:highlight>
                <a:latin typeface="Arial" pitchFamily="34" charset="0"/>
                <a:ea typeface="Arial" pitchFamily="34" charset="-122"/>
                <a:cs typeface="Arial" pitchFamily="34" charset="-120"/>
              </a:rPr>
              <a:t>남용 방어선은 </a:t>
            </a:r>
            <a:pPr algn="l" indent="0" marL="0">
              <a:lnSpc>
                <a:spcPct val="136765"/>
              </a:lnSpc>
              <a:buNone/>
            </a:pPr>
            <a:r>
              <a:rPr lang="en-US" sz="1800" b="1" dirty="0">
                <a:solidFill>
                  <a:srgbClr val="7C2D12"/>
                </a:solidFill>
                <a:latin typeface="Arial" pitchFamily="34" charset="0"/>
                <a:ea typeface="Arial" pitchFamily="34" charset="-122"/>
                <a:cs typeface="Arial" pitchFamily="34" charset="-120"/>
              </a:rPr>
              <a:t>IP 당 분당 60회 레이트리밋 하나뿐 </a:t>
            </a:r>
            <a:pPr algn="l" indent="0" marL="0">
              <a:lnSpc>
                <a:spcPct val="136765"/>
              </a:lnSpc>
              <a:buNone/>
            </a:pPr>
            <a:r>
              <a:rPr lang="en-US" sz="1800" dirty="0">
                <a:solidFill>
                  <a:srgbClr val="7C2D12"/>
                </a:solidFill>
                <a:highlight>
                  <a:srgbClr val="FFFFFF"/>
                </a:highlight>
                <a:latin typeface="Arial" pitchFamily="34" charset="0"/>
                <a:ea typeface="Arial" pitchFamily="34" charset="-122"/>
                <a:cs typeface="Arial" pitchFamily="34" charset="-120"/>
              </a:rPr>
              <a:t>(</a:t>
            </a:r>
            <a:pPr algn="l" indent="0" marL="0">
              <a:lnSpc>
                <a:spcPct val="136765"/>
              </a:lnSpc>
              <a:buNone/>
            </a:pPr>
            <a:r>
              <a:rPr lang="en-US" sz="1575" dirty="0">
                <a:solidFill>
                  <a:srgbClr val="7C2D12"/>
                </a:solidFill>
                <a:latin typeface="Roboto Mono" pitchFamily="34" charset="0"/>
                <a:ea typeface="Roboto Mono" pitchFamily="34" charset="-122"/>
                <a:cs typeface="Roboto Mono" pitchFamily="34" charset="-120"/>
              </a:rPr>
              <a:t>MAAS_RATE_PER_MIN</a:t>
            </a:r>
            <a:pPr algn="l" indent="0" marL="0">
              <a:lnSpc>
                <a:spcPct val="136765"/>
              </a:lnSpc>
              <a:buNone/>
            </a:pPr>
            <a:r>
              <a:rPr lang="en-US" sz="1800" dirty="0">
                <a:solidFill>
                  <a:srgbClr val="7C2D12"/>
                </a:solidFill>
                <a:highlight>
                  <a:srgbClr val="FFFFFF"/>
                </a:highlight>
                <a:latin typeface="Arial" pitchFamily="34" charset="0"/>
                <a:ea typeface="Arial" pitchFamily="34" charset="-122"/>
                <a:cs typeface="Arial" pitchFamily="34" charset="-120"/>
              </a:rPr>
              <a:t>, 429 에 </a:t>
            </a:r>
            <a:pPr algn="l" indent="0" marL="0">
              <a:lnSpc>
                <a:spcPct val="136765"/>
              </a:lnSpc>
              <a:buNone/>
            </a:pPr>
            <a:r>
              <a:rPr lang="en-US" sz="1575" dirty="0">
                <a:solidFill>
                  <a:srgbClr val="7C2D12"/>
                </a:solidFill>
                <a:latin typeface="Roboto Mono" pitchFamily="34" charset="0"/>
                <a:ea typeface="Roboto Mono" pitchFamily="34" charset="-122"/>
                <a:cs typeface="Roboto Mono" pitchFamily="34" charset="-120"/>
              </a:rPr>
              <a:t>Retry-After </a:t>
            </a:r>
            <a:pPr algn="l" indent="0" marL="0">
              <a:lnSpc>
                <a:spcPct val="136765"/>
              </a:lnSpc>
              <a:buNone/>
            </a:pPr>
            <a:r>
              <a:rPr lang="en-US" sz="1800" dirty="0">
                <a:solidFill>
                  <a:srgbClr val="7C2D12"/>
                </a:solidFill>
                <a:highlight>
                  <a:srgbClr val="FFFFFF"/>
                </a:highlight>
                <a:latin typeface="Arial" pitchFamily="34" charset="0"/>
                <a:ea typeface="Arial" pitchFamily="34" charset="-122"/>
                <a:cs typeface="Arial" pitchFamily="34" charset="-120"/>
              </a:rPr>
              <a:t>). 응답 지연 4~7초 → 클라이언트 타임아웃 30초 이상.</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762000" y="609600"/>
            <a:ext cx="5683389" cy="327660"/>
          </a:xfrm>
          <a:prstGeom prst="rect">
            <a:avLst/>
          </a:prstGeom>
          <a:noFill/>
          <a:ln/>
        </p:spPr>
        <p:txBody>
          <a:bodyPr wrap="square" lIns="25400" tIns="25400" rIns="25400" bIns="25400" rtlCol="0" anchor="t">
            <a:normAutofit/>
          </a:bodyPr>
          <a:lstStyle/>
          <a:p>
            <a:pPr algn="l" indent="0" marL="0">
              <a:buNone/>
            </a:pPr>
            <a:r>
              <a:rPr lang="en-US" sz="1725" spc="242" kern="0" dirty="0">
                <a:solidFill>
                  <a:srgbClr val="4F7CFF"/>
                </a:solidFill>
                <a:latin typeface="Roboto Mono" pitchFamily="34" charset="0"/>
                <a:ea typeface="Roboto Mono" pitchFamily="34" charset="-122"/>
                <a:cs typeface="Roboto Mono" pitchFamily="34" charset="-120"/>
              </a:rPr>
              <a:t>25 · AWS INFRASTRUCTURE 1/2</a:t>
            </a:r>
            <a:endParaRPr lang="en-US" sz="1725" dirty="0"/>
          </a:p>
        </p:txBody>
      </p:sp>
      <p:sp>
        <p:nvSpPr>
          <p:cNvPr id="3" name="Text 1"/>
          <p:cNvSpPr/>
          <p:nvPr/>
        </p:nvSpPr>
        <p:spPr>
          <a:xfrm>
            <a:off x="762000" y="994410"/>
            <a:ext cx="5683389" cy="876300"/>
          </a:xfrm>
          <a:prstGeom prst="rect">
            <a:avLst/>
          </a:prstGeom>
          <a:noFill/>
          <a:ln/>
        </p:spPr>
        <p:txBody>
          <a:bodyPr wrap="square" lIns="25400" tIns="25400" rIns="25400" bIns="25400" rtlCol="0" anchor="t">
            <a:normAutofit/>
          </a:bodyPr>
          <a:lstStyle/>
          <a:p>
            <a:pPr algn="l" indent="0" marL="0">
              <a:buNone/>
            </a:pPr>
            <a:r>
              <a:rPr lang="en-US" sz="4500" b="1" spc="-90" kern="0" dirty="0">
                <a:solidFill>
                  <a:srgbClr val="16181D"/>
                </a:solidFill>
                <a:latin typeface="Arial" pitchFamily="34" charset="0"/>
                <a:ea typeface="Arial" pitchFamily="34" charset="-122"/>
                <a:cs typeface="Arial" pitchFamily="34" charset="-120"/>
              </a:rPr>
              <a:t>계정 전체 리소스 지도</a:t>
            </a:r>
            <a:endParaRPr lang="en-US" sz="4500" dirty="0"/>
          </a:p>
        </p:txBody>
      </p:sp>
      <p:sp>
        <p:nvSpPr>
          <p:cNvPr id="4" name="Text 2"/>
          <p:cNvSpPr/>
          <p:nvPr/>
        </p:nvSpPr>
        <p:spPr>
          <a:xfrm>
            <a:off x="13405240" y="1232535"/>
            <a:ext cx="4120760" cy="638175"/>
          </a:xfrm>
          <a:prstGeom prst="rect">
            <a:avLst/>
          </a:prstGeom>
          <a:noFill/>
          <a:ln/>
        </p:spPr>
        <p:txBody>
          <a:bodyPr wrap="square" lIns="25400" tIns="25400" rIns="25400" bIns="25400" rtlCol="0" anchor="t">
            <a:normAutofit/>
          </a:bodyPr>
          <a:lstStyle/>
          <a:p>
            <a:pPr algn="r" indent="0" marL="0">
              <a:lnSpc>
                <a:spcPct val="112500"/>
              </a:lnSpc>
              <a:buNone/>
            </a:pPr>
            <a:r>
              <a:rPr lang="en-US" sz="1575" dirty="0">
                <a:solidFill>
                  <a:srgbClr val="8A9099"/>
                </a:solidFill>
                <a:latin typeface="Roboto Mono" pitchFamily="34" charset="0"/>
                <a:ea typeface="Roboto Mono" pitchFamily="34" charset="-122"/>
                <a:cs typeface="Roboto Mono" pitchFamily="34" charset="-120"/>
              </a:rPr>
              <a:t>2026-08-31 기준 실 운영 구성 관리형 서비스는 최소, EC2 한 대에 집중</a:t>
            </a:r>
            <a:endParaRPr lang="en-US" sz="1575" dirty="0"/>
          </a:p>
        </p:txBody>
      </p:sp>
      <p:sp>
        <p:nvSpPr>
          <p:cNvPr id="5" name="Shape 3"/>
          <p:cNvSpPr/>
          <p:nvPr/>
        </p:nvSpPr>
        <p:spPr>
          <a:xfrm>
            <a:off x="762000" y="2042160"/>
            <a:ext cx="8119110" cy="601980"/>
          </a:xfrm>
          <a:prstGeom prst="rect">
            <a:avLst/>
          </a:prstGeom>
          <a:solidFill>
            <a:srgbClr val="16181D"/>
          </a:solidFill>
          <a:ln/>
        </p:spPr>
      </p:sp>
      <p:sp>
        <p:nvSpPr>
          <p:cNvPr id="6" name="Text 4"/>
          <p:cNvSpPr/>
          <p:nvPr/>
        </p:nvSpPr>
        <p:spPr>
          <a:xfrm>
            <a:off x="971550" y="2217420"/>
            <a:ext cx="533519" cy="289560"/>
          </a:xfrm>
          <a:prstGeom prst="rect">
            <a:avLst/>
          </a:prstGeom>
          <a:noFill/>
          <a:ln/>
        </p:spPr>
        <p:txBody>
          <a:bodyPr wrap="square" lIns="25400" tIns="25400" rIns="25400" bIns="25400" rtlCol="0" anchor="t">
            <a:normAutofit/>
          </a:bodyPr>
          <a:lstStyle/>
          <a:p>
            <a:pPr algn="l" indent="0" marL="0">
              <a:buNone/>
            </a:pPr>
            <a:r>
              <a:rPr lang="en-US" sz="1500" dirty="0">
                <a:solidFill>
                  <a:srgbClr val="9DB4FF"/>
                </a:solidFill>
                <a:latin typeface="Roboto Mono" pitchFamily="34" charset="0"/>
                <a:ea typeface="Roboto Mono" pitchFamily="34" charset="-122"/>
                <a:cs typeface="Roboto Mono" pitchFamily="34" charset="-120"/>
              </a:rPr>
              <a:t>USER</a:t>
            </a:r>
            <a:endParaRPr lang="en-US" sz="1500" dirty="0"/>
          </a:p>
        </p:txBody>
      </p:sp>
      <p:sp>
        <p:nvSpPr>
          <p:cNvPr id="7" name="Text 5"/>
          <p:cNvSpPr/>
          <p:nvPr/>
        </p:nvSpPr>
        <p:spPr>
          <a:xfrm>
            <a:off x="1562219" y="2236470"/>
            <a:ext cx="4122109" cy="289560"/>
          </a:xfrm>
          <a:prstGeom prst="rect">
            <a:avLst/>
          </a:prstGeom>
          <a:noFill/>
          <a:ln/>
        </p:spPr>
        <p:txBody>
          <a:bodyPr wrap="square" lIns="0" tIns="0" rIns="0" bIns="0" rtlCol="0" anchor="t">
            <a:normAutofit/>
          </a:bodyPr>
          <a:lstStyle/>
          <a:p>
            <a:pPr algn="l" indent="0" marL="0">
              <a:buNone/>
            </a:pPr>
            <a:r>
              <a:rPr lang="en-US" sz="1800" dirty="0">
                <a:solidFill>
                  <a:srgbClr val="FBFBFA"/>
                </a:solidFill>
                <a:latin typeface="Arial" pitchFamily="34" charset="0"/>
                <a:ea typeface="Arial" pitchFamily="34" charset="-122"/>
                <a:cs typeface="Arial" pitchFamily="34" charset="-120"/>
              </a:rPr>
              <a:t>브라우저 · API 클라이언트 · GuardBench</a:t>
            </a:r>
            <a:endParaRPr lang="en-US" sz="1800" dirty="0"/>
          </a:p>
        </p:txBody>
      </p:sp>
      <p:sp>
        <p:nvSpPr>
          <p:cNvPr id="8" name="Text 6"/>
          <p:cNvSpPr/>
          <p:nvPr/>
        </p:nvSpPr>
        <p:spPr>
          <a:xfrm>
            <a:off x="9014460" y="2042160"/>
            <a:ext cx="304800" cy="640080"/>
          </a:xfrm>
          <a:prstGeom prst="rect">
            <a:avLst/>
          </a:prstGeom>
          <a:noFill/>
          <a:ln/>
        </p:spPr>
        <p:txBody>
          <a:bodyPr wrap="square" lIns="25400" tIns="25400" rIns="25400" bIns="25400" rtlCol="0" anchor="ctr">
            <a:normAutofit/>
          </a:bodyPr>
          <a:lstStyle/>
          <a:p>
            <a:pPr algn="l" indent="0" marL="0">
              <a:buNone/>
            </a:pPr>
            <a:r>
              <a:rPr lang="en-US" sz="1800" dirty="0">
                <a:solidFill>
                  <a:srgbClr val="C2C6CC"/>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9376410" y="2042160"/>
            <a:ext cx="8149590" cy="601980"/>
          </a:xfrm>
          <a:prstGeom prst="rect">
            <a:avLst/>
          </a:prstGeom>
          <a:solidFill>
            <a:srgbClr val="FFFFFF"/>
          </a:solidFill>
          <a:ln w="15240">
            <a:solidFill>
              <a:srgbClr val="B6BCC4"/>
            </a:solidFill>
            <a:prstDash val="dash"/>
          </a:ln>
        </p:spPr>
      </p:sp>
      <p:sp>
        <p:nvSpPr>
          <p:cNvPr id="10" name="Text 8"/>
          <p:cNvSpPr/>
          <p:nvPr/>
        </p:nvSpPr>
        <p:spPr>
          <a:xfrm>
            <a:off x="9601200" y="2217420"/>
            <a:ext cx="731639" cy="289560"/>
          </a:xfrm>
          <a:prstGeom prst="rect">
            <a:avLst/>
          </a:prstGeom>
          <a:noFill/>
          <a:ln/>
        </p:spPr>
        <p:txBody>
          <a:bodyPr wrap="square" lIns="25400" tIns="25400" rIns="25400" bIns="25400" rtlCol="0" anchor="t">
            <a:normAutofit/>
          </a:bodyPr>
          <a:lstStyle/>
          <a:p>
            <a:pPr algn="l" indent="0" marL="0">
              <a:buNone/>
            </a:pPr>
            <a:r>
              <a:rPr lang="en-US" sz="1500" dirty="0">
                <a:solidFill>
                  <a:srgbClr val="8A9099"/>
                </a:solidFill>
                <a:latin typeface="Roboto Mono" pitchFamily="34" charset="0"/>
                <a:ea typeface="Roboto Mono" pitchFamily="34" charset="-122"/>
                <a:cs typeface="Roboto Mono" pitchFamily="34" charset="-120"/>
              </a:rPr>
              <a:t>AWS 밖</a:t>
            </a:r>
            <a:endParaRPr lang="en-US" sz="1500" dirty="0"/>
          </a:p>
        </p:txBody>
      </p:sp>
      <p:sp>
        <p:nvSpPr>
          <p:cNvPr id="11" name="Text 9"/>
          <p:cNvSpPr/>
          <p:nvPr/>
        </p:nvSpPr>
        <p:spPr>
          <a:xfrm>
            <a:off x="10389989" y="2213610"/>
            <a:ext cx="1079778" cy="289560"/>
          </a:xfrm>
          <a:prstGeom prst="rect">
            <a:avLst/>
          </a:prstGeom>
          <a:noFill/>
          <a:ln/>
        </p:spPr>
        <p:txBody>
          <a:bodyPr wrap="square" lIns="0" tIns="0" rIns="0" bIns="0" rtlCol="0" anchor="t">
            <a:normAutofit/>
          </a:bodyPr>
          <a:lstStyle/>
          <a:p>
            <a:pPr algn="l" indent="0" marL="0">
              <a:buNone/>
            </a:pPr>
            <a:r>
              <a:rPr lang="en-US" sz="1800" dirty="0">
                <a:solidFill>
                  <a:srgbClr val="16181D"/>
                </a:solidFill>
                <a:latin typeface="Arial" pitchFamily="34" charset="0"/>
                <a:ea typeface="Arial" pitchFamily="34" charset="-122"/>
                <a:cs typeface="Arial" pitchFamily="34" charset="-120"/>
              </a:rPr>
              <a:t>DuckDNS</a:t>
            </a:r>
            <a:endParaRPr lang="en-US" sz="1800" dirty="0"/>
          </a:p>
        </p:txBody>
      </p:sp>
      <p:sp>
        <p:nvSpPr>
          <p:cNvPr id="12" name="Text 10"/>
          <p:cNvSpPr/>
          <p:nvPr/>
        </p:nvSpPr>
        <p:spPr>
          <a:xfrm>
            <a:off x="11653838" y="2217420"/>
            <a:ext cx="2766584" cy="289560"/>
          </a:xfrm>
          <a:prstGeom prst="rect">
            <a:avLst/>
          </a:prstGeom>
          <a:noFill/>
          <a:ln/>
        </p:spPr>
        <p:txBody>
          <a:bodyPr wrap="square" lIns="25400" tIns="25400" rIns="25400" bIns="25400" rtlCol="0" anchor="t">
            <a:normAutofit/>
          </a:bodyPr>
          <a:lstStyle/>
          <a:p>
            <a:pPr algn="l" indent="0" marL="0">
              <a:buNone/>
            </a:pPr>
            <a:r>
              <a:rPr lang="en-US" sz="1500" dirty="0">
                <a:solidFill>
                  <a:srgbClr val="4A5058"/>
                </a:solidFill>
                <a:latin typeface="Roboto Mono" pitchFamily="34" charset="0"/>
                <a:ea typeface="Roboto Mono" pitchFamily="34" charset="-122"/>
                <a:cs typeface="Roboto Mono" pitchFamily="34" charset="-120"/>
              </a:rPr>
              <a:t>maas-transit · maas-ui</a:t>
            </a:r>
            <a:endParaRPr lang="en-US" sz="1500" dirty="0"/>
          </a:p>
        </p:txBody>
      </p:sp>
      <p:sp>
        <p:nvSpPr>
          <p:cNvPr id="13" name="Shape 11"/>
          <p:cNvSpPr/>
          <p:nvPr/>
        </p:nvSpPr>
        <p:spPr>
          <a:xfrm>
            <a:off x="762000" y="2853690"/>
            <a:ext cx="16764000" cy="8366760"/>
          </a:xfrm>
          <a:prstGeom prst="rect">
            <a:avLst/>
          </a:prstGeom>
          <a:ln w="22860">
            <a:solidFill>
              <a:srgbClr val="16181D"/>
            </a:solidFill>
            <a:prstDash val="solid"/>
          </a:ln>
        </p:spPr>
      </p:sp>
      <p:sp>
        <p:nvSpPr>
          <p:cNvPr id="14" name="Text 12"/>
          <p:cNvSpPr/>
          <p:nvPr/>
        </p:nvSpPr>
        <p:spPr>
          <a:xfrm>
            <a:off x="975360" y="3067050"/>
            <a:ext cx="9382601" cy="304800"/>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16181D"/>
                </a:solidFill>
                <a:latin typeface="Roboto Mono" pitchFamily="34" charset="0"/>
                <a:ea typeface="Roboto Mono" pitchFamily="34" charset="-122"/>
                <a:cs typeface="Roboto Mono" pitchFamily="34" charset="-120"/>
              </a:rPr>
              <a:t>AWS 계정 508139322599 (kosa-edu-3) · 리전 ap-northeast-2 (서울)</a:t>
            </a:r>
            <a:endParaRPr lang="en-US" sz="1575" dirty="0"/>
          </a:p>
        </p:txBody>
      </p:sp>
      <p:sp>
        <p:nvSpPr>
          <p:cNvPr id="15" name="Text 13"/>
          <p:cNvSpPr/>
          <p:nvPr/>
        </p:nvSpPr>
        <p:spPr>
          <a:xfrm>
            <a:off x="12046625" y="3082290"/>
            <a:ext cx="5792617" cy="289560"/>
          </a:xfrm>
          <a:prstGeom prst="rect">
            <a:avLst/>
          </a:prstGeom>
          <a:noFill/>
          <a:ln/>
        </p:spPr>
        <p:txBody>
          <a:bodyPr wrap="square" lIns="25400" tIns="25400" rIns="25400" bIns="25400" rtlCol="0" anchor="t">
            <a:normAutofit/>
          </a:bodyPr>
          <a:lstStyle/>
          <a:p>
            <a:pPr algn="l" indent="0" marL="0">
              <a:buNone/>
            </a:pPr>
            <a:r>
              <a:rPr lang="en-US" sz="1500" dirty="0">
                <a:solidFill>
                  <a:srgbClr val="C2410C"/>
                </a:solidFill>
                <a:latin typeface="Roboto Mono" pitchFamily="34" charset="0"/>
                <a:ea typeface="Roboto Mono" pitchFamily="34" charset="-122"/>
                <a:cs typeface="Roboto Mono" pitchFamily="34" charset="-120"/>
              </a:rPr>
              <a:t>권한 경계 kosa-edu-region-pol — 서울 외 리전 차단</a:t>
            </a:r>
            <a:endParaRPr lang="en-US" sz="1500" dirty="0"/>
          </a:p>
        </p:txBody>
      </p:sp>
      <p:sp>
        <p:nvSpPr>
          <p:cNvPr id="16" name="Shape 14"/>
          <p:cNvSpPr/>
          <p:nvPr/>
        </p:nvSpPr>
        <p:spPr>
          <a:xfrm>
            <a:off x="975360" y="3467100"/>
            <a:ext cx="3887986" cy="5895975"/>
          </a:xfrm>
          <a:prstGeom prst="rect">
            <a:avLst/>
          </a:prstGeom>
          <a:solidFill>
            <a:srgbClr val="FFFFFF"/>
          </a:solidFill>
          <a:ln w="7620">
            <a:solidFill>
              <a:srgbClr val="DFE1E6"/>
            </a:solidFill>
            <a:prstDash val="solid"/>
          </a:ln>
        </p:spPr>
      </p:sp>
      <p:sp>
        <p:nvSpPr>
          <p:cNvPr id="17" name="Text 15"/>
          <p:cNvSpPr/>
          <p:nvPr/>
        </p:nvSpPr>
        <p:spPr>
          <a:xfrm>
            <a:off x="1154430" y="3646170"/>
            <a:ext cx="3882830" cy="274320"/>
          </a:xfrm>
          <a:prstGeom prst="rect">
            <a:avLst/>
          </a:prstGeom>
          <a:noFill/>
          <a:ln/>
        </p:spPr>
        <p:txBody>
          <a:bodyPr wrap="square" lIns="25400" tIns="25400" rIns="25400" bIns="25400" rtlCol="0" anchor="t">
            <a:normAutofit/>
          </a:bodyPr>
          <a:lstStyle/>
          <a:p>
            <a:pPr algn="l" indent="0" marL="0">
              <a:buNone/>
            </a:pPr>
            <a:r>
              <a:rPr lang="en-US" sz="1425" spc="86" kern="0" dirty="0">
                <a:solidFill>
                  <a:srgbClr val="4F7CFF"/>
                </a:solidFill>
                <a:latin typeface="Roboto Mono" pitchFamily="34" charset="0"/>
                <a:ea typeface="Roboto Mono" pitchFamily="34" charset="-122"/>
                <a:cs typeface="Roboto Mono" pitchFamily="34" charset="-120"/>
              </a:rPr>
              <a:t>NETWORK</a:t>
            </a:r>
            <a:endParaRPr lang="en-US" sz="1425" dirty="0"/>
          </a:p>
        </p:txBody>
      </p:sp>
      <p:sp>
        <p:nvSpPr>
          <p:cNvPr id="18" name="Shape 16"/>
          <p:cNvSpPr/>
          <p:nvPr/>
        </p:nvSpPr>
        <p:spPr>
          <a:xfrm>
            <a:off x="1154430" y="3996690"/>
            <a:ext cx="3529846" cy="868680"/>
          </a:xfrm>
          <a:prstGeom prst="rect">
            <a:avLst/>
          </a:prstGeom>
          <a:solidFill>
            <a:srgbClr val="F3F6FF"/>
          </a:solidFill>
          <a:ln w="7620">
            <a:solidFill>
              <a:srgbClr val="C9D6FF"/>
            </a:solidFill>
            <a:prstDash val="solid"/>
          </a:ln>
        </p:spPr>
      </p:sp>
      <p:sp>
        <p:nvSpPr>
          <p:cNvPr id="19" name="Text 17"/>
          <p:cNvSpPr/>
          <p:nvPr/>
        </p:nvSpPr>
        <p:spPr>
          <a:xfrm>
            <a:off x="1314450" y="4137660"/>
            <a:ext cx="3315701" cy="624840"/>
          </a:xfrm>
          <a:prstGeom prst="rect">
            <a:avLst/>
          </a:prstGeom>
          <a:noFill/>
          <a:ln/>
        </p:spPr>
        <p:txBody>
          <a:bodyPr wrap="square" lIns="25400" tIns="25400" rIns="25400" bIns="25400" rtlCol="0" anchor="t">
            <a:normAutofit/>
          </a:bodyPr>
          <a:lstStyle/>
          <a:p>
            <a:pPr algn="l" indent="0" marL="0">
              <a:lnSpc>
                <a:spcPct val="120312"/>
              </a:lnSpc>
              <a:buNone/>
            </a:pPr>
            <a:r>
              <a:rPr lang="en-US" sz="1650" b="1" dirty="0">
                <a:solidFill>
                  <a:srgbClr val="16181D"/>
                </a:solidFill>
                <a:latin typeface="Arial" pitchFamily="34" charset="0"/>
                <a:ea typeface="Arial" pitchFamily="34" charset="-122"/>
                <a:cs typeface="Arial" pitchFamily="34" charset="-120"/>
              </a:rPr>
              <a:t>Elastic IP </a:t>
            </a:r>
            <a:pPr algn="l" indent="0" marL="0">
              <a:lnSpc>
                <a:spcPct val="120312"/>
              </a:lnSpc>
              <a:buNone/>
            </a:pPr>
            <a:r>
              <a:rPr lang="en-US" sz="1500" dirty="0">
                <a:solidFill>
                  <a:srgbClr val="2B57D6"/>
                </a:solidFill>
                <a:latin typeface="Roboto Mono" pitchFamily="34" charset="0"/>
                <a:ea typeface="Roboto Mono" pitchFamily="34" charset="-122"/>
                <a:cs typeface="Roboto Mono" pitchFamily="34" charset="-120"/>
              </a:rPr>
              <a:t>43.201.216.37</a:t>
            </a:r>
            <a:endParaRPr lang="en-US" sz="1650" dirty="0"/>
          </a:p>
        </p:txBody>
      </p:sp>
      <p:sp>
        <p:nvSpPr>
          <p:cNvPr id="20" name="Text 18"/>
          <p:cNvSpPr/>
          <p:nvPr/>
        </p:nvSpPr>
        <p:spPr>
          <a:xfrm>
            <a:off x="977938" y="4979670"/>
            <a:ext cx="3882830" cy="247650"/>
          </a:xfrm>
          <a:prstGeom prst="rect">
            <a:avLst/>
          </a:prstGeom>
          <a:noFill/>
          <a:ln/>
        </p:spPr>
        <p:txBody>
          <a:bodyPr wrap="square" lIns="25400" tIns="25400" rIns="25400" bIns="25400" rtlCol="0" anchor="t">
            <a:normAutofit/>
          </a:bodyPr>
          <a:lstStyle/>
          <a:p>
            <a:pPr algn="ctr" indent="0" marL="0">
              <a:lnSpc>
                <a:spcPct val="85937"/>
              </a:lnSpc>
              <a:buNone/>
            </a:pPr>
            <a:r>
              <a:rPr lang="en-US" sz="1650" dirty="0">
                <a:solidFill>
                  <a:srgbClr val="C2C6CC"/>
                </a:solidFill>
                <a:latin typeface="Arial" pitchFamily="34" charset="0"/>
                <a:ea typeface="Arial" pitchFamily="34" charset="-122"/>
                <a:cs typeface="Arial" pitchFamily="34" charset="-120"/>
              </a:rPr>
              <a:t>↓</a:t>
            </a:r>
            <a:endParaRPr lang="en-US" sz="1650" dirty="0"/>
          </a:p>
        </p:txBody>
      </p:sp>
      <p:sp>
        <p:nvSpPr>
          <p:cNvPr id="21" name="Shape 19"/>
          <p:cNvSpPr/>
          <p:nvPr/>
        </p:nvSpPr>
        <p:spPr>
          <a:xfrm>
            <a:off x="1154430" y="5303520"/>
            <a:ext cx="3529846" cy="1455420"/>
          </a:xfrm>
          <a:prstGeom prst="rect">
            <a:avLst/>
          </a:prstGeom>
          <a:solidFill>
            <a:srgbClr val="F3F6FF"/>
          </a:solidFill>
          <a:ln w="7620">
            <a:solidFill>
              <a:srgbClr val="C9D6FF"/>
            </a:solidFill>
            <a:prstDash val="solid"/>
          </a:ln>
        </p:spPr>
      </p:sp>
      <p:sp>
        <p:nvSpPr>
          <p:cNvPr id="22" name="Text 20"/>
          <p:cNvSpPr/>
          <p:nvPr/>
        </p:nvSpPr>
        <p:spPr>
          <a:xfrm>
            <a:off x="1314450" y="5444490"/>
            <a:ext cx="3315701" cy="1211580"/>
          </a:xfrm>
          <a:prstGeom prst="rect">
            <a:avLst/>
          </a:prstGeom>
          <a:noFill/>
          <a:ln/>
        </p:spPr>
        <p:txBody>
          <a:bodyPr wrap="square" lIns="25400" tIns="25400" rIns="25400" bIns="25400" rtlCol="0" anchor="t">
            <a:normAutofit/>
          </a:bodyPr>
          <a:lstStyle/>
          <a:p>
            <a:pPr algn="l" indent="0" marL="0">
              <a:lnSpc>
                <a:spcPct val="120312"/>
              </a:lnSpc>
              <a:buNone/>
            </a:pPr>
            <a:r>
              <a:rPr lang="en-US" sz="1650" b="1" dirty="0">
                <a:solidFill>
                  <a:srgbClr val="16181D"/>
                </a:solidFill>
                <a:latin typeface="Arial" pitchFamily="34" charset="0"/>
                <a:ea typeface="Arial" pitchFamily="34" charset="-122"/>
                <a:cs typeface="Arial" pitchFamily="34" charset="-120"/>
              </a:rPr>
              <a:t>보안그룹 </a:t>
            </a:r>
            <a:pPr algn="l" indent="0" marL="0">
              <a:lnSpc>
                <a:spcPct val="120312"/>
              </a:lnSpc>
              <a:buNone/>
            </a:pPr>
            <a:r>
              <a:rPr lang="en-US" sz="1425" dirty="0">
                <a:solidFill>
                  <a:srgbClr val="2B57D6"/>
                </a:solidFill>
                <a:latin typeface="Roboto Mono" pitchFamily="34" charset="0"/>
                <a:ea typeface="Roboto Mono" pitchFamily="34" charset="-122"/>
                <a:cs typeface="Roboto Mono" pitchFamily="34" charset="-120"/>
              </a:rPr>
              <a:t>sg-0ce81d06ebaf0db08 </a:t>
            </a:r>
            <a:pPr algn="l" indent="0" marL="0">
              <a:lnSpc>
                <a:spcPct val="120312"/>
              </a:lnSpc>
              <a:buNone/>
            </a:pPr>
            <a:r>
              <a:rPr lang="en-US" sz="1500" dirty="0">
                <a:solidFill>
                  <a:srgbClr val="00845C"/>
                </a:solidFill>
                <a:latin typeface="Arial" pitchFamily="34" charset="0"/>
                <a:ea typeface="Arial" pitchFamily="34" charset="-122"/>
                <a:cs typeface="Arial" pitchFamily="34" charset="-120"/>
              </a:rPr>
              <a:t>80 · 443 → 0.0.0.0/0 </a:t>
            </a:r>
            <a:pPr algn="l" indent="0" marL="0">
              <a:lnSpc>
                <a:spcPct val="120312"/>
              </a:lnSpc>
              <a:buNone/>
            </a:pPr>
            <a:r>
              <a:rPr lang="en-US" sz="1500" dirty="0">
                <a:solidFill>
                  <a:srgbClr val="C2410C"/>
                </a:solidFill>
                <a:latin typeface="Arial" pitchFamily="34" charset="0"/>
                <a:ea typeface="Arial" pitchFamily="34" charset="-122"/>
                <a:cs typeface="Arial" pitchFamily="34" charset="-120"/>
              </a:rPr>
              <a:t>그 외 인바운드 없음</a:t>
            </a:r>
            <a:endParaRPr lang="en-US" sz="1650" dirty="0"/>
          </a:p>
        </p:txBody>
      </p:sp>
      <p:sp>
        <p:nvSpPr>
          <p:cNvPr id="23" name="Shape 21"/>
          <p:cNvSpPr/>
          <p:nvPr/>
        </p:nvSpPr>
        <p:spPr>
          <a:xfrm>
            <a:off x="1154430" y="8387715"/>
            <a:ext cx="3529846" cy="796290"/>
          </a:xfrm>
          <a:prstGeom prst="rect">
            <a:avLst/>
          </a:prstGeom>
          <a:solidFill>
            <a:srgbClr val="FFF7ED"/>
          </a:solidFill>
          <a:ln w="7620">
            <a:solidFill>
              <a:srgbClr val="FED7AA"/>
            </a:solidFill>
            <a:prstDash val="solid"/>
          </a:ln>
        </p:spPr>
      </p:sp>
      <p:sp>
        <p:nvSpPr>
          <p:cNvPr id="24" name="Text 22"/>
          <p:cNvSpPr/>
          <p:nvPr/>
        </p:nvSpPr>
        <p:spPr>
          <a:xfrm>
            <a:off x="1314450" y="8509635"/>
            <a:ext cx="3315701" cy="590550"/>
          </a:xfrm>
          <a:prstGeom prst="rect">
            <a:avLst/>
          </a:prstGeom>
          <a:noFill/>
          <a:ln/>
        </p:spPr>
        <p:txBody>
          <a:bodyPr wrap="square" lIns="25400" tIns="25400" rIns="25400" bIns="25400" rtlCol="0" anchor="t">
            <a:normAutofit/>
          </a:bodyPr>
          <a:lstStyle/>
          <a:p>
            <a:pPr algn="l" indent="0" marL="0">
              <a:lnSpc>
                <a:spcPct val="125000"/>
              </a:lnSpc>
              <a:buNone/>
            </a:pPr>
            <a:r>
              <a:rPr lang="en-US" sz="1500" dirty="0">
                <a:solidFill>
                  <a:srgbClr val="7C2D12"/>
                </a:solidFill>
                <a:highlight>
                  <a:srgbClr val="FFF7ED"/>
                </a:highlight>
                <a:latin typeface="Arial" pitchFamily="34" charset="0"/>
                <a:ea typeface="Arial" pitchFamily="34" charset="-122"/>
                <a:cs typeface="Arial" pitchFamily="34" charset="-120"/>
              </a:rPr>
              <a:t>EIP 를 붙인 이유: 재시작마다 공인 IP 가 바뀌어 </a:t>
            </a:r>
            <a:pPr algn="l" indent="0" marL="0">
              <a:lnSpc>
                <a:spcPct val="125000"/>
              </a:lnSpc>
              <a:buNone/>
            </a:pPr>
            <a:r>
              <a:rPr lang="en-US" sz="1500" b="1" dirty="0">
                <a:solidFill>
                  <a:srgbClr val="7C2D12"/>
                </a:solidFill>
                <a:latin typeface="Arial" pitchFamily="34" charset="0"/>
                <a:ea typeface="Arial" pitchFamily="34" charset="-122"/>
                <a:cs typeface="Arial" pitchFamily="34" charset="-120"/>
              </a:rPr>
              <a:t>DuckDNS 갱신이 반복</a:t>
            </a:r>
            <a:pPr algn="l" indent="0" marL="0">
              <a:lnSpc>
                <a:spcPct val="125000"/>
              </a:lnSpc>
              <a:buNone/>
            </a:pPr>
            <a:r>
              <a:rPr lang="en-US" sz="1500" dirty="0">
                <a:solidFill>
                  <a:srgbClr val="7C2D12"/>
                </a:solidFill>
                <a:highlight>
                  <a:srgbClr val="FFF7ED"/>
                </a:highlight>
                <a:latin typeface="Arial" pitchFamily="34" charset="0"/>
                <a:ea typeface="Arial" pitchFamily="34" charset="-122"/>
                <a:cs typeface="Arial" pitchFamily="34" charset="-120"/>
              </a:rPr>
              <a:t>됐다</a:t>
            </a:r>
            <a:endParaRPr lang="en-US" sz="1500" dirty="0"/>
          </a:p>
        </p:txBody>
      </p:sp>
      <p:sp>
        <p:nvSpPr>
          <p:cNvPr id="25" name="Shape 23"/>
          <p:cNvSpPr/>
          <p:nvPr/>
        </p:nvSpPr>
        <p:spPr>
          <a:xfrm>
            <a:off x="4996696" y="3467100"/>
            <a:ext cx="6998494" cy="5895975"/>
          </a:xfrm>
          <a:prstGeom prst="rect">
            <a:avLst/>
          </a:prstGeom>
          <a:solidFill>
            <a:srgbClr val="FFFFFF"/>
          </a:solidFill>
          <a:ln w="7620">
            <a:solidFill>
              <a:srgbClr val="DFE1E6"/>
            </a:solidFill>
            <a:prstDash val="solid"/>
          </a:ln>
        </p:spPr>
      </p:sp>
      <p:sp>
        <p:nvSpPr>
          <p:cNvPr id="26" name="Text 24"/>
          <p:cNvSpPr/>
          <p:nvPr/>
        </p:nvSpPr>
        <p:spPr>
          <a:xfrm>
            <a:off x="5175766" y="3646170"/>
            <a:ext cx="2184297" cy="274320"/>
          </a:xfrm>
          <a:prstGeom prst="rect">
            <a:avLst/>
          </a:prstGeom>
          <a:noFill/>
          <a:ln/>
        </p:spPr>
        <p:txBody>
          <a:bodyPr wrap="square" lIns="25400" tIns="25400" rIns="25400" bIns="25400" rtlCol="0" anchor="t">
            <a:normAutofit/>
          </a:bodyPr>
          <a:lstStyle/>
          <a:p>
            <a:pPr algn="l" indent="0" marL="0">
              <a:buNone/>
            </a:pPr>
            <a:r>
              <a:rPr lang="en-US" sz="1425" spc="86" kern="0" dirty="0">
                <a:solidFill>
                  <a:srgbClr val="4F7CFF"/>
                </a:solidFill>
                <a:latin typeface="Roboto Mono" pitchFamily="34" charset="0"/>
                <a:ea typeface="Roboto Mono" pitchFamily="34" charset="-122"/>
                <a:cs typeface="Roboto Mono" pitchFamily="34" charset="-120"/>
              </a:rPr>
              <a:t>COMPUTE — EC2 1대</a:t>
            </a:r>
            <a:endParaRPr lang="en-US" sz="1425" dirty="0"/>
          </a:p>
        </p:txBody>
      </p:sp>
      <p:sp>
        <p:nvSpPr>
          <p:cNvPr id="27" name="Text 25"/>
          <p:cNvSpPr/>
          <p:nvPr/>
        </p:nvSpPr>
        <p:spPr>
          <a:xfrm>
            <a:off x="9752648" y="3646170"/>
            <a:ext cx="2269819" cy="274320"/>
          </a:xfrm>
          <a:prstGeom prst="rect">
            <a:avLst/>
          </a:prstGeom>
          <a:noFill/>
          <a:ln/>
        </p:spPr>
        <p:txBody>
          <a:bodyPr wrap="square" lIns="25400" tIns="25400" rIns="25400" bIns="25400" rtlCol="0" anchor="t">
            <a:normAutofit/>
          </a:bodyPr>
          <a:lstStyle/>
          <a:p>
            <a:pPr algn="l" indent="0" marL="0">
              <a:buNone/>
            </a:pPr>
            <a:r>
              <a:rPr lang="en-US" sz="1425" dirty="0">
                <a:solidFill>
                  <a:srgbClr val="8A9099"/>
                </a:solidFill>
                <a:latin typeface="Roboto Mono" pitchFamily="34" charset="0"/>
                <a:ea typeface="Roboto Mono" pitchFamily="34" charset="-122"/>
                <a:cs typeface="Roboto Mono" pitchFamily="34" charset="-120"/>
              </a:rPr>
              <a:t>i-008500ef9e7c53aec</a:t>
            </a:r>
            <a:endParaRPr lang="en-US" sz="1425" dirty="0"/>
          </a:p>
        </p:txBody>
      </p:sp>
      <p:sp>
        <p:nvSpPr>
          <p:cNvPr id="28" name="Text 26"/>
          <p:cNvSpPr/>
          <p:nvPr/>
        </p:nvSpPr>
        <p:spPr>
          <a:xfrm>
            <a:off x="5175766" y="3977640"/>
            <a:ext cx="6839565" cy="609600"/>
          </a:xfrm>
          <a:prstGeom prst="rect">
            <a:avLst/>
          </a:prstGeom>
          <a:noFill/>
          <a:ln/>
        </p:spPr>
        <p:txBody>
          <a:bodyPr wrap="square" lIns="25400" tIns="25400" rIns="25400" bIns="25400" rtlCol="0" anchor="t">
            <a:normAutofit/>
          </a:bodyPr>
          <a:lstStyle/>
          <a:p>
            <a:pPr algn="l" indent="0" marL="0">
              <a:lnSpc>
                <a:spcPct val="113636"/>
              </a:lnSpc>
              <a:buNone/>
            </a:pPr>
            <a:r>
              <a:rPr lang="en-US" sz="1500" dirty="0">
                <a:solidFill>
                  <a:srgbClr val="4A5058"/>
                </a:solidFill>
                <a:latin typeface="Roboto Mono" pitchFamily="34" charset="0"/>
                <a:ea typeface="Roboto Mono" pitchFamily="34" charset="-122"/>
                <a:cs typeface="Roboto Mono" pitchFamily="34" charset="-120"/>
              </a:rPr>
              <a:t>g6e.xlarge · NVIDIA L40S 46GB · ap-northeast-2a Ubuntu 22.04 DL AMI · EBS 300GB gp3</a:t>
            </a:r>
            <a:endParaRPr lang="en-US" sz="1500" dirty="0"/>
          </a:p>
        </p:txBody>
      </p:sp>
      <p:sp>
        <p:nvSpPr>
          <p:cNvPr id="29" name="Shape 27"/>
          <p:cNvSpPr/>
          <p:nvPr/>
        </p:nvSpPr>
        <p:spPr>
          <a:xfrm>
            <a:off x="5175766" y="4644390"/>
            <a:ext cx="6640354" cy="4539615"/>
          </a:xfrm>
          <a:prstGeom prst="rect">
            <a:avLst/>
          </a:prstGeom>
          <a:ln w="15240">
            <a:solidFill>
              <a:srgbClr val="16181D"/>
            </a:solidFill>
            <a:prstDash val="solid"/>
          </a:ln>
        </p:spPr>
      </p:sp>
      <p:sp>
        <p:nvSpPr>
          <p:cNvPr id="30" name="Shape 28"/>
          <p:cNvSpPr/>
          <p:nvPr/>
        </p:nvSpPr>
        <p:spPr>
          <a:xfrm>
            <a:off x="5305306" y="4773930"/>
            <a:ext cx="6381274" cy="495300"/>
          </a:xfrm>
          <a:prstGeom prst="rect">
            <a:avLst/>
          </a:prstGeom>
          <a:solidFill>
            <a:srgbClr val="F3F6FF"/>
          </a:solidFill>
          <a:ln w="7620">
            <a:solidFill>
              <a:srgbClr val="C9D6FF"/>
            </a:solidFill>
            <a:prstDash val="solid"/>
          </a:ln>
        </p:spPr>
      </p:sp>
      <p:sp>
        <p:nvSpPr>
          <p:cNvPr id="31" name="Text 29"/>
          <p:cNvSpPr/>
          <p:nvPr/>
        </p:nvSpPr>
        <p:spPr>
          <a:xfrm>
            <a:off x="5465326" y="4895850"/>
            <a:ext cx="1507974" cy="289560"/>
          </a:xfrm>
          <a:prstGeom prst="rect">
            <a:avLst/>
          </a:prstGeom>
          <a:noFill/>
          <a:ln/>
        </p:spPr>
        <p:txBody>
          <a:bodyPr wrap="square" lIns="25400" tIns="25400" rIns="25400" bIns="25400" rtlCol="0" anchor="t">
            <a:normAutofit/>
          </a:bodyPr>
          <a:lstStyle/>
          <a:p>
            <a:pPr algn="l" indent="0" marL="0">
              <a:buNone/>
            </a:pPr>
            <a:r>
              <a:rPr lang="en-US" sz="1650" b="1" dirty="0">
                <a:solidFill>
                  <a:srgbClr val="16181D"/>
                </a:solidFill>
                <a:latin typeface="Arial" pitchFamily="34" charset="0"/>
                <a:ea typeface="Arial" pitchFamily="34" charset="-122"/>
                <a:cs typeface="Arial" pitchFamily="34" charset="-120"/>
              </a:rPr>
              <a:t>caddy.service</a:t>
            </a:r>
            <a:endParaRPr lang="en-US" sz="1650" dirty="0"/>
          </a:p>
        </p:txBody>
      </p:sp>
      <p:sp>
        <p:nvSpPr>
          <p:cNvPr id="32" name="Text 30"/>
          <p:cNvSpPr/>
          <p:nvPr/>
        </p:nvSpPr>
        <p:spPr>
          <a:xfrm>
            <a:off x="10383322" y="4895850"/>
            <a:ext cx="1219438" cy="289560"/>
          </a:xfrm>
          <a:prstGeom prst="rect">
            <a:avLst/>
          </a:prstGeom>
          <a:noFill/>
          <a:ln/>
        </p:spPr>
        <p:txBody>
          <a:bodyPr wrap="square" lIns="25400" tIns="25400" rIns="25400" bIns="25400" rtlCol="0" anchor="t">
            <a:normAutofit/>
          </a:bodyPr>
          <a:lstStyle/>
          <a:p>
            <a:pPr algn="l" indent="0" marL="0">
              <a:buNone/>
            </a:pPr>
            <a:r>
              <a:rPr lang="en-US" sz="1500" dirty="0">
                <a:solidFill>
                  <a:srgbClr val="2B57D6"/>
                </a:solidFill>
                <a:latin typeface="Roboto Mono" pitchFamily="34" charset="0"/>
                <a:ea typeface="Roboto Mono" pitchFamily="34" charset="-122"/>
                <a:cs typeface="Roboto Mono" pitchFamily="34" charset="-120"/>
              </a:rPr>
              <a:t>:80 / :443</a:t>
            </a:r>
            <a:endParaRPr lang="en-US" sz="1500" dirty="0"/>
          </a:p>
        </p:txBody>
      </p:sp>
      <p:sp>
        <p:nvSpPr>
          <p:cNvPr id="33" name="Shape 31"/>
          <p:cNvSpPr/>
          <p:nvPr/>
        </p:nvSpPr>
        <p:spPr>
          <a:xfrm>
            <a:off x="5305306" y="5345430"/>
            <a:ext cx="3152537" cy="783908"/>
          </a:xfrm>
          <a:prstGeom prst="rect">
            <a:avLst/>
          </a:prstGeom>
          <a:solidFill>
            <a:srgbClr val="FFFFFF"/>
          </a:solidFill>
          <a:ln w="7620">
            <a:solidFill>
              <a:srgbClr val="DFE1E6"/>
            </a:solidFill>
            <a:prstDash val="solid"/>
          </a:ln>
        </p:spPr>
      </p:sp>
      <p:sp>
        <p:nvSpPr>
          <p:cNvPr id="34" name="Text 32"/>
          <p:cNvSpPr/>
          <p:nvPr/>
        </p:nvSpPr>
        <p:spPr>
          <a:xfrm>
            <a:off x="5446276" y="5467350"/>
            <a:ext cx="2965173" cy="578168"/>
          </a:xfrm>
          <a:prstGeom prst="rect">
            <a:avLst/>
          </a:prstGeom>
          <a:noFill/>
          <a:ln/>
        </p:spPr>
        <p:txBody>
          <a:bodyPr wrap="square" lIns="25400" tIns="25400" rIns="25400" bIns="25400" rtlCol="0" anchor="t">
            <a:normAutofit/>
          </a:bodyPr>
          <a:lstStyle/>
          <a:p>
            <a:pPr algn="l" indent="0" marL="0">
              <a:lnSpc>
                <a:spcPct val="114315"/>
              </a:lnSpc>
              <a:buNone/>
            </a:pPr>
            <a:r>
              <a:rPr lang="en-US" sz="1575" b="1" dirty="0">
                <a:solidFill>
                  <a:srgbClr val="16181D"/>
                </a:solidFill>
                <a:latin typeface="Arial" pitchFamily="34" charset="0"/>
                <a:ea typeface="Arial" pitchFamily="34" charset="-122"/>
                <a:cs typeface="Arial" pitchFamily="34" charset="-120"/>
              </a:rPr>
              <a:t>maas-api </a:t>
            </a:r>
            <a:pPr algn="l" indent="0" marL="0">
              <a:lnSpc>
                <a:spcPct val="114315"/>
              </a:lnSpc>
              <a:buNone/>
            </a:pPr>
            <a:r>
              <a:rPr lang="en-US" sz="1425" dirty="0">
                <a:solidFill>
                  <a:srgbClr val="6B7280"/>
                </a:solidFill>
                <a:latin typeface="Roboto Mono" pitchFamily="34" charset="0"/>
                <a:ea typeface="Roboto Mono" pitchFamily="34" charset="-122"/>
                <a:cs typeface="Roboto Mono" pitchFamily="34" charset="-120"/>
              </a:rPr>
              <a:t>:8080 · ui.api</a:t>
            </a:r>
            <a:endParaRPr lang="en-US" sz="1575" dirty="0"/>
          </a:p>
        </p:txBody>
      </p:sp>
      <p:sp>
        <p:nvSpPr>
          <p:cNvPr id="35" name="Shape 33"/>
          <p:cNvSpPr/>
          <p:nvPr/>
        </p:nvSpPr>
        <p:spPr>
          <a:xfrm>
            <a:off x="8534043" y="5345430"/>
            <a:ext cx="3152537" cy="783908"/>
          </a:xfrm>
          <a:prstGeom prst="rect">
            <a:avLst/>
          </a:prstGeom>
          <a:solidFill>
            <a:srgbClr val="FFFFFF"/>
          </a:solidFill>
          <a:ln w="7620">
            <a:solidFill>
              <a:srgbClr val="DFE1E6"/>
            </a:solidFill>
            <a:prstDash val="solid"/>
          </a:ln>
        </p:spPr>
      </p:sp>
      <p:sp>
        <p:nvSpPr>
          <p:cNvPr id="36" name="Text 34"/>
          <p:cNvSpPr/>
          <p:nvPr/>
        </p:nvSpPr>
        <p:spPr>
          <a:xfrm>
            <a:off x="8675013" y="5467350"/>
            <a:ext cx="2965173" cy="578168"/>
          </a:xfrm>
          <a:prstGeom prst="rect">
            <a:avLst/>
          </a:prstGeom>
          <a:noFill/>
          <a:ln/>
        </p:spPr>
        <p:txBody>
          <a:bodyPr wrap="square" lIns="25400" tIns="25400" rIns="25400" bIns="25400" rtlCol="0" anchor="t">
            <a:normAutofit/>
          </a:bodyPr>
          <a:lstStyle/>
          <a:p>
            <a:pPr algn="l" indent="0" marL="0">
              <a:lnSpc>
                <a:spcPct val="114315"/>
              </a:lnSpc>
              <a:buNone/>
            </a:pPr>
            <a:r>
              <a:rPr lang="en-US" sz="1575" b="1" dirty="0">
                <a:solidFill>
                  <a:srgbClr val="16181D"/>
                </a:solidFill>
                <a:latin typeface="Arial" pitchFamily="34" charset="0"/>
                <a:ea typeface="Arial" pitchFamily="34" charset="-122"/>
                <a:cs typeface="Arial" pitchFamily="34" charset="-120"/>
              </a:rPr>
              <a:t>maas-ui </a:t>
            </a:r>
            <a:pPr algn="l" indent="0" marL="0">
              <a:lnSpc>
                <a:spcPct val="114315"/>
              </a:lnSpc>
              <a:buNone/>
            </a:pPr>
            <a:r>
              <a:rPr lang="en-US" sz="1425" dirty="0">
                <a:solidFill>
                  <a:srgbClr val="6B7280"/>
                </a:solidFill>
                <a:latin typeface="Roboto Mono" pitchFamily="34" charset="0"/>
                <a:ea typeface="Roboto Mono" pitchFamily="34" charset="-122"/>
                <a:cs typeface="Roboto Mono" pitchFamily="34" charset="-120"/>
              </a:rPr>
              <a:t>:7860 · ui.server</a:t>
            </a:r>
            <a:endParaRPr lang="en-US" sz="1575" dirty="0"/>
          </a:p>
        </p:txBody>
      </p:sp>
      <p:sp>
        <p:nvSpPr>
          <p:cNvPr id="37" name="Shape 35"/>
          <p:cNvSpPr/>
          <p:nvPr/>
        </p:nvSpPr>
        <p:spPr>
          <a:xfrm>
            <a:off x="5305306" y="6205538"/>
            <a:ext cx="6381274" cy="464820"/>
          </a:xfrm>
          <a:prstGeom prst="rect">
            <a:avLst/>
          </a:prstGeom>
          <a:solidFill>
            <a:srgbClr val="16181D"/>
          </a:solidFill>
          <a:ln/>
        </p:spPr>
      </p:sp>
      <p:sp>
        <p:nvSpPr>
          <p:cNvPr id="38" name="Text 36"/>
          <p:cNvSpPr/>
          <p:nvPr/>
        </p:nvSpPr>
        <p:spPr>
          <a:xfrm>
            <a:off x="5457706" y="6319838"/>
            <a:ext cx="2433530"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FBFBFA"/>
                </a:solidFill>
                <a:latin typeface="Arial" pitchFamily="34" charset="0"/>
                <a:ea typeface="Arial" pitchFamily="34" charset="-122"/>
                <a:cs typeface="Arial" pitchFamily="34" charset="-120"/>
              </a:rPr>
              <a:t>vllm </a:t>
            </a:r>
            <a:pPr algn="l" indent="0" marL="0">
              <a:buNone/>
            </a:pPr>
            <a:r>
              <a:rPr lang="en-US" sz="1575" dirty="0">
                <a:solidFill>
                  <a:srgbClr val="FBFBFA"/>
                </a:solidFill>
                <a:latin typeface="Arial" pitchFamily="34" charset="0"/>
                <a:ea typeface="Arial" pitchFamily="34" charset="-122"/>
                <a:cs typeface="Arial" pitchFamily="34" charset="-120"/>
              </a:rPr>
              <a:t>Docker · Qwen3-4B</a:t>
            </a:r>
            <a:endParaRPr lang="en-US" sz="1575" dirty="0"/>
          </a:p>
        </p:txBody>
      </p:sp>
      <p:sp>
        <p:nvSpPr>
          <p:cNvPr id="39" name="Text 37"/>
          <p:cNvSpPr/>
          <p:nvPr/>
        </p:nvSpPr>
        <p:spPr>
          <a:xfrm>
            <a:off x="10013633" y="6319838"/>
            <a:ext cx="1672602" cy="274320"/>
          </a:xfrm>
          <a:prstGeom prst="rect">
            <a:avLst/>
          </a:prstGeom>
          <a:noFill/>
          <a:ln/>
        </p:spPr>
        <p:txBody>
          <a:bodyPr wrap="square" lIns="25400" tIns="25400" rIns="25400" bIns="25400" rtlCol="0" anchor="t">
            <a:normAutofit/>
          </a:bodyPr>
          <a:lstStyle/>
          <a:p>
            <a:pPr algn="l" indent="0" marL="0">
              <a:buNone/>
            </a:pPr>
            <a:r>
              <a:rPr lang="en-US" sz="1425" dirty="0">
                <a:solidFill>
                  <a:srgbClr val="9DB4FF"/>
                </a:solidFill>
                <a:latin typeface="Roboto Mono" pitchFamily="34" charset="0"/>
                <a:ea typeface="Roboto Mono" pitchFamily="34" charset="-122"/>
                <a:cs typeface="Roboto Mono" pitchFamily="34" charset="-120"/>
              </a:rPr>
              <a:t>127.0.0.1:8000</a:t>
            </a:r>
            <a:endParaRPr lang="en-US" sz="1425" dirty="0"/>
          </a:p>
        </p:txBody>
      </p:sp>
      <p:sp>
        <p:nvSpPr>
          <p:cNvPr id="40" name="Shape 38"/>
          <p:cNvSpPr/>
          <p:nvPr/>
        </p:nvSpPr>
        <p:spPr>
          <a:xfrm>
            <a:off x="5305306" y="6746557"/>
            <a:ext cx="3152537" cy="422910"/>
          </a:xfrm>
          <a:prstGeom prst="rect">
            <a:avLst/>
          </a:prstGeom>
          <a:solidFill>
            <a:srgbClr val="F6F7F8"/>
          </a:solidFill>
          <a:ln w="7620">
            <a:solidFill>
              <a:srgbClr val="DFE1E6"/>
            </a:solidFill>
            <a:prstDash val="solid"/>
          </a:ln>
        </p:spPr>
      </p:sp>
      <p:sp>
        <p:nvSpPr>
          <p:cNvPr id="41" name="Text 39"/>
          <p:cNvSpPr/>
          <p:nvPr/>
        </p:nvSpPr>
        <p:spPr>
          <a:xfrm>
            <a:off x="5427226" y="6839902"/>
            <a:ext cx="3003273" cy="274320"/>
          </a:xfrm>
          <a:prstGeom prst="rect">
            <a:avLst/>
          </a:prstGeom>
          <a:noFill/>
          <a:ln/>
        </p:spPr>
        <p:txBody>
          <a:bodyPr wrap="square" lIns="25400" tIns="25400" rIns="25400" bIns="25400" rtlCol="0" anchor="t">
            <a:normAutofit/>
          </a:bodyPr>
          <a:lstStyle/>
          <a:p>
            <a:pPr algn="l" indent="0" marL="0">
              <a:buNone/>
            </a:pPr>
            <a:r>
              <a:rPr lang="en-US" sz="1425" dirty="0">
                <a:solidFill>
                  <a:srgbClr val="4A5058"/>
                </a:solidFill>
                <a:latin typeface="Roboto Mono" pitchFamily="34" charset="0"/>
                <a:ea typeface="Roboto Mono" pitchFamily="34" charset="-122"/>
                <a:cs typeface="Roboto Mono" pitchFamily="34" charset="-120"/>
              </a:rPr>
              <a:t>codedeploy-agent</a:t>
            </a:r>
            <a:endParaRPr lang="en-US" sz="1425" dirty="0"/>
          </a:p>
        </p:txBody>
      </p:sp>
      <p:sp>
        <p:nvSpPr>
          <p:cNvPr id="42" name="Shape 40"/>
          <p:cNvSpPr/>
          <p:nvPr/>
        </p:nvSpPr>
        <p:spPr>
          <a:xfrm>
            <a:off x="8534043" y="6746557"/>
            <a:ext cx="3152537" cy="422910"/>
          </a:xfrm>
          <a:prstGeom prst="rect">
            <a:avLst/>
          </a:prstGeom>
          <a:solidFill>
            <a:srgbClr val="F6F7F8"/>
          </a:solidFill>
          <a:ln w="7620">
            <a:solidFill>
              <a:srgbClr val="DFE1E6"/>
            </a:solidFill>
            <a:prstDash val="solid"/>
          </a:ln>
        </p:spPr>
      </p:sp>
      <p:sp>
        <p:nvSpPr>
          <p:cNvPr id="43" name="Text 41"/>
          <p:cNvSpPr/>
          <p:nvPr/>
        </p:nvSpPr>
        <p:spPr>
          <a:xfrm>
            <a:off x="8655963" y="6839902"/>
            <a:ext cx="3003273" cy="274320"/>
          </a:xfrm>
          <a:prstGeom prst="rect">
            <a:avLst/>
          </a:prstGeom>
          <a:noFill/>
          <a:ln/>
        </p:spPr>
        <p:txBody>
          <a:bodyPr wrap="square" lIns="25400" tIns="25400" rIns="25400" bIns="25400" rtlCol="0" anchor="t">
            <a:normAutofit/>
          </a:bodyPr>
          <a:lstStyle/>
          <a:p>
            <a:pPr algn="l" indent="0" marL="0">
              <a:buNone/>
            </a:pPr>
            <a:r>
              <a:rPr lang="en-US" sz="1425" dirty="0">
                <a:solidFill>
                  <a:srgbClr val="4A5058"/>
                </a:solidFill>
                <a:latin typeface="Roboto Mono" pitchFamily="34" charset="0"/>
                <a:ea typeface="Roboto Mono" pitchFamily="34" charset="-122"/>
                <a:cs typeface="Roboto Mono" pitchFamily="34" charset="-120"/>
              </a:rPr>
              <a:t>amazon-ssm-agent</a:t>
            </a:r>
            <a:endParaRPr lang="en-US" sz="1425" dirty="0"/>
          </a:p>
        </p:txBody>
      </p:sp>
      <p:sp>
        <p:nvSpPr>
          <p:cNvPr id="44" name="Text 42"/>
          <p:cNvSpPr/>
          <p:nvPr/>
        </p:nvSpPr>
        <p:spPr>
          <a:xfrm>
            <a:off x="5305306" y="7245668"/>
            <a:ext cx="7019401" cy="304800"/>
          </a:xfrm>
          <a:prstGeom prst="rect">
            <a:avLst/>
          </a:prstGeom>
          <a:noFill/>
          <a:ln/>
        </p:spPr>
        <p:txBody>
          <a:bodyPr wrap="square" lIns="25400" tIns="25400" rIns="25400" bIns="25400" rtlCol="0" anchor="t">
            <a:normAutofit/>
          </a:bodyPr>
          <a:lstStyle/>
          <a:p>
            <a:pPr algn="l" indent="0" marL="0">
              <a:lnSpc>
                <a:spcPct val="120690"/>
              </a:lnSpc>
              <a:buNone/>
            </a:pPr>
            <a:r>
              <a:rPr lang="en-US" sz="1500" dirty="0">
                <a:solidFill>
                  <a:srgbClr val="6B7280"/>
                </a:solidFill>
                <a:latin typeface="Arial" pitchFamily="34" charset="0"/>
                <a:ea typeface="Arial" pitchFamily="34" charset="-122"/>
                <a:cs typeface="Arial" pitchFamily="34" charset="-120"/>
              </a:rPr>
              <a:t>IAM 역할 </a:t>
            </a:r>
            <a:pPr algn="l" indent="0" marL="0">
              <a:lnSpc>
                <a:spcPct val="120690"/>
              </a:lnSpc>
              <a:buNone/>
            </a:pPr>
            <a:r>
              <a:rPr lang="en-US" sz="1425" dirty="0">
                <a:solidFill>
                  <a:srgbClr val="6B7280"/>
                </a:solidFill>
                <a:latin typeface="Roboto Mono" pitchFamily="34" charset="0"/>
                <a:ea typeface="Roboto Mono" pitchFamily="34" charset="-122"/>
                <a:cs typeface="Roboto Mono" pitchFamily="34" charset="-120"/>
              </a:rPr>
              <a:t>maas-llm-ec2 </a:t>
            </a:r>
            <a:pPr algn="l" indent="0" marL="0">
              <a:lnSpc>
                <a:spcPct val="120690"/>
              </a:lnSpc>
              <a:buNone/>
            </a:pPr>
            <a:r>
              <a:rPr lang="en-US" sz="1500" dirty="0">
                <a:solidFill>
                  <a:srgbClr val="6B7280"/>
                </a:solidFill>
                <a:latin typeface="Arial" pitchFamily="34" charset="0"/>
                <a:ea typeface="Arial" pitchFamily="34" charset="-122"/>
                <a:cs typeface="Arial" pitchFamily="34" charset="-120"/>
              </a:rPr>
              <a:t>— SSM · Bedrock · S3 · CodeDeploy</a:t>
            </a:r>
            <a:endParaRPr lang="en-US" sz="1500" dirty="0"/>
          </a:p>
        </p:txBody>
      </p:sp>
      <p:sp>
        <p:nvSpPr>
          <p:cNvPr id="45" name="Shape 43"/>
          <p:cNvSpPr/>
          <p:nvPr/>
        </p:nvSpPr>
        <p:spPr>
          <a:xfrm>
            <a:off x="12128540" y="3467100"/>
            <a:ext cx="5184100" cy="3709035"/>
          </a:xfrm>
          <a:prstGeom prst="rect">
            <a:avLst/>
          </a:prstGeom>
          <a:solidFill>
            <a:srgbClr val="FFFFFF"/>
          </a:solidFill>
          <a:ln w="7620">
            <a:solidFill>
              <a:srgbClr val="DFE1E6"/>
            </a:solidFill>
            <a:prstDash val="solid"/>
          </a:ln>
        </p:spPr>
      </p:sp>
      <p:sp>
        <p:nvSpPr>
          <p:cNvPr id="46" name="Text 44"/>
          <p:cNvSpPr/>
          <p:nvPr/>
        </p:nvSpPr>
        <p:spPr>
          <a:xfrm>
            <a:off x="12307610" y="3627120"/>
            <a:ext cx="5308556" cy="274320"/>
          </a:xfrm>
          <a:prstGeom prst="rect">
            <a:avLst/>
          </a:prstGeom>
          <a:noFill/>
          <a:ln/>
        </p:spPr>
        <p:txBody>
          <a:bodyPr wrap="square" lIns="25400" tIns="25400" rIns="25400" bIns="25400" rtlCol="0" anchor="t">
            <a:normAutofit/>
          </a:bodyPr>
          <a:lstStyle/>
          <a:p>
            <a:pPr algn="l" indent="0" marL="0">
              <a:buNone/>
            </a:pPr>
            <a:r>
              <a:rPr lang="en-US" sz="1425" spc="86" kern="0" dirty="0">
                <a:solidFill>
                  <a:srgbClr val="4F7CFF"/>
                </a:solidFill>
                <a:latin typeface="Roboto Mono" pitchFamily="34" charset="0"/>
                <a:ea typeface="Roboto Mono" pitchFamily="34" charset="-122"/>
                <a:cs typeface="Roboto Mono" pitchFamily="34" charset="-120"/>
              </a:rPr>
              <a:t>MANAGED SERVICES</a:t>
            </a:r>
            <a:endParaRPr lang="en-US" sz="1425" dirty="0"/>
          </a:p>
        </p:txBody>
      </p:sp>
      <p:sp>
        <p:nvSpPr>
          <p:cNvPr id="47" name="Shape 45"/>
          <p:cNvSpPr/>
          <p:nvPr/>
        </p:nvSpPr>
        <p:spPr>
          <a:xfrm>
            <a:off x="12307610" y="3958590"/>
            <a:ext cx="4825960" cy="803910"/>
          </a:xfrm>
          <a:prstGeom prst="rect">
            <a:avLst/>
          </a:prstGeom>
          <a:solidFill>
            <a:srgbClr val="F3F6FF"/>
          </a:solidFill>
          <a:ln w="7620">
            <a:solidFill>
              <a:srgbClr val="C9D6FF"/>
            </a:solidFill>
            <a:prstDash val="solid"/>
          </a:ln>
        </p:spPr>
      </p:sp>
      <p:sp>
        <p:nvSpPr>
          <p:cNvPr id="48" name="Text 46"/>
          <p:cNvSpPr/>
          <p:nvPr/>
        </p:nvSpPr>
        <p:spPr>
          <a:xfrm>
            <a:off x="12448580" y="4080510"/>
            <a:ext cx="4688799" cy="598170"/>
          </a:xfrm>
          <a:prstGeom prst="rect">
            <a:avLst/>
          </a:prstGeom>
          <a:noFill/>
          <a:ln/>
        </p:spPr>
        <p:txBody>
          <a:bodyPr wrap="square" lIns="25400" tIns="25400" rIns="25400" bIns="25400" rtlCol="0" anchor="t">
            <a:normAutofit/>
          </a:bodyPr>
          <a:lstStyle/>
          <a:p>
            <a:pPr algn="l" indent="0" marL="0">
              <a:lnSpc>
                <a:spcPct val="118548"/>
              </a:lnSpc>
              <a:buNone/>
            </a:pPr>
            <a:r>
              <a:rPr lang="en-US" sz="1575" b="1" dirty="0">
                <a:solidFill>
                  <a:srgbClr val="16181D"/>
                </a:solidFill>
                <a:latin typeface="Arial" pitchFamily="34" charset="0"/>
                <a:ea typeface="Arial" pitchFamily="34" charset="-122"/>
                <a:cs typeface="Arial" pitchFamily="34" charset="-120"/>
              </a:rPr>
              <a:t>Bedrock Runtime </a:t>
            </a:r>
            <a:pPr algn="l" indent="0" marL="0">
              <a:lnSpc>
                <a:spcPct val="118548"/>
              </a:lnSpc>
              <a:buNone/>
            </a:pPr>
            <a:r>
              <a:rPr lang="en-US" sz="1575" dirty="0">
                <a:solidFill>
                  <a:srgbClr val="16181D"/>
                </a:solidFill>
                <a:highlight>
                  <a:srgbClr val="F3F6FF"/>
                </a:highlight>
                <a:latin typeface="Arial" pitchFamily="34" charset="0"/>
                <a:ea typeface="Arial" pitchFamily="34" charset="-122"/>
                <a:cs typeface="Arial" pitchFamily="34" charset="-120"/>
              </a:rPr>
              <a:t>— Supervisor </a:t>
            </a:r>
            <a:pPr algn="l" indent="0" marL="0">
              <a:lnSpc>
                <a:spcPct val="118548"/>
              </a:lnSpc>
              <a:buNone/>
            </a:pPr>
            <a:r>
              <a:rPr lang="en-US" sz="1350" dirty="0">
                <a:solidFill>
                  <a:srgbClr val="2B57D6"/>
                </a:solidFill>
                <a:latin typeface="Roboto Mono" pitchFamily="34" charset="0"/>
                <a:ea typeface="Roboto Mono" pitchFamily="34" charset="-122"/>
                <a:cs typeface="Roboto Mono" pitchFamily="34" charset="-120"/>
              </a:rPr>
              <a:t>claude-3-haiku-20240307-v1:0</a:t>
            </a:r>
            <a:endParaRPr lang="en-US" sz="1575" dirty="0"/>
          </a:p>
        </p:txBody>
      </p:sp>
      <p:sp>
        <p:nvSpPr>
          <p:cNvPr id="49" name="Shape 47"/>
          <p:cNvSpPr/>
          <p:nvPr/>
        </p:nvSpPr>
        <p:spPr>
          <a:xfrm>
            <a:off x="12307610" y="4857750"/>
            <a:ext cx="4825960" cy="803910"/>
          </a:xfrm>
          <a:prstGeom prst="rect">
            <a:avLst/>
          </a:prstGeom>
          <a:solidFill>
            <a:srgbClr val="F3F6FF"/>
          </a:solidFill>
          <a:ln w="7620">
            <a:solidFill>
              <a:srgbClr val="C9D6FF"/>
            </a:solidFill>
            <a:prstDash val="solid"/>
          </a:ln>
        </p:spPr>
      </p:sp>
      <p:sp>
        <p:nvSpPr>
          <p:cNvPr id="50" name="Text 48"/>
          <p:cNvSpPr/>
          <p:nvPr/>
        </p:nvSpPr>
        <p:spPr>
          <a:xfrm>
            <a:off x="12448580" y="4979670"/>
            <a:ext cx="4688799" cy="598170"/>
          </a:xfrm>
          <a:prstGeom prst="rect">
            <a:avLst/>
          </a:prstGeom>
          <a:noFill/>
          <a:ln/>
        </p:spPr>
        <p:txBody>
          <a:bodyPr wrap="square" lIns="25400" tIns="25400" rIns="25400" bIns="25400" rtlCol="0" anchor="t">
            <a:normAutofit/>
          </a:bodyPr>
          <a:lstStyle/>
          <a:p>
            <a:pPr algn="l" indent="0" marL="0">
              <a:lnSpc>
                <a:spcPct val="118548"/>
              </a:lnSpc>
              <a:buNone/>
            </a:pPr>
            <a:r>
              <a:rPr lang="en-US" sz="1575" b="1" dirty="0">
                <a:solidFill>
                  <a:srgbClr val="16181D"/>
                </a:solidFill>
                <a:latin typeface="Arial" pitchFamily="34" charset="0"/>
                <a:ea typeface="Arial" pitchFamily="34" charset="-122"/>
                <a:cs typeface="Arial" pitchFamily="34" charset="-120"/>
              </a:rPr>
              <a:t>Bedrock Guardrails </a:t>
            </a:r>
            <a:pPr algn="l" indent="0" marL="0">
              <a:lnSpc>
                <a:spcPct val="118548"/>
              </a:lnSpc>
              <a:buNone/>
            </a:pPr>
            <a:r>
              <a:rPr lang="en-US" sz="1575" dirty="0">
                <a:solidFill>
                  <a:srgbClr val="16181D"/>
                </a:solidFill>
                <a:highlight>
                  <a:srgbClr val="F3F6FF"/>
                </a:highlight>
                <a:latin typeface="Arial" pitchFamily="34" charset="0"/>
                <a:ea typeface="Arial" pitchFamily="34" charset="-122"/>
                <a:cs typeface="Arial" pitchFamily="34" charset="-120"/>
              </a:rPr>
              <a:t>— 입력·출력 </a:t>
            </a:r>
            <a:pPr algn="l" indent="0" marL="0">
              <a:lnSpc>
                <a:spcPct val="118548"/>
              </a:lnSpc>
              <a:buNone/>
            </a:pPr>
            <a:r>
              <a:rPr lang="en-US" sz="1350" dirty="0">
                <a:solidFill>
                  <a:srgbClr val="2B57D6"/>
                </a:solidFill>
                <a:latin typeface="Roboto Mono" pitchFamily="34" charset="0"/>
                <a:ea typeface="Roboto Mono" pitchFamily="34" charset="-122"/>
                <a:cs typeface="Roboto Mono" pitchFamily="34" charset="-120"/>
              </a:rPr>
              <a:t>b53a6caaqa31 v1 · Standard · apac</a:t>
            </a:r>
            <a:endParaRPr lang="en-US" sz="1575" dirty="0"/>
          </a:p>
        </p:txBody>
      </p:sp>
      <p:sp>
        <p:nvSpPr>
          <p:cNvPr id="51" name="Shape 49"/>
          <p:cNvSpPr/>
          <p:nvPr/>
        </p:nvSpPr>
        <p:spPr>
          <a:xfrm>
            <a:off x="12307610" y="5756910"/>
            <a:ext cx="2374821" cy="720090"/>
          </a:xfrm>
          <a:prstGeom prst="rect">
            <a:avLst/>
          </a:prstGeom>
          <a:solidFill>
            <a:srgbClr val="FFFFFF"/>
          </a:solidFill>
          <a:ln w="7620">
            <a:solidFill>
              <a:srgbClr val="DFE1E6"/>
            </a:solidFill>
            <a:prstDash val="solid"/>
          </a:ln>
        </p:spPr>
      </p:sp>
      <p:sp>
        <p:nvSpPr>
          <p:cNvPr id="52" name="Text 50"/>
          <p:cNvSpPr/>
          <p:nvPr/>
        </p:nvSpPr>
        <p:spPr>
          <a:xfrm>
            <a:off x="12429530" y="5859780"/>
            <a:ext cx="2207181" cy="552450"/>
          </a:xfrm>
          <a:prstGeom prst="rect">
            <a:avLst/>
          </a:prstGeom>
          <a:noFill/>
          <a:ln/>
        </p:spPr>
        <p:txBody>
          <a:bodyPr wrap="square" lIns="25400" tIns="25400" rIns="25400" bIns="25400" rtlCol="0" anchor="t">
            <a:normAutofit/>
          </a:bodyPr>
          <a:lstStyle/>
          <a:p>
            <a:pPr algn="l" indent="0" marL="0">
              <a:lnSpc>
                <a:spcPct val="116379"/>
              </a:lnSpc>
              <a:buNone/>
            </a:pPr>
            <a:r>
              <a:rPr lang="en-US" sz="1500" b="1" dirty="0">
                <a:solidFill>
                  <a:srgbClr val="16181D"/>
                </a:solidFill>
                <a:latin typeface="Arial" pitchFamily="34" charset="0"/>
                <a:ea typeface="Arial" pitchFamily="34" charset="-122"/>
                <a:cs typeface="Arial" pitchFamily="34" charset="-120"/>
              </a:rPr>
              <a:t>S3 </a:t>
            </a:r>
            <a:pPr algn="l" indent="0" marL="0">
              <a:lnSpc>
                <a:spcPct val="116379"/>
              </a:lnSpc>
              <a:buNone/>
            </a:pPr>
            <a:r>
              <a:rPr lang="en-US" sz="1500" dirty="0">
                <a:solidFill>
                  <a:srgbClr val="16181D"/>
                </a:solidFill>
                <a:highlight>
                  <a:srgbClr val="FFFFFF"/>
                </a:highlight>
                <a:latin typeface="Arial" pitchFamily="34" charset="0"/>
                <a:ea typeface="Arial" pitchFamily="34" charset="-122"/>
                <a:cs typeface="Arial" pitchFamily="34" charset="-120"/>
              </a:rPr>
              <a:t>×2 </a:t>
            </a:r>
            <a:pPr algn="l" indent="0" marL="0">
              <a:lnSpc>
                <a:spcPct val="116379"/>
              </a:lnSpc>
              <a:buNone/>
            </a:pPr>
            <a:r>
              <a:rPr lang="en-US" sz="1275" dirty="0">
                <a:solidFill>
                  <a:srgbClr val="6B7280"/>
                </a:solidFill>
                <a:latin typeface="Roboto Mono" pitchFamily="34" charset="0"/>
                <a:ea typeface="Roboto Mono" pitchFamily="34" charset="-122"/>
                <a:cs typeface="Roboto Mono" pitchFamily="34" charset="-120"/>
              </a:rPr>
              <a:t>아티팩트 · 배포</a:t>
            </a:r>
            <a:endParaRPr lang="en-US" sz="1500" dirty="0"/>
          </a:p>
        </p:txBody>
      </p:sp>
      <p:sp>
        <p:nvSpPr>
          <p:cNvPr id="53" name="Shape 51"/>
          <p:cNvSpPr/>
          <p:nvPr/>
        </p:nvSpPr>
        <p:spPr>
          <a:xfrm>
            <a:off x="14758631" y="5756910"/>
            <a:ext cx="2374940" cy="720090"/>
          </a:xfrm>
          <a:prstGeom prst="rect">
            <a:avLst/>
          </a:prstGeom>
          <a:solidFill>
            <a:srgbClr val="FFFFFF"/>
          </a:solidFill>
          <a:ln w="7620">
            <a:solidFill>
              <a:srgbClr val="DFE1E6"/>
            </a:solidFill>
            <a:prstDash val="solid"/>
          </a:ln>
        </p:spPr>
      </p:sp>
      <p:sp>
        <p:nvSpPr>
          <p:cNvPr id="54" name="Text 52"/>
          <p:cNvSpPr/>
          <p:nvPr/>
        </p:nvSpPr>
        <p:spPr>
          <a:xfrm>
            <a:off x="14880551" y="5859780"/>
            <a:ext cx="2207300" cy="552450"/>
          </a:xfrm>
          <a:prstGeom prst="rect">
            <a:avLst/>
          </a:prstGeom>
          <a:noFill/>
          <a:ln/>
        </p:spPr>
        <p:txBody>
          <a:bodyPr wrap="square" lIns="25400" tIns="25400" rIns="25400" bIns="25400" rtlCol="0" anchor="t">
            <a:normAutofit/>
          </a:bodyPr>
          <a:lstStyle/>
          <a:p>
            <a:pPr algn="l" indent="0" marL="0">
              <a:lnSpc>
                <a:spcPct val="116379"/>
              </a:lnSpc>
              <a:buNone/>
            </a:pPr>
            <a:r>
              <a:rPr lang="en-US" sz="1500" b="1" dirty="0">
                <a:solidFill>
                  <a:srgbClr val="16181D"/>
                </a:solidFill>
                <a:latin typeface="Arial" pitchFamily="34" charset="0"/>
                <a:ea typeface="Arial" pitchFamily="34" charset="-122"/>
                <a:cs typeface="Arial" pitchFamily="34" charset="-120"/>
              </a:rPr>
              <a:t>SSM </a:t>
            </a:r>
            <a:pPr algn="l" indent="0" marL="0">
              <a:lnSpc>
                <a:spcPct val="116379"/>
              </a:lnSpc>
              <a:buNone/>
            </a:pPr>
            <a:r>
              <a:rPr lang="en-US" sz="1275" dirty="0">
                <a:solidFill>
                  <a:srgbClr val="6B7280"/>
                </a:solidFill>
                <a:latin typeface="Roboto Mono" pitchFamily="34" charset="0"/>
                <a:ea typeface="Roboto Mono" pitchFamily="34" charset="-122"/>
                <a:cs typeface="Roboto Mono" pitchFamily="34" charset="-120"/>
              </a:rPr>
              <a:t>Session · Run Command</a:t>
            </a:r>
            <a:endParaRPr lang="en-US" sz="1500" dirty="0"/>
          </a:p>
        </p:txBody>
      </p:sp>
      <p:sp>
        <p:nvSpPr>
          <p:cNvPr id="55" name="Shape 53"/>
          <p:cNvSpPr/>
          <p:nvPr/>
        </p:nvSpPr>
        <p:spPr>
          <a:xfrm>
            <a:off x="12307610" y="6553200"/>
            <a:ext cx="4825960" cy="462915"/>
          </a:xfrm>
          <a:prstGeom prst="rect">
            <a:avLst/>
          </a:prstGeom>
          <a:solidFill>
            <a:srgbClr val="FFFFFF"/>
          </a:solidFill>
          <a:ln w="7620">
            <a:solidFill>
              <a:srgbClr val="DFE1E6"/>
            </a:solidFill>
            <a:prstDash val="solid"/>
          </a:ln>
        </p:spPr>
      </p:sp>
      <p:sp>
        <p:nvSpPr>
          <p:cNvPr id="56" name="Text 54"/>
          <p:cNvSpPr/>
          <p:nvPr/>
        </p:nvSpPr>
        <p:spPr>
          <a:xfrm>
            <a:off x="12429530" y="6656070"/>
            <a:ext cx="4726899" cy="295275"/>
          </a:xfrm>
          <a:prstGeom prst="rect">
            <a:avLst/>
          </a:prstGeom>
          <a:noFill/>
          <a:ln/>
        </p:spPr>
        <p:txBody>
          <a:bodyPr wrap="square" lIns="25400" tIns="25400" rIns="25400" bIns="25400" rtlCol="0" anchor="t">
            <a:normAutofit/>
          </a:bodyPr>
          <a:lstStyle/>
          <a:p>
            <a:pPr algn="l" indent="0" marL="0">
              <a:lnSpc>
                <a:spcPct val="116379"/>
              </a:lnSpc>
              <a:buNone/>
            </a:pPr>
            <a:r>
              <a:rPr lang="en-US" sz="1500" b="1" dirty="0">
                <a:solidFill>
                  <a:srgbClr val="16181D"/>
                </a:solidFill>
                <a:latin typeface="Arial" pitchFamily="34" charset="0"/>
                <a:ea typeface="Arial" pitchFamily="34" charset="-122"/>
                <a:cs typeface="Arial" pitchFamily="34" charset="-120"/>
              </a:rPr>
              <a:t>CloudWatch Logs </a:t>
            </a:r>
            <a:pPr algn="l" indent="0" marL="0">
              <a:lnSpc>
                <a:spcPct val="116379"/>
              </a:lnSpc>
              <a:buNone/>
            </a:pPr>
            <a:r>
              <a:rPr lang="en-US" sz="1500" dirty="0">
                <a:solidFill>
                  <a:srgbClr val="16181D"/>
                </a:solidFill>
                <a:highlight>
                  <a:srgbClr val="FFFFFF"/>
                </a:highlight>
                <a:latin typeface="Arial" pitchFamily="34" charset="0"/>
                <a:ea typeface="Arial" pitchFamily="34" charset="-122"/>
                <a:cs typeface="Arial" pitchFamily="34" charset="-120"/>
              </a:rPr>
              <a:t>— CodeBuild 빌드 로그</a:t>
            </a:r>
            <a:endParaRPr lang="en-US" sz="1500" dirty="0"/>
          </a:p>
        </p:txBody>
      </p:sp>
      <p:sp>
        <p:nvSpPr>
          <p:cNvPr id="57" name="Shape 55"/>
          <p:cNvSpPr/>
          <p:nvPr/>
        </p:nvSpPr>
        <p:spPr>
          <a:xfrm>
            <a:off x="12128540" y="7290435"/>
            <a:ext cx="5184100" cy="2072640"/>
          </a:xfrm>
          <a:prstGeom prst="rect">
            <a:avLst/>
          </a:prstGeom>
          <a:solidFill>
            <a:srgbClr val="F6F7F8"/>
          </a:solidFill>
          <a:ln w="7620">
            <a:solidFill>
              <a:srgbClr val="DFE1E6"/>
            </a:solidFill>
            <a:prstDash val="solid"/>
          </a:ln>
        </p:spPr>
      </p:sp>
      <p:sp>
        <p:nvSpPr>
          <p:cNvPr id="58" name="Text 56"/>
          <p:cNvSpPr/>
          <p:nvPr/>
        </p:nvSpPr>
        <p:spPr>
          <a:xfrm>
            <a:off x="12307610" y="7450455"/>
            <a:ext cx="5308556" cy="274320"/>
          </a:xfrm>
          <a:prstGeom prst="rect">
            <a:avLst/>
          </a:prstGeom>
          <a:noFill/>
          <a:ln/>
        </p:spPr>
        <p:txBody>
          <a:bodyPr wrap="square" lIns="25400" tIns="25400" rIns="25400" bIns="25400" rtlCol="0" anchor="t">
            <a:normAutofit/>
          </a:bodyPr>
          <a:lstStyle/>
          <a:p>
            <a:pPr algn="l" indent="0" marL="0">
              <a:buNone/>
            </a:pPr>
            <a:r>
              <a:rPr lang="en-US" sz="1425" spc="86" kern="0" dirty="0">
                <a:solidFill>
                  <a:srgbClr val="8A9099"/>
                </a:solidFill>
                <a:latin typeface="Roboto Mono" pitchFamily="34" charset="0"/>
                <a:ea typeface="Roboto Mono" pitchFamily="34" charset="-122"/>
                <a:cs typeface="Roboto Mono" pitchFamily="34" charset="-120"/>
              </a:rPr>
              <a:t>쓰지 않은 서비스 → 대체</a:t>
            </a:r>
            <a:endParaRPr lang="en-US" sz="1425" dirty="0"/>
          </a:p>
        </p:txBody>
      </p:sp>
      <p:sp>
        <p:nvSpPr>
          <p:cNvPr id="59" name="Text 57"/>
          <p:cNvSpPr/>
          <p:nvPr/>
        </p:nvSpPr>
        <p:spPr>
          <a:xfrm>
            <a:off x="12307610" y="7762875"/>
            <a:ext cx="2109383" cy="259080"/>
          </a:xfrm>
          <a:prstGeom prst="rect">
            <a:avLst/>
          </a:prstGeom>
          <a:noFill/>
          <a:ln/>
        </p:spPr>
        <p:txBody>
          <a:bodyPr wrap="square" lIns="25400" tIns="25400" rIns="25400" bIns="25400" rtlCol="0" anchor="t">
            <a:normAutofit/>
          </a:bodyPr>
          <a:lstStyle/>
          <a:p>
            <a:pPr algn="l" indent="0" marL="0">
              <a:buNone/>
            </a:pPr>
            <a:r>
              <a:rPr lang="en-US" sz="1500" b="1" dirty="0">
                <a:solidFill>
                  <a:srgbClr val="4A5058"/>
                </a:solidFill>
                <a:latin typeface="Arial" pitchFamily="34" charset="0"/>
                <a:ea typeface="Arial" pitchFamily="34" charset="-122"/>
                <a:cs typeface="Arial" pitchFamily="34" charset="-120"/>
              </a:rPr>
              <a:t>ALB</a:t>
            </a:r>
            <a:endParaRPr lang="en-US" sz="1500" dirty="0"/>
          </a:p>
        </p:txBody>
      </p:sp>
      <p:sp>
        <p:nvSpPr>
          <p:cNvPr id="60" name="Text 58"/>
          <p:cNvSpPr/>
          <p:nvPr/>
        </p:nvSpPr>
        <p:spPr>
          <a:xfrm>
            <a:off x="14358581" y="7762875"/>
            <a:ext cx="3052489" cy="259080"/>
          </a:xfrm>
          <a:prstGeom prst="rect">
            <a:avLst/>
          </a:prstGeom>
          <a:noFill/>
          <a:ln/>
        </p:spPr>
        <p:txBody>
          <a:bodyPr wrap="square" lIns="25400" tIns="25400" rIns="25400" bIns="25400" rtlCol="0" anchor="t">
            <a:normAutofit/>
          </a:bodyPr>
          <a:lstStyle/>
          <a:p>
            <a:pPr algn="l" indent="0" marL="0">
              <a:buNone/>
            </a:pPr>
            <a:r>
              <a:rPr lang="en-US" sz="1500" dirty="0">
                <a:solidFill>
                  <a:srgbClr val="4A5058"/>
                </a:solidFill>
                <a:latin typeface="Arial" pitchFamily="34" charset="0"/>
                <a:ea typeface="Arial" pitchFamily="34" charset="-122"/>
                <a:cs typeface="Arial" pitchFamily="34" charset="-120"/>
              </a:rPr>
              <a:t>→ Caddy + Let's Encrypt</a:t>
            </a:r>
            <a:endParaRPr lang="en-US" sz="1500" dirty="0"/>
          </a:p>
        </p:txBody>
      </p:sp>
      <p:sp>
        <p:nvSpPr>
          <p:cNvPr id="61" name="Text 59"/>
          <p:cNvSpPr/>
          <p:nvPr/>
        </p:nvSpPr>
        <p:spPr>
          <a:xfrm>
            <a:off x="12307610" y="8041005"/>
            <a:ext cx="2109383" cy="259080"/>
          </a:xfrm>
          <a:prstGeom prst="rect">
            <a:avLst/>
          </a:prstGeom>
          <a:noFill/>
          <a:ln/>
        </p:spPr>
        <p:txBody>
          <a:bodyPr wrap="square" lIns="25400" tIns="25400" rIns="25400" bIns="25400" rtlCol="0" anchor="t">
            <a:normAutofit/>
          </a:bodyPr>
          <a:lstStyle/>
          <a:p>
            <a:pPr algn="l" indent="0" marL="0">
              <a:buNone/>
            </a:pPr>
            <a:r>
              <a:rPr lang="en-US" sz="1500" b="1" dirty="0">
                <a:solidFill>
                  <a:srgbClr val="4A5058"/>
                </a:solidFill>
                <a:latin typeface="Arial" pitchFamily="34" charset="0"/>
                <a:ea typeface="Arial" pitchFamily="34" charset="-122"/>
                <a:cs typeface="Arial" pitchFamily="34" charset="-120"/>
              </a:rPr>
              <a:t>ECS · EKS</a:t>
            </a:r>
            <a:endParaRPr lang="en-US" sz="1500" dirty="0"/>
          </a:p>
        </p:txBody>
      </p:sp>
      <p:sp>
        <p:nvSpPr>
          <p:cNvPr id="62" name="Text 60"/>
          <p:cNvSpPr/>
          <p:nvPr/>
        </p:nvSpPr>
        <p:spPr>
          <a:xfrm>
            <a:off x="14358581" y="8041005"/>
            <a:ext cx="3052489" cy="259080"/>
          </a:xfrm>
          <a:prstGeom prst="rect">
            <a:avLst/>
          </a:prstGeom>
          <a:noFill/>
          <a:ln/>
        </p:spPr>
        <p:txBody>
          <a:bodyPr wrap="square" lIns="25400" tIns="25400" rIns="25400" bIns="25400" rtlCol="0" anchor="t">
            <a:normAutofit/>
          </a:bodyPr>
          <a:lstStyle/>
          <a:p>
            <a:pPr algn="l" indent="0" marL="0">
              <a:buNone/>
            </a:pPr>
            <a:r>
              <a:rPr lang="en-US" sz="1500" dirty="0">
                <a:solidFill>
                  <a:srgbClr val="4A5058"/>
                </a:solidFill>
                <a:latin typeface="Arial" pitchFamily="34" charset="0"/>
                <a:ea typeface="Arial" pitchFamily="34" charset="-122"/>
                <a:cs typeface="Arial" pitchFamily="34" charset="-120"/>
              </a:rPr>
              <a:t>→ systemd</a:t>
            </a:r>
            <a:endParaRPr lang="en-US" sz="1500" dirty="0"/>
          </a:p>
        </p:txBody>
      </p:sp>
      <p:sp>
        <p:nvSpPr>
          <p:cNvPr id="63" name="Text 61"/>
          <p:cNvSpPr/>
          <p:nvPr/>
        </p:nvSpPr>
        <p:spPr>
          <a:xfrm>
            <a:off x="12307610" y="8364855"/>
            <a:ext cx="2109383" cy="259080"/>
          </a:xfrm>
          <a:prstGeom prst="rect">
            <a:avLst/>
          </a:prstGeom>
          <a:noFill/>
          <a:ln/>
        </p:spPr>
        <p:txBody>
          <a:bodyPr wrap="square" lIns="25400" tIns="25400" rIns="25400" bIns="25400" rtlCol="0" anchor="t">
            <a:normAutofit/>
          </a:bodyPr>
          <a:lstStyle/>
          <a:p>
            <a:pPr algn="l" indent="0" marL="0">
              <a:buNone/>
            </a:pPr>
            <a:r>
              <a:rPr lang="en-US" sz="1500" b="1" dirty="0">
                <a:solidFill>
                  <a:srgbClr val="4A5058"/>
                </a:solidFill>
                <a:latin typeface="Arial" pitchFamily="34" charset="0"/>
                <a:ea typeface="Arial" pitchFamily="34" charset="-122"/>
                <a:cs typeface="Arial" pitchFamily="34" charset="-120"/>
              </a:rPr>
              <a:t>SageMaker</a:t>
            </a:r>
            <a:endParaRPr lang="en-US" sz="1500" dirty="0"/>
          </a:p>
        </p:txBody>
      </p:sp>
      <p:sp>
        <p:nvSpPr>
          <p:cNvPr id="64" name="Text 62"/>
          <p:cNvSpPr/>
          <p:nvPr/>
        </p:nvSpPr>
        <p:spPr>
          <a:xfrm>
            <a:off x="14358581" y="8319135"/>
            <a:ext cx="3052489" cy="312420"/>
          </a:xfrm>
          <a:prstGeom prst="rect">
            <a:avLst/>
          </a:prstGeom>
          <a:noFill/>
          <a:ln/>
        </p:spPr>
        <p:txBody>
          <a:bodyPr wrap="square" lIns="25400" tIns="25400" rIns="25400" bIns="25400" rtlCol="0" anchor="t">
            <a:normAutofit/>
          </a:bodyPr>
          <a:lstStyle/>
          <a:p>
            <a:pPr algn="l" indent="0" marL="0">
              <a:buNone/>
            </a:pPr>
            <a:r>
              <a:rPr lang="en-US" sz="1500" dirty="0">
                <a:solidFill>
                  <a:srgbClr val="4A5058"/>
                </a:solidFill>
                <a:latin typeface="Arial" pitchFamily="34" charset="0"/>
                <a:ea typeface="Arial" pitchFamily="34" charset="-122"/>
                <a:cs typeface="Arial" pitchFamily="34" charset="-120"/>
              </a:rPr>
              <a:t>→ vLLM 직접 운영</a:t>
            </a:r>
            <a:endParaRPr lang="en-US" sz="1500" dirty="0"/>
          </a:p>
        </p:txBody>
      </p:sp>
      <p:sp>
        <p:nvSpPr>
          <p:cNvPr id="65" name="Text 63"/>
          <p:cNvSpPr/>
          <p:nvPr/>
        </p:nvSpPr>
        <p:spPr>
          <a:xfrm>
            <a:off x="12307610" y="8650605"/>
            <a:ext cx="2109383" cy="259080"/>
          </a:xfrm>
          <a:prstGeom prst="rect">
            <a:avLst/>
          </a:prstGeom>
          <a:noFill/>
          <a:ln/>
        </p:spPr>
        <p:txBody>
          <a:bodyPr wrap="square" lIns="25400" tIns="25400" rIns="25400" bIns="25400" rtlCol="0" anchor="t">
            <a:normAutofit/>
          </a:bodyPr>
          <a:lstStyle/>
          <a:p>
            <a:pPr algn="l" indent="0" marL="0">
              <a:buNone/>
            </a:pPr>
            <a:r>
              <a:rPr lang="en-US" sz="1500" b="1" dirty="0">
                <a:solidFill>
                  <a:srgbClr val="4A5058"/>
                </a:solidFill>
                <a:latin typeface="Arial" pitchFamily="34" charset="0"/>
                <a:ea typeface="Arial" pitchFamily="34" charset="-122"/>
                <a:cs typeface="Arial" pitchFamily="34" charset="-120"/>
              </a:rPr>
              <a:t>Route 53</a:t>
            </a:r>
            <a:endParaRPr lang="en-US" sz="1500" dirty="0"/>
          </a:p>
        </p:txBody>
      </p:sp>
      <p:sp>
        <p:nvSpPr>
          <p:cNvPr id="66" name="Text 64"/>
          <p:cNvSpPr/>
          <p:nvPr/>
        </p:nvSpPr>
        <p:spPr>
          <a:xfrm>
            <a:off x="14358581" y="8650605"/>
            <a:ext cx="3052489" cy="259080"/>
          </a:xfrm>
          <a:prstGeom prst="rect">
            <a:avLst/>
          </a:prstGeom>
          <a:noFill/>
          <a:ln/>
        </p:spPr>
        <p:txBody>
          <a:bodyPr wrap="square" lIns="25400" tIns="25400" rIns="25400" bIns="25400" rtlCol="0" anchor="t">
            <a:normAutofit/>
          </a:bodyPr>
          <a:lstStyle/>
          <a:p>
            <a:pPr algn="l" indent="0" marL="0">
              <a:buNone/>
            </a:pPr>
            <a:r>
              <a:rPr lang="en-US" sz="1500" dirty="0">
                <a:solidFill>
                  <a:srgbClr val="4A5058"/>
                </a:solidFill>
                <a:latin typeface="Arial" pitchFamily="34" charset="0"/>
                <a:ea typeface="Arial" pitchFamily="34" charset="-122"/>
                <a:cs typeface="Arial" pitchFamily="34" charset="-120"/>
              </a:rPr>
              <a:t>→ DuckDNS</a:t>
            </a:r>
            <a:endParaRPr lang="en-US" sz="1500" dirty="0"/>
          </a:p>
        </p:txBody>
      </p:sp>
      <p:sp>
        <p:nvSpPr>
          <p:cNvPr id="67" name="Text 65"/>
          <p:cNvSpPr/>
          <p:nvPr/>
        </p:nvSpPr>
        <p:spPr>
          <a:xfrm>
            <a:off x="12307610" y="8974455"/>
            <a:ext cx="2109383" cy="259080"/>
          </a:xfrm>
          <a:prstGeom prst="rect">
            <a:avLst/>
          </a:prstGeom>
          <a:noFill/>
          <a:ln/>
        </p:spPr>
        <p:txBody>
          <a:bodyPr wrap="square" lIns="25400" tIns="25400" rIns="25400" bIns="25400" rtlCol="0" anchor="t">
            <a:normAutofit/>
          </a:bodyPr>
          <a:lstStyle/>
          <a:p>
            <a:pPr algn="l" indent="0" marL="0">
              <a:buNone/>
            </a:pPr>
            <a:r>
              <a:rPr lang="en-US" sz="1500" b="1" dirty="0">
                <a:solidFill>
                  <a:srgbClr val="C2410C"/>
                </a:solidFill>
                <a:latin typeface="Arial" pitchFamily="34" charset="0"/>
                <a:ea typeface="Arial" pitchFamily="34" charset="-122"/>
                <a:cs typeface="Arial" pitchFamily="34" charset="-120"/>
              </a:rPr>
              <a:t>Cost Explorer</a:t>
            </a:r>
            <a:endParaRPr lang="en-US" sz="1500" dirty="0"/>
          </a:p>
        </p:txBody>
      </p:sp>
      <p:sp>
        <p:nvSpPr>
          <p:cNvPr id="68" name="Text 66"/>
          <p:cNvSpPr/>
          <p:nvPr/>
        </p:nvSpPr>
        <p:spPr>
          <a:xfrm>
            <a:off x="14358581" y="8928735"/>
            <a:ext cx="3052489" cy="312420"/>
          </a:xfrm>
          <a:prstGeom prst="rect">
            <a:avLst/>
          </a:prstGeom>
          <a:noFill/>
          <a:ln/>
        </p:spPr>
        <p:txBody>
          <a:bodyPr wrap="square" lIns="25400" tIns="25400" rIns="25400" bIns="25400" rtlCol="0" anchor="t">
            <a:normAutofit/>
          </a:bodyPr>
          <a:lstStyle/>
          <a:p>
            <a:pPr algn="l" indent="0" marL="0">
              <a:buNone/>
            </a:pPr>
            <a:r>
              <a:rPr lang="en-US" sz="1500" dirty="0">
                <a:solidFill>
                  <a:srgbClr val="C2410C"/>
                </a:solidFill>
                <a:latin typeface="Arial" pitchFamily="34" charset="0"/>
                <a:ea typeface="Arial" pitchFamily="34" charset="-122"/>
                <a:cs typeface="Arial" pitchFamily="34" charset="-120"/>
              </a:rPr>
              <a:t>권한 차단 — 단가로 추정</a:t>
            </a:r>
            <a:endParaRPr lang="en-US" sz="1500" dirty="0"/>
          </a:p>
        </p:txBody>
      </p:sp>
      <p:sp>
        <p:nvSpPr>
          <p:cNvPr id="69" name="Text 67"/>
          <p:cNvSpPr/>
          <p:nvPr/>
        </p:nvSpPr>
        <p:spPr>
          <a:xfrm>
            <a:off x="975360" y="9496425"/>
            <a:ext cx="673537" cy="1548765"/>
          </a:xfrm>
          <a:prstGeom prst="rect">
            <a:avLst/>
          </a:prstGeom>
          <a:noFill/>
          <a:ln/>
        </p:spPr>
        <p:txBody>
          <a:bodyPr wrap="none" lIns="25400" tIns="25400" rIns="25400" bIns="25400" rtlCol="0" anchor="ctr">
            <a:normAutofit/>
          </a:bodyPr>
          <a:lstStyle/>
          <a:p>
            <a:pPr algn="l" indent="0" marL="0">
              <a:buNone/>
            </a:pPr>
            <a:r>
              <a:rPr lang="en-US" sz="1425" spc="86" kern="0" dirty="0">
                <a:solidFill>
                  <a:srgbClr val="4F7CFF"/>
                </a:solidFill>
                <a:latin typeface="Roboto Mono" pitchFamily="34" charset="0"/>
                <a:ea typeface="Roboto Mono" pitchFamily="34" charset="-122"/>
                <a:cs typeface="Roboto Mono" pitchFamily="34" charset="-120"/>
              </a:rPr>
              <a:t>CI/CD</a:t>
            </a:r>
            <a:endParaRPr lang="en-US" sz="1425" dirty="0"/>
          </a:p>
        </p:txBody>
      </p:sp>
      <p:sp>
        <p:nvSpPr>
          <p:cNvPr id="70" name="Shape 68"/>
          <p:cNvSpPr/>
          <p:nvPr/>
        </p:nvSpPr>
        <p:spPr>
          <a:xfrm>
            <a:off x="1686997" y="9496425"/>
            <a:ext cx="3112056" cy="1510665"/>
          </a:xfrm>
          <a:prstGeom prst="rect">
            <a:avLst/>
          </a:prstGeom>
          <a:solidFill>
            <a:srgbClr val="FFFFFF"/>
          </a:solidFill>
          <a:ln w="7620">
            <a:solidFill>
              <a:srgbClr val="DFE1E6"/>
            </a:solidFill>
            <a:prstDash val="solid"/>
          </a:ln>
        </p:spPr>
      </p:sp>
      <p:sp>
        <p:nvSpPr>
          <p:cNvPr id="71" name="Text 69"/>
          <p:cNvSpPr/>
          <p:nvPr/>
        </p:nvSpPr>
        <p:spPr>
          <a:xfrm>
            <a:off x="1847017" y="10133648"/>
            <a:ext cx="1666399" cy="266700"/>
          </a:xfrm>
          <a:prstGeom prst="rect">
            <a:avLst/>
          </a:prstGeom>
          <a:noFill/>
          <a:ln/>
        </p:spPr>
        <p:txBody>
          <a:bodyPr wrap="square" lIns="0" tIns="0" rIns="0" bIns="0" rtlCol="0" anchor="t">
            <a:normAutofit/>
          </a:bodyPr>
          <a:lstStyle/>
          <a:p>
            <a:pPr algn="l" indent="0" marL="0">
              <a:buNone/>
            </a:pPr>
            <a:r>
              <a:rPr lang="en-US" sz="1575" dirty="0">
                <a:solidFill>
                  <a:srgbClr val="16181D"/>
                </a:solidFill>
                <a:latin typeface="Arial" pitchFamily="34" charset="0"/>
                <a:ea typeface="Arial" pitchFamily="34" charset="-122"/>
                <a:cs typeface="Arial" pitchFamily="34" charset="-120"/>
              </a:rPr>
              <a:t>CodeConnections</a:t>
            </a:r>
            <a:endParaRPr lang="en-US" sz="1575" dirty="0"/>
          </a:p>
        </p:txBody>
      </p:sp>
      <p:sp>
        <p:nvSpPr>
          <p:cNvPr id="72" name="Text 70"/>
          <p:cNvSpPr/>
          <p:nvPr/>
        </p:nvSpPr>
        <p:spPr>
          <a:xfrm>
            <a:off x="3513415" y="10023158"/>
            <a:ext cx="1201817" cy="495300"/>
          </a:xfrm>
          <a:prstGeom prst="rect">
            <a:avLst/>
          </a:prstGeom>
          <a:noFill/>
          <a:ln/>
        </p:spPr>
        <p:txBody>
          <a:bodyPr wrap="square" lIns="25400" tIns="25400" rIns="25400" bIns="25400" rtlCol="0" anchor="t">
            <a:normAutofit/>
          </a:bodyPr>
          <a:lstStyle/>
          <a:p>
            <a:pPr algn="l" indent="0" marL="0">
              <a:buNone/>
            </a:pPr>
            <a:r>
              <a:rPr lang="en-US" sz="1350" dirty="0">
                <a:solidFill>
                  <a:srgbClr val="6B7280"/>
                </a:solidFill>
                <a:latin typeface="Roboto Mono" pitchFamily="34" charset="0"/>
                <a:ea typeface="Roboto Mono" pitchFamily="34" charset="-122"/>
                <a:cs typeface="Roboto Mono" pitchFamily="34" charset="-120"/>
              </a:rPr>
              <a:t>maas-github</a:t>
            </a:r>
            <a:endParaRPr lang="en-US" sz="1350" dirty="0"/>
          </a:p>
        </p:txBody>
      </p:sp>
      <p:sp>
        <p:nvSpPr>
          <p:cNvPr id="73" name="Text 71"/>
          <p:cNvSpPr/>
          <p:nvPr/>
        </p:nvSpPr>
        <p:spPr>
          <a:xfrm>
            <a:off x="4913352" y="9496425"/>
            <a:ext cx="276225" cy="1548765"/>
          </a:xfrm>
          <a:prstGeom prst="rect">
            <a:avLst/>
          </a:prstGeom>
          <a:noFill/>
          <a:ln/>
        </p:spPr>
        <p:txBody>
          <a:bodyPr wrap="square" lIns="25400" tIns="25400" rIns="25400" bIns="25400" rtlCol="0" anchor="ctr">
            <a:normAutofit/>
          </a:bodyPr>
          <a:lstStyle/>
          <a:p>
            <a:pPr algn="l" indent="0" marL="0">
              <a:buNone/>
            </a:pPr>
            <a:r>
              <a:rPr lang="en-US" sz="1575" dirty="0">
                <a:solidFill>
                  <a:srgbClr val="C2C6CC"/>
                </a:solidFill>
                <a:latin typeface="Arial" pitchFamily="34" charset="0"/>
                <a:ea typeface="Arial" pitchFamily="34" charset="-122"/>
                <a:cs typeface="Arial" pitchFamily="34" charset="-120"/>
              </a:rPr>
              <a:t>→</a:t>
            </a:r>
            <a:endParaRPr lang="en-US" sz="1575" dirty="0"/>
          </a:p>
        </p:txBody>
      </p:sp>
      <p:sp>
        <p:nvSpPr>
          <p:cNvPr id="74" name="Shape 72"/>
          <p:cNvSpPr/>
          <p:nvPr/>
        </p:nvSpPr>
        <p:spPr>
          <a:xfrm>
            <a:off x="5227677" y="9496425"/>
            <a:ext cx="2917984" cy="1510665"/>
          </a:xfrm>
          <a:prstGeom prst="rect">
            <a:avLst/>
          </a:prstGeom>
          <a:solidFill>
            <a:srgbClr val="FFFFFF"/>
          </a:solidFill>
          <a:ln w="7620">
            <a:solidFill>
              <a:srgbClr val="DFE1E6"/>
            </a:solidFill>
            <a:prstDash val="solid"/>
          </a:ln>
        </p:spPr>
      </p:sp>
      <p:sp>
        <p:nvSpPr>
          <p:cNvPr id="75" name="Text 73"/>
          <p:cNvSpPr/>
          <p:nvPr/>
        </p:nvSpPr>
        <p:spPr>
          <a:xfrm>
            <a:off x="5387697" y="10133648"/>
            <a:ext cx="1266111" cy="266700"/>
          </a:xfrm>
          <a:prstGeom prst="rect">
            <a:avLst/>
          </a:prstGeom>
          <a:noFill/>
          <a:ln/>
        </p:spPr>
        <p:txBody>
          <a:bodyPr wrap="square" lIns="0" tIns="0" rIns="0" bIns="0" rtlCol="0" anchor="t">
            <a:normAutofit/>
          </a:bodyPr>
          <a:lstStyle/>
          <a:p>
            <a:pPr algn="l" indent="0" marL="0">
              <a:buNone/>
            </a:pPr>
            <a:r>
              <a:rPr lang="en-US" sz="1575" dirty="0">
                <a:solidFill>
                  <a:srgbClr val="16181D"/>
                </a:solidFill>
                <a:latin typeface="Arial" pitchFamily="34" charset="0"/>
                <a:ea typeface="Arial" pitchFamily="34" charset="-122"/>
                <a:cs typeface="Arial" pitchFamily="34" charset="-120"/>
              </a:rPr>
              <a:t>CodePipeline</a:t>
            </a:r>
            <a:endParaRPr lang="en-US" sz="1575" dirty="0"/>
          </a:p>
        </p:txBody>
      </p:sp>
      <p:sp>
        <p:nvSpPr>
          <p:cNvPr id="76" name="Text 74"/>
          <p:cNvSpPr/>
          <p:nvPr/>
        </p:nvSpPr>
        <p:spPr>
          <a:xfrm>
            <a:off x="6653808" y="10023158"/>
            <a:ext cx="1408033" cy="495300"/>
          </a:xfrm>
          <a:prstGeom prst="rect">
            <a:avLst/>
          </a:prstGeom>
          <a:noFill/>
          <a:ln/>
        </p:spPr>
        <p:txBody>
          <a:bodyPr wrap="square" lIns="25400" tIns="25400" rIns="25400" bIns="25400" rtlCol="0" anchor="t">
            <a:normAutofit/>
          </a:bodyPr>
          <a:lstStyle/>
          <a:p>
            <a:pPr algn="l" indent="0" marL="0">
              <a:buNone/>
            </a:pPr>
            <a:r>
              <a:rPr lang="en-US" sz="1350" dirty="0">
                <a:solidFill>
                  <a:srgbClr val="6B7280"/>
                </a:solidFill>
                <a:latin typeface="Roboto Mono" pitchFamily="34" charset="0"/>
                <a:ea typeface="Roboto Mono" pitchFamily="34" charset="-122"/>
                <a:cs typeface="Roboto Mono" pitchFamily="34" charset="-120"/>
              </a:rPr>
              <a:t>maas-pipeline</a:t>
            </a:r>
            <a:endParaRPr lang="en-US" sz="1350" dirty="0"/>
          </a:p>
        </p:txBody>
      </p:sp>
      <p:sp>
        <p:nvSpPr>
          <p:cNvPr id="77" name="Text 75"/>
          <p:cNvSpPr/>
          <p:nvPr/>
        </p:nvSpPr>
        <p:spPr>
          <a:xfrm>
            <a:off x="8259961" y="9496425"/>
            <a:ext cx="276225" cy="1548765"/>
          </a:xfrm>
          <a:prstGeom prst="rect">
            <a:avLst/>
          </a:prstGeom>
          <a:noFill/>
          <a:ln/>
        </p:spPr>
        <p:txBody>
          <a:bodyPr wrap="square" lIns="25400" tIns="25400" rIns="25400" bIns="25400" rtlCol="0" anchor="ctr">
            <a:normAutofit/>
          </a:bodyPr>
          <a:lstStyle/>
          <a:p>
            <a:pPr algn="l" indent="0" marL="0">
              <a:buNone/>
            </a:pPr>
            <a:r>
              <a:rPr lang="en-US" sz="1575" dirty="0">
                <a:solidFill>
                  <a:srgbClr val="C2C6CC"/>
                </a:solidFill>
                <a:latin typeface="Arial" pitchFamily="34" charset="0"/>
                <a:ea typeface="Arial" pitchFamily="34" charset="-122"/>
                <a:cs typeface="Arial" pitchFamily="34" charset="-120"/>
              </a:rPr>
              <a:t>→</a:t>
            </a:r>
            <a:endParaRPr lang="en-US" sz="1575" dirty="0"/>
          </a:p>
        </p:txBody>
      </p:sp>
      <p:sp>
        <p:nvSpPr>
          <p:cNvPr id="78" name="Shape 76"/>
          <p:cNvSpPr/>
          <p:nvPr/>
        </p:nvSpPr>
        <p:spPr>
          <a:xfrm>
            <a:off x="8574286" y="9496425"/>
            <a:ext cx="2343626" cy="1510665"/>
          </a:xfrm>
          <a:prstGeom prst="rect">
            <a:avLst/>
          </a:prstGeom>
          <a:solidFill>
            <a:srgbClr val="FFFFFF"/>
          </a:solidFill>
          <a:ln w="7620">
            <a:solidFill>
              <a:srgbClr val="DFE1E6"/>
            </a:solidFill>
            <a:prstDash val="solid"/>
          </a:ln>
        </p:spPr>
      </p:sp>
      <p:sp>
        <p:nvSpPr>
          <p:cNvPr id="79" name="Text 77"/>
          <p:cNvSpPr/>
          <p:nvPr/>
        </p:nvSpPr>
        <p:spPr>
          <a:xfrm>
            <a:off x="8734306" y="10133648"/>
            <a:ext cx="999173" cy="266700"/>
          </a:xfrm>
          <a:prstGeom prst="rect">
            <a:avLst/>
          </a:prstGeom>
          <a:noFill/>
          <a:ln/>
        </p:spPr>
        <p:txBody>
          <a:bodyPr wrap="square" lIns="0" tIns="0" rIns="0" bIns="0" rtlCol="0" anchor="t">
            <a:normAutofit/>
          </a:bodyPr>
          <a:lstStyle/>
          <a:p>
            <a:pPr algn="l" indent="0" marL="0">
              <a:buNone/>
            </a:pPr>
            <a:r>
              <a:rPr lang="en-US" sz="1575" dirty="0">
                <a:solidFill>
                  <a:srgbClr val="16181D"/>
                </a:solidFill>
                <a:latin typeface="Arial" pitchFamily="34" charset="0"/>
                <a:ea typeface="Arial" pitchFamily="34" charset="-122"/>
                <a:cs typeface="Arial" pitchFamily="34" charset="-120"/>
              </a:rPr>
              <a:t>CodeBuild</a:t>
            </a:r>
            <a:endParaRPr lang="en-US" sz="1575" dirty="0"/>
          </a:p>
        </p:txBody>
      </p:sp>
      <p:sp>
        <p:nvSpPr>
          <p:cNvPr id="80" name="Text 78"/>
          <p:cNvSpPr/>
          <p:nvPr/>
        </p:nvSpPr>
        <p:spPr>
          <a:xfrm>
            <a:off x="9733479" y="10023158"/>
            <a:ext cx="1100614" cy="495300"/>
          </a:xfrm>
          <a:prstGeom prst="rect">
            <a:avLst/>
          </a:prstGeom>
          <a:noFill/>
          <a:ln/>
        </p:spPr>
        <p:txBody>
          <a:bodyPr wrap="square" lIns="25400" tIns="25400" rIns="25400" bIns="25400" rtlCol="0" anchor="t">
            <a:normAutofit/>
          </a:bodyPr>
          <a:lstStyle/>
          <a:p>
            <a:pPr algn="l" indent="0" marL="0">
              <a:buNone/>
            </a:pPr>
            <a:r>
              <a:rPr lang="en-US" sz="1350" dirty="0">
                <a:solidFill>
                  <a:srgbClr val="6B7280"/>
                </a:solidFill>
                <a:latin typeface="Roboto Mono" pitchFamily="34" charset="0"/>
                <a:ea typeface="Roboto Mono" pitchFamily="34" charset="-122"/>
                <a:cs typeface="Roboto Mono" pitchFamily="34" charset="-120"/>
              </a:rPr>
              <a:t>maas-build</a:t>
            </a:r>
            <a:endParaRPr lang="en-US" sz="1350" dirty="0"/>
          </a:p>
        </p:txBody>
      </p:sp>
      <p:sp>
        <p:nvSpPr>
          <p:cNvPr id="81" name="Text 79"/>
          <p:cNvSpPr/>
          <p:nvPr/>
        </p:nvSpPr>
        <p:spPr>
          <a:xfrm>
            <a:off x="11032213" y="9496425"/>
            <a:ext cx="276225" cy="1548765"/>
          </a:xfrm>
          <a:prstGeom prst="rect">
            <a:avLst/>
          </a:prstGeom>
          <a:noFill/>
          <a:ln/>
        </p:spPr>
        <p:txBody>
          <a:bodyPr wrap="square" lIns="25400" tIns="25400" rIns="25400" bIns="25400" rtlCol="0" anchor="ctr">
            <a:normAutofit/>
          </a:bodyPr>
          <a:lstStyle/>
          <a:p>
            <a:pPr algn="l" indent="0" marL="0">
              <a:buNone/>
            </a:pPr>
            <a:r>
              <a:rPr lang="en-US" sz="1575" dirty="0">
                <a:solidFill>
                  <a:srgbClr val="C2C6CC"/>
                </a:solidFill>
                <a:latin typeface="Arial" pitchFamily="34" charset="0"/>
                <a:ea typeface="Arial" pitchFamily="34" charset="-122"/>
                <a:cs typeface="Arial" pitchFamily="34" charset="-120"/>
              </a:rPr>
              <a:t>→</a:t>
            </a:r>
            <a:endParaRPr lang="en-US" sz="1575" dirty="0"/>
          </a:p>
        </p:txBody>
      </p:sp>
      <p:sp>
        <p:nvSpPr>
          <p:cNvPr id="82" name="Shape 80"/>
          <p:cNvSpPr/>
          <p:nvPr/>
        </p:nvSpPr>
        <p:spPr>
          <a:xfrm>
            <a:off x="11346538" y="9496425"/>
            <a:ext cx="3958471" cy="1510665"/>
          </a:xfrm>
          <a:prstGeom prst="rect">
            <a:avLst/>
          </a:prstGeom>
          <a:solidFill>
            <a:srgbClr val="FFFFFF"/>
          </a:solidFill>
          <a:ln w="7620">
            <a:solidFill>
              <a:srgbClr val="DFE1E6"/>
            </a:solidFill>
            <a:prstDash val="solid"/>
          </a:ln>
        </p:spPr>
      </p:sp>
      <p:sp>
        <p:nvSpPr>
          <p:cNvPr id="83" name="Text 81"/>
          <p:cNvSpPr/>
          <p:nvPr/>
        </p:nvSpPr>
        <p:spPr>
          <a:xfrm>
            <a:off x="11506557" y="10133648"/>
            <a:ext cx="1177053" cy="266700"/>
          </a:xfrm>
          <a:prstGeom prst="rect">
            <a:avLst/>
          </a:prstGeom>
          <a:noFill/>
          <a:ln/>
        </p:spPr>
        <p:txBody>
          <a:bodyPr wrap="square" lIns="0" tIns="0" rIns="0" bIns="0" rtlCol="0" anchor="t">
            <a:normAutofit/>
          </a:bodyPr>
          <a:lstStyle/>
          <a:p>
            <a:pPr algn="l" indent="0" marL="0">
              <a:buNone/>
            </a:pPr>
            <a:r>
              <a:rPr lang="en-US" sz="1575" dirty="0">
                <a:solidFill>
                  <a:srgbClr val="16181D"/>
                </a:solidFill>
                <a:latin typeface="Arial" pitchFamily="34" charset="0"/>
                <a:ea typeface="Arial" pitchFamily="34" charset="-122"/>
                <a:cs typeface="Arial" pitchFamily="34" charset="-120"/>
              </a:rPr>
              <a:t>CodeDeploy</a:t>
            </a:r>
            <a:endParaRPr lang="en-US" sz="1575" dirty="0"/>
          </a:p>
        </p:txBody>
      </p:sp>
      <p:sp>
        <p:nvSpPr>
          <p:cNvPr id="84" name="Text 82"/>
          <p:cNvSpPr/>
          <p:nvPr/>
        </p:nvSpPr>
        <p:spPr>
          <a:xfrm>
            <a:off x="12683610" y="10023158"/>
            <a:ext cx="2537579" cy="495300"/>
          </a:xfrm>
          <a:prstGeom prst="rect">
            <a:avLst/>
          </a:prstGeom>
          <a:noFill/>
          <a:ln/>
        </p:spPr>
        <p:txBody>
          <a:bodyPr wrap="square" lIns="25400" tIns="25400" rIns="25400" bIns="25400" rtlCol="0" anchor="t">
            <a:normAutofit/>
          </a:bodyPr>
          <a:lstStyle/>
          <a:p>
            <a:pPr algn="l" indent="0" marL="0">
              <a:buNone/>
            </a:pPr>
            <a:r>
              <a:rPr lang="en-US" sz="1350" dirty="0">
                <a:solidFill>
                  <a:srgbClr val="6B7280"/>
                </a:solidFill>
                <a:latin typeface="Roboto Mono" pitchFamily="34" charset="0"/>
                <a:ea typeface="Roboto Mono" pitchFamily="34" charset="-122"/>
                <a:cs typeface="Roboto Mono" pitchFamily="34" charset="-120"/>
              </a:rPr>
              <a:t>maas-api / maas-api-prod</a:t>
            </a:r>
            <a:endParaRPr lang="en-US" sz="1350" dirty="0"/>
          </a:p>
        </p:txBody>
      </p:sp>
      <p:sp>
        <p:nvSpPr>
          <p:cNvPr id="85" name="Shape 83"/>
          <p:cNvSpPr/>
          <p:nvPr/>
        </p:nvSpPr>
        <p:spPr>
          <a:xfrm>
            <a:off x="15419309" y="9496425"/>
            <a:ext cx="1893332" cy="1510665"/>
          </a:xfrm>
          <a:prstGeom prst="rect">
            <a:avLst/>
          </a:prstGeom>
          <a:solidFill>
            <a:srgbClr val="F3F6FF"/>
          </a:solidFill>
          <a:ln w="7620">
            <a:solidFill>
              <a:srgbClr val="C9D6FF"/>
            </a:solidFill>
            <a:prstDash val="solid"/>
          </a:ln>
        </p:spPr>
      </p:sp>
      <p:sp>
        <p:nvSpPr>
          <p:cNvPr id="86" name="Text 84"/>
          <p:cNvSpPr/>
          <p:nvPr/>
        </p:nvSpPr>
        <p:spPr>
          <a:xfrm>
            <a:off x="15579328" y="9624060"/>
            <a:ext cx="414933" cy="1280160"/>
          </a:xfrm>
          <a:prstGeom prst="rect">
            <a:avLst/>
          </a:prstGeom>
          <a:noFill/>
          <a:ln/>
        </p:spPr>
        <p:txBody>
          <a:bodyPr wrap="square" lIns="0" tIns="0" rIns="0" bIns="0" rtlCol="0" anchor="t">
            <a:normAutofit/>
          </a:bodyPr>
          <a:lstStyle/>
          <a:p>
            <a:pPr algn="l" indent="0" marL="0">
              <a:lnSpc>
                <a:spcPct val="116379"/>
              </a:lnSpc>
              <a:buNone/>
            </a:pPr>
            <a:r>
              <a:rPr lang="en-US" sz="1500" dirty="0">
                <a:solidFill>
                  <a:srgbClr val="1F2937"/>
                </a:solidFill>
                <a:latin typeface="Arial" pitchFamily="34" charset="0"/>
                <a:ea typeface="Arial" pitchFamily="34" charset="-122"/>
                <a:cs typeface="Arial" pitchFamily="34" charset="-120"/>
              </a:rPr>
              <a:t>IAM 역할 4종 —</a:t>
            </a:r>
            <a:endParaRPr lang="en-US" sz="1500" dirty="0"/>
          </a:p>
        </p:txBody>
      </p:sp>
      <p:sp>
        <p:nvSpPr>
          <p:cNvPr id="87" name="Text 85"/>
          <p:cNvSpPr/>
          <p:nvPr/>
        </p:nvSpPr>
        <p:spPr>
          <a:xfrm>
            <a:off x="15918061" y="9673114"/>
            <a:ext cx="1310759" cy="1195388"/>
          </a:xfrm>
          <a:prstGeom prst="rect">
            <a:avLst/>
          </a:prstGeom>
          <a:noFill/>
          <a:ln/>
        </p:spPr>
        <p:txBody>
          <a:bodyPr wrap="square" lIns="25400" tIns="25400" rIns="25400" bIns="25400" rtlCol="0" anchor="t">
            <a:normAutofit/>
          </a:bodyPr>
          <a:lstStyle/>
          <a:p>
            <a:pPr algn="l" indent="0" marL="0">
              <a:lnSpc>
                <a:spcPct val="101250"/>
              </a:lnSpc>
              <a:buNone/>
            </a:pPr>
            <a:r>
              <a:rPr lang="en-US" sz="1350" dirty="0">
                <a:solidFill>
                  <a:srgbClr val="1F2937"/>
                </a:solidFill>
                <a:latin typeface="Roboto Mono" pitchFamily="34" charset="0"/>
                <a:ea typeface="Roboto Mono" pitchFamily="34" charset="-122"/>
                <a:cs typeface="Roboto Mono" pitchFamily="34" charset="-120"/>
              </a:rPr>
              <a:t>maas-llm-ec2 · codepipeline · codebuild · codedeploy</a:t>
            </a:r>
            <a:endParaRPr lang="en-US" sz="1350" dirty="0"/>
          </a:p>
        </p:txBody>
      </p:sp>
      <p:sp>
        <p:nvSpPr>
          <p:cNvPr id="88" name="Shape 86"/>
          <p:cNvSpPr/>
          <p:nvPr/>
        </p:nvSpPr>
        <p:spPr>
          <a:xfrm>
            <a:off x="762000" y="11430000"/>
            <a:ext cx="13084730" cy="609600"/>
          </a:xfrm>
          <a:prstGeom prst="rect">
            <a:avLst/>
          </a:prstGeom>
          <a:solidFill>
            <a:srgbClr val="FFFFFF"/>
          </a:solidFill>
          <a:ln w="15240">
            <a:solidFill>
              <a:srgbClr val="B6BCC4"/>
            </a:solidFill>
            <a:prstDash val="dash"/>
          </a:ln>
        </p:spPr>
      </p:sp>
      <p:sp>
        <p:nvSpPr>
          <p:cNvPr id="89" name="Text 87"/>
          <p:cNvSpPr/>
          <p:nvPr/>
        </p:nvSpPr>
        <p:spPr>
          <a:xfrm>
            <a:off x="986790" y="11609070"/>
            <a:ext cx="2037088" cy="289560"/>
          </a:xfrm>
          <a:prstGeom prst="rect">
            <a:avLst/>
          </a:prstGeom>
          <a:noFill/>
          <a:ln/>
        </p:spPr>
        <p:txBody>
          <a:bodyPr wrap="square" lIns="25400" tIns="25400" rIns="25400" bIns="25400" rtlCol="0" anchor="t">
            <a:normAutofit/>
          </a:bodyPr>
          <a:lstStyle/>
          <a:p>
            <a:pPr algn="l" indent="0" marL="0">
              <a:buNone/>
            </a:pPr>
            <a:r>
              <a:rPr lang="en-US" sz="1500" dirty="0">
                <a:solidFill>
                  <a:srgbClr val="8A9099"/>
                </a:solidFill>
                <a:latin typeface="Roboto Mono" pitchFamily="34" charset="0"/>
                <a:ea typeface="Roboto Mono" pitchFamily="34" charset="-122"/>
                <a:cs typeface="Roboto Mono" pitchFamily="34" charset="-120"/>
              </a:rPr>
              <a:t>AWS 밖 · 외부 API</a:t>
            </a:r>
            <a:endParaRPr lang="en-US" sz="1500" dirty="0"/>
          </a:p>
        </p:txBody>
      </p:sp>
      <p:sp>
        <p:nvSpPr>
          <p:cNvPr id="90" name="Text 88"/>
          <p:cNvSpPr/>
          <p:nvPr/>
        </p:nvSpPr>
        <p:spPr>
          <a:xfrm>
            <a:off x="2991088" y="11631931"/>
            <a:ext cx="8252802" cy="281940"/>
          </a:xfrm>
          <a:prstGeom prst="rect">
            <a:avLst/>
          </a:prstGeom>
          <a:noFill/>
          <a:ln/>
        </p:spPr>
        <p:txBody>
          <a:bodyPr wrap="square" lIns="0" tIns="0" rIns="0" bIns="0" rtlCol="0" anchor="t">
            <a:normAutofit/>
          </a:bodyPr>
          <a:lstStyle/>
          <a:p>
            <a:pPr algn="l" indent="0" marL="0">
              <a:buNone/>
            </a:pPr>
            <a:r>
              <a:rPr lang="en-US" sz="1725" dirty="0">
                <a:solidFill>
                  <a:srgbClr val="16181D"/>
                </a:solidFill>
                <a:latin typeface="Arial" pitchFamily="34" charset="0"/>
                <a:ea typeface="Arial" pitchFamily="34" charset="-122"/>
                <a:cs typeface="Arial" pitchFamily="34" charset="-120"/>
              </a:rPr>
              <a:t>공공데이터포털(코레일·TAGO·공항) · 서울시 실시간 도시데이터 · 카카오 로컬 · KRIC</a:t>
            </a:r>
            <a:endParaRPr lang="en-US" sz="1725" dirty="0"/>
          </a:p>
        </p:txBody>
      </p:sp>
      <p:sp>
        <p:nvSpPr>
          <p:cNvPr id="91" name="Text 89"/>
          <p:cNvSpPr/>
          <p:nvPr/>
        </p:nvSpPr>
        <p:spPr>
          <a:xfrm>
            <a:off x="11277600" y="11578590"/>
            <a:ext cx="1709404" cy="350520"/>
          </a:xfrm>
          <a:prstGeom prst="rect">
            <a:avLst/>
          </a:prstGeom>
          <a:noFill/>
          <a:ln/>
        </p:spPr>
        <p:txBody>
          <a:bodyPr wrap="square" lIns="25400" tIns="25400" rIns="25400" bIns="25400" rtlCol="0" anchor="t">
            <a:normAutofit/>
          </a:bodyPr>
          <a:lstStyle/>
          <a:p>
            <a:pPr algn="l" indent="0" marL="0">
              <a:buNone/>
            </a:pPr>
            <a:r>
              <a:rPr lang="en-US" sz="1725" dirty="0">
                <a:solidFill>
                  <a:srgbClr val="B45309"/>
                </a:solidFill>
                <a:latin typeface="Arial" pitchFamily="34" charset="0"/>
                <a:ea typeface="Arial" pitchFamily="34" charset="-122"/>
                <a:cs typeface="Arial" pitchFamily="34" charset="-120"/>
              </a:rPr>
              <a:t>· ODsay(미사용)</a:t>
            </a:r>
            <a:endParaRPr lang="en-US" sz="1725" dirty="0"/>
          </a:p>
        </p:txBody>
      </p:sp>
      <p:sp>
        <p:nvSpPr>
          <p:cNvPr id="92" name="Shape 90"/>
          <p:cNvSpPr/>
          <p:nvPr/>
        </p:nvSpPr>
        <p:spPr>
          <a:xfrm>
            <a:off x="13980080" y="11430000"/>
            <a:ext cx="3545919" cy="609600"/>
          </a:xfrm>
          <a:prstGeom prst="rect">
            <a:avLst/>
          </a:prstGeom>
          <a:solidFill>
            <a:srgbClr val="16181D"/>
          </a:solidFill>
          <a:ln/>
        </p:spPr>
      </p:sp>
      <p:sp>
        <p:nvSpPr>
          <p:cNvPr id="93" name="Text 91"/>
          <p:cNvSpPr/>
          <p:nvPr/>
        </p:nvSpPr>
        <p:spPr>
          <a:xfrm>
            <a:off x="14189630" y="11582400"/>
            <a:ext cx="927854" cy="342900"/>
          </a:xfrm>
          <a:prstGeom prst="rect">
            <a:avLst/>
          </a:prstGeom>
          <a:noFill/>
          <a:ln/>
        </p:spPr>
        <p:txBody>
          <a:bodyPr wrap="none" lIns="25400" tIns="25400" rIns="25400" bIns="25400" rtlCol="0" anchor="t">
            <a:normAutofit/>
          </a:bodyPr>
          <a:lstStyle/>
          <a:p>
            <a:pPr algn="l" indent="0" marL="0">
              <a:buNone/>
            </a:pPr>
            <a:r>
              <a:rPr lang="en-US" sz="1650" b="1" dirty="0">
                <a:solidFill>
                  <a:srgbClr val="9DB4FF"/>
                </a:solidFill>
                <a:latin typeface="Arial" pitchFamily="34" charset="0"/>
                <a:ea typeface="Arial" pitchFamily="34" charset="-122"/>
                <a:cs typeface="Arial" pitchFamily="34" charset="-120"/>
              </a:rPr>
              <a:t>$1.2/시간</a:t>
            </a:r>
            <a:endParaRPr lang="en-US" sz="1650" dirty="0"/>
          </a:p>
        </p:txBody>
      </p:sp>
      <p:sp>
        <p:nvSpPr>
          <p:cNvPr id="94" name="Text 92"/>
          <p:cNvSpPr/>
          <p:nvPr/>
        </p:nvSpPr>
        <p:spPr>
          <a:xfrm>
            <a:off x="15099388" y="11635740"/>
            <a:ext cx="1943576" cy="274320"/>
          </a:xfrm>
          <a:prstGeom prst="rect">
            <a:avLst/>
          </a:prstGeom>
          <a:noFill/>
          <a:ln/>
        </p:spPr>
        <p:txBody>
          <a:bodyPr wrap="none" lIns="0" tIns="0" rIns="0" bIns="0" rtlCol="0" anchor="t">
            <a:normAutofit/>
          </a:bodyPr>
          <a:lstStyle/>
          <a:p>
            <a:pPr algn="l" indent="0" marL="0">
              <a:buNone/>
            </a:pPr>
            <a:r>
              <a:rPr lang="en-US" sz="1650" dirty="0">
                <a:solidFill>
                  <a:srgbClr val="FBFBFA"/>
                </a:solidFill>
                <a:latin typeface="Arial" pitchFamily="34" charset="0"/>
                <a:ea typeface="Arial" pitchFamily="34" charset="-122"/>
                <a:cs typeface="Arial" pitchFamily="34" charset="-120"/>
              </a:rPr>
              <a:t>· 24h 가동 시 하루 약</a:t>
            </a:r>
            <a:endParaRPr lang="en-US" sz="1650" dirty="0"/>
          </a:p>
        </p:txBody>
      </p:sp>
      <p:sp>
        <p:nvSpPr>
          <p:cNvPr id="95" name="Text 93"/>
          <p:cNvSpPr/>
          <p:nvPr/>
        </p:nvSpPr>
        <p:spPr>
          <a:xfrm>
            <a:off x="16966763" y="11612881"/>
            <a:ext cx="425887" cy="281940"/>
          </a:xfrm>
          <a:prstGeom prst="rect">
            <a:avLst/>
          </a:prstGeom>
          <a:noFill/>
          <a:ln/>
        </p:spPr>
        <p:txBody>
          <a:bodyPr wrap="none" lIns="25400" tIns="25400" rIns="25400" bIns="25400" rtlCol="0" anchor="t">
            <a:normAutofit/>
          </a:bodyPr>
          <a:lstStyle/>
          <a:p>
            <a:pPr algn="l" indent="0" marL="0">
              <a:buNone/>
            </a:pPr>
            <a:r>
              <a:rPr lang="en-US" sz="1650" b="1" dirty="0">
                <a:solidFill>
                  <a:srgbClr val="9DB4FF"/>
                </a:solidFill>
                <a:latin typeface="Arial" pitchFamily="34" charset="0"/>
                <a:ea typeface="Arial" pitchFamily="34" charset="-122"/>
                <a:cs typeface="Arial" pitchFamily="34" charset="-120"/>
              </a:rPr>
              <a:t>$29</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762000" y="609600"/>
            <a:ext cx="5683389" cy="327660"/>
          </a:xfrm>
          <a:prstGeom prst="rect">
            <a:avLst/>
          </a:prstGeom>
          <a:noFill/>
          <a:ln/>
        </p:spPr>
        <p:txBody>
          <a:bodyPr wrap="square" lIns="25400" tIns="25400" rIns="25400" bIns="25400" rtlCol="0" anchor="t">
            <a:normAutofit/>
          </a:bodyPr>
          <a:lstStyle/>
          <a:p>
            <a:pPr algn="l" indent="0" marL="0">
              <a:buNone/>
            </a:pPr>
            <a:r>
              <a:rPr lang="en-US" sz="1725" spc="242" kern="0" dirty="0">
                <a:solidFill>
                  <a:srgbClr val="4F7CFF"/>
                </a:solidFill>
                <a:latin typeface="Roboto Mono" pitchFamily="34" charset="0"/>
                <a:ea typeface="Roboto Mono" pitchFamily="34" charset="-122"/>
                <a:cs typeface="Roboto Mono" pitchFamily="34" charset="-120"/>
              </a:rPr>
              <a:t>26 · AWS INFRASTRUCTURE 2/2</a:t>
            </a:r>
            <a:endParaRPr lang="en-US" sz="1725" dirty="0"/>
          </a:p>
        </p:txBody>
      </p:sp>
      <p:sp>
        <p:nvSpPr>
          <p:cNvPr id="3" name="Text 1"/>
          <p:cNvSpPr/>
          <p:nvPr/>
        </p:nvSpPr>
        <p:spPr>
          <a:xfrm>
            <a:off x="762000" y="994410"/>
            <a:ext cx="5683389" cy="876300"/>
          </a:xfrm>
          <a:prstGeom prst="rect">
            <a:avLst/>
          </a:prstGeom>
          <a:noFill/>
          <a:ln/>
        </p:spPr>
        <p:txBody>
          <a:bodyPr wrap="square" lIns="25400" tIns="25400" rIns="25400" bIns="25400" rtlCol="0" anchor="t">
            <a:normAutofit/>
          </a:bodyPr>
          <a:lstStyle/>
          <a:p>
            <a:pPr algn="l" indent="0" marL="0">
              <a:buNone/>
            </a:pPr>
            <a:r>
              <a:rPr lang="en-US" sz="4500" b="1" spc="-90" kern="0" dirty="0">
                <a:solidFill>
                  <a:srgbClr val="16181D"/>
                </a:solidFill>
                <a:latin typeface="Arial" pitchFamily="34" charset="0"/>
                <a:ea typeface="Arial" pitchFamily="34" charset="-122"/>
                <a:cs typeface="Arial" pitchFamily="34" charset="-120"/>
              </a:rPr>
              <a:t>신뢰 경계와 요청 경로</a:t>
            </a:r>
            <a:endParaRPr lang="en-US" sz="4500" dirty="0"/>
          </a:p>
        </p:txBody>
      </p:sp>
      <p:sp>
        <p:nvSpPr>
          <p:cNvPr id="4" name="Text 2"/>
          <p:cNvSpPr/>
          <p:nvPr/>
        </p:nvSpPr>
        <p:spPr>
          <a:xfrm>
            <a:off x="12942094" y="1581150"/>
            <a:ext cx="1446026" cy="289560"/>
          </a:xfrm>
          <a:prstGeom prst="rect">
            <a:avLst/>
          </a:prstGeom>
          <a:noFill/>
          <a:ln/>
        </p:spPr>
        <p:txBody>
          <a:bodyPr wrap="square" lIns="25400" tIns="25400" rIns="25400" bIns="25400" rtlCol="0" anchor="t">
            <a:normAutofit/>
          </a:bodyPr>
          <a:lstStyle/>
          <a:p>
            <a:pPr algn="l" indent="0" marL="0">
              <a:buNone/>
            </a:pPr>
            <a:r>
              <a:rPr lang="en-US" sz="1500" dirty="0">
                <a:solidFill>
                  <a:srgbClr val="8A9099"/>
                </a:solidFill>
                <a:latin typeface="Roboto Mono" pitchFamily="34" charset="0"/>
                <a:ea typeface="Roboto Mono" pitchFamily="34" charset="-122"/>
                <a:cs typeface="Roboto Mono" pitchFamily="34" charset="-120"/>
              </a:rPr>
              <a:t>공개 인터넷</a:t>
            </a:r>
            <a:endParaRPr lang="en-US" sz="1500" dirty="0"/>
          </a:p>
        </p:txBody>
      </p:sp>
      <p:sp>
        <p:nvSpPr>
          <p:cNvPr id="5" name="Text 3"/>
          <p:cNvSpPr/>
          <p:nvPr/>
        </p:nvSpPr>
        <p:spPr>
          <a:xfrm>
            <a:off x="14485264" y="1581150"/>
            <a:ext cx="1139309" cy="289560"/>
          </a:xfrm>
          <a:prstGeom prst="rect">
            <a:avLst/>
          </a:prstGeom>
          <a:noFill/>
          <a:ln/>
        </p:spPr>
        <p:txBody>
          <a:bodyPr wrap="square" lIns="25400" tIns="25400" rIns="25400" bIns="25400" rtlCol="0" anchor="t">
            <a:normAutofit/>
          </a:bodyPr>
          <a:lstStyle/>
          <a:p>
            <a:pPr algn="l" indent="0" marL="0">
              <a:buNone/>
            </a:pPr>
            <a:r>
              <a:rPr lang="en-US" sz="1500" dirty="0">
                <a:solidFill>
                  <a:srgbClr val="8A9099"/>
                </a:solidFill>
                <a:latin typeface="Roboto Mono" pitchFamily="34" charset="0"/>
                <a:ea typeface="Roboto Mono" pitchFamily="34" charset="-122"/>
                <a:cs typeface="Roboto Mono" pitchFamily="34" charset="-120"/>
              </a:rPr>
              <a:t>EC2 내부</a:t>
            </a:r>
            <a:endParaRPr lang="en-US" sz="1500" dirty="0"/>
          </a:p>
        </p:txBody>
      </p:sp>
      <p:sp>
        <p:nvSpPr>
          <p:cNvPr id="6" name="Text 4"/>
          <p:cNvSpPr/>
          <p:nvPr/>
        </p:nvSpPr>
        <p:spPr>
          <a:xfrm>
            <a:off x="15776972" y="1581150"/>
            <a:ext cx="1923931" cy="289560"/>
          </a:xfrm>
          <a:prstGeom prst="rect">
            <a:avLst/>
          </a:prstGeom>
          <a:noFill/>
          <a:ln/>
        </p:spPr>
        <p:txBody>
          <a:bodyPr wrap="square" lIns="25400" tIns="25400" rIns="25400" bIns="25400" rtlCol="0" anchor="t">
            <a:normAutofit/>
          </a:bodyPr>
          <a:lstStyle/>
          <a:p>
            <a:pPr algn="l" indent="0" marL="0">
              <a:buNone/>
            </a:pPr>
            <a:r>
              <a:rPr lang="en-US" sz="1500" dirty="0">
                <a:solidFill>
                  <a:srgbClr val="8A9099"/>
                </a:solidFill>
                <a:latin typeface="Roboto Mono" pitchFamily="34" charset="0"/>
                <a:ea typeface="Roboto Mono" pitchFamily="34" charset="-122"/>
                <a:cs typeface="Roboto Mono" pitchFamily="34" charset="-120"/>
              </a:rPr>
              <a:t>localhost 전용</a:t>
            </a:r>
            <a:endParaRPr lang="en-US" sz="1500" dirty="0"/>
          </a:p>
        </p:txBody>
      </p:sp>
      <p:sp>
        <p:nvSpPr>
          <p:cNvPr id="7" name="Shape 5"/>
          <p:cNvSpPr/>
          <p:nvPr/>
        </p:nvSpPr>
        <p:spPr>
          <a:xfrm>
            <a:off x="762000" y="2061210"/>
            <a:ext cx="9335214" cy="2038350"/>
          </a:xfrm>
          <a:prstGeom prst="rect">
            <a:avLst/>
          </a:prstGeom>
          <a:ln w="15240">
            <a:solidFill>
              <a:srgbClr val="C2410C"/>
            </a:solidFill>
            <a:prstDash val="solid"/>
          </a:ln>
        </p:spPr>
      </p:sp>
      <p:sp>
        <p:nvSpPr>
          <p:cNvPr id="8" name="Text 6"/>
          <p:cNvSpPr/>
          <p:nvPr/>
        </p:nvSpPr>
        <p:spPr>
          <a:xfrm>
            <a:off x="948690" y="2209800"/>
            <a:ext cx="9858018" cy="274320"/>
          </a:xfrm>
          <a:prstGeom prst="rect">
            <a:avLst/>
          </a:prstGeom>
          <a:noFill/>
          <a:ln/>
        </p:spPr>
        <p:txBody>
          <a:bodyPr wrap="square" lIns="25400" tIns="25400" rIns="25400" bIns="25400" rtlCol="0" anchor="t">
            <a:normAutofit/>
          </a:bodyPr>
          <a:lstStyle/>
          <a:p>
            <a:pPr algn="l" indent="0" marL="0">
              <a:buNone/>
            </a:pPr>
            <a:r>
              <a:rPr lang="en-US" sz="1425" spc="86" kern="0" dirty="0">
                <a:solidFill>
                  <a:srgbClr val="C2410C"/>
                </a:solidFill>
                <a:latin typeface="Roboto Mono" pitchFamily="34" charset="0"/>
                <a:ea typeface="Roboto Mono" pitchFamily="34" charset="-122"/>
                <a:cs typeface="Roboto Mono" pitchFamily="34" charset="-120"/>
              </a:rPr>
              <a:t>① 공개 인터넷 — 여기까지가 누구나 닿는 표면</a:t>
            </a:r>
            <a:endParaRPr lang="en-US" sz="1425" dirty="0"/>
          </a:p>
        </p:txBody>
      </p:sp>
      <p:sp>
        <p:nvSpPr>
          <p:cNvPr id="9" name="Shape 7"/>
          <p:cNvSpPr/>
          <p:nvPr/>
        </p:nvSpPr>
        <p:spPr>
          <a:xfrm>
            <a:off x="948690" y="2541270"/>
            <a:ext cx="4433292" cy="809625"/>
          </a:xfrm>
          <a:prstGeom prst="rect">
            <a:avLst/>
          </a:prstGeom>
          <a:solidFill>
            <a:srgbClr val="FFFFFF"/>
          </a:solidFill>
          <a:ln w="7620">
            <a:solidFill>
              <a:srgbClr val="DFE1E6"/>
            </a:solidFill>
            <a:prstDash val="solid"/>
          </a:ln>
        </p:spPr>
      </p:sp>
      <p:sp>
        <p:nvSpPr>
          <p:cNvPr id="10" name="Text 8"/>
          <p:cNvSpPr/>
          <p:nvPr/>
        </p:nvSpPr>
        <p:spPr>
          <a:xfrm>
            <a:off x="1108710" y="2663190"/>
            <a:ext cx="4246251" cy="603885"/>
          </a:xfrm>
          <a:prstGeom prst="rect">
            <a:avLst/>
          </a:prstGeom>
          <a:noFill/>
          <a:ln/>
        </p:spPr>
        <p:txBody>
          <a:bodyPr wrap="square" lIns="25400" tIns="25400" rIns="25400" bIns="25400" rtlCol="0" anchor="t">
            <a:normAutofit/>
          </a:bodyPr>
          <a:lstStyle/>
          <a:p>
            <a:pPr algn="l" indent="0" marL="0">
              <a:lnSpc>
                <a:spcPct val="116016"/>
              </a:lnSpc>
              <a:buNone/>
            </a:pPr>
            <a:r>
              <a:rPr lang="en-US" sz="1650" dirty="0">
                <a:solidFill>
                  <a:srgbClr val="16181D"/>
                </a:solidFill>
                <a:highlight>
                  <a:srgbClr val="FFFFFF"/>
                </a:highlight>
                <a:latin typeface="Arial" pitchFamily="34" charset="0"/>
                <a:ea typeface="Arial" pitchFamily="34" charset="-122"/>
                <a:cs typeface="Arial" pitchFamily="34" charset="-120"/>
              </a:rPr>
              <a:t>사용자 브라우저 </a:t>
            </a:r>
            <a:pPr algn="l" indent="0" marL="0">
              <a:lnSpc>
                <a:spcPct val="116016"/>
              </a:lnSpc>
              <a:buNone/>
            </a:pPr>
            <a:r>
              <a:rPr lang="en-US" sz="1425" dirty="0">
                <a:solidFill>
                  <a:srgbClr val="6B7280"/>
                </a:solidFill>
                <a:latin typeface="Roboto Mono" pitchFamily="34" charset="0"/>
                <a:ea typeface="Roboto Mono" pitchFamily="34" charset="-122"/>
                <a:cs typeface="Roboto Mono" pitchFamily="34" charset="-120"/>
              </a:rPr>
              <a:t>maas-ui.duckdns.org</a:t>
            </a:r>
            <a:endParaRPr lang="en-US" sz="1650" dirty="0"/>
          </a:p>
        </p:txBody>
      </p:sp>
      <p:sp>
        <p:nvSpPr>
          <p:cNvPr id="11" name="Shape 9"/>
          <p:cNvSpPr/>
          <p:nvPr/>
        </p:nvSpPr>
        <p:spPr>
          <a:xfrm>
            <a:off x="5477233" y="2541270"/>
            <a:ext cx="4433292" cy="809625"/>
          </a:xfrm>
          <a:prstGeom prst="rect">
            <a:avLst/>
          </a:prstGeom>
          <a:solidFill>
            <a:srgbClr val="FFFFFF"/>
          </a:solidFill>
          <a:ln w="7620">
            <a:solidFill>
              <a:srgbClr val="DFE1E6"/>
            </a:solidFill>
            <a:prstDash val="solid"/>
          </a:ln>
        </p:spPr>
      </p:sp>
      <p:sp>
        <p:nvSpPr>
          <p:cNvPr id="12" name="Text 10"/>
          <p:cNvSpPr/>
          <p:nvPr/>
        </p:nvSpPr>
        <p:spPr>
          <a:xfrm>
            <a:off x="5637253" y="2663190"/>
            <a:ext cx="4246251" cy="603885"/>
          </a:xfrm>
          <a:prstGeom prst="rect">
            <a:avLst/>
          </a:prstGeom>
          <a:noFill/>
          <a:ln/>
        </p:spPr>
        <p:txBody>
          <a:bodyPr wrap="square" lIns="25400" tIns="25400" rIns="25400" bIns="25400" rtlCol="0" anchor="t">
            <a:normAutofit/>
          </a:bodyPr>
          <a:lstStyle/>
          <a:p>
            <a:pPr algn="l" indent="0" marL="0">
              <a:lnSpc>
                <a:spcPct val="116016"/>
              </a:lnSpc>
              <a:buNone/>
            </a:pPr>
            <a:r>
              <a:rPr lang="en-US" sz="1650" dirty="0">
                <a:solidFill>
                  <a:srgbClr val="16181D"/>
                </a:solidFill>
                <a:highlight>
                  <a:srgbClr val="FFFFFF"/>
                </a:highlight>
                <a:latin typeface="Arial" pitchFamily="34" charset="0"/>
                <a:ea typeface="Arial" pitchFamily="34" charset="-122"/>
                <a:cs typeface="Arial" pitchFamily="34" charset="-120"/>
              </a:rPr>
              <a:t>API · GuardBench </a:t>
            </a:r>
            <a:pPr algn="l" indent="0" marL="0">
              <a:lnSpc>
                <a:spcPct val="116016"/>
              </a:lnSpc>
              <a:buNone/>
            </a:pPr>
            <a:r>
              <a:rPr lang="en-US" sz="1425" dirty="0">
                <a:solidFill>
                  <a:srgbClr val="6B7280"/>
                </a:solidFill>
                <a:latin typeface="Roboto Mono" pitchFamily="34" charset="0"/>
                <a:ea typeface="Roboto Mono" pitchFamily="34" charset="-122"/>
                <a:cs typeface="Roboto Mono" pitchFamily="34" charset="-120"/>
              </a:rPr>
              <a:t>maas-transit.duckdns.org</a:t>
            </a:r>
            <a:endParaRPr lang="en-US" sz="1650" dirty="0"/>
          </a:p>
        </p:txBody>
      </p:sp>
      <p:sp>
        <p:nvSpPr>
          <p:cNvPr id="13" name="Shape 11"/>
          <p:cNvSpPr/>
          <p:nvPr/>
        </p:nvSpPr>
        <p:spPr>
          <a:xfrm>
            <a:off x="948690" y="3446145"/>
            <a:ext cx="8961834" cy="504825"/>
          </a:xfrm>
          <a:prstGeom prst="rect">
            <a:avLst/>
          </a:prstGeom>
          <a:solidFill>
            <a:srgbClr val="FFF7ED"/>
          </a:solidFill>
          <a:ln w="7620">
            <a:solidFill>
              <a:srgbClr val="FED7AA"/>
            </a:solidFill>
            <a:prstDash val="solid"/>
          </a:ln>
        </p:spPr>
      </p:sp>
      <p:sp>
        <p:nvSpPr>
          <p:cNvPr id="14" name="Text 12"/>
          <p:cNvSpPr/>
          <p:nvPr/>
        </p:nvSpPr>
        <p:spPr>
          <a:xfrm>
            <a:off x="1108710" y="3558540"/>
            <a:ext cx="8910649" cy="318135"/>
          </a:xfrm>
          <a:prstGeom prst="rect">
            <a:avLst/>
          </a:prstGeom>
          <a:noFill/>
          <a:ln/>
        </p:spPr>
        <p:txBody>
          <a:bodyPr wrap="square" lIns="25400" tIns="25400" rIns="25400" bIns="25400" rtlCol="0" anchor="t">
            <a:normAutofit/>
          </a:bodyPr>
          <a:lstStyle/>
          <a:p>
            <a:pPr algn="l" indent="0" marL="0">
              <a:lnSpc>
                <a:spcPct val="118548"/>
              </a:lnSpc>
              <a:buNone/>
            </a:pPr>
            <a:r>
              <a:rPr lang="en-US" sz="1425" dirty="0">
                <a:solidFill>
                  <a:srgbClr val="7C2D12"/>
                </a:solidFill>
                <a:latin typeface="Roboto Mono" pitchFamily="34" charset="0"/>
                <a:ea typeface="Roboto Mono" pitchFamily="34" charset="-122"/>
                <a:cs typeface="Roboto Mono" pitchFamily="34" charset="-120"/>
              </a:rPr>
              <a:t>/v1/chat/completions </a:t>
            </a:r>
            <a:pPr algn="l" indent="0" marL="0">
              <a:lnSpc>
                <a:spcPct val="118548"/>
              </a:lnSpc>
              <a:buNone/>
            </a:pPr>
            <a:r>
              <a:rPr lang="en-US" sz="1575" dirty="0">
                <a:solidFill>
                  <a:srgbClr val="7C2D12"/>
                </a:solidFill>
                <a:highlight>
                  <a:srgbClr val="FFF7ED"/>
                </a:highlight>
                <a:latin typeface="Arial" pitchFamily="34" charset="0"/>
                <a:ea typeface="Arial" pitchFamily="34" charset="-122"/>
                <a:cs typeface="Arial" pitchFamily="34" charset="-120"/>
              </a:rPr>
              <a:t>· </a:t>
            </a:r>
            <a:pPr algn="l" indent="0" marL="0">
              <a:lnSpc>
                <a:spcPct val="118548"/>
              </a:lnSpc>
              <a:buNone/>
            </a:pPr>
            <a:r>
              <a:rPr lang="en-US" sz="1425" dirty="0">
                <a:solidFill>
                  <a:srgbClr val="7C2D12"/>
                </a:solidFill>
                <a:latin typeface="Roboto Mono" pitchFamily="34" charset="0"/>
                <a:ea typeface="Roboto Mono" pitchFamily="34" charset="-122"/>
                <a:cs typeface="Roboto Mono" pitchFamily="34" charset="-120"/>
              </a:rPr>
              <a:t>/v1/models </a:t>
            </a:r>
            <a:pPr algn="l" indent="0" marL="0">
              <a:lnSpc>
                <a:spcPct val="118548"/>
              </a:lnSpc>
              <a:buNone/>
            </a:pPr>
            <a:r>
              <a:rPr lang="en-US" sz="1575" dirty="0">
                <a:solidFill>
                  <a:srgbClr val="7C2D12"/>
                </a:solidFill>
                <a:highlight>
                  <a:srgbClr val="FFF7ED"/>
                </a:highlight>
                <a:latin typeface="Arial" pitchFamily="34" charset="0"/>
                <a:ea typeface="Arial" pitchFamily="34" charset="-122"/>
                <a:cs typeface="Arial" pitchFamily="34" charset="-120"/>
              </a:rPr>
              <a:t>는 </a:t>
            </a:r>
            <a:pPr algn="l" indent="0" marL="0">
              <a:lnSpc>
                <a:spcPct val="118548"/>
              </a:lnSpc>
              <a:buNone/>
            </a:pPr>
            <a:r>
              <a:rPr lang="en-US" sz="1575" b="1" dirty="0">
                <a:solidFill>
                  <a:srgbClr val="7C2D12"/>
                </a:solidFill>
                <a:latin typeface="Arial" pitchFamily="34" charset="0"/>
                <a:ea typeface="Arial" pitchFamily="34" charset="-122"/>
                <a:cs typeface="Arial" pitchFamily="34" charset="-120"/>
              </a:rPr>
              <a:t>무인증 </a:t>
            </a:r>
            <a:pPr algn="l" indent="0" marL="0">
              <a:lnSpc>
                <a:spcPct val="118548"/>
              </a:lnSpc>
              <a:buNone/>
            </a:pPr>
            <a:r>
              <a:rPr lang="en-US" sz="1575" dirty="0">
                <a:solidFill>
                  <a:srgbClr val="7C2D12"/>
                </a:solidFill>
                <a:highlight>
                  <a:srgbClr val="FFF7ED"/>
                </a:highlight>
                <a:latin typeface="Arial" pitchFamily="34" charset="0"/>
                <a:ea typeface="Arial" pitchFamily="34" charset="-122"/>
                <a:cs typeface="Arial" pitchFamily="34" charset="-120"/>
              </a:rPr>
              <a:t>— 레이트리밋 60/분이 유일한 방어선</a:t>
            </a:r>
            <a:endParaRPr lang="en-US" sz="1575" dirty="0"/>
          </a:p>
        </p:txBody>
      </p:sp>
      <p:sp>
        <p:nvSpPr>
          <p:cNvPr id="15" name="Text 13"/>
          <p:cNvSpPr/>
          <p:nvPr/>
        </p:nvSpPr>
        <p:spPr>
          <a:xfrm>
            <a:off x="295239" y="4194810"/>
            <a:ext cx="10268736" cy="285750"/>
          </a:xfrm>
          <a:prstGeom prst="rect">
            <a:avLst/>
          </a:prstGeom>
          <a:noFill/>
          <a:ln/>
        </p:spPr>
        <p:txBody>
          <a:bodyPr wrap="square" lIns="25400" tIns="25400" rIns="25400" bIns="25400" rtlCol="0" anchor="t">
            <a:normAutofit/>
          </a:bodyPr>
          <a:lstStyle/>
          <a:p>
            <a:pPr algn="ctr" indent="0" marL="0">
              <a:lnSpc>
                <a:spcPct val="87838"/>
              </a:lnSpc>
              <a:buNone/>
            </a:pPr>
            <a:r>
              <a:rPr lang="en-US" sz="1950" dirty="0">
                <a:solidFill>
                  <a:srgbClr val="C2C6CC"/>
                </a:solidFill>
                <a:latin typeface="Arial" pitchFamily="34" charset="0"/>
                <a:ea typeface="Arial" pitchFamily="34" charset="-122"/>
                <a:cs typeface="Arial" pitchFamily="34" charset="-120"/>
              </a:rPr>
              <a:t>↓ 보안그룹: 80 · 443 만 통과 ↓</a:t>
            </a:r>
            <a:endParaRPr lang="en-US" sz="1950" dirty="0"/>
          </a:p>
        </p:txBody>
      </p:sp>
      <p:sp>
        <p:nvSpPr>
          <p:cNvPr id="16" name="Shape 14"/>
          <p:cNvSpPr/>
          <p:nvPr/>
        </p:nvSpPr>
        <p:spPr>
          <a:xfrm>
            <a:off x="762000" y="4537710"/>
            <a:ext cx="9335214" cy="6865620"/>
          </a:xfrm>
          <a:prstGeom prst="rect">
            <a:avLst/>
          </a:prstGeom>
          <a:ln w="15240">
            <a:solidFill>
              <a:srgbClr val="4F7CFF"/>
            </a:solidFill>
            <a:prstDash val="solid"/>
          </a:ln>
        </p:spPr>
      </p:sp>
      <p:sp>
        <p:nvSpPr>
          <p:cNvPr id="17" name="Text 15"/>
          <p:cNvSpPr/>
          <p:nvPr/>
        </p:nvSpPr>
        <p:spPr>
          <a:xfrm>
            <a:off x="948690" y="4686300"/>
            <a:ext cx="9858018" cy="274320"/>
          </a:xfrm>
          <a:prstGeom prst="rect">
            <a:avLst/>
          </a:prstGeom>
          <a:noFill/>
          <a:ln/>
        </p:spPr>
        <p:txBody>
          <a:bodyPr wrap="square" lIns="25400" tIns="25400" rIns="25400" bIns="25400" rtlCol="0" anchor="t">
            <a:normAutofit/>
          </a:bodyPr>
          <a:lstStyle/>
          <a:p>
            <a:pPr algn="l" indent="0" marL="0">
              <a:buNone/>
            </a:pPr>
            <a:r>
              <a:rPr lang="en-US" sz="1425" spc="86" kern="0" dirty="0">
                <a:solidFill>
                  <a:srgbClr val="4F7CFF"/>
                </a:solidFill>
                <a:latin typeface="Roboto Mono" pitchFamily="34" charset="0"/>
                <a:ea typeface="Roboto Mono" pitchFamily="34" charset="-122"/>
                <a:cs typeface="Roboto Mono" pitchFamily="34" charset="-120"/>
              </a:rPr>
              <a:t>② EC2 내부 — 보안그룹에 규칙이 없는 포트들</a:t>
            </a:r>
            <a:endParaRPr lang="en-US" sz="1425" dirty="0"/>
          </a:p>
        </p:txBody>
      </p:sp>
      <p:sp>
        <p:nvSpPr>
          <p:cNvPr id="18" name="Shape 16"/>
          <p:cNvSpPr/>
          <p:nvPr/>
        </p:nvSpPr>
        <p:spPr>
          <a:xfrm>
            <a:off x="948690" y="5017770"/>
            <a:ext cx="8961834" cy="548640"/>
          </a:xfrm>
          <a:prstGeom prst="rect">
            <a:avLst/>
          </a:prstGeom>
          <a:solidFill>
            <a:srgbClr val="F3F6FF"/>
          </a:solidFill>
          <a:ln w="7620">
            <a:solidFill>
              <a:srgbClr val="C9D6FF"/>
            </a:solidFill>
            <a:prstDash val="solid"/>
          </a:ln>
        </p:spPr>
      </p:sp>
      <p:sp>
        <p:nvSpPr>
          <p:cNvPr id="19" name="Text 17"/>
          <p:cNvSpPr/>
          <p:nvPr/>
        </p:nvSpPr>
        <p:spPr>
          <a:xfrm>
            <a:off x="1108710" y="5139690"/>
            <a:ext cx="4210776" cy="342900"/>
          </a:xfrm>
          <a:prstGeom prst="rect">
            <a:avLst/>
          </a:prstGeom>
          <a:noFill/>
          <a:ln/>
        </p:spPr>
        <p:txBody>
          <a:bodyPr wrap="square" lIns="25400" tIns="25400" rIns="25400" bIns="25400" rtlCol="0" anchor="t">
            <a:normAutofit/>
          </a:bodyPr>
          <a:lstStyle/>
          <a:p>
            <a:pPr algn="l" indent="0" marL="0">
              <a:buNone/>
            </a:pPr>
            <a:r>
              <a:rPr lang="en-US" sz="1650" b="1" dirty="0">
                <a:solidFill>
                  <a:srgbClr val="16181D"/>
                </a:solidFill>
                <a:latin typeface="Arial" pitchFamily="34" charset="0"/>
                <a:ea typeface="Arial" pitchFamily="34" charset="-122"/>
                <a:cs typeface="Arial" pitchFamily="34" charset="-120"/>
              </a:rPr>
              <a:t>Caddy </a:t>
            </a:r>
            <a:pPr algn="l" indent="0" marL="0">
              <a:buNone/>
            </a:pPr>
            <a:r>
              <a:rPr lang="en-US" sz="1650" dirty="0">
                <a:solidFill>
                  <a:srgbClr val="16181D"/>
                </a:solidFill>
                <a:latin typeface="Arial" pitchFamily="34" charset="0"/>
                <a:ea typeface="Arial" pitchFamily="34" charset="-122"/>
                <a:cs typeface="Arial" pitchFamily="34" charset="-120"/>
              </a:rPr>
              <a:t>— 호스트명으로 분기 + 인증서 자동</a:t>
            </a:r>
            <a:endParaRPr lang="en-US" sz="1650" dirty="0"/>
          </a:p>
        </p:txBody>
      </p:sp>
      <p:sp>
        <p:nvSpPr>
          <p:cNvPr id="20" name="Text 18"/>
          <p:cNvSpPr/>
          <p:nvPr/>
        </p:nvSpPr>
        <p:spPr>
          <a:xfrm>
            <a:off x="8607266" y="5166360"/>
            <a:ext cx="1219438" cy="289560"/>
          </a:xfrm>
          <a:prstGeom prst="rect">
            <a:avLst/>
          </a:prstGeom>
          <a:noFill/>
          <a:ln/>
        </p:spPr>
        <p:txBody>
          <a:bodyPr wrap="square" lIns="25400" tIns="25400" rIns="25400" bIns="25400" rtlCol="0" anchor="t">
            <a:normAutofit/>
          </a:bodyPr>
          <a:lstStyle/>
          <a:p>
            <a:pPr algn="l" indent="0" marL="0">
              <a:buNone/>
            </a:pPr>
            <a:r>
              <a:rPr lang="en-US" sz="1500" dirty="0">
                <a:solidFill>
                  <a:srgbClr val="2B57D6"/>
                </a:solidFill>
                <a:latin typeface="Roboto Mono" pitchFamily="34" charset="0"/>
                <a:ea typeface="Roboto Mono" pitchFamily="34" charset="-122"/>
                <a:cs typeface="Roboto Mono" pitchFamily="34" charset="-120"/>
              </a:rPr>
              <a:t>:80 / :443</a:t>
            </a:r>
            <a:endParaRPr lang="en-US" sz="1500" dirty="0"/>
          </a:p>
        </p:txBody>
      </p:sp>
      <p:sp>
        <p:nvSpPr>
          <p:cNvPr id="21" name="Shape 19"/>
          <p:cNvSpPr/>
          <p:nvPr/>
        </p:nvSpPr>
        <p:spPr>
          <a:xfrm>
            <a:off x="948690" y="5661660"/>
            <a:ext cx="4433292" cy="803910"/>
          </a:xfrm>
          <a:prstGeom prst="rect">
            <a:avLst/>
          </a:prstGeom>
          <a:solidFill>
            <a:srgbClr val="FFFFFF"/>
          </a:solidFill>
          <a:ln w="7620">
            <a:solidFill>
              <a:srgbClr val="DFE1E6"/>
            </a:solidFill>
            <a:prstDash val="solid"/>
          </a:ln>
        </p:spPr>
      </p:sp>
      <p:sp>
        <p:nvSpPr>
          <p:cNvPr id="22" name="Text 20"/>
          <p:cNvSpPr/>
          <p:nvPr/>
        </p:nvSpPr>
        <p:spPr>
          <a:xfrm>
            <a:off x="1108710" y="5783580"/>
            <a:ext cx="4246251" cy="598170"/>
          </a:xfrm>
          <a:prstGeom prst="rect">
            <a:avLst/>
          </a:prstGeom>
          <a:noFill/>
          <a:ln/>
        </p:spPr>
        <p:txBody>
          <a:bodyPr wrap="square" lIns="25400" tIns="25400" rIns="25400" bIns="25400" rtlCol="0" anchor="t">
            <a:normAutofit/>
          </a:bodyPr>
          <a:lstStyle/>
          <a:p>
            <a:pPr algn="l" indent="0" marL="0">
              <a:lnSpc>
                <a:spcPct val="118548"/>
              </a:lnSpc>
              <a:buNone/>
            </a:pPr>
            <a:r>
              <a:rPr lang="en-US" sz="1575" b="1" dirty="0">
                <a:solidFill>
                  <a:srgbClr val="16181D"/>
                </a:solidFill>
                <a:latin typeface="Arial" pitchFamily="34" charset="0"/>
                <a:ea typeface="Arial" pitchFamily="34" charset="-122"/>
                <a:cs typeface="Arial" pitchFamily="34" charset="-120"/>
              </a:rPr>
              <a:t>maas-api </a:t>
            </a:r>
            <a:pPr algn="l" indent="0" marL="0">
              <a:lnSpc>
                <a:spcPct val="118548"/>
              </a:lnSpc>
              <a:buNone/>
            </a:pPr>
            <a:r>
              <a:rPr lang="en-US" sz="1425" dirty="0">
                <a:solidFill>
                  <a:srgbClr val="00845C"/>
                </a:solidFill>
                <a:latin typeface="Roboto Mono" pitchFamily="34" charset="0"/>
                <a:ea typeface="Roboto Mono" pitchFamily="34" charset="-122"/>
                <a:cs typeface="Roboto Mono" pitchFamily="34" charset="-120"/>
              </a:rPr>
              <a:t>:8080 </a:t>
            </a:r>
            <a:pPr algn="l" indent="0" marL="0">
              <a:lnSpc>
                <a:spcPct val="118548"/>
              </a:lnSpc>
              <a:buNone/>
            </a:pPr>
            <a:r>
              <a:rPr lang="en-US" sz="1425" dirty="0">
                <a:solidFill>
                  <a:srgbClr val="6B7280"/>
                </a:solidFill>
                <a:latin typeface="Arial" pitchFamily="34" charset="0"/>
                <a:ea typeface="Arial" pitchFamily="34" charset="-122"/>
                <a:cs typeface="Arial" pitchFamily="34" charset="-120"/>
              </a:rPr>
              <a:t>FastAPI · 외부 도달 불가</a:t>
            </a:r>
            <a:endParaRPr lang="en-US" sz="1575" dirty="0"/>
          </a:p>
        </p:txBody>
      </p:sp>
      <p:sp>
        <p:nvSpPr>
          <p:cNvPr id="23" name="Shape 21"/>
          <p:cNvSpPr/>
          <p:nvPr/>
        </p:nvSpPr>
        <p:spPr>
          <a:xfrm>
            <a:off x="5477233" y="5661660"/>
            <a:ext cx="4433292" cy="803910"/>
          </a:xfrm>
          <a:prstGeom prst="rect">
            <a:avLst/>
          </a:prstGeom>
          <a:solidFill>
            <a:srgbClr val="FFFFFF"/>
          </a:solidFill>
          <a:ln w="7620">
            <a:solidFill>
              <a:srgbClr val="DFE1E6"/>
            </a:solidFill>
            <a:prstDash val="solid"/>
          </a:ln>
        </p:spPr>
      </p:sp>
      <p:sp>
        <p:nvSpPr>
          <p:cNvPr id="24" name="Text 22"/>
          <p:cNvSpPr/>
          <p:nvPr/>
        </p:nvSpPr>
        <p:spPr>
          <a:xfrm>
            <a:off x="5637253" y="5783580"/>
            <a:ext cx="4246251" cy="598170"/>
          </a:xfrm>
          <a:prstGeom prst="rect">
            <a:avLst/>
          </a:prstGeom>
          <a:noFill/>
          <a:ln/>
        </p:spPr>
        <p:txBody>
          <a:bodyPr wrap="square" lIns="25400" tIns="25400" rIns="25400" bIns="25400" rtlCol="0" anchor="t">
            <a:normAutofit/>
          </a:bodyPr>
          <a:lstStyle/>
          <a:p>
            <a:pPr algn="l" indent="0" marL="0">
              <a:lnSpc>
                <a:spcPct val="118548"/>
              </a:lnSpc>
              <a:buNone/>
            </a:pPr>
            <a:r>
              <a:rPr lang="en-US" sz="1575" b="1" dirty="0">
                <a:solidFill>
                  <a:srgbClr val="16181D"/>
                </a:solidFill>
                <a:latin typeface="Arial" pitchFamily="34" charset="0"/>
                <a:ea typeface="Arial" pitchFamily="34" charset="-122"/>
                <a:cs typeface="Arial" pitchFamily="34" charset="-120"/>
              </a:rPr>
              <a:t>maas-ui </a:t>
            </a:r>
            <a:pPr algn="l" indent="0" marL="0">
              <a:lnSpc>
                <a:spcPct val="118548"/>
              </a:lnSpc>
              <a:buNone/>
            </a:pPr>
            <a:r>
              <a:rPr lang="en-US" sz="1425" dirty="0">
                <a:solidFill>
                  <a:srgbClr val="00845C"/>
                </a:solidFill>
                <a:latin typeface="Roboto Mono" pitchFamily="34" charset="0"/>
                <a:ea typeface="Roboto Mono" pitchFamily="34" charset="-122"/>
                <a:cs typeface="Roboto Mono" pitchFamily="34" charset="-120"/>
              </a:rPr>
              <a:t>:7860 </a:t>
            </a:r>
            <a:pPr algn="l" indent="0" marL="0">
              <a:lnSpc>
                <a:spcPct val="118548"/>
              </a:lnSpc>
              <a:buNone/>
            </a:pPr>
            <a:r>
              <a:rPr lang="en-US" sz="1425" dirty="0">
                <a:solidFill>
                  <a:srgbClr val="6B7280"/>
                </a:solidFill>
                <a:latin typeface="Arial" pitchFamily="34" charset="0"/>
                <a:ea typeface="Arial" pitchFamily="34" charset="-122"/>
                <a:cs typeface="Arial" pitchFamily="34" charset="-120"/>
              </a:rPr>
              <a:t>FastAPI + HTML</a:t>
            </a:r>
            <a:endParaRPr lang="en-US" sz="1575" dirty="0"/>
          </a:p>
        </p:txBody>
      </p:sp>
      <p:sp>
        <p:nvSpPr>
          <p:cNvPr id="25" name="Shape 23"/>
          <p:cNvSpPr/>
          <p:nvPr/>
        </p:nvSpPr>
        <p:spPr>
          <a:xfrm>
            <a:off x="948690" y="6560820"/>
            <a:ext cx="8961834" cy="480060"/>
          </a:xfrm>
          <a:prstGeom prst="rect">
            <a:avLst/>
          </a:prstGeom>
          <a:solidFill>
            <a:srgbClr val="EEF0F2"/>
          </a:solidFill>
          <a:ln w="7620">
            <a:solidFill>
              <a:srgbClr val="B6BCC4"/>
            </a:solidFill>
            <a:prstDash val="dash"/>
          </a:ln>
        </p:spPr>
      </p:sp>
      <p:sp>
        <p:nvSpPr>
          <p:cNvPr id="26" name="Text 24"/>
          <p:cNvSpPr/>
          <p:nvPr/>
        </p:nvSpPr>
        <p:spPr>
          <a:xfrm>
            <a:off x="1108710" y="6663690"/>
            <a:ext cx="8910649" cy="312420"/>
          </a:xfrm>
          <a:prstGeom prst="rect">
            <a:avLst/>
          </a:prstGeom>
          <a:noFill/>
          <a:ln/>
        </p:spPr>
        <p:txBody>
          <a:bodyPr wrap="square" lIns="25400" tIns="25400" rIns="25400" bIns="25400" rtlCol="0" anchor="t">
            <a:normAutofit/>
          </a:bodyPr>
          <a:lstStyle/>
          <a:p>
            <a:pPr algn="l" indent="0" marL="0">
              <a:buNone/>
            </a:pPr>
            <a:r>
              <a:rPr lang="en-US" sz="1500" dirty="0">
                <a:solidFill>
                  <a:srgbClr val="4A5058"/>
                </a:solidFill>
                <a:highlight>
                  <a:srgbClr val="EEF0F2"/>
                </a:highlight>
                <a:latin typeface="Arial" pitchFamily="34" charset="0"/>
                <a:ea typeface="Arial" pitchFamily="34" charset="-122"/>
                <a:cs typeface="Arial" pitchFamily="34" charset="-120"/>
              </a:rPr>
              <a:t>두 프로세스가 각자 </a:t>
            </a:r>
            <a:pPr algn="l" indent="0" marL="0">
              <a:buNone/>
            </a:pPr>
            <a:r>
              <a:rPr lang="en-US" sz="1350" dirty="0">
                <a:solidFill>
                  <a:srgbClr val="4A5058"/>
                </a:solidFill>
                <a:latin typeface="Roboto Mono" pitchFamily="34" charset="0"/>
                <a:ea typeface="Roboto Mono" pitchFamily="34" charset="-122"/>
                <a:cs typeface="Roboto Mono" pitchFamily="34" charset="-120"/>
              </a:rPr>
              <a:t>gate/ </a:t>
            </a:r>
            <a:pPr algn="l" indent="0" marL="0">
              <a:buNone/>
            </a:pPr>
            <a:r>
              <a:rPr lang="en-US" sz="1500" dirty="0">
                <a:solidFill>
                  <a:srgbClr val="4A5058"/>
                </a:solidFill>
                <a:highlight>
                  <a:srgbClr val="EEF0F2"/>
                </a:highlight>
                <a:latin typeface="Arial" pitchFamily="34" charset="0"/>
                <a:ea typeface="Arial" pitchFamily="34" charset="-122"/>
                <a:cs typeface="Arial" pitchFamily="34" charset="-120"/>
              </a:rPr>
              <a:t>모듈을 임포트 — 서로 네트워크 호출 없음</a:t>
            </a:r>
            <a:endParaRPr lang="en-US" sz="1500" dirty="0"/>
          </a:p>
        </p:txBody>
      </p:sp>
      <p:sp>
        <p:nvSpPr>
          <p:cNvPr id="27" name="Shape 25"/>
          <p:cNvSpPr/>
          <p:nvPr/>
        </p:nvSpPr>
        <p:spPr>
          <a:xfrm>
            <a:off x="948690" y="9608820"/>
            <a:ext cx="8961834" cy="1645920"/>
          </a:xfrm>
          <a:prstGeom prst="rect">
            <a:avLst/>
          </a:prstGeom>
          <a:ln w="15240">
            <a:solidFill>
              <a:srgbClr val="16181D"/>
            </a:solidFill>
            <a:prstDash val="solid"/>
          </a:ln>
        </p:spPr>
      </p:sp>
      <p:sp>
        <p:nvSpPr>
          <p:cNvPr id="28" name="Text 26"/>
          <p:cNvSpPr/>
          <p:nvPr/>
        </p:nvSpPr>
        <p:spPr>
          <a:xfrm>
            <a:off x="1078230" y="9738360"/>
            <a:ext cx="9573030" cy="274320"/>
          </a:xfrm>
          <a:prstGeom prst="rect">
            <a:avLst/>
          </a:prstGeom>
          <a:noFill/>
          <a:ln/>
        </p:spPr>
        <p:txBody>
          <a:bodyPr wrap="square" lIns="25400" tIns="25400" rIns="25400" bIns="25400" rtlCol="0" anchor="t">
            <a:normAutofit/>
          </a:bodyPr>
          <a:lstStyle/>
          <a:p>
            <a:pPr algn="l" indent="0" marL="0">
              <a:buNone/>
            </a:pPr>
            <a:r>
              <a:rPr lang="en-US" sz="1425" dirty="0">
                <a:solidFill>
                  <a:srgbClr val="16181D"/>
                </a:solidFill>
                <a:latin typeface="Roboto Mono" pitchFamily="34" charset="0"/>
                <a:ea typeface="Roboto Mono" pitchFamily="34" charset="-122"/>
                <a:cs typeface="Roboto Mono" pitchFamily="34" charset="-120"/>
              </a:rPr>
              <a:t>③ localhost 전용 — 한 겹 더 안쪽</a:t>
            </a:r>
            <a:endParaRPr lang="en-US" sz="1425" dirty="0"/>
          </a:p>
        </p:txBody>
      </p:sp>
      <p:sp>
        <p:nvSpPr>
          <p:cNvPr id="29" name="Shape 27"/>
          <p:cNvSpPr/>
          <p:nvPr/>
        </p:nvSpPr>
        <p:spPr>
          <a:xfrm>
            <a:off x="1078230" y="10050781"/>
            <a:ext cx="8702754" cy="464820"/>
          </a:xfrm>
          <a:prstGeom prst="rect">
            <a:avLst/>
          </a:prstGeom>
          <a:solidFill>
            <a:srgbClr val="16181D"/>
          </a:solidFill>
          <a:ln/>
        </p:spPr>
      </p:sp>
      <p:sp>
        <p:nvSpPr>
          <p:cNvPr id="30" name="Text 28"/>
          <p:cNvSpPr/>
          <p:nvPr/>
        </p:nvSpPr>
        <p:spPr>
          <a:xfrm>
            <a:off x="1230630" y="10165081"/>
            <a:ext cx="2567773" cy="274320"/>
          </a:xfrm>
          <a:prstGeom prst="rect">
            <a:avLst/>
          </a:prstGeom>
          <a:noFill/>
          <a:ln/>
        </p:spPr>
        <p:txBody>
          <a:bodyPr wrap="square" lIns="25400" tIns="25400" rIns="25400" bIns="25400" rtlCol="0" anchor="t">
            <a:normAutofit/>
          </a:bodyPr>
          <a:lstStyle/>
          <a:p>
            <a:pPr algn="l" indent="0" marL="0">
              <a:buNone/>
            </a:pPr>
            <a:r>
              <a:rPr lang="en-US" sz="1575" b="1" dirty="0">
                <a:solidFill>
                  <a:srgbClr val="FBFBFA"/>
                </a:solidFill>
                <a:latin typeface="Arial" pitchFamily="34" charset="0"/>
                <a:ea typeface="Arial" pitchFamily="34" charset="-122"/>
                <a:cs typeface="Arial" pitchFamily="34" charset="-120"/>
              </a:rPr>
              <a:t>vLLM </a:t>
            </a:r>
            <a:pPr algn="l" indent="0" marL="0">
              <a:buNone/>
            </a:pPr>
            <a:r>
              <a:rPr lang="en-US" sz="1575" dirty="0">
                <a:solidFill>
                  <a:srgbClr val="FBFBFA"/>
                </a:solidFill>
                <a:latin typeface="Arial" pitchFamily="34" charset="0"/>
                <a:ea typeface="Arial" pitchFamily="34" charset="-122"/>
                <a:cs typeface="Arial" pitchFamily="34" charset="-120"/>
              </a:rPr>
              <a:t>Docker · Qwen3-4B</a:t>
            </a:r>
            <a:endParaRPr lang="en-US" sz="1575" dirty="0"/>
          </a:p>
        </p:txBody>
      </p:sp>
      <p:sp>
        <p:nvSpPr>
          <p:cNvPr id="31" name="Text 29"/>
          <p:cNvSpPr/>
          <p:nvPr/>
        </p:nvSpPr>
        <p:spPr>
          <a:xfrm>
            <a:off x="8108037" y="10165081"/>
            <a:ext cx="1672602" cy="274320"/>
          </a:xfrm>
          <a:prstGeom prst="rect">
            <a:avLst/>
          </a:prstGeom>
          <a:noFill/>
          <a:ln/>
        </p:spPr>
        <p:txBody>
          <a:bodyPr wrap="square" lIns="25400" tIns="25400" rIns="25400" bIns="25400" rtlCol="0" anchor="t">
            <a:normAutofit/>
          </a:bodyPr>
          <a:lstStyle/>
          <a:p>
            <a:pPr algn="l" indent="0" marL="0">
              <a:buNone/>
            </a:pPr>
            <a:r>
              <a:rPr lang="en-US" sz="1425" dirty="0">
                <a:solidFill>
                  <a:srgbClr val="9DB4FF"/>
                </a:solidFill>
                <a:latin typeface="Roboto Mono" pitchFamily="34" charset="0"/>
                <a:ea typeface="Roboto Mono" pitchFamily="34" charset="-122"/>
                <a:cs typeface="Roboto Mono" pitchFamily="34" charset="-120"/>
              </a:rPr>
              <a:t>127.0.0.1:8000</a:t>
            </a:r>
            <a:endParaRPr lang="en-US" sz="1425" dirty="0"/>
          </a:p>
        </p:txBody>
      </p:sp>
      <p:sp>
        <p:nvSpPr>
          <p:cNvPr id="32" name="Text 30"/>
          <p:cNvSpPr/>
          <p:nvPr/>
        </p:nvSpPr>
        <p:spPr>
          <a:xfrm>
            <a:off x="1078230" y="10591800"/>
            <a:ext cx="8963837" cy="571500"/>
          </a:xfrm>
          <a:prstGeom prst="rect">
            <a:avLst/>
          </a:prstGeom>
          <a:noFill/>
          <a:ln/>
        </p:spPr>
        <p:txBody>
          <a:bodyPr wrap="square" lIns="25400" tIns="25400" rIns="25400" bIns="25400" rtlCol="0" anchor="t">
            <a:normAutofit/>
          </a:bodyPr>
          <a:lstStyle/>
          <a:p>
            <a:pPr algn="l" indent="0" marL="0">
              <a:lnSpc>
                <a:spcPct val="120690"/>
              </a:lnSpc>
              <a:buNone/>
            </a:pPr>
            <a:r>
              <a:rPr lang="en-US" sz="1500" dirty="0">
                <a:solidFill>
                  <a:srgbClr val="4A5058"/>
                </a:solidFill>
                <a:latin typeface="Arial" pitchFamily="34" charset="0"/>
                <a:ea typeface="Arial" pitchFamily="34" charset="-122"/>
                <a:cs typeface="Arial" pitchFamily="34" charset="-120"/>
              </a:rPr>
              <a:t>도커 </a:t>
            </a:r>
            <a:pPr algn="l" indent="0" marL="0">
              <a:lnSpc>
                <a:spcPct val="120690"/>
              </a:lnSpc>
              <a:buNone/>
            </a:pPr>
            <a:r>
              <a:rPr lang="en-US" sz="1500" b="1" dirty="0">
                <a:solidFill>
                  <a:srgbClr val="4A5058"/>
                </a:solidFill>
                <a:latin typeface="Arial" pitchFamily="34" charset="0"/>
                <a:ea typeface="Arial" pitchFamily="34" charset="-122"/>
                <a:cs typeface="Arial" pitchFamily="34" charset="-120"/>
              </a:rPr>
              <a:t>포트 매핑 자체가 루프백 </a:t>
            </a:r>
            <a:pPr algn="l" indent="0" marL="0">
              <a:lnSpc>
                <a:spcPct val="120690"/>
              </a:lnSpc>
              <a:buNone/>
            </a:pPr>
            <a:r>
              <a:rPr lang="en-US" sz="1500" dirty="0">
                <a:solidFill>
                  <a:srgbClr val="4A5058"/>
                </a:solidFill>
                <a:latin typeface="Arial" pitchFamily="34" charset="0"/>
                <a:ea typeface="Arial" pitchFamily="34" charset="-122"/>
                <a:cs typeface="Arial" pitchFamily="34" charset="-120"/>
              </a:rPr>
              <a:t>이라 EC2 밖에서는 물론 같은 서버의 다른 컨테이너에서도(host 네트워크가 아니라면) 접근할 수 없다</a:t>
            </a:r>
            <a:endParaRPr lang="en-US" sz="1500" dirty="0"/>
          </a:p>
        </p:txBody>
      </p:sp>
      <p:sp>
        <p:nvSpPr>
          <p:cNvPr id="33" name="Shape 31"/>
          <p:cNvSpPr/>
          <p:nvPr/>
        </p:nvSpPr>
        <p:spPr>
          <a:xfrm>
            <a:off x="762000" y="11498581"/>
            <a:ext cx="4059079" cy="513874"/>
          </a:xfrm>
          <a:prstGeom prst="rect">
            <a:avLst/>
          </a:prstGeom>
          <a:solidFill>
            <a:srgbClr val="FFFFFF"/>
          </a:solidFill>
          <a:ln w="7620">
            <a:solidFill>
              <a:srgbClr val="DFE1E6"/>
            </a:solidFill>
            <a:prstDash val="solid"/>
          </a:ln>
        </p:spPr>
      </p:sp>
      <p:sp>
        <p:nvSpPr>
          <p:cNvPr id="34" name="Text 32"/>
          <p:cNvSpPr/>
          <p:nvPr/>
        </p:nvSpPr>
        <p:spPr>
          <a:xfrm>
            <a:off x="922020" y="11620501"/>
            <a:ext cx="3860811" cy="308134"/>
          </a:xfrm>
          <a:prstGeom prst="rect">
            <a:avLst/>
          </a:prstGeom>
          <a:noFill/>
          <a:ln/>
        </p:spPr>
        <p:txBody>
          <a:bodyPr wrap="square" lIns="25400" tIns="25400" rIns="25400" bIns="25400" rtlCol="0" anchor="t">
            <a:normAutofit/>
          </a:bodyPr>
          <a:lstStyle/>
          <a:p>
            <a:pPr algn="l" indent="0" marL="0">
              <a:lnSpc>
                <a:spcPct val="114315"/>
              </a:lnSpc>
              <a:buNone/>
            </a:pPr>
            <a:r>
              <a:rPr lang="en-US" sz="1575" dirty="0">
                <a:solidFill>
                  <a:srgbClr val="16181D"/>
                </a:solidFill>
                <a:highlight>
                  <a:srgbClr val="FFFFFF"/>
                </a:highlight>
                <a:latin typeface="Arial" pitchFamily="34" charset="0"/>
                <a:ea typeface="Arial" pitchFamily="34" charset="-122"/>
                <a:cs typeface="Arial" pitchFamily="34" charset="-120"/>
              </a:rPr>
              <a:t>→ </a:t>
            </a:r>
            <a:pPr algn="l" indent="0" marL="0">
              <a:lnSpc>
                <a:spcPct val="114315"/>
              </a:lnSpc>
              <a:buNone/>
            </a:pPr>
            <a:r>
              <a:rPr lang="en-US" sz="1575" b="1" dirty="0">
                <a:solidFill>
                  <a:srgbClr val="16181D"/>
                </a:solidFill>
                <a:latin typeface="Arial" pitchFamily="34" charset="0"/>
                <a:ea typeface="Arial" pitchFamily="34" charset="-122"/>
                <a:cs typeface="Arial" pitchFamily="34" charset="-120"/>
              </a:rPr>
              <a:t>Bedrock </a:t>
            </a:r>
            <a:pPr algn="l" indent="0" marL="0">
              <a:lnSpc>
                <a:spcPct val="114315"/>
              </a:lnSpc>
              <a:buNone/>
            </a:pPr>
            <a:r>
              <a:rPr lang="en-US" sz="1425" dirty="0">
                <a:solidFill>
                  <a:srgbClr val="6B7280"/>
                </a:solidFill>
                <a:latin typeface="Arial" pitchFamily="34" charset="0"/>
                <a:ea typeface="Arial" pitchFamily="34" charset="-122"/>
                <a:cs typeface="Arial" pitchFamily="34" charset="-120"/>
              </a:rPr>
              <a:t>인스턴스 IAM 역할로 인증</a:t>
            </a:r>
            <a:endParaRPr lang="en-US" sz="1575" dirty="0"/>
          </a:p>
        </p:txBody>
      </p:sp>
      <p:sp>
        <p:nvSpPr>
          <p:cNvPr id="35" name="Shape 33"/>
          <p:cNvSpPr/>
          <p:nvPr/>
        </p:nvSpPr>
        <p:spPr>
          <a:xfrm>
            <a:off x="4916329" y="11498581"/>
            <a:ext cx="5180886" cy="513874"/>
          </a:xfrm>
          <a:prstGeom prst="rect">
            <a:avLst/>
          </a:prstGeom>
          <a:solidFill>
            <a:srgbClr val="FFFFFF"/>
          </a:solidFill>
          <a:ln w="7620">
            <a:solidFill>
              <a:srgbClr val="DFE1E6"/>
            </a:solidFill>
            <a:prstDash val="solid"/>
          </a:ln>
        </p:spPr>
      </p:sp>
      <p:sp>
        <p:nvSpPr>
          <p:cNvPr id="36" name="Text 34"/>
          <p:cNvSpPr/>
          <p:nvPr/>
        </p:nvSpPr>
        <p:spPr>
          <a:xfrm>
            <a:off x="5076349" y="11620501"/>
            <a:ext cx="5016272" cy="308134"/>
          </a:xfrm>
          <a:prstGeom prst="rect">
            <a:avLst/>
          </a:prstGeom>
          <a:noFill/>
          <a:ln/>
        </p:spPr>
        <p:txBody>
          <a:bodyPr wrap="square" lIns="25400" tIns="25400" rIns="25400" bIns="25400" rtlCol="0" anchor="t">
            <a:normAutofit/>
          </a:bodyPr>
          <a:lstStyle/>
          <a:p>
            <a:pPr algn="l" indent="0" marL="0">
              <a:lnSpc>
                <a:spcPct val="114315"/>
              </a:lnSpc>
              <a:buNone/>
            </a:pPr>
            <a:r>
              <a:rPr lang="en-US" sz="1575" dirty="0">
                <a:solidFill>
                  <a:srgbClr val="16181D"/>
                </a:solidFill>
                <a:highlight>
                  <a:srgbClr val="FFFFFF"/>
                </a:highlight>
                <a:latin typeface="Arial" pitchFamily="34" charset="0"/>
                <a:ea typeface="Arial" pitchFamily="34" charset="-122"/>
                <a:cs typeface="Arial" pitchFamily="34" charset="-120"/>
              </a:rPr>
              <a:t>→ </a:t>
            </a:r>
            <a:pPr algn="l" indent="0" marL="0">
              <a:lnSpc>
                <a:spcPct val="114315"/>
              </a:lnSpc>
              <a:buNone/>
            </a:pPr>
            <a:r>
              <a:rPr lang="en-US" sz="1575" b="1" dirty="0">
                <a:solidFill>
                  <a:srgbClr val="16181D"/>
                </a:solidFill>
                <a:latin typeface="Arial" pitchFamily="34" charset="0"/>
                <a:ea typeface="Arial" pitchFamily="34" charset="-122"/>
                <a:cs typeface="Arial" pitchFamily="34" charset="-120"/>
              </a:rPr>
              <a:t>공공 API </a:t>
            </a:r>
            <a:pPr algn="l" indent="0" marL="0">
              <a:lnSpc>
                <a:spcPct val="114315"/>
              </a:lnSpc>
              <a:buNone/>
            </a:pPr>
            <a:r>
              <a:rPr lang="en-US" sz="1425" dirty="0">
                <a:solidFill>
                  <a:srgbClr val="6B7280"/>
                </a:solidFill>
                <a:latin typeface="Arial" pitchFamily="34" charset="0"/>
                <a:ea typeface="Arial" pitchFamily="34" charset="-122"/>
                <a:cs typeface="Arial" pitchFamily="34" charset="-120"/>
              </a:rPr>
              <a:t>키는 /etc/maas-api.env 에만 존재</a:t>
            </a:r>
            <a:endParaRPr lang="en-US" sz="1575" dirty="0"/>
          </a:p>
        </p:txBody>
      </p:sp>
      <p:sp>
        <p:nvSpPr>
          <p:cNvPr id="37" name="Shape 35"/>
          <p:cNvSpPr/>
          <p:nvPr/>
        </p:nvSpPr>
        <p:spPr>
          <a:xfrm>
            <a:off x="10344865" y="2061210"/>
            <a:ext cx="7181017" cy="3543300"/>
          </a:xfrm>
          <a:prstGeom prst="rect">
            <a:avLst/>
          </a:prstGeom>
          <a:solidFill>
            <a:srgbClr val="FFFFFF"/>
          </a:solidFill>
          <a:ln w="7620">
            <a:solidFill>
              <a:srgbClr val="DFE1E6"/>
            </a:solidFill>
            <a:prstDash val="solid"/>
          </a:ln>
        </p:spPr>
      </p:sp>
      <p:sp>
        <p:nvSpPr>
          <p:cNvPr id="38" name="Text 36"/>
          <p:cNvSpPr/>
          <p:nvPr/>
        </p:nvSpPr>
        <p:spPr>
          <a:xfrm>
            <a:off x="10600134" y="2278380"/>
            <a:ext cx="7337524" cy="396240"/>
          </a:xfrm>
          <a:prstGeom prst="rect">
            <a:avLst/>
          </a:prstGeom>
          <a:noFill/>
          <a:ln/>
        </p:spPr>
        <p:txBody>
          <a:bodyPr wrap="square" lIns="25400" tIns="25400" rIns="25400" bIns="25400" rtlCol="0" anchor="t">
            <a:normAutofit/>
          </a:bodyPr>
          <a:lstStyle/>
          <a:p>
            <a:pPr algn="l" indent="0" marL="0">
              <a:buNone/>
            </a:pPr>
            <a:r>
              <a:rPr lang="en-US" sz="1950" b="1" dirty="0">
                <a:solidFill>
                  <a:srgbClr val="16181D"/>
                </a:solidFill>
                <a:latin typeface="Arial" pitchFamily="34" charset="0"/>
                <a:ea typeface="Arial" pitchFamily="34" charset="-122"/>
                <a:cs typeface="Arial" pitchFamily="34" charset="-120"/>
              </a:rPr>
              <a:t>포트 구성표</a:t>
            </a:r>
            <a:endParaRPr lang="en-US" sz="1950" dirty="0"/>
          </a:p>
        </p:txBody>
      </p:sp>
      <p:sp>
        <p:nvSpPr>
          <p:cNvPr id="39" name="Shape 37"/>
          <p:cNvSpPr/>
          <p:nvPr/>
        </p:nvSpPr>
        <p:spPr>
          <a:xfrm>
            <a:off x="10600134" y="3063240"/>
            <a:ext cx="480179" cy="15240"/>
          </a:xfrm>
          <a:prstGeom prst="rect">
            <a:avLst/>
          </a:prstGeom>
          <a:solidFill>
            <a:srgbClr val="16181D"/>
          </a:solidFill>
          <a:ln/>
        </p:spPr>
      </p:sp>
      <p:sp>
        <p:nvSpPr>
          <p:cNvPr id="40" name="Text 38"/>
          <p:cNvSpPr/>
          <p:nvPr/>
        </p:nvSpPr>
        <p:spPr>
          <a:xfrm>
            <a:off x="10600134" y="2750820"/>
            <a:ext cx="556379" cy="274320"/>
          </a:xfrm>
          <a:prstGeom prst="rect">
            <a:avLst/>
          </a:prstGeom>
          <a:noFill/>
          <a:ln/>
        </p:spPr>
        <p:txBody>
          <a:bodyPr wrap="square" lIns="25400" tIns="25400" rIns="25400" bIns="25400" rtlCol="0" anchor="t">
            <a:normAutofit/>
          </a:bodyPr>
          <a:lstStyle/>
          <a:p>
            <a:pPr algn="l" indent="0" marL="0">
              <a:buNone/>
            </a:pPr>
            <a:r>
              <a:rPr lang="en-US" sz="1425" dirty="0">
                <a:solidFill>
                  <a:srgbClr val="8A9099"/>
                </a:solidFill>
                <a:latin typeface="Roboto Mono" pitchFamily="34" charset="0"/>
                <a:ea typeface="Roboto Mono" pitchFamily="34" charset="-122"/>
                <a:cs typeface="Roboto Mono" pitchFamily="34" charset="-120"/>
              </a:rPr>
              <a:t>포트</a:t>
            </a:r>
            <a:endParaRPr lang="en-US" sz="1425" dirty="0"/>
          </a:p>
        </p:txBody>
      </p:sp>
      <p:sp>
        <p:nvSpPr>
          <p:cNvPr id="41" name="Shape 39"/>
          <p:cNvSpPr/>
          <p:nvPr/>
        </p:nvSpPr>
        <p:spPr>
          <a:xfrm>
            <a:off x="11251763" y="3063240"/>
            <a:ext cx="5055632" cy="15240"/>
          </a:xfrm>
          <a:prstGeom prst="rect">
            <a:avLst/>
          </a:prstGeom>
          <a:solidFill>
            <a:srgbClr val="16181D"/>
          </a:solidFill>
          <a:ln/>
        </p:spPr>
      </p:sp>
      <p:sp>
        <p:nvSpPr>
          <p:cNvPr id="42" name="Text 40"/>
          <p:cNvSpPr/>
          <p:nvPr/>
        </p:nvSpPr>
        <p:spPr>
          <a:xfrm>
            <a:off x="11251763" y="2750820"/>
            <a:ext cx="5207301" cy="274320"/>
          </a:xfrm>
          <a:prstGeom prst="rect">
            <a:avLst/>
          </a:prstGeom>
          <a:noFill/>
          <a:ln/>
        </p:spPr>
        <p:txBody>
          <a:bodyPr wrap="square" lIns="25400" tIns="25400" rIns="25400" bIns="25400" rtlCol="0" anchor="t">
            <a:normAutofit/>
          </a:bodyPr>
          <a:lstStyle/>
          <a:p>
            <a:pPr algn="l" indent="0" marL="0">
              <a:buNone/>
            </a:pPr>
            <a:r>
              <a:rPr lang="en-US" sz="1425" dirty="0">
                <a:solidFill>
                  <a:srgbClr val="8A9099"/>
                </a:solidFill>
                <a:latin typeface="Roboto Mono" pitchFamily="34" charset="0"/>
                <a:ea typeface="Roboto Mono" pitchFamily="34" charset="-122"/>
                <a:cs typeface="Roboto Mono" pitchFamily="34" charset="-120"/>
              </a:rPr>
              <a:t>프로세스</a:t>
            </a:r>
            <a:endParaRPr lang="en-US" sz="1425" dirty="0"/>
          </a:p>
        </p:txBody>
      </p:sp>
      <p:sp>
        <p:nvSpPr>
          <p:cNvPr id="43" name="Shape 41"/>
          <p:cNvSpPr/>
          <p:nvPr/>
        </p:nvSpPr>
        <p:spPr>
          <a:xfrm>
            <a:off x="16478845" y="3063240"/>
            <a:ext cx="791766" cy="15240"/>
          </a:xfrm>
          <a:prstGeom prst="rect">
            <a:avLst/>
          </a:prstGeom>
          <a:solidFill>
            <a:srgbClr val="16181D"/>
          </a:solidFill>
          <a:ln/>
        </p:spPr>
      </p:sp>
      <p:sp>
        <p:nvSpPr>
          <p:cNvPr id="44" name="Text 42"/>
          <p:cNvSpPr/>
          <p:nvPr/>
        </p:nvSpPr>
        <p:spPr>
          <a:xfrm>
            <a:off x="16478845" y="2750820"/>
            <a:ext cx="867966" cy="274320"/>
          </a:xfrm>
          <a:prstGeom prst="rect">
            <a:avLst/>
          </a:prstGeom>
          <a:noFill/>
          <a:ln/>
        </p:spPr>
        <p:txBody>
          <a:bodyPr wrap="square" lIns="25400" tIns="25400" rIns="25400" bIns="25400" rtlCol="0" anchor="t">
            <a:normAutofit/>
          </a:bodyPr>
          <a:lstStyle/>
          <a:p>
            <a:pPr algn="l" indent="0" marL="0">
              <a:buNone/>
            </a:pPr>
            <a:r>
              <a:rPr lang="en-US" sz="1425" dirty="0">
                <a:solidFill>
                  <a:srgbClr val="8A9099"/>
                </a:solidFill>
                <a:latin typeface="Roboto Mono" pitchFamily="34" charset="0"/>
                <a:ea typeface="Roboto Mono" pitchFamily="34" charset="-122"/>
                <a:cs typeface="Roboto Mono" pitchFamily="34" charset="-120"/>
              </a:rPr>
              <a:t>공개</a:t>
            </a:r>
            <a:endParaRPr lang="en-US" sz="1425" dirty="0"/>
          </a:p>
        </p:txBody>
      </p:sp>
      <p:sp>
        <p:nvSpPr>
          <p:cNvPr id="45" name="Text 43"/>
          <p:cNvSpPr/>
          <p:nvPr/>
        </p:nvSpPr>
        <p:spPr>
          <a:xfrm>
            <a:off x="10600134" y="3188970"/>
            <a:ext cx="556379" cy="304800"/>
          </a:xfrm>
          <a:prstGeom prst="rect">
            <a:avLst/>
          </a:prstGeom>
          <a:noFill/>
          <a:ln/>
        </p:spPr>
        <p:txBody>
          <a:bodyPr wrap="squar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22</a:t>
            </a:r>
            <a:endParaRPr lang="en-US" sz="1575" dirty="0"/>
          </a:p>
        </p:txBody>
      </p:sp>
      <p:sp>
        <p:nvSpPr>
          <p:cNvPr id="46" name="Text 44"/>
          <p:cNvSpPr/>
          <p:nvPr/>
        </p:nvSpPr>
        <p:spPr>
          <a:xfrm>
            <a:off x="11251763" y="3219450"/>
            <a:ext cx="5561195" cy="274320"/>
          </a:xfrm>
          <a:prstGeom prst="rect">
            <a:avLst/>
          </a:prstGeom>
          <a:noFill/>
          <a:ln/>
        </p:spPr>
        <p:txBody>
          <a:bodyPr wrap="square" lIns="25400" tIns="25400" rIns="25400" bIns="25400" rtlCol="0" anchor="t">
            <a:normAutofit/>
          </a:bodyPr>
          <a:lstStyle/>
          <a:p>
            <a:pPr algn="l" indent="0" marL="0">
              <a:buNone/>
            </a:pPr>
            <a:r>
              <a:rPr lang="en-US" sz="1575" dirty="0">
                <a:solidFill>
                  <a:srgbClr val="4A5058"/>
                </a:solidFill>
                <a:latin typeface="Arial" pitchFamily="34" charset="0"/>
                <a:ea typeface="Arial" pitchFamily="34" charset="-122"/>
                <a:cs typeface="Arial" pitchFamily="34" charset="-120"/>
              </a:rPr>
              <a:t>SSH</a:t>
            </a:r>
            <a:endParaRPr lang="en-US" sz="1575" dirty="0"/>
          </a:p>
        </p:txBody>
      </p:sp>
      <p:sp>
        <p:nvSpPr>
          <p:cNvPr id="47" name="Text 45"/>
          <p:cNvSpPr/>
          <p:nvPr/>
        </p:nvSpPr>
        <p:spPr>
          <a:xfrm>
            <a:off x="16478845" y="3173730"/>
            <a:ext cx="867966" cy="327660"/>
          </a:xfrm>
          <a:prstGeom prst="rect">
            <a:avLst/>
          </a:prstGeom>
          <a:noFill/>
          <a:ln/>
        </p:spPr>
        <p:txBody>
          <a:bodyPr wrap="none" lIns="25400" tIns="25400" rIns="25400" bIns="25400" rtlCol="0" anchor="t">
            <a:normAutofit/>
          </a:bodyPr>
          <a:lstStyle/>
          <a:p>
            <a:pPr algn="l" indent="0" marL="0">
              <a:buNone/>
            </a:pPr>
            <a:r>
              <a:rPr lang="en-US" sz="1575" dirty="0">
                <a:solidFill>
                  <a:srgbClr val="00845C"/>
                </a:solidFill>
                <a:latin typeface="Arial" pitchFamily="34" charset="0"/>
                <a:ea typeface="Arial" pitchFamily="34" charset="-122"/>
                <a:cs typeface="Arial" pitchFamily="34" charset="-120"/>
              </a:rPr>
              <a:t>규칙 없음</a:t>
            </a:r>
            <a:endParaRPr lang="en-US" sz="1575" dirty="0"/>
          </a:p>
        </p:txBody>
      </p:sp>
      <p:sp>
        <p:nvSpPr>
          <p:cNvPr id="48" name="Text 46"/>
          <p:cNvSpPr/>
          <p:nvPr/>
        </p:nvSpPr>
        <p:spPr>
          <a:xfrm>
            <a:off x="10600134" y="3573780"/>
            <a:ext cx="556379" cy="304800"/>
          </a:xfrm>
          <a:prstGeom prst="rect">
            <a:avLst/>
          </a:prstGeom>
          <a:noFill/>
          <a:ln/>
        </p:spPr>
        <p:txBody>
          <a:bodyPr wrap="squar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80</a:t>
            </a:r>
            <a:endParaRPr lang="en-US" sz="1575" dirty="0"/>
          </a:p>
        </p:txBody>
      </p:sp>
      <p:sp>
        <p:nvSpPr>
          <p:cNvPr id="49" name="Text 47"/>
          <p:cNvSpPr/>
          <p:nvPr/>
        </p:nvSpPr>
        <p:spPr>
          <a:xfrm>
            <a:off x="11251763" y="3558540"/>
            <a:ext cx="5561195" cy="327660"/>
          </a:xfrm>
          <a:prstGeom prst="rect">
            <a:avLst/>
          </a:prstGeom>
          <a:noFill/>
          <a:ln/>
        </p:spPr>
        <p:txBody>
          <a:bodyPr wrap="square" lIns="25400" tIns="25400" rIns="25400" bIns="25400" rtlCol="0" anchor="t">
            <a:normAutofit/>
          </a:bodyPr>
          <a:lstStyle/>
          <a:p>
            <a:pPr algn="l" indent="0" marL="0">
              <a:buNone/>
            </a:pPr>
            <a:r>
              <a:rPr lang="en-US" sz="1575" dirty="0">
                <a:solidFill>
                  <a:srgbClr val="4A5058"/>
                </a:solidFill>
                <a:latin typeface="Arial" pitchFamily="34" charset="0"/>
                <a:ea typeface="Arial" pitchFamily="34" charset="-122"/>
                <a:cs typeface="Arial" pitchFamily="34" charset="-120"/>
              </a:rPr>
              <a:t>Caddy — ACME 챌린지</a:t>
            </a:r>
            <a:endParaRPr lang="en-US" sz="1575" dirty="0"/>
          </a:p>
        </p:txBody>
      </p:sp>
      <p:sp>
        <p:nvSpPr>
          <p:cNvPr id="50" name="Text 48"/>
          <p:cNvSpPr/>
          <p:nvPr/>
        </p:nvSpPr>
        <p:spPr>
          <a:xfrm>
            <a:off x="16478845" y="3558540"/>
            <a:ext cx="867966" cy="327660"/>
          </a:xfrm>
          <a:prstGeom prst="rect">
            <a:avLst/>
          </a:prstGeom>
          <a:noFill/>
          <a:ln/>
        </p:spPr>
        <p:txBody>
          <a:bodyPr wrap="none" lIns="25400" tIns="25400" rIns="25400" bIns="25400" rtlCol="0" anchor="t">
            <a:normAutofit/>
          </a:bodyPr>
          <a:lstStyle/>
          <a:p>
            <a:pPr algn="l" indent="0" marL="0">
              <a:buNone/>
            </a:pPr>
            <a:r>
              <a:rPr lang="en-US" sz="1575" dirty="0">
                <a:solidFill>
                  <a:srgbClr val="C2410C"/>
                </a:solidFill>
                <a:latin typeface="Arial" pitchFamily="34" charset="0"/>
                <a:ea typeface="Arial" pitchFamily="34" charset="-122"/>
                <a:cs typeface="Arial" pitchFamily="34" charset="-120"/>
              </a:rPr>
              <a:t>공개</a:t>
            </a:r>
            <a:endParaRPr lang="en-US" sz="1575" dirty="0"/>
          </a:p>
        </p:txBody>
      </p:sp>
      <p:sp>
        <p:nvSpPr>
          <p:cNvPr id="51" name="Text 49"/>
          <p:cNvSpPr/>
          <p:nvPr/>
        </p:nvSpPr>
        <p:spPr>
          <a:xfrm>
            <a:off x="10600134" y="3958590"/>
            <a:ext cx="556379" cy="304800"/>
          </a:xfrm>
          <a:prstGeom prst="rect">
            <a:avLst/>
          </a:prstGeom>
          <a:noFill/>
          <a:ln/>
        </p:spPr>
        <p:txBody>
          <a:bodyPr wrap="squar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443</a:t>
            </a:r>
            <a:endParaRPr lang="en-US" sz="1575" dirty="0"/>
          </a:p>
        </p:txBody>
      </p:sp>
      <p:sp>
        <p:nvSpPr>
          <p:cNvPr id="52" name="Text 50"/>
          <p:cNvSpPr/>
          <p:nvPr/>
        </p:nvSpPr>
        <p:spPr>
          <a:xfrm>
            <a:off x="11251763" y="3989070"/>
            <a:ext cx="5561195" cy="274320"/>
          </a:xfrm>
          <a:prstGeom prst="rect">
            <a:avLst/>
          </a:prstGeom>
          <a:noFill/>
          <a:ln/>
        </p:spPr>
        <p:txBody>
          <a:bodyPr wrap="square" lIns="25400" tIns="25400" rIns="25400" bIns="25400" rtlCol="0" anchor="t">
            <a:normAutofit/>
          </a:bodyPr>
          <a:lstStyle/>
          <a:p>
            <a:pPr algn="l" indent="0" marL="0">
              <a:buNone/>
            </a:pPr>
            <a:r>
              <a:rPr lang="en-US" sz="1575" dirty="0">
                <a:solidFill>
                  <a:srgbClr val="4A5058"/>
                </a:solidFill>
                <a:latin typeface="Arial" pitchFamily="34" charset="0"/>
                <a:ea typeface="Arial" pitchFamily="34" charset="-122"/>
                <a:cs typeface="Arial" pitchFamily="34" charset="-120"/>
              </a:rPr>
              <a:t>Caddy — HTTPS</a:t>
            </a:r>
            <a:endParaRPr lang="en-US" sz="1575" dirty="0"/>
          </a:p>
        </p:txBody>
      </p:sp>
      <p:sp>
        <p:nvSpPr>
          <p:cNvPr id="53" name="Text 51"/>
          <p:cNvSpPr/>
          <p:nvPr/>
        </p:nvSpPr>
        <p:spPr>
          <a:xfrm>
            <a:off x="16478845" y="3943350"/>
            <a:ext cx="867966" cy="327660"/>
          </a:xfrm>
          <a:prstGeom prst="rect">
            <a:avLst/>
          </a:prstGeom>
          <a:noFill/>
          <a:ln/>
        </p:spPr>
        <p:txBody>
          <a:bodyPr wrap="none" lIns="25400" tIns="25400" rIns="25400" bIns="25400" rtlCol="0" anchor="t">
            <a:normAutofit/>
          </a:bodyPr>
          <a:lstStyle/>
          <a:p>
            <a:pPr algn="l" indent="0" marL="0">
              <a:buNone/>
            </a:pPr>
            <a:r>
              <a:rPr lang="en-US" sz="1575" dirty="0">
                <a:solidFill>
                  <a:srgbClr val="C2410C"/>
                </a:solidFill>
                <a:latin typeface="Arial" pitchFamily="34" charset="0"/>
                <a:ea typeface="Arial" pitchFamily="34" charset="-122"/>
                <a:cs typeface="Arial" pitchFamily="34" charset="-120"/>
              </a:rPr>
              <a:t>공개</a:t>
            </a:r>
            <a:endParaRPr lang="en-US" sz="1575" dirty="0"/>
          </a:p>
        </p:txBody>
      </p:sp>
      <p:sp>
        <p:nvSpPr>
          <p:cNvPr id="54" name="Text 52"/>
          <p:cNvSpPr/>
          <p:nvPr/>
        </p:nvSpPr>
        <p:spPr>
          <a:xfrm>
            <a:off x="10600134" y="4343400"/>
            <a:ext cx="556379" cy="304800"/>
          </a:xfrm>
          <a:prstGeom prst="rect">
            <a:avLst/>
          </a:prstGeom>
          <a:noFill/>
          <a:ln/>
        </p:spPr>
        <p:txBody>
          <a:bodyPr wrap="squar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8080</a:t>
            </a:r>
            <a:endParaRPr lang="en-US" sz="1575" dirty="0"/>
          </a:p>
        </p:txBody>
      </p:sp>
      <p:sp>
        <p:nvSpPr>
          <p:cNvPr id="55" name="Text 53"/>
          <p:cNvSpPr/>
          <p:nvPr/>
        </p:nvSpPr>
        <p:spPr>
          <a:xfrm>
            <a:off x="11251763" y="4373880"/>
            <a:ext cx="5561195" cy="274320"/>
          </a:xfrm>
          <a:prstGeom prst="rect">
            <a:avLst/>
          </a:prstGeom>
          <a:noFill/>
          <a:ln/>
        </p:spPr>
        <p:txBody>
          <a:bodyPr wrap="square" lIns="25400" tIns="25400" rIns="25400" bIns="25400" rtlCol="0" anchor="t">
            <a:normAutofit/>
          </a:bodyPr>
          <a:lstStyle/>
          <a:p>
            <a:pPr algn="l" indent="0" marL="0">
              <a:buNone/>
            </a:pPr>
            <a:r>
              <a:rPr lang="en-US" sz="1575" dirty="0">
                <a:solidFill>
                  <a:srgbClr val="4A5058"/>
                </a:solidFill>
                <a:latin typeface="Arial" pitchFamily="34" charset="0"/>
                <a:ea typeface="Arial" pitchFamily="34" charset="-122"/>
                <a:cs typeface="Arial" pitchFamily="34" charset="-120"/>
              </a:rPr>
              <a:t>maas-api (uvicorn)</a:t>
            </a:r>
            <a:endParaRPr lang="en-US" sz="1575" dirty="0"/>
          </a:p>
        </p:txBody>
      </p:sp>
      <p:sp>
        <p:nvSpPr>
          <p:cNvPr id="56" name="Text 54"/>
          <p:cNvSpPr/>
          <p:nvPr/>
        </p:nvSpPr>
        <p:spPr>
          <a:xfrm>
            <a:off x="16478845" y="4328160"/>
            <a:ext cx="867966" cy="327660"/>
          </a:xfrm>
          <a:prstGeom prst="rect">
            <a:avLst/>
          </a:prstGeom>
          <a:noFill/>
          <a:ln/>
        </p:spPr>
        <p:txBody>
          <a:bodyPr wrap="none" lIns="25400" tIns="25400" rIns="25400" bIns="25400" rtlCol="0" anchor="t">
            <a:normAutofit/>
          </a:bodyPr>
          <a:lstStyle/>
          <a:p>
            <a:pPr algn="l" indent="0" marL="0">
              <a:buNone/>
            </a:pPr>
            <a:r>
              <a:rPr lang="en-US" sz="1575" dirty="0">
                <a:solidFill>
                  <a:srgbClr val="00845C"/>
                </a:solidFill>
                <a:latin typeface="Arial" pitchFamily="34" charset="0"/>
                <a:ea typeface="Arial" pitchFamily="34" charset="-122"/>
                <a:cs typeface="Arial" pitchFamily="34" charset="-120"/>
              </a:rPr>
              <a:t>비공개</a:t>
            </a:r>
            <a:endParaRPr lang="en-US" sz="1575" dirty="0"/>
          </a:p>
        </p:txBody>
      </p:sp>
      <p:sp>
        <p:nvSpPr>
          <p:cNvPr id="57" name="Text 55"/>
          <p:cNvSpPr/>
          <p:nvPr/>
        </p:nvSpPr>
        <p:spPr>
          <a:xfrm>
            <a:off x="10600134" y="4728210"/>
            <a:ext cx="556379" cy="304800"/>
          </a:xfrm>
          <a:prstGeom prst="rect">
            <a:avLst/>
          </a:prstGeom>
          <a:noFill/>
          <a:ln/>
        </p:spPr>
        <p:txBody>
          <a:bodyPr wrap="squar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7860</a:t>
            </a:r>
            <a:endParaRPr lang="en-US" sz="1575" dirty="0"/>
          </a:p>
        </p:txBody>
      </p:sp>
      <p:sp>
        <p:nvSpPr>
          <p:cNvPr id="58" name="Text 56"/>
          <p:cNvSpPr/>
          <p:nvPr/>
        </p:nvSpPr>
        <p:spPr>
          <a:xfrm>
            <a:off x="11251763" y="4758690"/>
            <a:ext cx="5561195" cy="274320"/>
          </a:xfrm>
          <a:prstGeom prst="rect">
            <a:avLst/>
          </a:prstGeom>
          <a:noFill/>
          <a:ln/>
        </p:spPr>
        <p:txBody>
          <a:bodyPr wrap="square" lIns="25400" tIns="25400" rIns="25400" bIns="25400" rtlCol="0" anchor="t">
            <a:normAutofit/>
          </a:bodyPr>
          <a:lstStyle/>
          <a:p>
            <a:pPr algn="l" indent="0" marL="0">
              <a:buNone/>
            </a:pPr>
            <a:r>
              <a:rPr lang="en-US" sz="1575" dirty="0">
                <a:solidFill>
                  <a:srgbClr val="4A5058"/>
                </a:solidFill>
                <a:latin typeface="Arial" pitchFamily="34" charset="0"/>
                <a:ea typeface="Arial" pitchFamily="34" charset="-122"/>
                <a:cs typeface="Arial" pitchFamily="34" charset="-120"/>
              </a:rPr>
              <a:t>maas-ui (uvicorn)</a:t>
            </a:r>
            <a:endParaRPr lang="en-US" sz="1575" dirty="0"/>
          </a:p>
        </p:txBody>
      </p:sp>
      <p:sp>
        <p:nvSpPr>
          <p:cNvPr id="59" name="Text 57"/>
          <p:cNvSpPr/>
          <p:nvPr/>
        </p:nvSpPr>
        <p:spPr>
          <a:xfrm>
            <a:off x="16478845" y="4712970"/>
            <a:ext cx="867966" cy="327660"/>
          </a:xfrm>
          <a:prstGeom prst="rect">
            <a:avLst/>
          </a:prstGeom>
          <a:noFill/>
          <a:ln/>
        </p:spPr>
        <p:txBody>
          <a:bodyPr wrap="none" lIns="25400" tIns="25400" rIns="25400" bIns="25400" rtlCol="0" anchor="t">
            <a:normAutofit/>
          </a:bodyPr>
          <a:lstStyle/>
          <a:p>
            <a:pPr algn="l" indent="0" marL="0">
              <a:buNone/>
            </a:pPr>
            <a:r>
              <a:rPr lang="en-US" sz="1575" dirty="0">
                <a:solidFill>
                  <a:srgbClr val="00845C"/>
                </a:solidFill>
                <a:latin typeface="Arial" pitchFamily="34" charset="0"/>
                <a:ea typeface="Arial" pitchFamily="34" charset="-122"/>
                <a:cs typeface="Arial" pitchFamily="34" charset="-120"/>
              </a:rPr>
              <a:t>비공개</a:t>
            </a:r>
            <a:endParaRPr lang="en-US" sz="1575" dirty="0"/>
          </a:p>
        </p:txBody>
      </p:sp>
      <p:sp>
        <p:nvSpPr>
          <p:cNvPr id="60" name="Text 58"/>
          <p:cNvSpPr/>
          <p:nvPr/>
        </p:nvSpPr>
        <p:spPr>
          <a:xfrm>
            <a:off x="10600134" y="5113020"/>
            <a:ext cx="556379" cy="304800"/>
          </a:xfrm>
          <a:prstGeom prst="rect">
            <a:avLst/>
          </a:prstGeom>
          <a:noFill/>
          <a:ln/>
        </p:spPr>
        <p:txBody>
          <a:bodyPr wrap="squar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8000</a:t>
            </a:r>
            <a:endParaRPr lang="en-US" sz="1575" dirty="0"/>
          </a:p>
        </p:txBody>
      </p:sp>
      <p:sp>
        <p:nvSpPr>
          <p:cNvPr id="61" name="Text 59"/>
          <p:cNvSpPr/>
          <p:nvPr/>
        </p:nvSpPr>
        <p:spPr>
          <a:xfrm>
            <a:off x="11251763" y="5143500"/>
            <a:ext cx="5561195" cy="274320"/>
          </a:xfrm>
          <a:prstGeom prst="rect">
            <a:avLst/>
          </a:prstGeom>
          <a:noFill/>
          <a:ln/>
        </p:spPr>
        <p:txBody>
          <a:bodyPr wrap="square" lIns="25400" tIns="25400" rIns="25400" bIns="25400" rtlCol="0" anchor="t">
            <a:normAutofit/>
          </a:bodyPr>
          <a:lstStyle/>
          <a:p>
            <a:pPr algn="l" indent="0" marL="0">
              <a:buNone/>
            </a:pPr>
            <a:r>
              <a:rPr lang="en-US" sz="1575" dirty="0">
                <a:solidFill>
                  <a:srgbClr val="4A5058"/>
                </a:solidFill>
                <a:latin typeface="Arial" pitchFamily="34" charset="0"/>
                <a:ea typeface="Arial" pitchFamily="34" charset="-122"/>
                <a:cs typeface="Arial" pitchFamily="34" charset="-120"/>
              </a:rPr>
              <a:t>vLLM (Docker)</a:t>
            </a:r>
            <a:endParaRPr lang="en-US" sz="1575" dirty="0"/>
          </a:p>
        </p:txBody>
      </p:sp>
      <p:sp>
        <p:nvSpPr>
          <p:cNvPr id="62" name="Text 60"/>
          <p:cNvSpPr/>
          <p:nvPr/>
        </p:nvSpPr>
        <p:spPr>
          <a:xfrm>
            <a:off x="16478845" y="5097780"/>
            <a:ext cx="867966" cy="327660"/>
          </a:xfrm>
          <a:prstGeom prst="rect">
            <a:avLst/>
          </a:prstGeom>
          <a:noFill/>
          <a:ln/>
        </p:spPr>
        <p:txBody>
          <a:bodyPr wrap="none" lIns="25400" tIns="25400" rIns="25400" bIns="25400" rtlCol="0" anchor="t">
            <a:normAutofit/>
          </a:bodyPr>
          <a:lstStyle/>
          <a:p>
            <a:pPr algn="l" indent="0" marL="0">
              <a:buNone/>
            </a:pPr>
            <a:r>
              <a:rPr lang="en-US" sz="1575" dirty="0">
                <a:solidFill>
                  <a:srgbClr val="00845C"/>
                </a:solidFill>
                <a:latin typeface="Arial" pitchFamily="34" charset="0"/>
                <a:ea typeface="Arial" pitchFamily="34" charset="-122"/>
                <a:cs typeface="Arial" pitchFamily="34" charset="-120"/>
              </a:rPr>
              <a:t>루프백</a:t>
            </a:r>
            <a:endParaRPr lang="en-US" sz="1575" dirty="0"/>
          </a:p>
        </p:txBody>
      </p:sp>
      <p:sp>
        <p:nvSpPr>
          <p:cNvPr id="63" name="Shape 61"/>
          <p:cNvSpPr/>
          <p:nvPr/>
        </p:nvSpPr>
        <p:spPr>
          <a:xfrm>
            <a:off x="10344865" y="5775960"/>
            <a:ext cx="7181017" cy="4383881"/>
          </a:xfrm>
          <a:prstGeom prst="rect">
            <a:avLst/>
          </a:prstGeom>
          <a:solidFill>
            <a:srgbClr val="16181D"/>
          </a:solidFill>
          <a:ln/>
        </p:spPr>
      </p:sp>
      <p:sp>
        <p:nvSpPr>
          <p:cNvPr id="64" name="Text 62"/>
          <p:cNvSpPr/>
          <p:nvPr/>
        </p:nvSpPr>
        <p:spPr>
          <a:xfrm>
            <a:off x="10592515" y="5985510"/>
            <a:ext cx="7354289" cy="289560"/>
          </a:xfrm>
          <a:prstGeom prst="rect">
            <a:avLst/>
          </a:prstGeom>
          <a:noFill/>
          <a:ln/>
        </p:spPr>
        <p:txBody>
          <a:bodyPr wrap="square" lIns="25400" tIns="25400" rIns="25400" bIns="25400" rtlCol="0" anchor="t">
            <a:normAutofit/>
          </a:bodyPr>
          <a:lstStyle/>
          <a:p>
            <a:pPr algn="l" indent="0" marL="0">
              <a:buNone/>
            </a:pPr>
            <a:r>
              <a:rPr lang="en-US" sz="1500" dirty="0">
                <a:solidFill>
                  <a:srgbClr val="9DB4FF"/>
                </a:solidFill>
                <a:latin typeface="Roboto Mono" pitchFamily="34" charset="0"/>
                <a:ea typeface="Roboto Mono" pitchFamily="34" charset="-122"/>
                <a:cs typeface="Roboto Mono" pitchFamily="34" charset="-120"/>
              </a:rPr>
              <a:t>원격 접속 — SSH 를 열지 않는다</a:t>
            </a:r>
            <a:endParaRPr lang="en-US" sz="1500" dirty="0"/>
          </a:p>
        </p:txBody>
      </p:sp>
      <p:sp>
        <p:nvSpPr>
          <p:cNvPr id="65" name="Text 63"/>
          <p:cNvSpPr/>
          <p:nvPr/>
        </p:nvSpPr>
        <p:spPr>
          <a:xfrm>
            <a:off x="10592515" y="6351270"/>
            <a:ext cx="6886288" cy="695325"/>
          </a:xfrm>
          <a:prstGeom prst="rect">
            <a:avLst/>
          </a:prstGeom>
          <a:noFill/>
          <a:ln/>
        </p:spPr>
        <p:txBody>
          <a:bodyPr wrap="square" lIns="25400" tIns="25400" rIns="25400" bIns="25400" rtlCol="0" anchor="t">
            <a:normAutofit/>
          </a:bodyPr>
          <a:lstStyle/>
          <a:p>
            <a:pPr algn="l" indent="0" marL="0">
              <a:lnSpc>
                <a:spcPct val="130682"/>
              </a:lnSpc>
              <a:buNone/>
            </a:pPr>
            <a:r>
              <a:rPr lang="en-US" sz="1725" dirty="0">
                <a:solidFill>
                  <a:srgbClr val="C9CDD3"/>
                </a:solidFill>
                <a:latin typeface="Arial" pitchFamily="34" charset="0"/>
                <a:ea typeface="Arial" pitchFamily="34" charset="-122"/>
                <a:cs typeface="Arial" pitchFamily="34" charset="-120"/>
              </a:rPr>
              <a:t>SSM Session Manager 로만 접속하고, 평가할 때는 </a:t>
            </a:r>
            <a:pPr algn="l" indent="0" marL="0">
              <a:lnSpc>
                <a:spcPct val="130682"/>
              </a:lnSpc>
              <a:buNone/>
            </a:pPr>
            <a:r>
              <a:rPr lang="en-US" sz="1725" b="1" dirty="0">
                <a:solidFill>
                  <a:srgbClr val="FFFFFF"/>
                </a:solidFill>
                <a:latin typeface="Arial" pitchFamily="34" charset="0"/>
                <a:ea typeface="Arial" pitchFamily="34" charset="-122"/>
                <a:cs typeface="Arial" pitchFamily="34" charset="-120"/>
              </a:rPr>
              <a:t>포트 포워딩으로 vLLM 8000 을 로컬에 연결 </a:t>
            </a:r>
            <a:pPr algn="l" indent="0" marL="0">
              <a:lnSpc>
                <a:spcPct val="130682"/>
              </a:lnSpc>
              <a:buNone/>
            </a:pPr>
            <a:r>
              <a:rPr lang="en-US" sz="1725" dirty="0">
                <a:solidFill>
                  <a:srgbClr val="C9CDD3"/>
                </a:solidFill>
                <a:latin typeface="Arial" pitchFamily="34" charset="0"/>
                <a:ea typeface="Arial" pitchFamily="34" charset="-122"/>
                <a:cs typeface="Arial" pitchFamily="34" charset="-120"/>
              </a:rPr>
              <a:t>한다.</a:t>
            </a:r>
            <a:endParaRPr lang="en-US" sz="1725" dirty="0"/>
          </a:p>
        </p:txBody>
      </p:sp>
      <p:sp>
        <p:nvSpPr>
          <p:cNvPr id="66" name="Shape 64"/>
          <p:cNvSpPr/>
          <p:nvPr/>
        </p:nvSpPr>
        <p:spPr>
          <a:xfrm>
            <a:off x="10592515" y="7122795"/>
            <a:ext cx="6685717" cy="1813084"/>
          </a:xfrm>
          <a:prstGeom prst="rect">
            <a:avLst/>
          </a:prstGeom>
          <a:solidFill>
            <a:srgbClr val="0E1013"/>
          </a:solidFill>
          <a:ln w="7620">
            <a:solidFill>
              <a:srgbClr val="2C313A"/>
            </a:solidFill>
            <a:prstDash val="solid"/>
          </a:ln>
        </p:spPr>
      </p:sp>
      <p:sp>
        <p:nvSpPr>
          <p:cNvPr id="67" name="Text 65"/>
          <p:cNvSpPr/>
          <p:nvPr/>
        </p:nvSpPr>
        <p:spPr>
          <a:xfrm>
            <a:off x="10771585" y="7282815"/>
            <a:ext cx="6528148" cy="1531144"/>
          </a:xfrm>
          <a:prstGeom prst="rect">
            <a:avLst/>
          </a:prstGeom>
          <a:noFill/>
          <a:ln/>
        </p:spPr>
        <p:txBody>
          <a:bodyPr wrap="square" lIns="25400" tIns="25400" rIns="25400" bIns="25400" rtlCol="0" anchor="t">
            <a:normAutofit/>
          </a:bodyPr>
          <a:lstStyle/>
          <a:p>
            <a:pPr algn="l" indent="0" marL="0">
              <a:lnSpc>
                <a:spcPct val="126411"/>
              </a:lnSpc>
              <a:buNone/>
            </a:pPr>
            <a:r>
              <a:rPr lang="en-US" sz="1425" dirty="0">
                <a:solidFill>
                  <a:srgbClr val="E6E8EA"/>
                </a:solidFill>
                <a:latin typeface="Roboto Mono" pitchFamily="34" charset="0"/>
                <a:ea typeface="Roboto Mono" pitchFamily="34" charset="-122"/>
                <a:cs typeface="Roboto Mono" pitchFamily="34" charset="-120"/>
              </a:rPr>
              <a:t>aws ssm start-session \</a:t>
            </a:r>
            <a:endParaRPr lang="en-US" sz="1425" dirty="0"/>
          </a:p>
          <a:p>
            <a:pPr algn="l" indent="0" marL="0">
              <a:lnSpc>
                <a:spcPct val="126411"/>
              </a:lnSpc>
              <a:buNone/>
            </a:pPr>
            <a:r>
              <a:rPr lang="en-US" sz="1425" dirty="0">
                <a:solidFill>
                  <a:srgbClr val="E6E8EA"/>
                </a:solidFill>
                <a:latin typeface="Roboto Mono" pitchFamily="34" charset="0"/>
                <a:ea typeface="Roboto Mono" pitchFamily="34" charset="-122"/>
                <a:cs typeface="Roboto Mono" pitchFamily="34" charset="-120"/>
              </a:rPr>
              <a:t>  --target i-008500ef9e7c53aec \</a:t>
            </a:r>
            <a:endParaRPr lang="en-US" sz="1425" dirty="0"/>
          </a:p>
          <a:p>
            <a:pPr algn="l" indent="0" marL="0">
              <a:lnSpc>
                <a:spcPct val="126411"/>
              </a:lnSpc>
              <a:buNone/>
            </a:pPr>
            <a:r>
              <a:rPr lang="en-US" sz="1425" dirty="0">
                <a:solidFill>
                  <a:srgbClr val="E6E8EA"/>
                </a:solidFill>
                <a:latin typeface="Roboto Mono" pitchFamily="34" charset="0"/>
                <a:ea typeface="Roboto Mono" pitchFamily="34" charset="-122"/>
                <a:cs typeface="Roboto Mono" pitchFamily="34" charset="-120"/>
              </a:rPr>
              <a:t>  --document-name AWS-StartPortForwardingSession \</a:t>
            </a:r>
            <a:endParaRPr lang="en-US" sz="1425" dirty="0"/>
          </a:p>
          <a:p>
            <a:pPr algn="l" indent="0" marL="0">
              <a:lnSpc>
                <a:spcPct val="126411"/>
              </a:lnSpc>
              <a:buNone/>
            </a:pPr>
            <a:r>
              <a:rPr lang="en-US" sz="1425" dirty="0">
                <a:solidFill>
                  <a:srgbClr val="E6E8EA"/>
                </a:solidFill>
                <a:latin typeface="Roboto Mono" pitchFamily="34" charset="0"/>
                <a:ea typeface="Roboto Mono" pitchFamily="34" charset="-122"/>
                <a:cs typeface="Roboto Mono" pitchFamily="34" charset="-120"/>
              </a:rPr>
              <a:t>  --parameters '{"portNumber":["8000"],</a:t>
            </a:r>
            <a:endParaRPr lang="en-US" sz="1425" dirty="0"/>
          </a:p>
          <a:p>
            <a:pPr algn="l" indent="0" marL="0">
              <a:lnSpc>
                <a:spcPct val="126411"/>
              </a:lnSpc>
              <a:buNone/>
            </a:pPr>
            <a:r>
              <a:rPr lang="en-US" sz="1425" dirty="0">
                <a:solidFill>
                  <a:srgbClr val="E6E8EA"/>
                </a:solidFill>
                <a:latin typeface="Roboto Mono" pitchFamily="34" charset="0"/>
                <a:ea typeface="Roboto Mono" pitchFamily="34" charset="-122"/>
                <a:cs typeface="Roboto Mono" pitchFamily="34" charset="-120"/>
              </a:rPr>
              <a:t>    "localPortNumber":["8000"]}'</a:t>
            </a:r>
            <a:endParaRPr lang="en-US" sz="1425" dirty="0"/>
          </a:p>
        </p:txBody>
      </p:sp>
      <p:sp>
        <p:nvSpPr>
          <p:cNvPr id="68" name="Text 66"/>
          <p:cNvSpPr/>
          <p:nvPr/>
        </p:nvSpPr>
        <p:spPr>
          <a:xfrm>
            <a:off x="10592515" y="9050179"/>
            <a:ext cx="6886288" cy="938213"/>
          </a:xfrm>
          <a:prstGeom prst="rect">
            <a:avLst/>
          </a:prstGeom>
          <a:noFill/>
          <a:ln/>
        </p:spPr>
        <p:txBody>
          <a:bodyPr wrap="square" lIns="25400" tIns="25400" rIns="25400" bIns="25400" rtlCol="0" anchor="t">
            <a:normAutofit/>
          </a:bodyPr>
          <a:lstStyle/>
          <a:p>
            <a:pPr algn="l" indent="0" marL="0">
              <a:lnSpc>
                <a:spcPct val="127016"/>
              </a:lnSpc>
              <a:buNone/>
            </a:pPr>
            <a:r>
              <a:rPr lang="en-US" sz="1575" b="1" dirty="0">
                <a:solidFill>
                  <a:srgbClr val="F87171"/>
                </a:solidFill>
                <a:latin typeface="Arial" pitchFamily="34" charset="0"/>
                <a:ea typeface="Arial" pitchFamily="34" charset="-122"/>
                <a:cs typeface="Arial" pitchFamily="34" charset="-120"/>
              </a:rPr>
              <a:t>WSL 안에서 실행해야 한다. </a:t>
            </a:r>
            <a:pPr algn="l" indent="0" marL="0">
              <a:lnSpc>
                <a:spcPct val="127016"/>
              </a:lnSpc>
              <a:buNone/>
            </a:pPr>
            <a:r>
              <a:rPr lang="en-US" sz="1575" dirty="0">
                <a:solidFill>
                  <a:srgbClr val="F87171"/>
                </a:solidFill>
                <a:latin typeface="Arial" pitchFamily="34" charset="0"/>
                <a:ea typeface="Arial" pitchFamily="34" charset="-122"/>
                <a:cs typeface="Arial" pitchFamily="34" charset="-120"/>
              </a:rPr>
              <a:t>윈도우에서 열면 윈도우의 127.0.0.1 에만 바인딩되고, WSL2 는 별도 VM 이라 그 루프백에 닿지 못한다 — "터널은 열렸는데 연결이 거부된다"로 한참 헤맸다.</a:t>
            </a:r>
            <a:endParaRPr lang="en-US" sz="1575" dirty="0"/>
          </a:p>
        </p:txBody>
      </p:sp>
      <p:sp>
        <p:nvSpPr>
          <p:cNvPr id="69" name="Shape 67"/>
          <p:cNvSpPr/>
          <p:nvPr/>
        </p:nvSpPr>
        <p:spPr>
          <a:xfrm>
            <a:off x="10344865" y="10331291"/>
            <a:ext cx="7181017" cy="1681163"/>
          </a:xfrm>
          <a:prstGeom prst="rect">
            <a:avLst/>
          </a:prstGeom>
          <a:solidFill>
            <a:srgbClr val="FFF7ED"/>
          </a:solidFill>
          <a:ln w="7620">
            <a:solidFill>
              <a:srgbClr val="FED7AA"/>
            </a:solidFill>
            <a:prstDash val="solid"/>
          </a:ln>
        </p:spPr>
      </p:sp>
      <p:sp>
        <p:nvSpPr>
          <p:cNvPr id="70" name="Text 68"/>
          <p:cNvSpPr/>
          <p:nvPr/>
        </p:nvSpPr>
        <p:spPr>
          <a:xfrm>
            <a:off x="10600134" y="10548462"/>
            <a:ext cx="7337524" cy="289560"/>
          </a:xfrm>
          <a:prstGeom prst="rect">
            <a:avLst/>
          </a:prstGeom>
          <a:noFill/>
          <a:ln/>
        </p:spPr>
        <p:txBody>
          <a:bodyPr wrap="square" lIns="25400" tIns="25400" rIns="25400" bIns="25400" rtlCol="0" anchor="t">
            <a:normAutofit/>
          </a:bodyPr>
          <a:lstStyle/>
          <a:p>
            <a:pPr algn="l" indent="0" marL="0">
              <a:buNone/>
            </a:pPr>
            <a:r>
              <a:rPr lang="en-US" sz="1500" dirty="0">
                <a:solidFill>
                  <a:srgbClr val="C2410C"/>
                </a:solidFill>
                <a:latin typeface="Roboto Mono" pitchFamily="34" charset="0"/>
                <a:ea typeface="Roboto Mono" pitchFamily="34" charset="-122"/>
                <a:cs typeface="Roboto Mono" pitchFamily="34" charset="-120"/>
              </a:rPr>
              <a:t>남은 정리 대상</a:t>
            </a:r>
            <a:endParaRPr lang="en-US" sz="1500" dirty="0"/>
          </a:p>
        </p:txBody>
      </p:sp>
      <p:sp>
        <p:nvSpPr>
          <p:cNvPr id="71" name="Text 69"/>
          <p:cNvSpPr/>
          <p:nvPr/>
        </p:nvSpPr>
        <p:spPr>
          <a:xfrm>
            <a:off x="10600134" y="10895171"/>
            <a:ext cx="6870591" cy="938213"/>
          </a:xfrm>
          <a:prstGeom prst="rect">
            <a:avLst/>
          </a:prstGeom>
          <a:noFill/>
          <a:ln/>
        </p:spPr>
        <p:txBody>
          <a:bodyPr wrap="square" lIns="25400" tIns="25400" rIns="25400" bIns="25400" rtlCol="0" anchor="t">
            <a:normAutofit/>
          </a:bodyPr>
          <a:lstStyle/>
          <a:p>
            <a:pPr algn="l" indent="0" marL="0">
              <a:lnSpc>
                <a:spcPct val="127016"/>
              </a:lnSpc>
              <a:buNone/>
            </a:pPr>
            <a:r>
              <a:rPr lang="en-US" sz="1575" dirty="0">
                <a:solidFill>
                  <a:srgbClr val="7C2D12"/>
                </a:solidFill>
                <a:latin typeface="Arial" pitchFamily="34" charset="0"/>
                <a:ea typeface="Arial" pitchFamily="34" charset="-122"/>
                <a:cs typeface="Arial" pitchFamily="34" charset="-120"/>
              </a:rPr>
              <a:t>보안그룹에 </a:t>
            </a:r>
            <a:pPr algn="l" indent="0" marL="0">
              <a:lnSpc>
                <a:spcPct val="127016"/>
              </a:lnSpc>
              <a:buNone/>
            </a:pPr>
            <a:r>
              <a:rPr lang="en-US" sz="1425" dirty="0">
                <a:solidFill>
                  <a:srgbClr val="7C2D12"/>
                </a:solidFill>
                <a:latin typeface="Roboto Mono" pitchFamily="34" charset="0"/>
                <a:ea typeface="Roboto Mono" pitchFamily="34" charset="-122"/>
                <a:cs typeface="Roboto Mono" pitchFamily="34" charset="-120"/>
              </a:rPr>
              <a:t>3000/tcp</a:t>
            </a:r>
            <a:pPr algn="l" indent="0" marL="0">
              <a:lnSpc>
                <a:spcPct val="127016"/>
              </a:lnSpc>
              <a:buNone/>
            </a:pPr>
            <a:r>
              <a:rPr lang="en-US" sz="1575" dirty="0">
                <a:solidFill>
                  <a:srgbClr val="7C2D12"/>
                </a:solidFill>
                <a:latin typeface="Arial" pitchFamily="34" charset="0"/>
                <a:ea typeface="Arial" pitchFamily="34" charset="-122"/>
                <a:cs typeface="Arial" pitchFamily="34" charset="-120"/>
              </a:rPr>
              <a:t>·</a:t>
            </a:r>
            <a:pPr algn="l" indent="0" marL="0">
              <a:lnSpc>
                <a:spcPct val="127016"/>
              </a:lnSpc>
              <a:buNone/>
            </a:pPr>
            <a:r>
              <a:rPr lang="en-US" sz="1425" dirty="0">
                <a:solidFill>
                  <a:srgbClr val="7C2D12"/>
                </a:solidFill>
                <a:latin typeface="Roboto Mono" pitchFamily="34" charset="0"/>
                <a:ea typeface="Roboto Mono" pitchFamily="34" charset="-122"/>
                <a:cs typeface="Roboto Mono" pitchFamily="34" charset="-120"/>
              </a:rPr>
              <a:t>7000/tcp </a:t>
            </a:r>
            <a:pPr algn="l" indent="0" marL="0">
              <a:lnSpc>
                <a:spcPct val="127016"/>
              </a:lnSpc>
              <a:buNone/>
            </a:pPr>
            <a:r>
              <a:rPr lang="en-US" sz="1575" dirty="0">
                <a:solidFill>
                  <a:srgbClr val="7C2D12"/>
                </a:solidFill>
                <a:latin typeface="Arial" pitchFamily="34" charset="0"/>
                <a:ea typeface="Arial" pitchFamily="34" charset="-122"/>
                <a:cs typeface="Arial" pitchFamily="34" charset="-120"/>
              </a:rPr>
              <a:t>가 </a:t>
            </a:r>
            <a:pPr algn="l" indent="0" marL="0">
              <a:lnSpc>
                <a:spcPct val="127016"/>
              </a:lnSpc>
              <a:buNone/>
            </a:pPr>
            <a:r>
              <a:rPr lang="en-US" sz="1575" b="1" dirty="0">
                <a:solidFill>
                  <a:srgbClr val="7C2D12"/>
                </a:solidFill>
                <a:latin typeface="Arial" pitchFamily="34" charset="0"/>
                <a:ea typeface="Arial" pitchFamily="34" charset="-122"/>
                <a:cs typeface="Arial" pitchFamily="34" charset="-120"/>
              </a:rPr>
              <a:t>특정 단일 IP 로 제한돼 </a:t>
            </a:r>
            <a:pPr algn="l" indent="0" marL="0">
              <a:lnSpc>
                <a:spcPct val="127016"/>
              </a:lnSpc>
              <a:buNone/>
            </a:pPr>
            <a:r>
              <a:rPr lang="en-US" sz="1575" dirty="0">
                <a:solidFill>
                  <a:srgbClr val="7C2D12"/>
                </a:solidFill>
                <a:latin typeface="Arial" pitchFamily="34" charset="0"/>
                <a:ea typeface="Arial" pitchFamily="34" charset="-122"/>
                <a:cs typeface="Arial" pitchFamily="34" charset="-120"/>
              </a:rPr>
              <a:t>열려 있다(개인 접근용 추정). 실제 리스닝은 3000 뿐이고 7000 은 아무것도 듣지 않는다 — 문서에 출발지 IP 를 적지 않았고, </a:t>
            </a:r>
            <a:pPr algn="l" indent="0" marL="0">
              <a:lnSpc>
                <a:spcPct val="127016"/>
              </a:lnSpc>
              <a:buNone/>
            </a:pPr>
            <a:r>
              <a:rPr lang="en-US" sz="1575" b="1" dirty="0">
                <a:solidFill>
                  <a:srgbClr val="7C2D12"/>
                </a:solidFill>
                <a:latin typeface="Arial" pitchFamily="34" charset="0"/>
                <a:ea typeface="Arial" pitchFamily="34" charset="-122"/>
                <a:cs typeface="Arial" pitchFamily="34" charset="-120"/>
              </a:rPr>
              <a:t>더 이상 필요 없으면 정리 권장</a:t>
            </a:r>
            <a:pPr algn="l" indent="0" marL="0">
              <a:lnSpc>
                <a:spcPct val="127016"/>
              </a:lnSpc>
              <a:buNone/>
            </a:pPr>
            <a:r>
              <a:rPr lang="en-US" sz="1575" dirty="0">
                <a:solidFill>
                  <a:srgbClr val="7C2D12"/>
                </a:solidFill>
                <a:latin typeface="Arial" pitchFamily="34" charset="0"/>
                <a:ea typeface="Arial" pitchFamily="34" charset="-122"/>
                <a:cs typeface="Arial" pitchFamily="34" charset="-120"/>
              </a:rPr>
              <a:t>.</a:t>
            </a:r>
            <a:endParaRPr lang="en-US" sz="15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952500" y="685800"/>
            <a:ext cx="9174754"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27 · INFRASTRUCTURE — 선택 근거</a:t>
            </a:r>
            <a:endParaRPr lang="en-US" sz="1800" dirty="0"/>
          </a:p>
        </p:txBody>
      </p:sp>
      <p:sp>
        <p:nvSpPr>
          <p:cNvPr id="3" name="Text 1"/>
          <p:cNvSpPr/>
          <p:nvPr/>
        </p:nvSpPr>
        <p:spPr>
          <a:xfrm>
            <a:off x="952500" y="1097280"/>
            <a:ext cx="9174754"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이 구성을 고른 이유와 운영 함정</a:t>
            </a:r>
            <a:endParaRPr lang="en-US" sz="4950" dirty="0"/>
          </a:p>
        </p:txBody>
      </p:sp>
      <p:sp>
        <p:nvSpPr>
          <p:cNvPr id="4" name="Text 2"/>
          <p:cNvSpPr/>
          <p:nvPr/>
        </p:nvSpPr>
        <p:spPr>
          <a:xfrm>
            <a:off x="11895439" y="1398270"/>
            <a:ext cx="5440061" cy="666750"/>
          </a:xfrm>
          <a:prstGeom prst="rect">
            <a:avLst/>
          </a:prstGeom>
          <a:noFill/>
          <a:ln/>
        </p:spPr>
        <p:txBody>
          <a:bodyPr wrap="square" lIns="25400" tIns="25400" rIns="25400" bIns="25400" rtlCol="0" anchor="t">
            <a:normAutofit/>
          </a:bodyPr>
          <a:lstStyle/>
          <a:p>
            <a:pPr algn="r" indent="0" marL="0">
              <a:lnSpc>
                <a:spcPct val="114583"/>
              </a:lnSpc>
              <a:buNone/>
            </a:pPr>
            <a:r>
              <a:rPr lang="en-US" sz="1650" dirty="0">
                <a:solidFill>
                  <a:srgbClr val="8A9099"/>
                </a:solidFill>
                <a:latin typeface="Roboto Mono" pitchFamily="34" charset="0"/>
                <a:ea typeface="Roboto Mono" pitchFamily="34" charset="-122"/>
                <a:cs typeface="Roboto Mono" pitchFamily="34" charset="-120"/>
              </a:rPr>
              <a:t>508139322599 (kosa-edu-3) · ap-northeast-2 i-008500ef9e7c53aec · EIP 43.201.216.37</a:t>
            </a:r>
            <a:endParaRPr lang="en-US" sz="1650" dirty="0"/>
          </a:p>
        </p:txBody>
      </p:sp>
      <p:sp>
        <p:nvSpPr>
          <p:cNvPr id="5" name="Shape 3"/>
          <p:cNvSpPr/>
          <p:nvPr/>
        </p:nvSpPr>
        <p:spPr>
          <a:xfrm>
            <a:off x="952500" y="2293620"/>
            <a:ext cx="6764536" cy="647700"/>
          </a:xfrm>
          <a:prstGeom prst="rect">
            <a:avLst/>
          </a:prstGeom>
          <a:solidFill>
            <a:srgbClr val="16181D"/>
          </a:solidFill>
          <a:ln/>
        </p:spPr>
      </p:sp>
      <p:sp>
        <p:nvSpPr>
          <p:cNvPr id="6" name="Text 4"/>
          <p:cNvSpPr/>
          <p:nvPr/>
        </p:nvSpPr>
        <p:spPr>
          <a:xfrm>
            <a:off x="1162050" y="2446020"/>
            <a:ext cx="6548372" cy="381000"/>
          </a:xfrm>
          <a:prstGeom prst="rect">
            <a:avLst/>
          </a:prstGeom>
          <a:noFill/>
          <a:ln/>
        </p:spPr>
        <p:txBody>
          <a:bodyPr wrap="square" lIns="25400" tIns="25400" rIns="25400" bIns="25400" rtlCol="0" anchor="t">
            <a:normAutofit/>
          </a:bodyPr>
          <a:lstStyle/>
          <a:p>
            <a:pPr algn="l" indent="0" marL="0">
              <a:buNone/>
            </a:pPr>
            <a:r>
              <a:rPr lang="en-US" sz="1875" dirty="0">
                <a:solidFill>
                  <a:srgbClr val="FBFBFA"/>
                </a:solidFill>
                <a:latin typeface="Arial" pitchFamily="34" charset="0"/>
                <a:ea typeface="Arial" pitchFamily="34" charset="-122"/>
                <a:cs typeface="Arial" pitchFamily="34" charset="-120"/>
              </a:rPr>
              <a:t>사용자 브라우저 · API 클라이언트</a:t>
            </a:r>
            <a:endParaRPr lang="en-US" sz="1875" dirty="0"/>
          </a:p>
        </p:txBody>
      </p:sp>
      <p:sp>
        <p:nvSpPr>
          <p:cNvPr id="7" name="Shape 5"/>
          <p:cNvSpPr/>
          <p:nvPr/>
        </p:nvSpPr>
        <p:spPr>
          <a:xfrm>
            <a:off x="7812286" y="2293620"/>
            <a:ext cx="1760458" cy="647700"/>
          </a:xfrm>
          <a:prstGeom prst="rect">
            <a:avLst/>
          </a:prstGeom>
          <a:solidFill>
            <a:srgbClr val="16181D"/>
          </a:solidFill>
          <a:ln/>
        </p:spPr>
      </p:sp>
      <p:sp>
        <p:nvSpPr>
          <p:cNvPr id="8" name="Text 6"/>
          <p:cNvSpPr/>
          <p:nvPr/>
        </p:nvSpPr>
        <p:spPr>
          <a:xfrm>
            <a:off x="8021836" y="2446020"/>
            <a:ext cx="1417558" cy="381000"/>
          </a:xfrm>
          <a:prstGeom prst="rect">
            <a:avLst/>
          </a:prstGeom>
          <a:noFill/>
          <a:ln/>
        </p:spPr>
        <p:txBody>
          <a:bodyPr wrap="square" lIns="25400" tIns="25400" rIns="25400" bIns="25400" rtlCol="0" anchor="t">
            <a:normAutofit/>
          </a:bodyPr>
          <a:lstStyle/>
          <a:p>
            <a:pPr algn="l" indent="0" marL="0">
              <a:buNone/>
            </a:pPr>
            <a:r>
              <a:rPr lang="en-US" sz="1650" dirty="0">
                <a:solidFill>
                  <a:srgbClr val="9DB4FF"/>
                </a:solidFill>
                <a:latin typeface="Roboto Mono" pitchFamily="34" charset="0"/>
                <a:ea typeface="Roboto Mono" pitchFamily="34" charset="-122"/>
                <a:cs typeface="Roboto Mono" pitchFamily="34" charset="-120"/>
              </a:rPr>
              <a:t>DuckDNS 2개</a:t>
            </a:r>
            <a:endParaRPr lang="en-US" sz="1650" dirty="0"/>
          </a:p>
        </p:txBody>
      </p:sp>
      <p:sp>
        <p:nvSpPr>
          <p:cNvPr id="9" name="Text 7"/>
          <p:cNvSpPr/>
          <p:nvPr/>
        </p:nvSpPr>
        <p:spPr>
          <a:xfrm>
            <a:off x="521488" y="3036570"/>
            <a:ext cx="9482269" cy="285750"/>
          </a:xfrm>
          <a:prstGeom prst="rect">
            <a:avLst/>
          </a:prstGeom>
          <a:noFill/>
          <a:ln/>
        </p:spPr>
        <p:txBody>
          <a:bodyPr wrap="square" lIns="25400" tIns="25400" rIns="25400" bIns="25400" rtlCol="0" anchor="t">
            <a:normAutofit/>
          </a:bodyPr>
          <a:lstStyle/>
          <a:p>
            <a:pPr algn="ctr" indent="0" marL="0">
              <a:lnSpc>
                <a:spcPct val="87838"/>
              </a:lnSpc>
              <a:buNone/>
            </a:pPr>
            <a:r>
              <a:rPr lang="en-US" sz="1950" dirty="0">
                <a:solidFill>
                  <a:srgbClr val="C2C6CC"/>
                </a:solidFill>
                <a:latin typeface="Arial" pitchFamily="34" charset="0"/>
                <a:ea typeface="Arial" pitchFamily="34" charset="-122"/>
                <a:cs typeface="Arial" pitchFamily="34" charset="-120"/>
              </a:rPr>
              <a:t>↓</a:t>
            </a:r>
            <a:endParaRPr lang="en-US" sz="1950" dirty="0"/>
          </a:p>
        </p:txBody>
      </p:sp>
      <p:sp>
        <p:nvSpPr>
          <p:cNvPr id="10" name="Shape 8"/>
          <p:cNvSpPr/>
          <p:nvPr/>
        </p:nvSpPr>
        <p:spPr>
          <a:xfrm>
            <a:off x="952500" y="3379470"/>
            <a:ext cx="8620244" cy="617220"/>
          </a:xfrm>
          <a:prstGeom prst="rect">
            <a:avLst/>
          </a:prstGeom>
          <a:solidFill>
            <a:srgbClr val="FFFFFF"/>
          </a:solidFill>
          <a:ln/>
        </p:spPr>
      </p:sp>
      <p:sp>
        <p:nvSpPr>
          <p:cNvPr id="11" name="Shape 9"/>
          <p:cNvSpPr/>
          <p:nvPr/>
        </p:nvSpPr>
        <p:spPr>
          <a:xfrm>
            <a:off x="952500" y="3989070"/>
            <a:ext cx="8620244" cy="9525"/>
          </a:xfrm>
          <a:prstGeom prst="rect">
            <a:avLst/>
          </a:prstGeom>
          <a:solidFill>
            <a:srgbClr val="DFE1E6"/>
          </a:solidFill>
          <a:ln/>
        </p:spPr>
      </p:sp>
      <p:sp>
        <p:nvSpPr>
          <p:cNvPr id="12" name="Shape 10"/>
          <p:cNvSpPr/>
          <p:nvPr/>
        </p:nvSpPr>
        <p:spPr>
          <a:xfrm>
            <a:off x="952500" y="3379470"/>
            <a:ext cx="8620244" cy="9525"/>
          </a:xfrm>
          <a:prstGeom prst="rect">
            <a:avLst/>
          </a:prstGeom>
          <a:solidFill>
            <a:srgbClr val="DFE1E6"/>
          </a:solidFill>
          <a:ln/>
        </p:spPr>
      </p:sp>
      <p:sp>
        <p:nvSpPr>
          <p:cNvPr id="13" name="Shape 11"/>
          <p:cNvSpPr/>
          <p:nvPr/>
        </p:nvSpPr>
        <p:spPr>
          <a:xfrm>
            <a:off x="952500" y="3379470"/>
            <a:ext cx="45720" cy="617220"/>
          </a:xfrm>
          <a:prstGeom prst="rect">
            <a:avLst/>
          </a:prstGeom>
          <a:solidFill>
            <a:srgbClr val="4F7CFF"/>
          </a:solidFill>
          <a:ln/>
        </p:spPr>
      </p:sp>
      <p:sp>
        <p:nvSpPr>
          <p:cNvPr id="14" name="Shape 12"/>
          <p:cNvSpPr/>
          <p:nvPr/>
        </p:nvSpPr>
        <p:spPr>
          <a:xfrm>
            <a:off x="9565124" y="3379470"/>
            <a:ext cx="9525" cy="617220"/>
          </a:xfrm>
          <a:prstGeom prst="rect">
            <a:avLst/>
          </a:prstGeom>
          <a:solidFill>
            <a:srgbClr val="DFE1E6"/>
          </a:solidFill>
          <a:ln/>
        </p:spPr>
      </p:sp>
      <p:sp>
        <p:nvSpPr>
          <p:cNvPr id="15" name="Text 13"/>
          <p:cNvSpPr/>
          <p:nvPr/>
        </p:nvSpPr>
        <p:spPr>
          <a:xfrm>
            <a:off x="1207770" y="3520440"/>
            <a:ext cx="3638050" cy="373380"/>
          </a:xfrm>
          <a:prstGeom prst="rect">
            <a:avLst/>
          </a:prstGeom>
          <a:noFill/>
          <a:ln/>
        </p:spPr>
        <p:txBody>
          <a:bodyPr wrap="square" lIns="25400" tIns="25400" rIns="25400" bIns="25400" rtlCol="0" anchor="t">
            <a:normAutofit/>
          </a:bodyPr>
          <a:lstStyle/>
          <a:p>
            <a:pPr algn="l" indent="0" marL="0">
              <a:buNone/>
            </a:pPr>
            <a:r>
              <a:rPr lang="en-US" sz="1800" b="1" dirty="0">
                <a:solidFill>
                  <a:srgbClr val="16181D"/>
                </a:solidFill>
                <a:latin typeface="Arial" pitchFamily="34" charset="0"/>
                <a:ea typeface="Arial" pitchFamily="34" charset="-122"/>
                <a:cs typeface="Arial" pitchFamily="34" charset="-120"/>
              </a:rPr>
              <a:t>보안그룹 </a:t>
            </a:r>
            <a:pPr algn="l" indent="0" marL="0">
              <a:buNone/>
            </a:pPr>
            <a:r>
              <a:rPr lang="en-US" sz="1800" dirty="0">
                <a:solidFill>
                  <a:srgbClr val="16181D"/>
                </a:solidFill>
                <a:latin typeface="Arial" pitchFamily="34" charset="0"/>
                <a:ea typeface="Arial" pitchFamily="34" charset="-122"/>
                <a:cs typeface="Arial" pitchFamily="34" charset="-120"/>
              </a:rPr>
              <a:t>sg-0ce81d06ebaf0db08</a:t>
            </a:r>
            <a:endParaRPr lang="en-US" sz="1800" dirty="0"/>
          </a:p>
        </p:txBody>
      </p:sp>
      <p:sp>
        <p:nvSpPr>
          <p:cNvPr id="16" name="Text 14"/>
          <p:cNvSpPr/>
          <p:nvPr/>
        </p:nvSpPr>
        <p:spPr>
          <a:xfrm>
            <a:off x="6520458" y="3520440"/>
            <a:ext cx="3118628" cy="373380"/>
          </a:xfrm>
          <a:prstGeom prst="rect">
            <a:avLst/>
          </a:prstGeom>
          <a:noFill/>
          <a:ln/>
        </p:spPr>
        <p:txBody>
          <a:bodyPr wrap="square" lIns="25400" tIns="25400" rIns="25400" bIns="25400" rtlCol="0" anchor="t">
            <a:normAutofit/>
          </a:bodyPr>
          <a:lstStyle/>
          <a:p>
            <a:pPr algn="l" indent="0" marL="0">
              <a:buNone/>
            </a:pPr>
            <a:r>
              <a:rPr lang="en-US" sz="1800" dirty="0">
                <a:solidFill>
                  <a:srgbClr val="00845C"/>
                </a:solidFill>
                <a:latin typeface="Roboto Mono" pitchFamily="34" charset="0"/>
                <a:ea typeface="Roboto Mono" pitchFamily="34" charset="-122"/>
                <a:cs typeface="Roboto Mono" pitchFamily="34" charset="-120"/>
              </a:rPr>
              <a:t>80 · 443 만 0.0.0.0/0</a:t>
            </a:r>
            <a:endParaRPr lang="en-US" sz="1800" dirty="0"/>
          </a:p>
        </p:txBody>
      </p:sp>
      <p:sp>
        <p:nvSpPr>
          <p:cNvPr id="17" name="Shape 15"/>
          <p:cNvSpPr/>
          <p:nvPr/>
        </p:nvSpPr>
        <p:spPr>
          <a:xfrm>
            <a:off x="952500" y="4091940"/>
            <a:ext cx="8620244" cy="6579394"/>
          </a:xfrm>
          <a:prstGeom prst="rect">
            <a:avLst/>
          </a:prstGeom>
          <a:ln w="15240">
            <a:solidFill>
              <a:srgbClr val="16181D"/>
            </a:solidFill>
            <a:prstDash val="solid"/>
          </a:ln>
        </p:spPr>
      </p:sp>
      <p:sp>
        <p:nvSpPr>
          <p:cNvPr id="18" name="Text 16"/>
          <p:cNvSpPr/>
          <p:nvPr/>
        </p:nvSpPr>
        <p:spPr>
          <a:xfrm>
            <a:off x="1139190" y="4278630"/>
            <a:ext cx="9071550" cy="304800"/>
          </a:xfrm>
          <a:prstGeom prst="rect">
            <a:avLst/>
          </a:prstGeom>
          <a:noFill/>
          <a:ln/>
        </p:spPr>
        <p:txBody>
          <a:bodyPr wrap="square" lIns="25400" tIns="25400" rIns="25400" bIns="25400" rtlCol="0" anchor="t">
            <a:normAutofit/>
          </a:bodyPr>
          <a:lstStyle/>
          <a:p>
            <a:pPr algn="l" indent="0" marL="0">
              <a:buNone/>
            </a:pPr>
            <a:r>
              <a:rPr lang="en-US" sz="1575" dirty="0">
                <a:solidFill>
                  <a:srgbClr val="8A9099"/>
                </a:solidFill>
                <a:latin typeface="Roboto Mono" pitchFamily="34" charset="0"/>
                <a:ea typeface="Roboto Mono" pitchFamily="34" charset="-122"/>
                <a:cs typeface="Roboto Mono" pitchFamily="34" charset="-120"/>
              </a:rPr>
              <a:t>EC2 g6e.xlarge · NVIDIA L40S 46GB · Ubuntu 22.04 DL AMI</a:t>
            </a:r>
            <a:endParaRPr lang="en-US" sz="1575" dirty="0"/>
          </a:p>
        </p:txBody>
      </p:sp>
      <p:sp>
        <p:nvSpPr>
          <p:cNvPr id="19" name="Shape 17"/>
          <p:cNvSpPr/>
          <p:nvPr/>
        </p:nvSpPr>
        <p:spPr>
          <a:xfrm>
            <a:off x="1139190" y="4640580"/>
            <a:ext cx="8246864" cy="594360"/>
          </a:xfrm>
          <a:prstGeom prst="rect">
            <a:avLst/>
          </a:prstGeom>
          <a:solidFill>
            <a:srgbClr val="F3F6FF"/>
          </a:solidFill>
          <a:ln w="7620">
            <a:solidFill>
              <a:srgbClr val="C9D6FF"/>
            </a:solidFill>
            <a:prstDash val="solid"/>
          </a:ln>
        </p:spPr>
      </p:sp>
      <p:sp>
        <p:nvSpPr>
          <p:cNvPr id="20" name="Text 18"/>
          <p:cNvSpPr/>
          <p:nvPr/>
        </p:nvSpPr>
        <p:spPr>
          <a:xfrm>
            <a:off x="1356360" y="4800600"/>
            <a:ext cx="2878693" cy="312420"/>
          </a:xfrm>
          <a:prstGeom prst="rect">
            <a:avLst/>
          </a:prstGeom>
          <a:noFill/>
          <a:ln/>
        </p:spPr>
        <p:txBody>
          <a:bodyPr wrap="square" lIns="25400" tIns="25400" rIns="25400" bIns="25400" rtlCol="0" anchor="t">
            <a:normAutofit/>
          </a:bodyPr>
          <a:lstStyle/>
          <a:p>
            <a:pPr algn="l" indent="0" marL="0">
              <a:buNone/>
            </a:pPr>
            <a:r>
              <a:rPr lang="en-US" sz="1875" b="1" dirty="0">
                <a:solidFill>
                  <a:srgbClr val="16181D"/>
                </a:solidFill>
                <a:latin typeface="Arial" pitchFamily="34" charset="0"/>
                <a:ea typeface="Arial" pitchFamily="34" charset="-122"/>
                <a:cs typeface="Arial" pitchFamily="34" charset="-120"/>
              </a:rPr>
              <a:t>caddy.service </a:t>
            </a:r>
            <a:pPr algn="l" indent="0" marL="0">
              <a:buNone/>
            </a:pPr>
            <a:r>
              <a:rPr lang="en-US" sz="1875" dirty="0">
                <a:solidFill>
                  <a:srgbClr val="16181D"/>
                </a:solidFill>
                <a:latin typeface="Arial" pitchFamily="34" charset="0"/>
                <a:ea typeface="Arial" pitchFamily="34" charset="-122"/>
                <a:cs typeface="Arial" pitchFamily="34" charset="-120"/>
              </a:rPr>
              <a:t>:80 / :443</a:t>
            </a:r>
            <a:endParaRPr lang="en-US" sz="1875" dirty="0"/>
          </a:p>
        </p:txBody>
      </p:sp>
      <p:sp>
        <p:nvSpPr>
          <p:cNvPr id="21" name="Text 19"/>
          <p:cNvSpPr/>
          <p:nvPr/>
        </p:nvSpPr>
        <p:spPr>
          <a:xfrm>
            <a:off x="6568202" y="4804410"/>
            <a:ext cx="2860750" cy="304800"/>
          </a:xfrm>
          <a:prstGeom prst="rect">
            <a:avLst/>
          </a:prstGeom>
          <a:noFill/>
          <a:ln/>
        </p:spPr>
        <p:txBody>
          <a:bodyPr wrap="squar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Let's Encrypt 자동 갱신</a:t>
            </a:r>
            <a:endParaRPr lang="en-US" sz="1575" dirty="0"/>
          </a:p>
        </p:txBody>
      </p:sp>
      <p:sp>
        <p:nvSpPr>
          <p:cNvPr id="22" name="Shape 20"/>
          <p:cNvSpPr/>
          <p:nvPr/>
        </p:nvSpPr>
        <p:spPr>
          <a:xfrm>
            <a:off x="1139190" y="5330190"/>
            <a:ext cx="4075747" cy="960120"/>
          </a:xfrm>
          <a:prstGeom prst="rect">
            <a:avLst/>
          </a:prstGeom>
          <a:solidFill>
            <a:srgbClr val="FFFFFF"/>
          </a:solidFill>
          <a:ln w="7620">
            <a:solidFill>
              <a:srgbClr val="DFE1E6"/>
            </a:solidFill>
            <a:prstDash val="solid"/>
          </a:ln>
        </p:spPr>
      </p:sp>
      <p:sp>
        <p:nvSpPr>
          <p:cNvPr id="23" name="Text 21"/>
          <p:cNvSpPr/>
          <p:nvPr/>
        </p:nvSpPr>
        <p:spPr>
          <a:xfrm>
            <a:off x="1337310" y="5490210"/>
            <a:ext cx="3801780" cy="678180"/>
          </a:xfrm>
          <a:prstGeom prst="rect">
            <a:avLst/>
          </a:prstGeom>
          <a:noFill/>
          <a:ln/>
        </p:spPr>
        <p:txBody>
          <a:bodyPr wrap="square" lIns="25400" tIns="25400" rIns="25400" bIns="25400" rtlCol="0" anchor="t">
            <a:normAutofit/>
          </a:bodyPr>
          <a:lstStyle/>
          <a:p>
            <a:pPr algn="l" indent="0" marL="0">
              <a:lnSpc>
                <a:spcPct val="123529"/>
              </a:lnSpc>
              <a:buNone/>
            </a:pPr>
            <a:r>
              <a:rPr lang="en-US" sz="1800" b="1" dirty="0">
                <a:solidFill>
                  <a:srgbClr val="16181D"/>
                </a:solidFill>
                <a:latin typeface="Arial" pitchFamily="34" charset="0"/>
                <a:ea typeface="Arial" pitchFamily="34" charset="-122"/>
                <a:cs typeface="Arial" pitchFamily="34" charset="-120"/>
              </a:rPr>
              <a:t>maas-api </a:t>
            </a:r>
            <a:pPr algn="l" indent="0" marL="0">
              <a:lnSpc>
                <a:spcPct val="123529"/>
              </a:lnSpc>
              <a:buNone/>
            </a:pPr>
            <a:r>
              <a:rPr lang="en-US" sz="1800" dirty="0">
                <a:solidFill>
                  <a:srgbClr val="16181D"/>
                </a:solidFill>
                <a:highlight>
                  <a:srgbClr val="FFFFFF"/>
                </a:highlight>
                <a:latin typeface="Arial" pitchFamily="34" charset="0"/>
                <a:ea typeface="Arial" pitchFamily="34" charset="-122"/>
                <a:cs typeface="Arial" pitchFamily="34" charset="-120"/>
              </a:rPr>
              <a:t>:8080 </a:t>
            </a:r>
            <a:pPr algn="l" indent="0" marL="0">
              <a:lnSpc>
                <a:spcPct val="123529"/>
              </a:lnSpc>
              <a:buNone/>
            </a:pPr>
            <a:r>
              <a:rPr lang="en-US" sz="1500" dirty="0">
                <a:solidFill>
                  <a:srgbClr val="6B7280"/>
                </a:solidFill>
                <a:latin typeface="Roboto Mono" pitchFamily="34" charset="0"/>
                <a:ea typeface="Roboto Mono" pitchFamily="34" charset="-122"/>
                <a:cs typeface="Roboto Mono" pitchFamily="34" charset="-120"/>
              </a:rPr>
              <a:t>uvicorn ui.api:app</a:t>
            </a:r>
            <a:endParaRPr lang="en-US" sz="1800" dirty="0"/>
          </a:p>
        </p:txBody>
      </p:sp>
      <p:sp>
        <p:nvSpPr>
          <p:cNvPr id="24" name="Shape 22"/>
          <p:cNvSpPr/>
          <p:nvPr/>
        </p:nvSpPr>
        <p:spPr>
          <a:xfrm>
            <a:off x="5310188" y="5330190"/>
            <a:ext cx="4075867" cy="960120"/>
          </a:xfrm>
          <a:prstGeom prst="rect">
            <a:avLst/>
          </a:prstGeom>
          <a:solidFill>
            <a:srgbClr val="FFFFFF"/>
          </a:solidFill>
          <a:ln w="7620">
            <a:solidFill>
              <a:srgbClr val="DFE1E6"/>
            </a:solidFill>
            <a:prstDash val="solid"/>
          </a:ln>
        </p:spPr>
      </p:sp>
      <p:sp>
        <p:nvSpPr>
          <p:cNvPr id="25" name="Text 23"/>
          <p:cNvSpPr/>
          <p:nvPr/>
        </p:nvSpPr>
        <p:spPr>
          <a:xfrm>
            <a:off x="5508308" y="5490210"/>
            <a:ext cx="3801903" cy="678180"/>
          </a:xfrm>
          <a:prstGeom prst="rect">
            <a:avLst/>
          </a:prstGeom>
          <a:noFill/>
          <a:ln/>
        </p:spPr>
        <p:txBody>
          <a:bodyPr wrap="square" lIns="25400" tIns="25400" rIns="25400" bIns="25400" rtlCol="0" anchor="t">
            <a:normAutofit/>
          </a:bodyPr>
          <a:lstStyle/>
          <a:p>
            <a:pPr algn="l" indent="0" marL="0">
              <a:lnSpc>
                <a:spcPct val="123529"/>
              </a:lnSpc>
              <a:buNone/>
            </a:pPr>
            <a:r>
              <a:rPr lang="en-US" sz="1800" b="1" dirty="0">
                <a:solidFill>
                  <a:srgbClr val="16181D"/>
                </a:solidFill>
                <a:latin typeface="Arial" pitchFamily="34" charset="0"/>
                <a:ea typeface="Arial" pitchFamily="34" charset="-122"/>
                <a:cs typeface="Arial" pitchFamily="34" charset="-120"/>
              </a:rPr>
              <a:t>maas-ui </a:t>
            </a:r>
            <a:pPr algn="l" indent="0" marL="0">
              <a:lnSpc>
                <a:spcPct val="123529"/>
              </a:lnSpc>
              <a:buNone/>
            </a:pPr>
            <a:r>
              <a:rPr lang="en-US" sz="1800" dirty="0">
                <a:solidFill>
                  <a:srgbClr val="16181D"/>
                </a:solidFill>
                <a:highlight>
                  <a:srgbClr val="FFFFFF"/>
                </a:highlight>
                <a:latin typeface="Arial" pitchFamily="34" charset="0"/>
                <a:ea typeface="Arial" pitchFamily="34" charset="-122"/>
                <a:cs typeface="Arial" pitchFamily="34" charset="-120"/>
              </a:rPr>
              <a:t>:7860 </a:t>
            </a:r>
            <a:pPr algn="l" indent="0" marL="0">
              <a:lnSpc>
                <a:spcPct val="123529"/>
              </a:lnSpc>
              <a:buNone/>
            </a:pPr>
            <a:r>
              <a:rPr lang="en-US" sz="1500" dirty="0">
                <a:solidFill>
                  <a:srgbClr val="6B7280"/>
                </a:solidFill>
                <a:latin typeface="Roboto Mono" pitchFamily="34" charset="0"/>
                <a:ea typeface="Roboto Mono" pitchFamily="34" charset="-122"/>
                <a:cs typeface="Roboto Mono" pitchFamily="34" charset="-120"/>
              </a:rPr>
              <a:t>uvicorn ui.server:app</a:t>
            </a:r>
            <a:endParaRPr lang="en-US" sz="1800" dirty="0"/>
          </a:p>
        </p:txBody>
      </p:sp>
      <p:sp>
        <p:nvSpPr>
          <p:cNvPr id="26" name="Shape 24"/>
          <p:cNvSpPr/>
          <p:nvPr/>
        </p:nvSpPr>
        <p:spPr>
          <a:xfrm>
            <a:off x="1139190" y="6385560"/>
            <a:ext cx="8246864" cy="594360"/>
          </a:xfrm>
          <a:prstGeom prst="rect">
            <a:avLst/>
          </a:prstGeom>
          <a:solidFill>
            <a:srgbClr val="EEF0F2"/>
          </a:solidFill>
          <a:ln w="7620">
            <a:solidFill>
              <a:srgbClr val="B6BCC4"/>
            </a:solidFill>
            <a:prstDash val="dash"/>
          </a:ln>
        </p:spPr>
      </p:sp>
      <p:sp>
        <p:nvSpPr>
          <p:cNvPr id="27" name="Text 25"/>
          <p:cNvSpPr/>
          <p:nvPr/>
        </p:nvSpPr>
        <p:spPr>
          <a:xfrm>
            <a:off x="1337310" y="6526530"/>
            <a:ext cx="8098030"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highlight>
                  <a:srgbClr val="EEF0F2"/>
                </a:highlight>
                <a:latin typeface="Arial" pitchFamily="34" charset="0"/>
                <a:ea typeface="Arial" pitchFamily="34" charset="-122"/>
                <a:cs typeface="Arial" pitchFamily="34" charset="-120"/>
              </a:rPr>
              <a:t>두 프로세스가 각자 </a:t>
            </a:r>
            <a:pPr algn="l" indent="0" marL="0">
              <a:buNone/>
            </a:pPr>
            <a:r>
              <a:rPr lang="en-US" sz="1575" dirty="0">
                <a:solidFill>
                  <a:srgbClr val="4A5058"/>
                </a:solidFill>
                <a:latin typeface="Roboto Mono" pitchFamily="34" charset="0"/>
                <a:ea typeface="Roboto Mono" pitchFamily="34" charset="-122"/>
                <a:cs typeface="Roboto Mono" pitchFamily="34" charset="-120"/>
              </a:rPr>
              <a:t>gate/ </a:t>
            </a:r>
            <a:pPr algn="l" indent="0" marL="0">
              <a:buNone/>
            </a:pPr>
            <a:r>
              <a:rPr lang="en-US" sz="1725" dirty="0">
                <a:solidFill>
                  <a:srgbClr val="4A5058"/>
                </a:solidFill>
                <a:highlight>
                  <a:srgbClr val="EEF0F2"/>
                </a:highlight>
                <a:latin typeface="Arial" pitchFamily="34" charset="0"/>
                <a:ea typeface="Arial" pitchFamily="34" charset="-122"/>
                <a:cs typeface="Arial" pitchFamily="34" charset="-120"/>
              </a:rPr>
              <a:t>모듈을 임포트 — 서로 네트워크 호출을 하지 않는다</a:t>
            </a:r>
            <a:endParaRPr lang="en-US" sz="1725" dirty="0"/>
          </a:p>
        </p:txBody>
      </p:sp>
      <p:sp>
        <p:nvSpPr>
          <p:cNvPr id="28" name="Shape 26"/>
          <p:cNvSpPr/>
          <p:nvPr/>
        </p:nvSpPr>
        <p:spPr>
          <a:xfrm>
            <a:off x="1139190" y="7075170"/>
            <a:ext cx="8246864" cy="571500"/>
          </a:xfrm>
          <a:prstGeom prst="rect">
            <a:avLst/>
          </a:prstGeom>
          <a:solidFill>
            <a:srgbClr val="16181D"/>
          </a:solidFill>
          <a:ln/>
        </p:spPr>
      </p:sp>
      <p:sp>
        <p:nvSpPr>
          <p:cNvPr id="29" name="Text 27"/>
          <p:cNvSpPr/>
          <p:nvPr/>
        </p:nvSpPr>
        <p:spPr>
          <a:xfrm>
            <a:off x="1348740" y="7231380"/>
            <a:ext cx="2781121"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FBFBFA"/>
                </a:solidFill>
                <a:latin typeface="Arial" pitchFamily="34" charset="0"/>
                <a:ea typeface="Arial" pitchFamily="34" charset="-122"/>
                <a:cs typeface="Arial" pitchFamily="34" charset="-120"/>
              </a:rPr>
              <a:t>vllm </a:t>
            </a:r>
            <a:pPr algn="l" indent="0" marL="0">
              <a:buNone/>
            </a:pPr>
            <a:r>
              <a:rPr lang="en-US" sz="1800" dirty="0">
                <a:solidFill>
                  <a:srgbClr val="FBFBFA"/>
                </a:solidFill>
                <a:latin typeface="Arial" pitchFamily="34" charset="0"/>
                <a:ea typeface="Arial" pitchFamily="34" charset="-122"/>
                <a:cs typeface="Arial" pitchFamily="34" charset="-120"/>
              </a:rPr>
              <a:t>Docker · Qwen3-4B</a:t>
            </a:r>
            <a:endParaRPr lang="en-US" sz="1800" dirty="0"/>
          </a:p>
        </p:txBody>
      </p:sp>
      <p:sp>
        <p:nvSpPr>
          <p:cNvPr id="30" name="Text 28"/>
          <p:cNvSpPr/>
          <p:nvPr/>
        </p:nvSpPr>
        <p:spPr>
          <a:xfrm>
            <a:off x="6775847" y="7227570"/>
            <a:ext cx="2640723" cy="304800"/>
          </a:xfrm>
          <a:prstGeom prst="rect">
            <a:avLst/>
          </a:prstGeom>
          <a:noFill/>
          <a:ln/>
        </p:spPr>
        <p:txBody>
          <a:bodyPr wrap="square" lIns="25400" tIns="25400" rIns="25400" bIns="25400" rtlCol="0" anchor="t">
            <a:normAutofit/>
          </a:bodyPr>
          <a:lstStyle/>
          <a:p>
            <a:pPr algn="l" indent="0" marL="0">
              <a:buNone/>
            </a:pPr>
            <a:r>
              <a:rPr lang="en-US" sz="1575" dirty="0">
                <a:solidFill>
                  <a:srgbClr val="9DB4FF"/>
                </a:solidFill>
                <a:latin typeface="Roboto Mono" pitchFamily="34" charset="0"/>
                <a:ea typeface="Roboto Mono" pitchFamily="34" charset="-122"/>
                <a:cs typeface="Roboto Mono" pitchFamily="34" charset="-120"/>
              </a:rPr>
              <a:t>127.0.0.1:8000 바인딩</a:t>
            </a:r>
            <a:endParaRPr lang="en-US" sz="1575" dirty="0"/>
          </a:p>
        </p:txBody>
      </p:sp>
      <p:sp>
        <p:nvSpPr>
          <p:cNvPr id="31" name="Shape 29"/>
          <p:cNvSpPr/>
          <p:nvPr/>
        </p:nvSpPr>
        <p:spPr>
          <a:xfrm>
            <a:off x="1139190" y="7741920"/>
            <a:ext cx="4075747" cy="487680"/>
          </a:xfrm>
          <a:prstGeom prst="rect">
            <a:avLst/>
          </a:prstGeom>
          <a:solidFill>
            <a:srgbClr val="FFFFFF"/>
          </a:solidFill>
          <a:ln w="7620">
            <a:solidFill>
              <a:srgbClr val="DFE1E6"/>
            </a:solidFill>
            <a:prstDash val="solid"/>
          </a:ln>
        </p:spPr>
      </p:sp>
      <p:sp>
        <p:nvSpPr>
          <p:cNvPr id="32" name="Text 30"/>
          <p:cNvSpPr/>
          <p:nvPr/>
        </p:nvSpPr>
        <p:spPr>
          <a:xfrm>
            <a:off x="1318260" y="7863840"/>
            <a:ext cx="3839880" cy="28194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Arial" pitchFamily="34" charset="0"/>
                <a:ea typeface="Arial" pitchFamily="34" charset="-122"/>
                <a:cs typeface="Arial" pitchFamily="34" charset="-120"/>
              </a:rPr>
              <a:t>codedeploy-agent</a:t>
            </a:r>
            <a:endParaRPr lang="en-US" sz="1650" dirty="0"/>
          </a:p>
        </p:txBody>
      </p:sp>
      <p:sp>
        <p:nvSpPr>
          <p:cNvPr id="33" name="Shape 31"/>
          <p:cNvSpPr/>
          <p:nvPr/>
        </p:nvSpPr>
        <p:spPr>
          <a:xfrm>
            <a:off x="5310188" y="7741920"/>
            <a:ext cx="4075867" cy="487680"/>
          </a:xfrm>
          <a:prstGeom prst="rect">
            <a:avLst/>
          </a:prstGeom>
          <a:solidFill>
            <a:srgbClr val="FFFFFF"/>
          </a:solidFill>
          <a:ln w="7620">
            <a:solidFill>
              <a:srgbClr val="DFE1E6"/>
            </a:solidFill>
            <a:prstDash val="solid"/>
          </a:ln>
        </p:spPr>
      </p:sp>
      <p:sp>
        <p:nvSpPr>
          <p:cNvPr id="34" name="Text 32"/>
          <p:cNvSpPr/>
          <p:nvPr/>
        </p:nvSpPr>
        <p:spPr>
          <a:xfrm>
            <a:off x="5489258" y="7863840"/>
            <a:ext cx="3840003" cy="28194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Arial" pitchFamily="34" charset="0"/>
                <a:ea typeface="Arial" pitchFamily="34" charset="-122"/>
                <a:cs typeface="Arial" pitchFamily="34" charset="-120"/>
              </a:rPr>
              <a:t>amazon-ssm-agent</a:t>
            </a:r>
            <a:endParaRPr lang="en-US" sz="1650" dirty="0"/>
          </a:p>
        </p:txBody>
      </p:sp>
      <p:sp>
        <p:nvSpPr>
          <p:cNvPr id="35" name="Shape 33"/>
          <p:cNvSpPr/>
          <p:nvPr/>
        </p:nvSpPr>
        <p:spPr>
          <a:xfrm>
            <a:off x="952500" y="10766584"/>
            <a:ext cx="3618071" cy="594360"/>
          </a:xfrm>
          <a:prstGeom prst="rect">
            <a:avLst/>
          </a:prstGeom>
          <a:solidFill>
            <a:srgbClr val="FFFFFF"/>
          </a:solidFill>
          <a:ln w="7620">
            <a:solidFill>
              <a:srgbClr val="DFE1E6"/>
            </a:solidFill>
            <a:prstDash val="solid"/>
          </a:ln>
        </p:spPr>
      </p:sp>
      <p:sp>
        <p:nvSpPr>
          <p:cNvPr id="36" name="Text 34"/>
          <p:cNvSpPr/>
          <p:nvPr/>
        </p:nvSpPr>
        <p:spPr>
          <a:xfrm>
            <a:off x="1150620" y="10907554"/>
            <a:ext cx="3330373"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Bedrock Runtime · Guardrails</a:t>
            </a:r>
            <a:endParaRPr lang="en-US" sz="1725" dirty="0"/>
          </a:p>
        </p:txBody>
      </p:sp>
      <p:sp>
        <p:nvSpPr>
          <p:cNvPr id="37" name="Shape 35"/>
          <p:cNvSpPr/>
          <p:nvPr/>
        </p:nvSpPr>
        <p:spPr>
          <a:xfrm>
            <a:off x="4665821" y="10766584"/>
            <a:ext cx="4906923" cy="594360"/>
          </a:xfrm>
          <a:prstGeom prst="rect">
            <a:avLst/>
          </a:prstGeom>
          <a:solidFill>
            <a:srgbClr val="FFFFFF"/>
          </a:solidFill>
          <a:ln w="7620">
            <a:solidFill>
              <a:srgbClr val="DFE1E6"/>
            </a:solidFill>
            <a:prstDash val="solid"/>
          </a:ln>
        </p:spPr>
      </p:sp>
      <p:sp>
        <p:nvSpPr>
          <p:cNvPr id="38" name="Text 36"/>
          <p:cNvSpPr/>
          <p:nvPr/>
        </p:nvSpPr>
        <p:spPr>
          <a:xfrm>
            <a:off x="4863941" y="10907554"/>
            <a:ext cx="4657891"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공공데이터포털 · 서울시 · 카카오 · KRIC</a:t>
            </a:r>
            <a:endParaRPr lang="en-US" sz="1725" dirty="0"/>
          </a:p>
        </p:txBody>
      </p:sp>
      <p:sp>
        <p:nvSpPr>
          <p:cNvPr id="39" name="Shape 37"/>
          <p:cNvSpPr/>
          <p:nvPr/>
        </p:nvSpPr>
        <p:spPr>
          <a:xfrm>
            <a:off x="9839445" y="2293620"/>
            <a:ext cx="7495937" cy="3209925"/>
          </a:xfrm>
          <a:prstGeom prst="rect">
            <a:avLst/>
          </a:prstGeom>
          <a:solidFill>
            <a:srgbClr val="FFFFFF"/>
          </a:solidFill>
          <a:ln w="7620">
            <a:solidFill>
              <a:srgbClr val="DFE1E6"/>
            </a:solidFill>
            <a:prstDash val="solid"/>
          </a:ln>
        </p:spPr>
      </p:sp>
      <p:sp>
        <p:nvSpPr>
          <p:cNvPr id="40" name="Text 38"/>
          <p:cNvSpPr/>
          <p:nvPr/>
        </p:nvSpPr>
        <p:spPr>
          <a:xfrm>
            <a:off x="10113764" y="2510790"/>
            <a:ext cx="7642027" cy="411480"/>
          </a:xfrm>
          <a:prstGeom prst="rect">
            <a:avLst/>
          </a:prstGeom>
          <a:noFill/>
          <a:ln/>
        </p:spPr>
        <p:txBody>
          <a:bodyPr wrap="square" lIns="25400" tIns="25400" rIns="25400" bIns="25400" rtlCol="0" anchor="t">
            <a:normAutofit/>
          </a:bodyPr>
          <a:lstStyle/>
          <a:p>
            <a:pPr algn="l" indent="0" marL="0">
              <a:buNone/>
            </a:pPr>
            <a:r>
              <a:rPr lang="en-US" sz="2025" b="1" dirty="0">
                <a:solidFill>
                  <a:srgbClr val="16181D"/>
                </a:solidFill>
                <a:latin typeface="Arial" pitchFamily="34" charset="0"/>
                <a:ea typeface="Arial" pitchFamily="34" charset="-122"/>
                <a:cs typeface="Arial" pitchFamily="34" charset="-120"/>
              </a:rPr>
              <a:t>왜 g6e.xlarge 인가</a:t>
            </a:r>
            <a:endParaRPr lang="en-US" sz="2025" dirty="0"/>
          </a:p>
        </p:txBody>
      </p:sp>
      <p:sp>
        <p:nvSpPr>
          <p:cNvPr id="41" name="Text 39"/>
          <p:cNvSpPr/>
          <p:nvPr/>
        </p:nvSpPr>
        <p:spPr>
          <a:xfrm>
            <a:off x="10113764" y="2979420"/>
            <a:ext cx="7155716" cy="110109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Qwen3-8B 를 L4(24GB)에 올리려다 vLLM 이 KV 캐시 예산을 </a:t>
            </a:r>
            <a:pPr algn="l" indent="0" marL="0">
              <a:lnSpc>
                <a:spcPct val="136765"/>
              </a:lnSpc>
              <a:buNone/>
            </a:pPr>
            <a:r>
              <a:rPr lang="en-US" sz="1650" dirty="0">
                <a:solidFill>
                  <a:srgbClr val="C2410C"/>
                </a:solidFill>
                <a:latin typeface="Roboto Mono" pitchFamily="34" charset="0"/>
                <a:ea typeface="Roboto Mono" pitchFamily="34" charset="-122"/>
                <a:cs typeface="Roboto Mono" pitchFamily="34" charset="-120"/>
              </a:rPr>
              <a:t>-9.08 GiB </a:t>
            </a:r>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로 계산하고 기동 실패 — 가중치 15.3GB + CUDA 그래프 + 활성화 메모리가 24GB 를 넘는다.</a:t>
            </a:r>
            <a:endParaRPr lang="en-US" sz="1800" dirty="0"/>
          </a:p>
        </p:txBody>
      </p:sp>
      <p:sp>
        <p:nvSpPr>
          <p:cNvPr id="42" name="Shape 40"/>
          <p:cNvSpPr/>
          <p:nvPr/>
        </p:nvSpPr>
        <p:spPr>
          <a:xfrm>
            <a:off x="10113764" y="4137660"/>
            <a:ext cx="6947297" cy="9525"/>
          </a:xfrm>
          <a:prstGeom prst="rect">
            <a:avLst/>
          </a:prstGeom>
          <a:solidFill>
            <a:srgbClr val="ECEDED"/>
          </a:solidFill>
          <a:ln/>
        </p:spPr>
      </p:sp>
      <p:sp>
        <p:nvSpPr>
          <p:cNvPr id="43" name="Text 41"/>
          <p:cNvSpPr/>
          <p:nvPr/>
        </p:nvSpPr>
        <p:spPr>
          <a:xfrm>
            <a:off x="10113764" y="4259580"/>
            <a:ext cx="235167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gpu-mem-util </a:t>
            </a:r>
            <a:pPr algn="l" indent="0" marL="0">
              <a:buNone/>
            </a:pPr>
            <a:r>
              <a:rPr lang="en-US" sz="1650" b="1" dirty="0">
                <a:solidFill>
                  <a:srgbClr val="4A5058"/>
                </a:solidFill>
                <a:latin typeface="Roboto Mono" pitchFamily="34" charset="0"/>
                <a:ea typeface="Roboto Mono" pitchFamily="34" charset="-122"/>
                <a:cs typeface="Roboto Mono" pitchFamily="34" charset="-120"/>
              </a:rPr>
              <a:t>0.90</a:t>
            </a:r>
            <a:endParaRPr lang="en-US" sz="1650" dirty="0"/>
          </a:p>
        </p:txBody>
      </p:sp>
      <p:sp>
        <p:nvSpPr>
          <p:cNvPr id="44" name="Text 42"/>
          <p:cNvSpPr/>
          <p:nvPr/>
        </p:nvSpPr>
        <p:spPr>
          <a:xfrm>
            <a:off x="12442151" y="4259580"/>
            <a:ext cx="1383423"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KV </a:t>
            </a:r>
            <a:pPr algn="l" indent="0" marL="0">
              <a:buNone/>
            </a:pPr>
            <a:r>
              <a:rPr lang="en-US" sz="1650" b="1" dirty="0">
                <a:solidFill>
                  <a:srgbClr val="4A5058"/>
                </a:solidFill>
                <a:latin typeface="Roboto Mono" pitchFamily="34" charset="0"/>
                <a:ea typeface="Roboto Mono" pitchFamily="34" charset="-122"/>
                <a:cs typeface="Roboto Mono" pitchFamily="34" charset="-120"/>
              </a:rPr>
              <a:t>24.3GiB</a:t>
            </a:r>
            <a:endParaRPr lang="en-US" sz="1650" dirty="0"/>
          </a:p>
        </p:txBody>
      </p:sp>
      <p:sp>
        <p:nvSpPr>
          <p:cNvPr id="45" name="Text 43"/>
          <p:cNvSpPr/>
          <p:nvPr/>
        </p:nvSpPr>
        <p:spPr>
          <a:xfrm>
            <a:off x="13890308" y="4259580"/>
            <a:ext cx="1521595"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동시성 </a:t>
            </a:r>
            <a:pPr algn="l" indent="0" marL="0">
              <a:buNone/>
            </a:pPr>
            <a:r>
              <a:rPr lang="en-US" sz="1650" b="1" dirty="0">
                <a:solidFill>
                  <a:srgbClr val="4A5058"/>
                </a:solidFill>
                <a:latin typeface="Roboto Mono" pitchFamily="34" charset="0"/>
                <a:ea typeface="Roboto Mono" pitchFamily="34" charset="-122"/>
                <a:cs typeface="Roboto Mono" pitchFamily="34" charset="-120"/>
              </a:rPr>
              <a:t>21.6×</a:t>
            </a:r>
            <a:endParaRPr lang="en-US" sz="1650" dirty="0"/>
          </a:p>
        </p:txBody>
      </p:sp>
      <p:sp>
        <p:nvSpPr>
          <p:cNvPr id="46" name="Text 44"/>
          <p:cNvSpPr/>
          <p:nvPr/>
        </p:nvSpPr>
        <p:spPr>
          <a:xfrm>
            <a:off x="10113764" y="4629150"/>
            <a:ext cx="7155716" cy="695325"/>
          </a:xfrm>
          <a:prstGeom prst="rect">
            <a:avLst/>
          </a:prstGeom>
          <a:noFill/>
          <a:ln/>
        </p:spPr>
        <p:txBody>
          <a:bodyPr wrap="square" lIns="25400" tIns="25400" rIns="25400" bIns="25400" rtlCol="0" anchor="t">
            <a:normAutofit/>
          </a:bodyPr>
          <a:lstStyle/>
          <a:p>
            <a:pPr algn="l" indent="0" marL="0">
              <a:lnSpc>
                <a:spcPct val="130682"/>
              </a:lnSpc>
              <a:buNone/>
            </a:pPr>
            <a:r>
              <a:rPr lang="en-US" sz="1725" dirty="0">
                <a:solidFill>
                  <a:srgbClr val="6B7280"/>
                </a:solidFill>
                <a:latin typeface="Arial" pitchFamily="34" charset="0"/>
                <a:ea typeface="Arial" pitchFamily="34" charset="-122"/>
                <a:cs typeface="Arial" pitchFamily="34" charset="-120"/>
              </a:rPr>
              <a:t>시간당 약 </a:t>
            </a:r>
            <a:pPr algn="l" indent="0" marL="0">
              <a:lnSpc>
                <a:spcPct val="130682"/>
              </a:lnSpc>
              <a:buNone/>
            </a:pPr>
            <a:r>
              <a:rPr lang="en-US" sz="1725" b="1" dirty="0">
                <a:solidFill>
                  <a:srgbClr val="6B7280"/>
                </a:solidFill>
                <a:latin typeface="Arial" pitchFamily="34" charset="0"/>
                <a:ea typeface="Arial" pitchFamily="34" charset="-122"/>
                <a:cs typeface="Arial" pitchFamily="34" charset="-120"/>
              </a:rPr>
              <a:t>$1.2 </a:t>
            </a:r>
            <a:pPr algn="l" indent="0" marL="0">
              <a:lnSpc>
                <a:spcPct val="130682"/>
              </a:lnSpc>
              <a:buNone/>
            </a:pPr>
            <a:r>
              <a:rPr lang="en-US" sz="1725" dirty="0">
                <a:solidFill>
                  <a:srgbClr val="6B7280"/>
                </a:solidFill>
                <a:latin typeface="Arial" pitchFamily="34" charset="0"/>
                <a:ea typeface="Arial" pitchFamily="34" charset="-122"/>
                <a:cs typeface="Arial" pitchFamily="34" charset="-120"/>
              </a:rPr>
              <a:t>· 24시간 가동 시 하루 약 </a:t>
            </a:r>
            <a:pPr algn="l" indent="0" marL="0">
              <a:lnSpc>
                <a:spcPct val="130682"/>
              </a:lnSpc>
              <a:buNone/>
            </a:pPr>
            <a:r>
              <a:rPr lang="en-US" sz="1725" b="1" dirty="0">
                <a:solidFill>
                  <a:srgbClr val="6B7280"/>
                </a:solidFill>
                <a:latin typeface="Arial" pitchFamily="34" charset="0"/>
                <a:ea typeface="Arial" pitchFamily="34" charset="-122"/>
                <a:cs typeface="Arial" pitchFamily="34" charset="-120"/>
              </a:rPr>
              <a:t>$29 </a:t>
            </a:r>
            <a:pPr algn="l" indent="0" marL="0">
              <a:lnSpc>
                <a:spcPct val="130682"/>
              </a:lnSpc>
              <a:buNone/>
            </a:pPr>
            <a:r>
              <a:rPr lang="en-US" sz="1725" dirty="0">
                <a:solidFill>
                  <a:srgbClr val="6B7280"/>
                </a:solidFill>
                <a:latin typeface="Arial" pitchFamily="34" charset="0"/>
                <a:ea typeface="Arial" pitchFamily="34" charset="-122"/>
                <a:cs typeface="Arial" pitchFamily="34" charset="-120"/>
              </a:rPr>
              <a:t>→ 개발 중 UTC 23시 자동 종료 크론</a:t>
            </a:r>
            <a:endParaRPr lang="en-US" sz="1725" dirty="0"/>
          </a:p>
        </p:txBody>
      </p:sp>
      <p:sp>
        <p:nvSpPr>
          <p:cNvPr id="47" name="Shape 45"/>
          <p:cNvSpPr/>
          <p:nvPr/>
        </p:nvSpPr>
        <p:spPr>
          <a:xfrm>
            <a:off x="9839445" y="5655945"/>
            <a:ext cx="7495937" cy="3756660"/>
          </a:xfrm>
          <a:prstGeom prst="rect">
            <a:avLst/>
          </a:prstGeom>
          <a:solidFill>
            <a:srgbClr val="FFFFFF"/>
          </a:solidFill>
          <a:ln w="7620">
            <a:solidFill>
              <a:srgbClr val="DFE1E6"/>
            </a:solidFill>
            <a:prstDash val="solid"/>
          </a:ln>
        </p:spPr>
      </p:sp>
      <p:sp>
        <p:nvSpPr>
          <p:cNvPr id="48" name="Text 46"/>
          <p:cNvSpPr/>
          <p:nvPr/>
        </p:nvSpPr>
        <p:spPr>
          <a:xfrm>
            <a:off x="10113764" y="5873115"/>
            <a:ext cx="7642027" cy="411480"/>
          </a:xfrm>
          <a:prstGeom prst="rect">
            <a:avLst/>
          </a:prstGeom>
          <a:noFill/>
          <a:ln/>
        </p:spPr>
        <p:txBody>
          <a:bodyPr wrap="square" lIns="25400" tIns="25400" rIns="25400" bIns="25400" rtlCol="0" anchor="t">
            <a:normAutofit/>
          </a:bodyPr>
          <a:lstStyle/>
          <a:p>
            <a:pPr algn="l" indent="0" marL="0">
              <a:buNone/>
            </a:pPr>
            <a:r>
              <a:rPr lang="en-US" sz="2025" b="1" dirty="0">
                <a:solidFill>
                  <a:srgbClr val="16181D"/>
                </a:solidFill>
                <a:latin typeface="Arial" pitchFamily="34" charset="0"/>
                <a:ea typeface="Arial" pitchFamily="34" charset="-122"/>
                <a:cs typeface="Arial" pitchFamily="34" charset="-120"/>
              </a:rPr>
              <a:t>쓰지 않은 AWS 서비스</a:t>
            </a:r>
            <a:endParaRPr lang="en-US" sz="2025" dirty="0"/>
          </a:p>
        </p:txBody>
      </p:sp>
      <p:sp>
        <p:nvSpPr>
          <p:cNvPr id="49" name="Text 47"/>
          <p:cNvSpPr/>
          <p:nvPr/>
        </p:nvSpPr>
        <p:spPr>
          <a:xfrm>
            <a:off x="10113764" y="6364605"/>
            <a:ext cx="151151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16181D"/>
                </a:solidFill>
                <a:latin typeface="Arial" pitchFamily="34" charset="0"/>
                <a:ea typeface="Arial" pitchFamily="34" charset="-122"/>
                <a:cs typeface="Arial" pitchFamily="34" charset="-120"/>
              </a:rPr>
              <a:t>ALB</a:t>
            </a:r>
            <a:endParaRPr lang="en-US" sz="1650" dirty="0"/>
          </a:p>
        </p:txBody>
      </p:sp>
      <p:sp>
        <p:nvSpPr>
          <p:cNvPr id="50" name="Text 48"/>
          <p:cNvSpPr/>
          <p:nvPr/>
        </p:nvSpPr>
        <p:spPr>
          <a:xfrm>
            <a:off x="11640265" y="6356985"/>
            <a:ext cx="1408307" cy="289560"/>
          </a:xfrm>
          <a:prstGeom prst="rect">
            <a:avLst/>
          </a:prstGeom>
          <a:noFill/>
          <a:ln/>
        </p:spPr>
        <p:txBody>
          <a:bodyPr wrap="square" lIns="25400" tIns="25400" rIns="25400" bIns="25400" rtlCol="0" anchor="t">
            <a:normAutofit/>
          </a:bodyPr>
          <a:lstStyle/>
          <a:p>
            <a:pPr algn="l" indent="0" marL="0">
              <a:buNone/>
            </a:pPr>
            <a:r>
              <a:rPr lang="en-US" sz="1500" dirty="0">
                <a:solidFill>
                  <a:srgbClr val="2B57D6"/>
                </a:solidFill>
                <a:latin typeface="Roboto Mono" pitchFamily="34" charset="0"/>
                <a:ea typeface="Roboto Mono" pitchFamily="34" charset="-122"/>
                <a:cs typeface="Roboto Mono" pitchFamily="34" charset="-120"/>
              </a:rPr>
              <a:t>→ Caddy</a:t>
            </a:r>
            <a:endParaRPr lang="en-US" sz="1500" dirty="0"/>
          </a:p>
        </p:txBody>
      </p:sp>
      <p:sp>
        <p:nvSpPr>
          <p:cNvPr id="51" name="Text 49"/>
          <p:cNvSpPr/>
          <p:nvPr/>
        </p:nvSpPr>
        <p:spPr>
          <a:xfrm>
            <a:off x="13072944" y="6341745"/>
            <a:ext cx="4386929" cy="33147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4A5058"/>
                </a:solidFill>
                <a:latin typeface="Arial" pitchFamily="34" charset="0"/>
                <a:ea typeface="Arial" pitchFamily="34" charset="-122"/>
                <a:cs typeface="Arial" pitchFamily="34" charset="-120"/>
              </a:rPr>
              <a:t>단일 인스턴스에 과했다 · 인증서 자동</a:t>
            </a:r>
            <a:endParaRPr lang="en-US" sz="1650" dirty="0"/>
          </a:p>
        </p:txBody>
      </p:sp>
      <p:sp>
        <p:nvSpPr>
          <p:cNvPr id="52" name="Text 50"/>
          <p:cNvSpPr/>
          <p:nvPr/>
        </p:nvSpPr>
        <p:spPr>
          <a:xfrm>
            <a:off x="10113764" y="6743700"/>
            <a:ext cx="151151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16181D"/>
                </a:solidFill>
                <a:latin typeface="Arial" pitchFamily="34" charset="0"/>
                <a:ea typeface="Arial" pitchFamily="34" charset="-122"/>
                <a:cs typeface="Arial" pitchFamily="34" charset="-120"/>
              </a:rPr>
              <a:t>ECS·EKS</a:t>
            </a:r>
            <a:endParaRPr lang="en-US" sz="1650" dirty="0"/>
          </a:p>
        </p:txBody>
      </p:sp>
      <p:sp>
        <p:nvSpPr>
          <p:cNvPr id="53" name="Text 51"/>
          <p:cNvSpPr/>
          <p:nvPr/>
        </p:nvSpPr>
        <p:spPr>
          <a:xfrm>
            <a:off x="11640265" y="6736080"/>
            <a:ext cx="1408307" cy="289560"/>
          </a:xfrm>
          <a:prstGeom prst="rect">
            <a:avLst/>
          </a:prstGeom>
          <a:noFill/>
          <a:ln/>
        </p:spPr>
        <p:txBody>
          <a:bodyPr wrap="square" lIns="25400" tIns="25400" rIns="25400" bIns="25400" rtlCol="0" anchor="t">
            <a:normAutofit/>
          </a:bodyPr>
          <a:lstStyle/>
          <a:p>
            <a:pPr algn="l" indent="0" marL="0">
              <a:buNone/>
            </a:pPr>
            <a:r>
              <a:rPr lang="en-US" sz="1500" dirty="0">
                <a:solidFill>
                  <a:srgbClr val="2B57D6"/>
                </a:solidFill>
                <a:latin typeface="Roboto Mono" pitchFamily="34" charset="0"/>
                <a:ea typeface="Roboto Mono" pitchFamily="34" charset="-122"/>
                <a:cs typeface="Roboto Mono" pitchFamily="34" charset="-120"/>
              </a:rPr>
              <a:t>→ systemd</a:t>
            </a:r>
            <a:endParaRPr lang="en-US" sz="1500" dirty="0"/>
          </a:p>
        </p:txBody>
      </p:sp>
      <p:sp>
        <p:nvSpPr>
          <p:cNvPr id="54" name="Text 52"/>
          <p:cNvSpPr/>
          <p:nvPr/>
        </p:nvSpPr>
        <p:spPr>
          <a:xfrm>
            <a:off x="13072944" y="6720840"/>
            <a:ext cx="4386929" cy="33147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4A5058"/>
                </a:solidFill>
                <a:latin typeface="Arial" pitchFamily="34" charset="0"/>
                <a:ea typeface="Arial" pitchFamily="34" charset="-122"/>
                <a:cs typeface="Arial" pitchFamily="34" charset="-120"/>
              </a:rPr>
              <a:t>컨테이너 1 + 프로세스 2 뿐</a:t>
            </a:r>
            <a:endParaRPr lang="en-US" sz="1650" dirty="0"/>
          </a:p>
        </p:txBody>
      </p:sp>
      <p:sp>
        <p:nvSpPr>
          <p:cNvPr id="55" name="Text 53"/>
          <p:cNvSpPr/>
          <p:nvPr/>
        </p:nvSpPr>
        <p:spPr>
          <a:xfrm>
            <a:off x="10113764" y="7122795"/>
            <a:ext cx="151151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16181D"/>
                </a:solidFill>
                <a:latin typeface="Arial" pitchFamily="34" charset="0"/>
                <a:ea typeface="Arial" pitchFamily="34" charset="-122"/>
                <a:cs typeface="Arial" pitchFamily="34" charset="-120"/>
              </a:rPr>
              <a:t>SageMaker</a:t>
            </a:r>
            <a:endParaRPr lang="en-US" sz="1650" dirty="0"/>
          </a:p>
        </p:txBody>
      </p:sp>
      <p:sp>
        <p:nvSpPr>
          <p:cNvPr id="56" name="Text 54"/>
          <p:cNvSpPr/>
          <p:nvPr/>
        </p:nvSpPr>
        <p:spPr>
          <a:xfrm>
            <a:off x="11640265" y="7115175"/>
            <a:ext cx="1408307" cy="289560"/>
          </a:xfrm>
          <a:prstGeom prst="rect">
            <a:avLst/>
          </a:prstGeom>
          <a:noFill/>
          <a:ln/>
        </p:spPr>
        <p:txBody>
          <a:bodyPr wrap="square" lIns="25400" tIns="25400" rIns="25400" bIns="25400" rtlCol="0" anchor="t">
            <a:normAutofit/>
          </a:bodyPr>
          <a:lstStyle/>
          <a:p>
            <a:pPr algn="l" indent="0" marL="0">
              <a:buNone/>
            </a:pPr>
            <a:r>
              <a:rPr lang="en-US" sz="1500" dirty="0">
                <a:solidFill>
                  <a:srgbClr val="2B57D6"/>
                </a:solidFill>
                <a:latin typeface="Roboto Mono" pitchFamily="34" charset="0"/>
                <a:ea typeface="Roboto Mono" pitchFamily="34" charset="-122"/>
                <a:cs typeface="Roboto Mono" pitchFamily="34" charset="-120"/>
              </a:rPr>
              <a:t>→ vLLM 직접</a:t>
            </a:r>
            <a:endParaRPr lang="en-US" sz="1500" dirty="0"/>
          </a:p>
        </p:txBody>
      </p:sp>
      <p:sp>
        <p:nvSpPr>
          <p:cNvPr id="57" name="Text 55"/>
          <p:cNvSpPr/>
          <p:nvPr/>
        </p:nvSpPr>
        <p:spPr>
          <a:xfrm>
            <a:off x="13072944" y="7099935"/>
            <a:ext cx="4386929" cy="33147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4A5058"/>
                </a:solidFill>
                <a:latin typeface="Arial" pitchFamily="34" charset="0"/>
                <a:ea typeface="Arial" pitchFamily="34" charset="-122"/>
                <a:cs typeface="Arial" pitchFamily="34" charset="-120"/>
              </a:rPr>
              <a:t>8B→4B 전환을 몇 분 만에</a:t>
            </a:r>
            <a:endParaRPr lang="en-US" sz="1650" dirty="0"/>
          </a:p>
        </p:txBody>
      </p:sp>
      <p:sp>
        <p:nvSpPr>
          <p:cNvPr id="58" name="Text 56"/>
          <p:cNvSpPr/>
          <p:nvPr/>
        </p:nvSpPr>
        <p:spPr>
          <a:xfrm>
            <a:off x="10113764" y="7501890"/>
            <a:ext cx="151151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16181D"/>
                </a:solidFill>
                <a:latin typeface="Arial" pitchFamily="34" charset="0"/>
                <a:ea typeface="Arial" pitchFamily="34" charset="-122"/>
                <a:cs typeface="Arial" pitchFamily="34" charset="-120"/>
              </a:rPr>
              <a:t>Route 53</a:t>
            </a:r>
            <a:endParaRPr lang="en-US" sz="1650" dirty="0"/>
          </a:p>
        </p:txBody>
      </p:sp>
      <p:sp>
        <p:nvSpPr>
          <p:cNvPr id="59" name="Text 57"/>
          <p:cNvSpPr/>
          <p:nvPr/>
        </p:nvSpPr>
        <p:spPr>
          <a:xfrm>
            <a:off x="11640265" y="7494270"/>
            <a:ext cx="1408307" cy="289560"/>
          </a:xfrm>
          <a:prstGeom prst="rect">
            <a:avLst/>
          </a:prstGeom>
          <a:noFill/>
          <a:ln/>
        </p:spPr>
        <p:txBody>
          <a:bodyPr wrap="square" lIns="25400" tIns="25400" rIns="25400" bIns="25400" rtlCol="0" anchor="t">
            <a:normAutofit/>
          </a:bodyPr>
          <a:lstStyle/>
          <a:p>
            <a:pPr algn="l" indent="0" marL="0">
              <a:buNone/>
            </a:pPr>
            <a:r>
              <a:rPr lang="en-US" sz="1500" dirty="0">
                <a:solidFill>
                  <a:srgbClr val="2B57D6"/>
                </a:solidFill>
                <a:latin typeface="Roboto Mono" pitchFamily="34" charset="0"/>
                <a:ea typeface="Roboto Mono" pitchFamily="34" charset="-122"/>
                <a:cs typeface="Roboto Mono" pitchFamily="34" charset="-120"/>
              </a:rPr>
              <a:t>→ DuckDNS</a:t>
            </a:r>
            <a:endParaRPr lang="en-US" sz="1500" dirty="0"/>
          </a:p>
        </p:txBody>
      </p:sp>
      <p:sp>
        <p:nvSpPr>
          <p:cNvPr id="60" name="Text 58"/>
          <p:cNvSpPr/>
          <p:nvPr/>
        </p:nvSpPr>
        <p:spPr>
          <a:xfrm>
            <a:off x="13072944" y="7479030"/>
            <a:ext cx="4386929" cy="33147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4A5058"/>
                </a:solidFill>
                <a:latin typeface="Arial" pitchFamily="34" charset="0"/>
                <a:ea typeface="Arial" pitchFamily="34" charset="-122"/>
                <a:cs typeface="Arial" pitchFamily="34" charset="-120"/>
              </a:rPr>
              <a:t>등록비가 크레딧 대상 아님</a:t>
            </a:r>
            <a:endParaRPr lang="en-US" sz="1650" dirty="0"/>
          </a:p>
        </p:txBody>
      </p:sp>
      <p:sp>
        <p:nvSpPr>
          <p:cNvPr id="61" name="Text 59"/>
          <p:cNvSpPr/>
          <p:nvPr/>
        </p:nvSpPr>
        <p:spPr>
          <a:xfrm>
            <a:off x="10113764" y="7880985"/>
            <a:ext cx="1511510" cy="281940"/>
          </a:xfrm>
          <a:prstGeom prst="rect">
            <a:avLst/>
          </a:prstGeom>
          <a:noFill/>
          <a:ln/>
        </p:spPr>
        <p:txBody>
          <a:bodyPr wrap="square" lIns="25400" tIns="25400" rIns="25400" bIns="25400" rtlCol="0" anchor="t">
            <a:normAutofit/>
          </a:bodyPr>
          <a:lstStyle/>
          <a:p>
            <a:pPr algn="l" indent="0" marL="0">
              <a:buNone/>
            </a:pPr>
            <a:r>
              <a:rPr lang="en-US" sz="1650" b="1" dirty="0">
                <a:solidFill>
                  <a:srgbClr val="16181D"/>
                </a:solidFill>
                <a:latin typeface="Arial" pitchFamily="34" charset="0"/>
                <a:ea typeface="Arial" pitchFamily="34" charset="-122"/>
                <a:cs typeface="Arial" pitchFamily="34" charset="-120"/>
              </a:rPr>
              <a:t>Cost Explorer</a:t>
            </a:r>
            <a:endParaRPr lang="en-US" sz="1650" dirty="0"/>
          </a:p>
        </p:txBody>
      </p:sp>
      <p:sp>
        <p:nvSpPr>
          <p:cNvPr id="62" name="Text 60"/>
          <p:cNvSpPr/>
          <p:nvPr/>
        </p:nvSpPr>
        <p:spPr>
          <a:xfrm>
            <a:off x="11640265" y="7873365"/>
            <a:ext cx="1408307" cy="289560"/>
          </a:xfrm>
          <a:prstGeom prst="rect">
            <a:avLst/>
          </a:prstGeom>
          <a:noFill/>
          <a:ln/>
        </p:spPr>
        <p:txBody>
          <a:bodyPr wrap="square" lIns="25400" tIns="25400" rIns="25400" bIns="25400" rtlCol="0" anchor="t">
            <a:normAutofit/>
          </a:bodyPr>
          <a:lstStyle/>
          <a:p>
            <a:pPr algn="l" indent="0" marL="0">
              <a:buNone/>
            </a:pPr>
            <a:r>
              <a:rPr lang="en-US" sz="1500" dirty="0">
                <a:solidFill>
                  <a:srgbClr val="C2410C"/>
                </a:solidFill>
                <a:latin typeface="Roboto Mono" pitchFamily="34" charset="0"/>
                <a:ea typeface="Roboto Mono" pitchFamily="34" charset="-122"/>
                <a:cs typeface="Roboto Mono" pitchFamily="34" charset="-120"/>
              </a:rPr>
              <a:t>차단</a:t>
            </a:r>
            <a:endParaRPr lang="en-US" sz="1500" dirty="0"/>
          </a:p>
        </p:txBody>
      </p:sp>
      <p:sp>
        <p:nvSpPr>
          <p:cNvPr id="63" name="Text 61"/>
          <p:cNvSpPr/>
          <p:nvPr/>
        </p:nvSpPr>
        <p:spPr>
          <a:xfrm>
            <a:off x="13072944" y="7858125"/>
            <a:ext cx="4386929" cy="331470"/>
          </a:xfrm>
          <a:prstGeom prst="rect">
            <a:avLst/>
          </a:prstGeom>
          <a:noFill/>
          <a:ln/>
        </p:spPr>
        <p:txBody>
          <a:bodyPr wrap="square" lIns="25400" tIns="25400" rIns="25400" bIns="25400" rtlCol="0" anchor="t">
            <a:normAutofit/>
          </a:bodyPr>
          <a:lstStyle/>
          <a:p>
            <a:pPr algn="l" indent="0" marL="0">
              <a:lnSpc>
                <a:spcPct val="120312"/>
              </a:lnSpc>
              <a:buNone/>
            </a:pPr>
            <a:r>
              <a:rPr lang="en-US" sz="1650" dirty="0">
                <a:solidFill>
                  <a:srgbClr val="4A5058"/>
                </a:solidFill>
                <a:latin typeface="Arial" pitchFamily="34" charset="0"/>
                <a:ea typeface="Arial" pitchFamily="34" charset="-122"/>
                <a:cs typeface="Arial" pitchFamily="34" charset="-120"/>
              </a:rPr>
              <a:t>교육 계정 권한 — 단가로 추정</a:t>
            </a:r>
            <a:endParaRPr lang="en-US" sz="1650" dirty="0"/>
          </a:p>
        </p:txBody>
      </p:sp>
      <p:sp>
        <p:nvSpPr>
          <p:cNvPr id="64" name="Shape 62"/>
          <p:cNvSpPr/>
          <p:nvPr/>
        </p:nvSpPr>
        <p:spPr>
          <a:xfrm>
            <a:off x="10113764" y="8246745"/>
            <a:ext cx="6947297" cy="948690"/>
          </a:xfrm>
          <a:prstGeom prst="rect">
            <a:avLst/>
          </a:prstGeom>
          <a:solidFill>
            <a:srgbClr val="F6F7F8"/>
          </a:solidFill>
          <a:ln w="7620">
            <a:solidFill>
              <a:srgbClr val="DFE1E6"/>
            </a:solidFill>
            <a:prstDash val="solid"/>
          </a:ln>
        </p:spPr>
      </p:sp>
      <p:sp>
        <p:nvSpPr>
          <p:cNvPr id="65" name="Text 63"/>
          <p:cNvSpPr/>
          <p:nvPr/>
        </p:nvSpPr>
        <p:spPr>
          <a:xfrm>
            <a:off x="10311884" y="8406765"/>
            <a:ext cx="6759476" cy="666750"/>
          </a:xfrm>
          <a:prstGeom prst="rect">
            <a:avLst/>
          </a:prstGeom>
          <a:noFill/>
          <a:ln/>
        </p:spPr>
        <p:txBody>
          <a:bodyPr wrap="square" lIns="25400" tIns="25400" rIns="25400" bIns="25400" rtlCol="0" anchor="t">
            <a:normAutofit/>
          </a:bodyPr>
          <a:lstStyle/>
          <a:p>
            <a:pPr algn="l" indent="0" marL="0">
              <a:lnSpc>
                <a:spcPct val="128906"/>
              </a:lnSpc>
              <a:buNone/>
            </a:pPr>
            <a:r>
              <a:rPr lang="en-US" sz="1650" dirty="0">
                <a:solidFill>
                  <a:srgbClr val="4A5058"/>
                </a:solidFill>
                <a:highlight>
                  <a:srgbClr val="F6F7F8"/>
                </a:highlight>
                <a:latin typeface="Arial" pitchFamily="34" charset="0"/>
                <a:ea typeface="Arial" pitchFamily="34" charset="-122"/>
                <a:cs typeface="Arial" pitchFamily="34" charset="-120"/>
              </a:rPr>
              <a:t>Bedrock 도 </a:t>
            </a:r>
            <a:pPr algn="l" indent="0" marL="0">
              <a:lnSpc>
                <a:spcPct val="128906"/>
              </a:lnSpc>
              <a:buNone/>
            </a:pPr>
            <a:r>
              <a:rPr lang="en-US" sz="1650" b="1" dirty="0">
                <a:solidFill>
                  <a:srgbClr val="4A5058"/>
                </a:solidFill>
                <a:latin typeface="Arial" pitchFamily="34" charset="0"/>
                <a:ea typeface="Arial" pitchFamily="34" charset="-122"/>
                <a:cs typeface="Arial" pitchFamily="34" charset="-120"/>
              </a:rPr>
              <a:t>Sonnet 계열이 권한 경계로 차단 </a:t>
            </a:r>
            <a:pPr algn="l" indent="0" marL="0">
              <a:lnSpc>
                <a:spcPct val="128906"/>
              </a:lnSpc>
              <a:buNone/>
            </a:pPr>
            <a:r>
              <a:rPr lang="en-US" sz="1650" dirty="0">
                <a:solidFill>
                  <a:srgbClr val="4A5058"/>
                </a:solidFill>
                <a:highlight>
                  <a:srgbClr val="F6F7F8"/>
                </a:highlight>
                <a:latin typeface="Arial" pitchFamily="34" charset="0"/>
                <a:ea typeface="Arial" pitchFamily="34" charset="-122"/>
                <a:cs typeface="Arial" pitchFamily="34" charset="-120"/>
              </a:rPr>
              <a:t>, 교차 리전 프로파일도 전부 DENIED → 선택지가 Haiku 하나였다.</a:t>
            </a:r>
            <a:endParaRPr lang="en-US" sz="1650" dirty="0"/>
          </a:p>
        </p:txBody>
      </p:sp>
      <p:sp>
        <p:nvSpPr>
          <p:cNvPr id="66" name="Shape 64"/>
          <p:cNvSpPr/>
          <p:nvPr/>
        </p:nvSpPr>
        <p:spPr>
          <a:xfrm>
            <a:off x="9839445" y="9565005"/>
            <a:ext cx="7495937" cy="1795939"/>
          </a:xfrm>
          <a:prstGeom prst="rect">
            <a:avLst/>
          </a:prstGeom>
          <a:solidFill>
            <a:srgbClr val="FFF7ED"/>
          </a:solidFill>
          <a:ln w="7620">
            <a:solidFill>
              <a:srgbClr val="FED7AA"/>
            </a:solidFill>
            <a:prstDash val="solid"/>
          </a:ln>
        </p:spPr>
      </p:sp>
      <p:sp>
        <p:nvSpPr>
          <p:cNvPr id="67" name="Text 65"/>
          <p:cNvSpPr/>
          <p:nvPr/>
        </p:nvSpPr>
        <p:spPr>
          <a:xfrm>
            <a:off x="10113764" y="9782175"/>
            <a:ext cx="7642027" cy="304800"/>
          </a:xfrm>
          <a:prstGeom prst="rect">
            <a:avLst/>
          </a:prstGeom>
          <a:noFill/>
          <a:ln/>
        </p:spPr>
        <p:txBody>
          <a:bodyPr wrap="square" lIns="25400" tIns="25400" rIns="25400" bIns="25400" rtlCol="0" anchor="t">
            <a:normAutofit/>
          </a:bodyPr>
          <a:lstStyle/>
          <a:p>
            <a:pPr algn="l" indent="0" marL="0">
              <a:buNone/>
            </a:pPr>
            <a:r>
              <a:rPr lang="en-US" sz="1575" dirty="0">
                <a:solidFill>
                  <a:srgbClr val="C2410C"/>
                </a:solidFill>
                <a:latin typeface="Roboto Mono" pitchFamily="34" charset="0"/>
                <a:ea typeface="Roboto Mono" pitchFamily="34" charset="-122"/>
                <a:cs typeface="Roboto Mono" pitchFamily="34" charset="-120"/>
              </a:rPr>
              <a:t>환경변수 함정</a:t>
            </a:r>
            <a:endParaRPr lang="en-US" sz="1575" dirty="0"/>
          </a:p>
        </p:txBody>
      </p:sp>
      <p:sp>
        <p:nvSpPr>
          <p:cNvPr id="68" name="Text 66"/>
          <p:cNvSpPr/>
          <p:nvPr/>
        </p:nvSpPr>
        <p:spPr>
          <a:xfrm>
            <a:off x="10113764" y="10125075"/>
            <a:ext cx="7155716" cy="1056799"/>
          </a:xfrm>
          <a:prstGeom prst="rect">
            <a:avLst/>
          </a:prstGeom>
          <a:noFill/>
          <a:ln/>
        </p:spPr>
        <p:txBody>
          <a:bodyPr wrap="square" lIns="25400" tIns="25400" rIns="25400" bIns="25400" rtlCol="0" anchor="t">
            <a:normAutofit/>
          </a:bodyPr>
          <a:lstStyle/>
          <a:p>
            <a:pPr algn="l" indent="0" marL="0">
              <a:lnSpc>
                <a:spcPct val="135038"/>
              </a:lnSpc>
              <a:buNone/>
            </a:pPr>
            <a:r>
              <a:rPr lang="en-US" sz="1575" dirty="0">
                <a:solidFill>
                  <a:srgbClr val="7C2D12"/>
                </a:solidFill>
                <a:latin typeface="Roboto Mono" pitchFamily="34" charset="0"/>
                <a:ea typeface="Roboto Mono" pitchFamily="34" charset="-122"/>
                <a:cs typeface="Roboto Mono" pitchFamily="34" charset="-120"/>
              </a:rPr>
              <a:t>% </a:t>
            </a:r>
            <a:pPr algn="l" indent="0" marL="0">
              <a:lnSpc>
                <a:spcPct val="135038"/>
              </a:lnSpc>
              <a:buNone/>
            </a:pPr>
            <a:r>
              <a:rPr lang="en-US" sz="1725" dirty="0">
                <a:solidFill>
                  <a:srgbClr val="7C2D12"/>
                </a:solidFill>
                <a:latin typeface="Arial" pitchFamily="34" charset="0"/>
                <a:ea typeface="Arial" pitchFamily="34" charset="-122"/>
                <a:cs typeface="Arial" pitchFamily="34" charset="-120"/>
              </a:rPr>
              <a:t>가 든 키는 systemd 가 </a:t>
            </a:r>
            <a:pPr algn="l" indent="0" marL="0">
              <a:lnSpc>
                <a:spcPct val="135038"/>
              </a:lnSpc>
              <a:buNone/>
            </a:pPr>
            <a:r>
              <a:rPr lang="en-US" sz="1725" b="1" dirty="0">
                <a:solidFill>
                  <a:srgbClr val="7C2D12"/>
                </a:solidFill>
                <a:latin typeface="Arial" pitchFamily="34" charset="0"/>
                <a:ea typeface="Arial" pitchFamily="34" charset="-122"/>
                <a:cs typeface="Arial" pitchFamily="34" charset="-120"/>
              </a:rPr>
              <a:t>지정자로 해석하려다 실패 </a:t>
            </a:r>
            <a:pPr algn="l" indent="0" marL="0">
              <a:lnSpc>
                <a:spcPct val="135038"/>
              </a:lnSpc>
              <a:buNone/>
            </a:pPr>
            <a:r>
              <a:rPr lang="en-US" sz="1725" dirty="0">
                <a:solidFill>
                  <a:srgbClr val="7C2D12"/>
                </a:solidFill>
                <a:latin typeface="Arial" pitchFamily="34" charset="0"/>
                <a:ea typeface="Arial" pitchFamily="34" charset="-122"/>
                <a:cs typeface="Arial" pitchFamily="34" charset="-120"/>
              </a:rPr>
              <a:t>해 변수가 전달되지 않았고, </a:t>
            </a:r>
            <a:pPr algn="l" indent="0" marL="0">
              <a:lnSpc>
                <a:spcPct val="135038"/>
              </a:lnSpc>
              <a:buNone/>
            </a:pPr>
            <a:r>
              <a:rPr lang="en-US" sz="1575" dirty="0">
                <a:solidFill>
                  <a:srgbClr val="7C2D12"/>
                </a:solidFill>
                <a:latin typeface="Roboto Mono" pitchFamily="34" charset="0"/>
                <a:ea typeface="Roboto Mono" pitchFamily="34" charset="-122"/>
                <a:cs typeface="Roboto Mono" pitchFamily="34" charset="-120"/>
              </a:rPr>
              <a:t>$ </a:t>
            </a:r>
            <a:pPr algn="l" indent="0" marL="0">
              <a:lnSpc>
                <a:spcPct val="135038"/>
              </a:lnSpc>
              <a:buNone/>
            </a:pPr>
            <a:r>
              <a:rPr lang="en-US" sz="1725" dirty="0">
                <a:solidFill>
                  <a:srgbClr val="7C2D12"/>
                </a:solidFill>
                <a:latin typeface="Arial" pitchFamily="34" charset="0"/>
                <a:ea typeface="Arial" pitchFamily="34" charset="-122"/>
                <a:cs typeface="Arial" pitchFamily="34" charset="-120"/>
              </a:rPr>
              <a:t>가 든 키는 이스케이프가 필요했다 → </a:t>
            </a:r>
            <a:pPr algn="l" indent="0" marL="0">
              <a:lnSpc>
                <a:spcPct val="135038"/>
              </a:lnSpc>
              <a:buNone/>
            </a:pPr>
            <a:r>
              <a:rPr lang="en-US" sz="1575" dirty="0">
                <a:solidFill>
                  <a:srgbClr val="7C2D12"/>
                </a:solidFill>
                <a:latin typeface="Roboto Mono" pitchFamily="34" charset="0"/>
                <a:ea typeface="Roboto Mono" pitchFamily="34" charset="-122"/>
                <a:cs typeface="Roboto Mono" pitchFamily="34" charset="-120"/>
              </a:rPr>
              <a:t>/etc/maas-api.env </a:t>
            </a:r>
            <a:pPr algn="l" indent="0" marL="0">
              <a:lnSpc>
                <a:spcPct val="135038"/>
              </a:lnSpc>
              <a:buNone/>
            </a:pPr>
            <a:r>
              <a:rPr lang="en-US" sz="1725" dirty="0">
                <a:solidFill>
                  <a:srgbClr val="7C2D12"/>
                </a:solidFill>
                <a:latin typeface="Arial" pitchFamily="34" charset="0"/>
                <a:ea typeface="Arial" pitchFamily="34" charset="-122"/>
                <a:cs typeface="Arial" pitchFamily="34" charset="-120"/>
              </a:rPr>
              <a:t>+ </a:t>
            </a:r>
            <a:pPr algn="l" indent="0" marL="0">
              <a:lnSpc>
                <a:spcPct val="135038"/>
              </a:lnSpc>
              <a:buNone/>
            </a:pPr>
            <a:r>
              <a:rPr lang="en-US" sz="1575" dirty="0">
                <a:solidFill>
                  <a:srgbClr val="7C2D12"/>
                </a:solidFill>
                <a:latin typeface="Roboto Mono" pitchFamily="34" charset="0"/>
                <a:ea typeface="Roboto Mono" pitchFamily="34" charset="-122"/>
                <a:cs typeface="Roboto Mono" pitchFamily="34" charset="-120"/>
              </a:rPr>
              <a:t>EnvironmentFile=</a:t>
            </a:r>
            <a:pPr algn="l" indent="0" marL="0">
              <a:lnSpc>
                <a:spcPct val="135038"/>
              </a:lnSpc>
              <a:buNone/>
            </a:pPr>
            <a:r>
              <a:rPr lang="en-US" sz="1725" dirty="0">
                <a:solidFill>
                  <a:srgbClr val="7C2D12"/>
                </a:solidFill>
                <a:latin typeface="Arial" pitchFamily="34" charset="0"/>
                <a:ea typeface="Arial" pitchFamily="34" charset="-122"/>
                <a:cs typeface="Arial" pitchFamily="34" charset="-120"/>
              </a:rPr>
              <a:t>. </a:t>
            </a:r>
            <a:pPr algn="l" indent="0" marL="0">
              <a:lnSpc>
                <a:spcPct val="135038"/>
              </a:lnSpc>
              <a:buNone/>
            </a:pPr>
            <a:r>
              <a:rPr lang="en-US" sz="1725" b="1" dirty="0">
                <a:solidFill>
                  <a:srgbClr val="7C2D12"/>
                </a:solidFill>
                <a:latin typeface="Arial" pitchFamily="34" charset="0"/>
                <a:ea typeface="Arial" pitchFamily="34" charset="-122"/>
                <a:cs typeface="Arial" pitchFamily="34" charset="-120"/>
              </a:rPr>
              <a:t>배포 대상이 아니라 EC2 에 직접 존재한다.</a:t>
            </a:r>
            <a:endParaRPr lang="en-US" sz="172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952500" y="723900"/>
            <a:ext cx="1802130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28 · CI/CD</a:t>
            </a:r>
            <a:endParaRPr lang="en-US" sz="1800" dirty="0"/>
          </a:p>
        </p:txBody>
      </p:sp>
      <p:sp>
        <p:nvSpPr>
          <p:cNvPr id="3" name="Text 1"/>
          <p:cNvSpPr/>
          <p:nvPr/>
        </p:nvSpPr>
        <p:spPr>
          <a:xfrm>
            <a:off x="952500" y="1135380"/>
            <a:ext cx="18021300"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배포 경로는 CodePipeline 하나</a:t>
            </a:r>
            <a:endParaRPr lang="en-US" sz="4950" dirty="0"/>
          </a:p>
        </p:txBody>
      </p:sp>
      <p:sp>
        <p:nvSpPr>
          <p:cNvPr id="4" name="Shape 2"/>
          <p:cNvSpPr/>
          <p:nvPr/>
        </p:nvSpPr>
        <p:spPr>
          <a:xfrm>
            <a:off x="952500" y="2350770"/>
            <a:ext cx="1120616" cy="1666875"/>
          </a:xfrm>
          <a:prstGeom prst="rect">
            <a:avLst/>
          </a:prstGeom>
          <a:solidFill>
            <a:srgbClr val="16181D"/>
          </a:solidFill>
          <a:ln/>
        </p:spPr>
      </p:sp>
      <p:sp>
        <p:nvSpPr>
          <p:cNvPr id="5" name="Text 3"/>
          <p:cNvSpPr/>
          <p:nvPr/>
        </p:nvSpPr>
        <p:spPr>
          <a:xfrm>
            <a:off x="1254562" y="2724864"/>
            <a:ext cx="592574" cy="626269"/>
          </a:xfrm>
          <a:prstGeom prst="rect">
            <a:avLst/>
          </a:prstGeom>
          <a:noFill/>
          <a:ln/>
        </p:spPr>
        <p:txBody>
          <a:bodyPr wrap="square" lIns="0" tIns="0" rIns="0" bIns="0" rtlCol="0" anchor="t">
            <a:normAutofit/>
          </a:bodyPr>
          <a:lstStyle/>
          <a:p>
            <a:pPr algn="ctr" indent="0" marL="0">
              <a:lnSpc>
                <a:spcPct val="117187"/>
              </a:lnSpc>
              <a:buNone/>
            </a:pPr>
            <a:r>
              <a:rPr lang="en-US" sz="1875" dirty="0">
                <a:solidFill>
                  <a:srgbClr val="FBFBFA"/>
                </a:solidFill>
                <a:latin typeface="Arial" pitchFamily="34" charset="0"/>
                <a:ea typeface="Arial" pitchFamily="34" charset="-122"/>
                <a:cs typeface="Arial" pitchFamily="34" charset="-120"/>
              </a:rPr>
              <a:t>git push</a:t>
            </a:r>
            <a:endParaRPr lang="en-US" sz="1875" dirty="0"/>
          </a:p>
        </p:txBody>
      </p:sp>
      <p:sp>
        <p:nvSpPr>
          <p:cNvPr id="6" name="Text 4"/>
          <p:cNvSpPr/>
          <p:nvPr/>
        </p:nvSpPr>
        <p:spPr>
          <a:xfrm>
            <a:off x="1254681" y="3367802"/>
            <a:ext cx="592336" cy="304800"/>
          </a:xfrm>
          <a:prstGeom prst="rect">
            <a:avLst/>
          </a:prstGeom>
          <a:noFill/>
          <a:ln/>
        </p:spPr>
        <p:txBody>
          <a:bodyPr wrap="square" lIns="0" tIns="0" rIns="0" bIns="0" rtlCol="0" anchor="t">
            <a:normAutofit/>
          </a:bodyPr>
          <a:lstStyle/>
          <a:p>
            <a:pPr algn="ctr" indent="0" marL="0">
              <a:lnSpc>
                <a:spcPct val="117187"/>
              </a:lnSpc>
              <a:buNone/>
            </a:pPr>
            <a:r>
              <a:rPr lang="en-US" sz="1875" dirty="0">
                <a:solidFill>
                  <a:srgbClr val="FBFBFA"/>
                </a:solidFill>
                <a:latin typeface="Arial" pitchFamily="34" charset="0"/>
                <a:ea typeface="Arial" pitchFamily="34" charset="-122"/>
                <a:cs typeface="Arial" pitchFamily="34" charset="-120"/>
              </a:rPr>
              <a:t>main</a:t>
            </a:r>
            <a:endParaRPr lang="en-US" sz="1875" dirty="0"/>
          </a:p>
        </p:txBody>
      </p:sp>
      <p:sp>
        <p:nvSpPr>
          <p:cNvPr id="7" name="Text 5"/>
          <p:cNvSpPr/>
          <p:nvPr/>
        </p:nvSpPr>
        <p:spPr>
          <a:xfrm>
            <a:off x="2187416" y="2350770"/>
            <a:ext cx="323850" cy="1704975"/>
          </a:xfrm>
          <a:prstGeom prst="rect">
            <a:avLst/>
          </a:prstGeom>
          <a:noFill/>
          <a:ln/>
        </p:spPr>
        <p:txBody>
          <a:bodyPr wrap="square" lIns="25400" tIns="25400" rIns="25400" bIns="25400" rtlCol="0" anchor="ctr">
            <a:normAutofit/>
          </a:bodyPr>
          <a:lstStyle/>
          <a:p>
            <a:pPr algn="l" indent="0" marL="0">
              <a:buNone/>
            </a:pPr>
            <a:r>
              <a:rPr lang="en-US" sz="1950" dirty="0">
                <a:solidFill>
                  <a:srgbClr val="C2C6CC"/>
                </a:solidFill>
                <a:latin typeface="Arial" pitchFamily="34" charset="0"/>
                <a:ea typeface="Arial" pitchFamily="34" charset="-122"/>
                <a:cs typeface="Arial" pitchFamily="34" charset="-120"/>
              </a:rPr>
              <a:t>→</a:t>
            </a:r>
            <a:endParaRPr lang="en-US" sz="1950" dirty="0"/>
          </a:p>
        </p:txBody>
      </p:sp>
      <p:sp>
        <p:nvSpPr>
          <p:cNvPr id="8" name="Shape 6"/>
          <p:cNvSpPr/>
          <p:nvPr/>
        </p:nvSpPr>
        <p:spPr>
          <a:xfrm>
            <a:off x="2549366" y="2350770"/>
            <a:ext cx="3051453" cy="1666875"/>
          </a:xfrm>
          <a:prstGeom prst="rect">
            <a:avLst/>
          </a:prstGeom>
          <a:solidFill>
            <a:srgbClr val="FFFFFF"/>
          </a:solidFill>
          <a:ln w="7620">
            <a:solidFill>
              <a:srgbClr val="DFE1E6"/>
            </a:solidFill>
            <a:prstDash val="solid"/>
          </a:ln>
        </p:spPr>
      </p:sp>
      <p:sp>
        <p:nvSpPr>
          <p:cNvPr id="9" name="Text 7"/>
          <p:cNvSpPr/>
          <p:nvPr/>
        </p:nvSpPr>
        <p:spPr>
          <a:xfrm>
            <a:off x="2785586" y="3046333"/>
            <a:ext cx="1969294" cy="304800"/>
          </a:xfrm>
          <a:prstGeom prst="rect">
            <a:avLst/>
          </a:prstGeom>
          <a:noFill/>
          <a:ln/>
        </p:spPr>
        <p:txBody>
          <a:bodyPr wrap="square" lIns="0" tIns="0" rIns="0" bIns="0" rtlCol="0" anchor="t">
            <a:normAutofit/>
          </a:bodyPr>
          <a:lstStyle/>
          <a:p>
            <a:pPr algn="l" indent="0" marL="0">
              <a:lnSpc>
                <a:spcPct val="117187"/>
              </a:lnSpc>
              <a:buNone/>
            </a:pPr>
            <a:r>
              <a:rPr lang="en-US" sz="1875" dirty="0">
                <a:solidFill>
                  <a:srgbClr val="16181D"/>
                </a:solidFill>
                <a:latin typeface="Arial" pitchFamily="34" charset="0"/>
                <a:ea typeface="Arial" pitchFamily="34" charset="-122"/>
                <a:cs typeface="Arial" pitchFamily="34" charset="-120"/>
              </a:rPr>
              <a:t>CodeConnections</a:t>
            </a:r>
            <a:endParaRPr lang="en-US" sz="1875" dirty="0"/>
          </a:p>
        </p:txBody>
      </p:sp>
      <p:sp>
        <p:nvSpPr>
          <p:cNvPr id="10" name="Text 8"/>
          <p:cNvSpPr/>
          <p:nvPr/>
        </p:nvSpPr>
        <p:spPr>
          <a:xfrm>
            <a:off x="4678680" y="2927033"/>
            <a:ext cx="762119" cy="552450"/>
          </a:xfrm>
          <a:prstGeom prst="rect">
            <a:avLst/>
          </a:prstGeom>
          <a:noFill/>
          <a:ln/>
        </p:spPr>
        <p:txBody>
          <a:bodyPr wrap="square" lIns="25400" tIns="25400" rIns="25400" bIns="25400" rtlCol="0" anchor="t">
            <a:normAutofit/>
          </a:bodyPr>
          <a:lstStyle/>
          <a:p>
            <a:pPr algn="l" indent="0" marL="0">
              <a:lnSpc>
                <a:spcPct val="102273"/>
              </a:lnSpc>
              <a:buNone/>
            </a:pPr>
            <a:r>
              <a:rPr lang="en-US" sz="1500" dirty="0">
                <a:solidFill>
                  <a:srgbClr val="6B7280"/>
                </a:solidFill>
                <a:latin typeface="Roboto Mono" pitchFamily="34" charset="0"/>
                <a:ea typeface="Roboto Mono" pitchFamily="34" charset="-122"/>
                <a:cs typeface="Roboto Mono" pitchFamily="34" charset="-120"/>
              </a:rPr>
              <a:t>maas-github</a:t>
            </a:r>
            <a:endParaRPr lang="en-US" sz="1500" dirty="0"/>
          </a:p>
        </p:txBody>
      </p:sp>
      <p:sp>
        <p:nvSpPr>
          <p:cNvPr id="11" name="Text 9"/>
          <p:cNvSpPr/>
          <p:nvPr/>
        </p:nvSpPr>
        <p:spPr>
          <a:xfrm>
            <a:off x="5715119" y="2350770"/>
            <a:ext cx="323850" cy="1704975"/>
          </a:xfrm>
          <a:prstGeom prst="rect">
            <a:avLst/>
          </a:prstGeom>
          <a:noFill/>
          <a:ln/>
        </p:spPr>
        <p:txBody>
          <a:bodyPr wrap="square" lIns="25400" tIns="25400" rIns="25400" bIns="25400" rtlCol="0" anchor="ctr">
            <a:normAutofit/>
          </a:bodyPr>
          <a:lstStyle/>
          <a:p>
            <a:pPr algn="l" indent="0" marL="0">
              <a:buNone/>
            </a:pPr>
            <a:r>
              <a:rPr lang="en-US" sz="1950" dirty="0">
                <a:solidFill>
                  <a:srgbClr val="C2C6CC"/>
                </a:solidFill>
                <a:latin typeface="Arial" pitchFamily="34" charset="0"/>
                <a:ea typeface="Arial" pitchFamily="34" charset="-122"/>
                <a:cs typeface="Arial" pitchFamily="34" charset="-120"/>
              </a:rPr>
              <a:t>→</a:t>
            </a:r>
            <a:endParaRPr lang="en-US" sz="1950" dirty="0"/>
          </a:p>
        </p:txBody>
      </p:sp>
      <p:sp>
        <p:nvSpPr>
          <p:cNvPr id="12" name="Shape 10"/>
          <p:cNvSpPr/>
          <p:nvPr/>
        </p:nvSpPr>
        <p:spPr>
          <a:xfrm>
            <a:off x="6077069" y="2350770"/>
            <a:ext cx="2803684" cy="1666875"/>
          </a:xfrm>
          <a:prstGeom prst="rect">
            <a:avLst/>
          </a:prstGeom>
          <a:solidFill>
            <a:srgbClr val="FFFFFF"/>
          </a:solidFill>
          <a:ln w="7620">
            <a:solidFill>
              <a:srgbClr val="DFE1E6"/>
            </a:solidFill>
            <a:prstDash val="solid"/>
          </a:ln>
        </p:spPr>
      </p:sp>
      <p:sp>
        <p:nvSpPr>
          <p:cNvPr id="13" name="Text 11"/>
          <p:cNvSpPr/>
          <p:nvPr/>
        </p:nvSpPr>
        <p:spPr>
          <a:xfrm>
            <a:off x="6313289" y="3046333"/>
            <a:ext cx="1492806" cy="304800"/>
          </a:xfrm>
          <a:prstGeom prst="rect">
            <a:avLst/>
          </a:prstGeom>
          <a:noFill/>
          <a:ln/>
        </p:spPr>
        <p:txBody>
          <a:bodyPr wrap="square" lIns="0" tIns="0" rIns="0" bIns="0" rtlCol="0" anchor="t">
            <a:normAutofit/>
          </a:bodyPr>
          <a:lstStyle/>
          <a:p>
            <a:pPr algn="l" indent="0" marL="0">
              <a:lnSpc>
                <a:spcPct val="117187"/>
              </a:lnSpc>
              <a:buNone/>
            </a:pPr>
            <a:r>
              <a:rPr lang="en-US" sz="1875" dirty="0">
                <a:solidFill>
                  <a:srgbClr val="16181D"/>
                </a:solidFill>
                <a:latin typeface="Arial" pitchFamily="34" charset="0"/>
                <a:ea typeface="Arial" pitchFamily="34" charset="-122"/>
                <a:cs typeface="Arial" pitchFamily="34" charset="-120"/>
              </a:rPr>
              <a:t>CodePipeline</a:t>
            </a:r>
            <a:endParaRPr lang="en-US" sz="1875" dirty="0"/>
          </a:p>
        </p:txBody>
      </p:sp>
      <p:sp>
        <p:nvSpPr>
          <p:cNvPr id="14" name="Text 12"/>
          <p:cNvSpPr/>
          <p:nvPr/>
        </p:nvSpPr>
        <p:spPr>
          <a:xfrm>
            <a:off x="7729895" y="2927033"/>
            <a:ext cx="990838" cy="552450"/>
          </a:xfrm>
          <a:prstGeom prst="rect">
            <a:avLst/>
          </a:prstGeom>
          <a:noFill/>
          <a:ln/>
        </p:spPr>
        <p:txBody>
          <a:bodyPr wrap="square" lIns="25400" tIns="25400" rIns="25400" bIns="25400" rtlCol="0" anchor="t">
            <a:normAutofit/>
          </a:bodyPr>
          <a:lstStyle/>
          <a:p>
            <a:pPr algn="l" indent="0" marL="0">
              <a:lnSpc>
                <a:spcPct val="102273"/>
              </a:lnSpc>
              <a:buNone/>
            </a:pPr>
            <a:r>
              <a:rPr lang="en-US" sz="1500" dirty="0">
                <a:solidFill>
                  <a:srgbClr val="6B7280"/>
                </a:solidFill>
                <a:latin typeface="Roboto Mono" pitchFamily="34" charset="0"/>
                <a:ea typeface="Roboto Mono" pitchFamily="34" charset="-122"/>
                <a:cs typeface="Roboto Mono" pitchFamily="34" charset="-120"/>
              </a:rPr>
              <a:t>maas-pipeline</a:t>
            </a:r>
            <a:endParaRPr lang="en-US" sz="1500" dirty="0"/>
          </a:p>
        </p:txBody>
      </p:sp>
      <p:sp>
        <p:nvSpPr>
          <p:cNvPr id="15" name="Text 13"/>
          <p:cNvSpPr/>
          <p:nvPr/>
        </p:nvSpPr>
        <p:spPr>
          <a:xfrm>
            <a:off x="8995053" y="2350770"/>
            <a:ext cx="323850" cy="1704975"/>
          </a:xfrm>
          <a:prstGeom prst="rect">
            <a:avLst/>
          </a:prstGeom>
          <a:noFill/>
          <a:ln/>
        </p:spPr>
        <p:txBody>
          <a:bodyPr wrap="square" lIns="25400" tIns="25400" rIns="25400" bIns="25400" rtlCol="0" anchor="ctr">
            <a:normAutofit/>
          </a:bodyPr>
          <a:lstStyle/>
          <a:p>
            <a:pPr algn="l" indent="0" marL="0">
              <a:buNone/>
            </a:pPr>
            <a:r>
              <a:rPr lang="en-US" sz="1950" dirty="0">
                <a:solidFill>
                  <a:srgbClr val="C2C6CC"/>
                </a:solidFill>
                <a:latin typeface="Arial" pitchFamily="34" charset="0"/>
                <a:ea typeface="Arial" pitchFamily="34" charset="-122"/>
                <a:cs typeface="Arial" pitchFamily="34" charset="-120"/>
              </a:rPr>
              <a:t>→</a:t>
            </a:r>
            <a:endParaRPr lang="en-US" sz="1950" dirty="0"/>
          </a:p>
        </p:txBody>
      </p:sp>
      <p:sp>
        <p:nvSpPr>
          <p:cNvPr id="16" name="Shape 14"/>
          <p:cNvSpPr/>
          <p:nvPr/>
        </p:nvSpPr>
        <p:spPr>
          <a:xfrm>
            <a:off x="9357003" y="2350770"/>
            <a:ext cx="2933581" cy="1666875"/>
          </a:xfrm>
          <a:prstGeom prst="rect">
            <a:avLst/>
          </a:prstGeom>
          <a:solidFill>
            <a:srgbClr val="F3F6FF"/>
          </a:solidFill>
          <a:ln w="7620">
            <a:solidFill>
              <a:srgbClr val="C9D6FF"/>
            </a:solidFill>
            <a:prstDash val="solid"/>
          </a:ln>
        </p:spPr>
      </p:sp>
      <p:sp>
        <p:nvSpPr>
          <p:cNvPr id="17" name="Text 15"/>
          <p:cNvSpPr/>
          <p:nvPr/>
        </p:nvSpPr>
        <p:spPr>
          <a:xfrm>
            <a:off x="9593223" y="3046333"/>
            <a:ext cx="1175028" cy="304800"/>
          </a:xfrm>
          <a:prstGeom prst="rect">
            <a:avLst/>
          </a:prstGeom>
          <a:noFill/>
          <a:ln/>
        </p:spPr>
        <p:txBody>
          <a:bodyPr wrap="square" lIns="0" tIns="0" rIns="0" bIns="0" rtlCol="0" anchor="t">
            <a:normAutofit/>
          </a:bodyPr>
          <a:lstStyle/>
          <a:p>
            <a:pPr algn="l" indent="0" marL="0">
              <a:lnSpc>
                <a:spcPct val="117187"/>
              </a:lnSpc>
              <a:buNone/>
            </a:pPr>
            <a:r>
              <a:rPr lang="en-US" sz="1875" dirty="0">
                <a:solidFill>
                  <a:srgbClr val="16181D"/>
                </a:solidFill>
                <a:latin typeface="Arial" pitchFamily="34" charset="0"/>
                <a:ea typeface="Arial" pitchFamily="34" charset="-122"/>
                <a:cs typeface="Arial" pitchFamily="34" charset="-120"/>
              </a:rPr>
              <a:t>CodeBuild</a:t>
            </a:r>
            <a:endParaRPr lang="en-US" sz="1875" dirty="0"/>
          </a:p>
        </p:txBody>
      </p:sp>
      <p:sp>
        <p:nvSpPr>
          <p:cNvPr id="18" name="Text 16"/>
          <p:cNvSpPr/>
          <p:nvPr/>
        </p:nvSpPr>
        <p:spPr>
          <a:xfrm>
            <a:off x="10692051" y="2702005"/>
            <a:ext cx="295275" cy="1002506"/>
          </a:xfrm>
          <a:prstGeom prst="rect">
            <a:avLst/>
          </a:prstGeom>
          <a:noFill/>
          <a:ln/>
        </p:spPr>
        <p:txBody>
          <a:bodyPr wrap="square" lIns="25400" tIns="25400" rIns="25400" bIns="25400" rtlCol="0" anchor="t">
            <a:normAutofit/>
          </a:bodyPr>
          <a:lstStyle/>
          <a:p>
            <a:pPr algn="l" indent="0" marL="0">
              <a:lnSpc>
                <a:spcPct val="117187"/>
              </a:lnSpc>
              <a:buNone/>
            </a:pPr>
            <a:r>
              <a:rPr lang="en-US" sz="1875" dirty="0">
                <a:solidFill>
                  <a:srgbClr val="2B57D6"/>
                </a:solidFill>
                <a:latin typeface="Arial" pitchFamily="34" charset="0"/>
                <a:ea typeface="Arial" pitchFamily="34" charset="-122"/>
                <a:cs typeface="Arial" pitchFamily="34" charset="-120"/>
              </a:rPr>
              <a:t>검증만</a:t>
            </a:r>
            <a:endParaRPr lang="en-US" sz="1875" dirty="0"/>
          </a:p>
        </p:txBody>
      </p:sp>
      <p:sp>
        <p:nvSpPr>
          <p:cNvPr id="19" name="Text 17"/>
          <p:cNvSpPr/>
          <p:nvPr/>
        </p:nvSpPr>
        <p:spPr>
          <a:xfrm>
            <a:off x="10911126" y="2669858"/>
            <a:ext cx="1219438" cy="1066800"/>
          </a:xfrm>
          <a:prstGeom prst="rect">
            <a:avLst/>
          </a:prstGeom>
          <a:noFill/>
          <a:ln/>
        </p:spPr>
        <p:txBody>
          <a:bodyPr wrap="square" lIns="25400" tIns="25400" rIns="25400" bIns="25400" rtlCol="0" anchor="t">
            <a:normAutofit/>
          </a:bodyPr>
          <a:lstStyle/>
          <a:p>
            <a:pPr algn="l" indent="0" marL="0">
              <a:lnSpc>
                <a:spcPct val="102273"/>
              </a:lnSpc>
              <a:buNone/>
            </a:pPr>
            <a:r>
              <a:rPr lang="en-US" sz="1500" dirty="0">
                <a:solidFill>
                  <a:srgbClr val="4A5058"/>
                </a:solidFill>
                <a:latin typeface="Roboto Mono" pitchFamily="34" charset="0"/>
                <a:ea typeface="Roboto Mono" pitchFamily="34" charset="-122"/>
                <a:cs typeface="Roboto Mono" pitchFamily="34" charset="-120"/>
              </a:rPr>
              <a:t>py_compile · JSON · 평가셋 · 구성파일</a:t>
            </a:r>
            <a:endParaRPr lang="en-US" sz="1500" dirty="0"/>
          </a:p>
        </p:txBody>
      </p:sp>
      <p:sp>
        <p:nvSpPr>
          <p:cNvPr id="20" name="Text 18"/>
          <p:cNvSpPr/>
          <p:nvPr/>
        </p:nvSpPr>
        <p:spPr>
          <a:xfrm>
            <a:off x="12404884" y="2350770"/>
            <a:ext cx="323850" cy="1704975"/>
          </a:xfrm>
          <a:prstGeom prst="rect">
            <a:avLst/>
          </a:prstGeom>
          <a:noFill/>
          <a:ln/>
        </p:spPr>
        <p:txBody>
          <a:bodyPr wrap="square" lIns="25400" tIns="25400" rIns="25400" bIns="25400" rtlCol="0" anchor="ctr">
            <a:normAutofit/>
          </a:bodyPr>
          <a:lstStyle/>
          <a:p>
            <a:pPr algn="l" indent="0" marL="0">
              <a:buNone/>
            </a:pPr>
            <a:r>
              <a:rPr lang="en-US" sz="1950" dirty="0">
                <a:solidFill>
                  <a:srgbClr val="C2C6CC"/>
                </a:solidFill>
                <a:latin typeface="Arial" pitchFamily="34" charset="0"/>
                <a:ea typeface="Arial" pitchFamily="34" charset="-122"/>
                <a:cs typeface="Arial" pitchFamily="34" charset="-120"/>
              </a:rPr>
              <a:t>→</a:t>
            </a:r>
            <a:endParaRPr lang="en-US" sz="1950" dirty="0"/>
          </a:p>
        </p:txBody>
      </p:sp>
      <p:sp>
        <p:nvSpPr>
          <p:cNvPr id="21" name="Shape 19"/>
          <p:cNvSpPr/>
          <p:nvPr/>
        </p:nvSpPr>
        <p:spPr>
          <a:xfrm>
            <a:off x="12766834" y="2350770"/>
            <a:ext cx="2354580" cy="1666875"/>
          </a:xfrm>
          <a:prstGeom prst="rect">
            <a:avLst/>
          </a:prstGeom>
          <a:solidFill>
            <a:srgbClr val="FFFFFF"/>
          </a:solidFill>
          <a:ln w="7620">
            <a:solidFill>
              <a:srgbClr val="DFE1E6"/>
            </a:solidFill>
            <a:prstDash val="solid"/>
          </a:ln>
        </p:spPr>
      </p:sp>
      <p:sp>
        <p:nvSpPr>
          <p:cNvPr id="22" name="Text 20"/>
          <p:cNvSpPr/>
          <p:nvPr/>
        </p:nvSpPr>
        <p:spPr>
          <a:xfrm>
            <a:off x="13003054" y="3046333"/>
            <a:ext cx="1386721" cy="304800"/>
          </a:xfrm>
          <a:prstGeom prst="rect">
            <a:avLst/>
          </a:prstGeom>
          <a:noFill/>
          <a:ln/>
        </p:spPr>
        <p:txBody>
          <a:bodyPr wrap="square" lIns="0" tIns="0" rIns="0" bIns="0" rtlCol="0" anchor="t">
            <a:normAutofit/>
          </a:bodyPr>
          <a:lstStyle/>
          <a:p>
            <a:pPr algn="l" indent="0" marL="0">
              <a:lnSpc>
                <a:spcPct val="117187"/>
              </a:lnSpc>
              <a:buNone/>
            </a:pPr>
            <a:r>
              <a:rPr lang="en-US" sz="1875" dirty="0">
                <a:solidFill>
                  <a:srgbClr val="16181D"/>
                </a:solidFill>
                <a:latin typeface="Arial" pitchFamily="34" charset="0"/>
                <a:ea typeface="Arial" pitchFamily="34" charset="-122"/>
                <a:cs typeface="Arial" pitchFamily="34" charset="-120"/>
              </a:rPr>
              <a:t>CodeDeploy</a:t>
            </a:r>
            <a:endParaRPr lang="en-US" sz="1875" dirty="0"/>
          </a:p>
        </p:txBody>
      </p:sp>
      <p:sp>
        <p:nvSpPr>
          <p:cNvPr id="23" name="Text 21"/>
          <p:cNvSpPr/>
          <p:nvPr/>
        </p:nvSpPr>
        <p:spPr>
          <a:xfrm>
            <a:off x="14313575" y="2798445"/>
            <a:ext cx="647819" cy="809625"/>
          </a:xfrm>
          <a:prstGeom prst="rect">
            <a:avLst/>
          </a:prstGeom>
          <a:noFill/>
          <a:ln/>
        </p:spPr>
        <p:txBody>
          <a:bodyPr wrap="square" lIns="25400" tIns="25400" rIns="25400" bIns="25400" rtlCol="0" anchor="t">
            <a:normAutofit/>
          </a:bodyPr>
          <a:lstStyle/>
          <a:p>
            <a:pPr algn="l" indent="0" marL="0">
              <a:lnSpc>
                <a:spcPct val="102273"/>
              </a:lnSpc>
              <a:buNone/>
            </a:pPr>
            <a:r>
              <a:rPr lang="en-US" sz="1500" dirty="0">
                <a:solidFill>
                  <a:srgbClr val="6B7280"/>
                </a:solidFill>
                <a:latin typeface="Roboto Mono" pitchFamily="34" charset="0"/>
                <a:ea typeface="Roboto Mono" pitchFamily="34" charset="-122"/>
                <a:cs typeface="Roboto Mono" pitchFamily="34" charset="-120"/>
              </a:rPr>
              <a:t>maas-api-prod</a:t>
            </a:r>
            <a:endParaRPr lang="en-US" sz="1500" dirty="0"/>
          </a:p>
        </p:txBody>
      </p:sp>
      <p:sp>
        <p:nvSpPr>
          <p:cNvPr id="24" name="Text 22"/>
          <p:cNvSpPr/>
          <p:nvPr/>
        </p:nvSpPr>
        <p:spPr>
          <a:xfrm>
            <a:off x="15235714" y="2350770"/>
            <a:ext cx="323850" cy="1704975"/>
          </a:xfrm>
          <a:prstGeom prst="rect">
            <a:avLst/>
          </a:prstGeom>
          <a:noFill/>
          <a:ln/>
        </p:spPr>
        <p:txBody>
          <a:bodyPr wrap="square" lIns="25400" tIns="25400" rIns="25400" bIns="25400" rtlCol="0" anchor="ctr">
            <a:normAutofit/>
          </a:bodyPr>
          <a:lstStyle/>
          <a:p>
            <a:pPr algn="l" indent="0" marL="0">
              <a:buNone/>
            </a:pPr>
            <a:r>
              <a:rPr lang="en-US" sz="1950" dirty="0">
                <a:solidFill>
                  <a:srgbClr val="C2C6CC"/>
                </a:solidFill>
                <a:latin typeface="Arial" pitchFamily="34" charset="0"/>
                <a:ea typeface="Arial" pitchFamily="34" charset="-122"/>
                <a:cs typeface="Arial" pitchFamily="34" charset="-120"/>
              </a:rPr>
              <a:t>→</a:t>
            </a:r>
            <a:endParaRPr lang="en-US" sz="1950" dirty="0"/>
          </a:p>
        </p:txBody>
      </p:sp>
      <p:sp>
        <p:nvSpPr>
          <p:cNvPr id="25" name="Shape 23"/>
          <p:cNvSpPr/>
          <p:nvPr/>
        </p:nvSpPr>
        <p:spPr>
          <a:xfrm>
            <a:off x="15597664" y="2350770"/>
            <a:ext cx="1737836" cy="1666875"/>
          </a:xfrm>
          <a:prstGeom prst="rect">
            <a:avLst/>
          </a:prstGeom>
          <a:solidFill>
            <a:srgbClr val="16181D"/>
          </a:solidFill>
          <a:ln/>
        </p:spPr>
      </p:sp>
      <p:sp>
        <p:nvSpPr>
          <p:cNvPr id="26" name="Text 24"/>
          <p:cNvSpPr/>
          <p:nvPr/>
        </p:nvSpPr>
        <p:spPr>
          <a:xfrm>
            <a:off x="15826264" y="2564130"/>
            <a:ext cx="1121926" cy="626269"/>
          </a:xfrm>
          <a:prstGeom prst="rect">
            <a:avLst/>
          </a:prstGeom>
          <a:noFill/>
          <a:ln/>
        </p:spPr>
        <p:txBody>
          <a:bodyPr wrap="square" lIns="0" tIns="0" rIns="0" bIns="0" rtlCol="0" anchor="t">
            <a:normAutofit/>
          </a:bodyPr>
          <a:lstStyle/>
          <a:p>
            <a:pPr algn="l" indent="0" marL="0">
              <a:lnSpc>
                <a:spcPct val="117187"/>
              </a:lnSpc>
              <a:buNone/>
            </a:pPr>
            <a:r>
              <a:rPr lang="en-US" sz="1875" dirty="0">
                <a:solidFill>
                  <a:srgbClr val="FBFBFA"/>
                </a:solidFill>
                <a:latin typeface="Arial" pitchFamily="34" charset="0"/>
                <a:ea typeface="Arial" pitchFamily="34" charset="-122"/>
                <a:cs typeface="Arial" pitchFamily="34" charset="-120"/>
              </a:rPr>
              <a:t>EC2 /opt/maas</a:t>
            </a:r>
            <a:endParaRPr lang="en-US" sz="1875" dirty="0"/>
          </a:p>
        </p:txBody>
      </p:sp>
      <p:sp>
        <p:nvSpPr>
          <p:cNvPr id="27" name="Text 25"/>
          <p:cNvSpPr/>
          <p:nvPr/>
        </p:nvSpPr>
        <p:spPr>
          <a:xfrm>
            <a:off x="15826264" y="3207068"/>
            <a:ext cx="1248013" cy="626269"/>
          </a:xfrm>
          <a:prstGeom prst="rect">
            <a:avLst/>
          </a:prstGeom>
          <a:noFill/>
          <a:ln/>
        </p:spPr>
        <p:txBody>
          <a:bodyPr wrap="square" lIns="0" tIns="0" rIns="0" bIns="0" rtlCol="0" anchor="t">
            <a:normAutofit/>
          </a:bodyPr>
          <a:lstStyle/>
          <a:p>
            <a:pPr algn="l" indent="0" marL="0">
              <a:lnSpc>
                <a:spcPct val="117187"/>
              </a:lnSpc>
              <a:buNone/>
            </a:pPr>
            <a:r>
              <a:rPr lang="en-US" sz="1875" dirty="0">
                <a:solidFill>
                  <a:srgbClr val="FBFBFA"/>
                </a:solidFill>
                <a:latin typeface="Arial" pitchFamily="34" charset="0"/>
                <a:ea typeface="Arial" pitchFamily="34" charset="-122"/>
                <a:cs typeface="Arial" pitchFamily="34" charset="-120"/>
              </a:rPr>
              <a:t>systemd 재시작</a:t>
            </a:r>
            <a:endParaRPr lang="en-US" sz="1875" dirty="0"/>
          </a:p>
        </p:txBody>
      </p:sp>
      <p:sp>
        <p:nvSpPr>
          <p:cNvPr id="28" name="Text 26"/>
          <p:cNvSpPr/>
          <p:nvPr/>
        </p:nvSpPr>
        <p:spPr>
          <a:xfrm>
            <a:off x="952500" y="4150995"/>
            <a:ext cx="1596628" cy="1230630"/>
          </a:xfrm>
          <a:prstGeom prst="rect">
            <a:avLst/>
          </a:prstGeom>
          <a:noFill/>
          <a:ln/>
        </p:spPr>
        <p:txBody>
          <a:bodyPr wrap="none" lIns="25400" tIns="25400" rIns="25400" bIns="25400" rtlCol="0" anchor="ctr">
            <a:normAutofit/>
          </a:bodyPr>
          <a:lstStyle/>
          <a:p>
            <a:pPr algn="l" indent="0" marL="0">
              <a:buNone/>
            </a:pPr>
            <a:r>
              <a:rPr lang="en-US" sz="1575" dirty="0">
                <a:solidFill>
                  <a:srgbClr val="8A9099"/>
                </a:solidFill>
                <a:latin typeface="Roboto Mono" pitchFamily="34" charset="0"/>
                <a:ea typeface="Roboto Mono" pitchFamily="34" charset="-122"/>
                <a:cs typeface="Roboto Mono" pitchFamily="34" charset="-120"/>
              </a:rPr>
              <a:t>CodeDeploy 훅</a:t>
            </a:r>
            <a:endParaRPr lang="en-US" sz="1575" dirty="0"/>
          </a:p>
        </p:txBody>
      </p:sp>
      <p:sp>
        <p:nvSpPr>
          <p:cNvPr id="29" name="Shape 27"/>
          <p:cNvSpPr/>
          <p:nvPr/>
        </p:nvSpPr>
        <p:spPr>
          <a:xfrm>
            <a:off x="2644378" y="4150995"/>
            <a:ext cx="2369106" cy="1192530"/>
          </a:xfrm>
          <a:prstGeom prst="rect">
            <a:avLst/>
          </a:prstGeom>
          <a:solidFill>
            <a:srgbClr val="FFFFFF"/>
          </a:solidFill>
          <a:ln/>
        </p:spPr>
      </p:sp>
      <p:sp>
        <p:nvSpPr>
          <p:cNvPr id="30" name="Shape 28"/>
          <p:cNvSpPr/>
          <p:nvPr/>
        </p:nvSpPr>
        <p:spPr>
          <a:xfrm>
            <a:off x="2644378" y="5335905"/>
            <a:ext cx="2369106" cy="9525"/>
          </a:xfrm>
          <a:prstGeom prst="rect">
            <a:avLst/>
          </a:prstGeom>
          <a:solidFill>
            <a:srgbClr val="DFE1E6"/>
          </a:solidFill>
          <a:ln/>
        </p:spPr>
      </p:sp>
      <p:sp>
        <p:nvSpPr>
          <p:cNvPr id="31" name="Shape 29"/>
          <p:cNvSpPr/>
          <p:nvPr/>
        </p:nvSpPr>
        <p:spPr>
          <a:xfrm>
            <a:off x="2644378" y="4150995"/>
            <a:ext cx="2369106" cy="38100"/>
          </a:xfrm>
          <a:prstGeom prst="rect">
            <a:avLst/>
          </a:prstGeom>
          <a:solidFill>
            <a:srgbClr val="4F7CFF"/>
          </a:solidFill>
          <a:ln/>
        </p:spPr>
      </p:sp>
      <p:sp>
        <p:nvSpPr>
          <p:cNvPr id="32" name="Shape 30"/>
          <p:cNvSpPr/>
          <p:nvPr/>
        </p:nvSpPr>
        <p:spPr>
          <a:xfrm>
            <a:off x="2644378" y="4150995"/>
            <a:ext cx="9525" cy="1192530"/>
          </a:xfrm>
          <a:prstGeom prst="rect">
            <a:avLst/>
          </a:prstGeom>
          <a:solidFill>
            <a:srgbClr val="DFE1E6"/>
          </a:solidFill>
          <a:ln/>
        </p:spPr>
      </p:sp>
      <p:sp>
        <p:nvSpPr>
          <p:cNvPr id="33" name="Shape 31"/>
          <p:cNvSpPr/>
          <p:nvPr/>
        </p:nvSpPr>
        <p:spPr>
          <a:xfrm>
            <a:off x="5005864" y="4150995"/>
            <a:ext cx="9525" cy="1192530"/>
          </a:xfrm>
          <a:prstGeom prst="rect">
            <a:avLst/>
          </a:prstGeom>
          <a:solidFill>
            <a:srgbClr val="DFE1E6"/>
          </a:solidFill>
          <a:ln/>
        </p:spPr>
      </p:sp>
      <p:sp>
        <p:nvSpPr>
          <p:cNvPr id="34" name="Text 32"/>
          <p:cNvSpPr/>
          <p:nvPr/>
        </p:nvSpPr>
        <p:spPr>
          <a:xfrm>
            <a:off x="2823448" y="4322445"/>
            <a:ext cx="2087166" cy="918210"/>
          </a:xfrm>
          <a:prstGeom prst="rect">
            <a:avLst/>
          </a:prstGeom>
          <a:noFill/>
          <a:ln/>
        </p:spPr>
        <p:txBody>
          <a:bodyPr wrap="square" lIns="25400" tIns="25400" rIns="25400" bIns="25400" rtlCol="0" anchor="t">
            <a:normAutofit/>
          </a:bodyPr>
          <a:lstStyle/>
          <a:p>
            <a:pPr algn="l" indent="0" marL="0">
              <a:lnSpc>
                <a:spcPct val="120312"/>
              </a:lnSpc>
              <a:buNone/>
            </a:pPr>
            <a:r>
              <a:rPr lang="en-US" sz="1650" b="1" dirty="0">
                <a:solidFill>
                  <a:srgbClr val="16181D"/>
                </a:solidFill>
                <a:latin typeface="Arial" pitchFamily="34" charset="0"/>
                <a:ea typeface="Arial" pitchFamily="34" charset="-122"/>
                <a:cs typeface="Arial" pitchFamily="34" charset="-120"/>
              </a:rPr>
              <a:t>ApplicationStop </a:t>
            </a:r>
            <a:pPr algn="l" indent="0" marL="0">
              <a:lnSpc>
                <a:spcPct val="120312"/>
              </a:lnSpc>
              <a:buNone/>
            </a:pPr>
            <a:r>
              <a:rPr lang="en-US" sz="1650" dirty="0">
                <a:solidFill>
                  <a:srgbClr val="6B7280"/>
                </a:solidFill>
                <a:latin typeface="Arial" pitchFamily="34" charset="0"/>
                <a:ea typeface="Arial" pitchFamily="34" charset="-122"/>
                <a:cs typeface="Arial" pitchFamily="34" charset="-120"/>
              </a:rPr>
              <a:t>systemctl stop</a:t>
            </a:r>
            <a:endParaRPr lang="en-US" sz="1650" dirty="0"/>
          </a:p>
        </p:txBody>
      </p:sp>
      <p:sp>
        <p:nvSpPr>
          <p:cNvPr id="35" name="Shape 33"/>
          <p:cNvSpPr/>
          <p:nvPr/>
        </p:nvSpPr>
        <p:spPr>
          <a:xfrm>
            <a:off x="5108734" y="4150995"/>
            <a:ext cx="2369225" cy="1192530"/>
          </a:xfrm>
          <a:prstGeom prst="rect">
            <a:avLst/>
          </a:prstGeom>
          <a:solidFill>
            <a:srgbClr val="FFFFFF"/>
          </a:solidFill>
          <a:ln/>
        </p:spPr>
      </p:sp>
      <p:sp>
        <p:nvSpPr>
          <p:cNvPr id="36" name="Shape 34"/>
          <p:cNvSpPr/>
          <p:nvPr/>
        </p:nvSpPr>
        <p:spPr>
          <a:xfrm>
            <a:off x="5108734" y="5335905"/>
            <a:ext cx="2369225" cy="9525"/>
          </a:xfrm>
          <a:prstGeom prst="rect">
            <a:avLst/>
          </a:prstGeom>
          <a:solidFill>
            <a:srgbClr val="DFE1E6"/>
          </a:solidFill>
          <a:ln/>
        </p:spPr>
      </p:sp>
      <p:sp>
        <p:nvSpPr>
          <p:cNvPr id="37" name="Shape 35"/>
          <p:cNvSpPr/>
          <p:nvPr/>
        </p:nvSpPr>
        <p:spPr>
          <a:xfrm>
            <a:off x="5108734" y="4150995"/>
            <a:ext cx="2369225" cy="38100"/>
          </a:xfrm>
          <a:prstGeom prst="rect">
            <a:avLst/>
          </a:prstGeom>
          <a:solidFill>
            <a:srgbClr val="4F7CFF"/>
          </a:solidFill>
          <a:ln/>
        </p:spPr>
      </p:sp>
      <p:sp>
        <p:nvSpPr>
          <p:cNvPr id="38" name="Shape 36"/>
          <p:cNvSpPr/>
          <p:nvPr/>
        </p:nvSpPr>
        <p:spPr>
          <a:xfrm>
            <a:off x="5108734" y="4150995"/>
            <a:ext cx="9525" cy="1192530"/>
          </a:xfrm>
          <a:prstGeom prst="rect">
            <a:avLst/>
          </a:prstGeom>
          <a:solidFill>
            <a:srgbClr val="DFE1E6"/>
          </a:solidFill>
          <a:ln/>
        </p:spPr>
      </p:sp>
      <p:sp>
        <p:nvSpPr>
          <p:cNvPr id="39" name="Shape 37"/>
          <p:cNvSpPr/>
          <p:nvPr/>
        </p:nvSpPr>
        <p:spPr>
          <a:xfrm>
            <a:off x="7470339" y="4150995"/>
            <a:ext cx="9525" cy="1192530"/>
          </a:xfrm>
          <a:prstGeom prst="rect">
            <a:avLst/>
          </a:prstGeom>
          <a:solidFill>
            <a:srgbClr val="DFE1E6"/>
          </a:solidFill>
          <a:ln/>
        </p:spPr>
      </p:sp>
      <p:sp>
        <p:nvSpPr>
          <p:cNvPr id="40" name="Text 38"/>
          <p:cNvSpPr/>
          <p:nvPr/>
        </p:nvSpPr>
        <p:spPr>
          <a:xfrm>
            <a:off x="5287804" y="4322445"/>
            <a:ext cx="2087285" cy="918210"/>
          </a:xfrm>
          <a:prstGeom prst="rect">
            <a:avLst/>
          </a:prstGeom>
          <a:noFill/>
          <a:ln/>
        </p:spPr>
        <p:txBody>
          <a:bodyPr wrap="square" lIns="25400" tIns="25400" rIns="25400" bIns="25400" rtlCol="0" anchor="t">
            <a:normAutofit/>
          </a:bodyPr>
          <a:lstStyle/>
          <a:p>
            <a:pPr algn="l" indent="0" marL="0">
              <a:lnSpc>
                <a:spcPct val="120312"/>
              </a:lnSpc>
              <a:buNone/>
            </a:pPr>
            <a:r>
              <a:rPr lang="en-US" sz="1650" b="1" dirty="0">
                <a:solidFill>
                  <a:srgbClr val="16181D"/>
                </a:solidFill>
                <a:latin typeface="Arial" pitchFamily="34" charset="0"/>
                <a:ea typeface="Arial" pitchFamily="34" charset="-122"/>
                <a:cs typeface="Arial" pitchFamily="34" charset="-120"/>
              </a:rPr>
              <a:t>BeforeInstall </a:t>
            </a:r>
            <a:pPr algn="l" indent="0" marL="0">
              <a:lnSpc>
                <a:spcPct val="120312"/>
              </a:lnSpc>
              <a:buNone/>
            </a:pPr>
            <a:r>
              <a:rPr lang="en-US" sz="1650" dirty="0">
                <a:solidFill>
                  <a:srgbClr val="6B7280"/>
                </a:solidFill>
                <a:latin typeface="Arial" pitchFamily="34" charset="0"/>
                <a:ea typeface="Arial" pitchFamily="34" charset="-122"/>
                <a:cs typeface="Arial" pitchFamily="34" charset="-120"/>
              </a:rPr>
              <a:t>기존 .py/.json 정리</a:t>
            </a:r>
            <a:endParaRPr lang="en-US" sz="1650" dirty="0"/>
          </a:p>
        </p:txBody>
      </p:sp>
      <p:sp>
        <p:nvSpPr>
          <p:cNvPr id="41" name="Shape 39"/>
          <p:cNvSpPr/>
          <p:nvPr/>
        </p:nvSpPr>
        <p:spPr>
          <a:xfrm>
            <a:off x="7573209" y="4150995"/>
            <a:ext cx="2369106" cy="1192530"/>
          </a:xfrm>
          <a:prstGeom prst="rect">
            <a:avLst/>
          </a:prstGeom>
          <a:solidFill>
            <a:srgbClr val="FFFFFF"/>
          </a:solidFill>
          <a:ln/>
        </p:spPr>
      </p:sp>
      <p:sp>
        <p:nvSpPr>
          <p:cNvPr id="42" name="Shape 40"/>
          <p:cNvSpPr/>
          <p:nvPr/>
        </p:nvSpPr>
        <p:spPr>
          <a:xfrm>
            <a:off x="7573209" y="5335905"/>
            <a:ext cx="2369106" cy="9525"/>
          </a:xfrm>
          <a:prstGeom prst="rect">
            <a:avLst/>
          </a:prstGeom>
          <a:solidFill>
            <a:srgbClr val="DFE1E6"/>
          </a:solidFill>
          <a:ln/>
        </p:spPr>
      </p:sp>
      <p:sp>
        <p:nvSpPr>
          <p:cNvPr id="43" name="Shape 41"/>
          <p:cNvSpPr/>
          <p:nvPr/>
        </p:nvSpPr>
        <p:spPr>
          <a:xfrm>
            <a:off x="7573209" y="4150995"/>
            <a:ext cx="2369106" cy="38100"/>
          </a:xfrm>
          <a:prstGeom prst="rect">
            <a:avLst/>
          </a:prstGeom>
          <a:solidFill>
            <a:srgbClr val="4F7CFF"/>
          </a:solidFill>
          <a:ln/>
        </p:spPr>
      </p:sp>
      <p:sp>
        <p:nvSpPr>
          <p:cNvPr id="44" name="Shape 42"/>
          <p:cNvSpPr/>
          <p:nvPr/>
        </p:nvSpPr>
        <p:spPr>
          <a:xfrm>
            <a:off x="7573209" y="4150995"/>
            <a:ext cx="9525" cy="1192530"/>
          </a:xfrm>
          <a:prstGeom prst="rect">
            <a:avLst/>
          </a:prstGeom>
          <a:solidFill>
            <a:srgbClr val="DFE1E6"/>
          </a:solidFill>
          <a:ln/>
        </p:spPr>
      </p:sp>
      <p:sp>
        <p:nvSpPr>
          <p:cNvPr id="45" name="Shape 43"/>
          <p:cNvSpPr/>
          <p:nvPr/>
        </p:nvSpPr>
        <p:spPr>
          <a:xfrm>
            <a:off x="9934694" y="4150995"/>
            <a:ext cx="9525" cy="1192530"/>
          </a:xfrm>
          <a:prstGeom prst="rect">
            <a:avLst/>
          </a:prstGeom>
          <a:solidFill>
            <a:srgbClr val="DFE1E6"/>
          </a:solidFill>
          <a:ln/>
        </p:spPr>
      </p:sp>
      <p:sp>
        <p:nvSpPr>
          <p:cNvPr id="46" name="Text 44"/>
          <p:cNvSpPr/>
          <p:nvPr/>
        </p:nvSpPr>
        <p:spPr>
          <a:xfrm>
            <a:off x="7752279" y="4322445"/>
            <a:ext cx="2087166" cy="918210"/>
          </a:xfrm>
          <a:prstGeom prst="rect">
            <a:avLst/>
          </a:prstGeom>
          <a:noFill/>
          <a:ln/>
        </p:spPr>
        <p:txBody>
          <a:bodyPr wrap="square" lIns="25400" tIns="25400" rIns="25400" bIns="25400" rtlCol="0" anchor="t">
            <a:normAutofit/>
          </a:bodyPr>
          <a:lstStyle/>
          <a:p>
            <a:pPr algn="l" indent="0" marL="0">
              <a:lnSpc>
                <a:spcPct val="120312"/>
              </a:lnSpc>
              <a:buNone/>
            </a:pPr>
            <a:r>
              <a:rPr lang="en-US" sz="1650" b="1" dirty="0">
                <a:solidFill>
                  <a:srgbClr val="16181D"/>
                </a:solidFill>
                <a:latin typeface="Arial" pitchFamily="34" charset="0"/>
                <a:ea typeface="Arial" pitchFamily="34" charset="-122"/>
                <a:cs typeface="Arial" pitchFamily="34" charset="-120"/>
              </a:rPr>
              <a:t>Install </a:t>
            </a:r>
            <a:pPr algn="l" indent="0" marL="0">
              <a:lnSpc>
                <a:spcPct val="120312"/>
              </a:lnSpc>
              <a:buNone/>
            </a:pPr>
            <a:r>
              <a:rPr lang="en-US" sz="1650" dirty="0">
                <a:solidFill>
                  <a:srgbClr val="6B7280"/>
                </a:solidFill>
                <a:latin typeface="Arial" pitchFamily="34" charset="0"/>
                <a:ea typeface="Arial" pitchFamily="34" charset="-122"/>
                <a:cs typeface="Arial" pitchFamily="34" charset="-120"/>
              </a:rPr>
              <a:t>gate/ ui/ 복사 (OVERWRITE)</a:t>
            </a:r>
            <a:endParaRPr lang="en-US" sz="1650" dirty="0"/>
          </a:p>
        </p:txBody>
      </p:sp>
      <p:sp>
        <p:nvSpPr>
          <p:cNvPr id="47" name="Shape 45"/>
          <p:cNvSpPr/>
          <p:nvPr/>
        </p:nvSpPr>
        <p:spPr>
          <a:xfrm>
            <a:off x="10037564" y="4150995"/>
            <a:ext cx="2369225" cy="1192530"/>
          </a:xfrm>
          <a:prstGeom prst="rect">
            <a:avLst/>
          </a:prstGeom>
          <a:solidFill>
            <a:srgbClr val="FFFFFF"/>
          </a:solidFill>
          <a:ln/>
        </p:spPr>
      </p:sp>
      <p:sp>
        <p:nvSpPr>
          <p:cNvPr id="48" name="Shape 46"/>
          <p:cNvSpPr/>
          <p:nvPr/>
        </p:nvSpPr>
        <p:spPr>
          <a:xfrm>
            <a:off x="10037564" y="5335905"/>
            <a:ext cx="2369225" cy="9525"/>
          </a:xfrm>
          <a:prstGeom prst="rect">
            <a:avLst/>
          </a:prstGeom>
          <a:solidFill>
            <a:srgbClr val="DFE1E6"/>
          </a:solidFill>
          <a:ln/>
        </p:spPr>
      </p:sp>
      <p:sp>
        <p:nvSpPr>
          <p:cNvPr id="49" name="Shape 47"/>
          <p:cNvSpPr/>
          <p:nvPr/>
        </p:nvSpPr>
        <p:spPr>
          <a:xfrm>
            <a:off x="10037564" y="4150995"/>
            <a:ext cx="2369225" cy="38100"/>
          </a:xfrm>
          <a:prstGeom prst="rect">
            <a:avLst/>
          </a:prstGeom>
          <a:solidFill>
            <a:srgbClr val="4F7CFF"/>
          </a:solidFill>
          <a:ln/>
        </p:spPr>
      </p:sp>
      <p:sp>
        <p:nvSpPr>
          <p:cNvPr id="50" name="Shape 48"/>
          <p:cNvSpPr/>
          <p:nvPr/>
        </p:nvSpPr>
        <p:spPr>
          <a:xfrm>
            <a:off x="10037564" y="4150995"/>
            <a:ext cx="9525" cy="1192530"/>
          </a:xfrm>
          <a:prstGeom prst="rect">
            <a:avLst/>
          </a:prstGeom>
          <a:solidFill>
            <a:srgbClr val="DFE1E6"/>
          </a:solidFill>
          <a:ln/>
        </p:spPr>
      </p:sp>
      <p:sp>
        <p:nvSpPr>
          <p:cNvPr id="51" name="Shape 49"/>
          <p:cNvSpPr/>
          <p:nvPr/>
        </p:nvSpPr>
        <p:spPr>
          <a:xfrm>
            <a:off x="12399169" y="4150995"/>
            <a:ext cx="9525" cy="1192530"/>
          </a:xfrm>
          <a:prstGeom prst="rect">
            <a:avLst/>
          </a:prstGeom>
          <a:solidFill>
            <a:srgbClr val="DFE1E6"/>
          </a:solidFill>
          <a:ln/>
        </p:spPr>
      </p:sp>
      <p:sp>
        <p:nvSpPr>
          <p:cNvPr id="52" name="Text 50"/>
          <p:cNvSpPr/>
          <p:nvPr/>
        </p:nvSpPr>
        <p:spPr>
          <a:xfrm>
            <a:off x="10216634" y="4322445"/>
            <a:ext cx="2087285" cy="918210"/>
          </a:xfrm>
          <a:prstGeom prst="rect">
            <a:avLst/>
          </a:prstGeom>
          <a:noFill/>
          <a:ln/>
        </p:spPr>
        <p:txBody>
          <a:bodyPr wrap="square" lIns="25400" tIns="25400" rIns="25400" bIns="25400" rtlCol="0" anchor="t">
            <a:normAutofit/>
          </a:bodyPr>
          <a:lstStyle/>
          <a:p>
            <a:pPr algn="l" indent="0" marL="0">
              <a:lnSpc>
                <a:spcPct val="120312"/>
              </a:lnSpc>
              <a:buNone/>
            </a:pPr>
            <a:r>
              <a:rPr lang="en-US" sz="1650" b="1" dirty="0">
                <a:solidFill>
                  <a:srgbClr val="16181D"/>
                </a:solidFill>
                <a:latin typeface="Arial" pitchFamily="34" charset="0"/>
                <a:ea typeface="Arial" pitchFamily="34" charset="-122"/>
                <a:cs typeface="Arial" pitchFamily="34" charset="-120"/>
              </a:rPr>
              <a:t>AfterInstall </a:t>
            </a:r>
            <a:pPr algn="l" indent="0" marL="0">
              <a:lnSpc>
                <a:spcPct val="120312"/>
              </a:lnSpc>
              <a:buNone/>
            </a:pPr>
            <a:r>
              <a:rPr lang="en-US" sz="1650" dirty="0">
                <a:solidFill>
                  <a:srgbClr val="6B7280"/>
                </a:solidFill>
                <a:latin typeface="Arial" pitchFamily="34" charset="0"/>
                <a:ea typeface="Arial" pitchFamily="34" charset="-122"/>
                <a:cs typeface="Arial" pitchFamily="34" charset="-120"/>
              </a:rPr>
              <a:t>pip install · 권한 정리</a:t>
            </a:r>
            <a:endParaRPr lang="en-US" sz="1650" dirty="0"/>
          </a:p>
        </p:txBody>
      </p:sp>
      <p:sp>
        <p:nvSpPr>
          <p:cNvPr id="53" name="Shape 51"/>
          <p:cNvSpPr/>
          <p:nvPr/>
        </p:nvSpPr>
        <p:spPr>
          <a:xfrm>
            <a:off x="12502039" y="4150995"/>
            <a:ext cx="2369106" cy="1192530"/>
          </a:xfrm>
          <a:prstGeom prst="rect">
            <a:avLst/>
          </a:prstGeom>
          <a:solidFill>
            <a:srgbClr val="FFFFFF"/>
          </a:solidFill>
          <a:ln/>
        </p:spPr>
      </p:sp>
      <p:sp>
        <p:nvSpPr>
          <p:cNvPr id="54" name="Shape 52"/>
          <p:cNvSpPr/>
          <p:nvPr/>
        </p:nvSpPr>
        <p:spPr>
          <a:xfrm>
            <a:off x="12502039" y="5335905"/>
            <a:ext cx="2369106" cy="9525"/>
          </a:xfrm>
          <a:prstGeom prst="rect">
            <a:avLst/>
          </a:prstGeom>
          <a:solidFill>
            <a:srgbClr val="DFE1E6"/>
          </a:solidFill>
          <a:ln/>
        </p:spPr>
      </p:sp>
      <p:sp>
        <p:nvSpPr>
          <p:cNvPr id="55" name="Shape 53"/>
          <p:cNvSpPr/>
          <p:nvPr/>
        </p:nvSpPr>
        <p:spPr>
          <a:xfrm>
            <a:off x="12502039" y="4150995"/>
            <a:ext cx="2369106" cy="38100"/>
          </a:xfrm>
          <a:prstGeom prst="rect">
            <a:avLst/>
          </a:prstGeom>
          <a:solidFill>
            <a:srgbClr val="4F7CFF"/>
          </a:solidFill>
          <a:ln/>
        </p:spPr>
      </p:sp>
      <p:sp>
        <p:nvSpPr>
          <p:cNvPr id="56" name="Shape 54"/>
          <p:cNvSpPr/>
          <p:nvPr/>
        </p:nvSpPr>
        <p:spPr>
          <a:xfrm>
            <a:off x="12502039" y="4150995"/>
            <a:ext cx="9525" cy="1192530"/>
          </a:xfrm>
          <a:prstGeom prst="rect">
            <a:avLst/>
          </a:prstGeom>
          <a:solidFill>
            <a:srgbClr val="DFE1E6"/>
          </a:solidFill>
          <a:ln/>
        </p:spPr>
      </p:sp>
      <p:sp>
        <p:nvSpPr>
          <p:cNvPr id="57" name="Shape 55"/>
          <p:cNvSpPr/>
          <p:nvPr/>
        </p:nvSpPr>
        <p:spPr>
          <a:xfrm>
            <a:off x="14863525" y="4150995"/>
            <a:ext cx="9525" cy="1192530"/>
          </a:xfrm>
          <a:prstGeom prst="rect">
            <a:avLst/>
          </a:prstGeom>
          <a:solidFill>
            <a:srgbClr val="DFE1E6"/>
          </a:solidFill>
          <a:ln/>
        </p:spPr>
      </p:sp>
      <p:sp>
        <p:nvSpPr>
          <p:cNvPr id="58" name="Text 56"/>
          <p:cNvSpPr/>
          <p:nvPr/>
        </p:nvSpPr>
        <p:spPr>
          <a:xfrm>
            <a:off x="12681109" y="4322445"/>
            <a:ext cx="2087166" cy="918210"/>
          </a:xfrm>
          <a:prstGeom prst="rect">
            <a:avLst/>
          </a:prstGeom>
          <a:noFill/>
          <a:ln/>
        </p:spPr>
        <p:txBody>
          <a:bodyPr wrap="square" lIns="25400" tIns="25400" rIns="25400" bIns="25400" rtlCol="0" anchor="t">
            <a:normAutofit/>
          </a:bodyPr>
          <a:lstStyle/>
          <a:p>
            <a:pPr algn="l" indent="0" marL="0">
              <a:lnSpc>
                <a:spcPct val="120312"/>
              </a:lnSpc>
              <a:buNone/>
            </a:pPr>
            <a:r>
              <a:rPr lang="en-US" sz="1650" b="1" dirty="0">
                <a:solidFill>
                  <a:srgbClr val="16181D"/>
                </a:solidFill>
                <a:latin typeface="Arial" pitchFamily="34" charset="0"/>
                <a:ea typeface="Arial" pitchFamily="34" charset="-122"/>
                <a:cs typeface="Arial" pitchFamily="34" charset="-120"/>
              </a:rPr>
              <a:t>ApplicationStart </a:t>
            </a:r>
            <a:pPr algn="l" indent="0" marL="0">
              <a:lnSpc>
                <a:spcPct val="120312"/>
              </a:lnSpc>
              <a:buNone/>
            </a:pPr>
            <a:r>
              <a:rPr lang="en-US" sz="1650" dirty="0">
                <a:solidFill>
                  <a:srgbClr val="6B7280"/>
                </a:solidFill>
                <a:latin typeface="Arial" pitchFamily="34" charset="0"/>
                <a:ea typeface="Arial" pitchFamily="34" charset="-122"/>
                <a:cs typeface="Arial" pitchFamily="34" charset="-120"/>
              </a:rPr>
              <a:t>systemctl restart</a:t>
            </a:r>
            <a:endParaRPr lang="en-US" sz="1650" dirty="0"/>
          </a:p>
        </p:txBody>
      </p:sp>
      <p:sp>
        <p:nvSpPr>
          <p:cNvPr id="59" name="Shape 57"/>
          <p:cNvSpPr/>
          <p:nvPr/>
        </p:nvSpPr>
        <p:spPr>
          <a:xfrm>
            <a:off x="14966395" y="4150995"/>
            <a:ext cx="2369106" cy="1192530"/>
          </a:xfrm>
          <a:prstGeom prst="rect">
            <a:avLst/>
          </a:prstGeom>
          <a:solidFill>
            <a:srgbClr val="FFFFFF"/>
          </a:solidFill>
          <a:ln/>
        </p:spPr>
      </p:sp>
      <p:sp>
        <p:nvSpPr>
          <p:cNvPr id="60" name="Shape 58"/>
          <p:cNvSpPr/>
          <p:nvPr/>
        </p:nvSpPr>
        <p:spPr>
          <a:xfrm>
            <a:off x="14966395" y="5335905"/>
            <a:ext cx="2369106" cy="9525"/>
          </a:xfrm>
          <a:prstGeom prst="rect">
            <a:avLst/>
          </a:prstGeom>
          <a:solidFill>
            <a:srgbClr val="DFE1E6"/>
          </a:solidFill>
          <a:ln/>
        </p:spPr>
      </p:sp>
      <p:sp>
        <p:nvSpPr>
          <p:cNvPr id="61" name="Shape 59"/>
          <p:cNvSpPr/>
          <p:nvPr/>
        </p:nvSpPr>
        <p:spPr>
          <a:xfrm>
            <a:off x="14966395" y="4150995"/>
            <a:ext cx="2369106" cy="38100"/>
          </a:xfrm>
          <a:prstGeom prst="rect">
            <a:avLst/>
          </a:prstGeom>
          <a:solidFill>
            <a:srgbClr val="4F7CFF"/>
          </a:solidFill>
          <a:ln/>
        </p:spPr>
      </p:sp>
      <p:sp>
        <p:nvSpPr>
          <p:cNvPr id="62" name="Shape 60"/>
          <p:cNvSpPr/>
          <p:nvPr/>
        </p:nvSpPr>
        <p:spPr>
          <a:xfrm>
            <a:off x="14966395" y="4150995"/>
            <a:ext cx="9525" cy="1192530"/>
          </a:xfrm>
          <a:prstGeom prst="rect">
            <a:avLst/>
          </a:prstGeom>
          <a:solidFill>
            <a:srgbClr val="DFE1E6"/>
          </a:solidFill>
          <a:ln/>
        </p:spPr>
      </p:sp>
      <p:sp>
        <p:nvSpPr>
          <p:cNvPr id="63" name="Shape 61"/>
          <p:cNvSpPr/>
          <p:nvPr/>
        </p:nvSpPr>
        <p:spPr>
          <a:xfrm>
            <a:off x="17327880" y="4150995"/>
            <a:ext cx="9525" cy="1192530"/>
          </a:xfrm>
          <a:prstGeom prst="rect">
            <a:avLst/>
          </a:prstGeom>
          <a:solidFill>
            <a:srgbClr val="DFE1E6"/>
          </a:solidFill>
          <a:ln/>
        </p:spPr>
      </p:sp>
      <p:sp>
        <p:nvSpPr>
          <p:cNvPr id="64" name="Text 62"/>
          <p:cNvSpPr/>
          <p:nvPr/>
        </p:nvSpPr>
        <p:spPr>
          <a:xfrm>
            <a:off x="15145465" y="4322445"/>
            <a:ext cx="2087166" cy="918210"/>
          </a:xfrm>
          <a:prstGeom prst="rect">
            <a:avLst/>
          </a:prstGeom>
          <a:noFill/>
          <a:ln/>
        </p:spPr>
        <p:txBody>
          <a:bodyPr wrap="square" lIns="25400" tIns="25400" rIns="25400" bIns="25400" rtlCol="0" anchor="t">
            <a:normAutofit/>
          </a:bodyPr>
          <a:lstStyle/>
          <a:p>
            <a:pPr algn="l" indent="0" marL="0">
              <a:lnSpc>
                <a:spcPct val="120312"/>
              </a:lnSpc>
              <a:buNone/>
            </a:pPr>
            <a:r>
              <a:rPr lang="en-US" sz="1650" b="1" dirty="0">
                <a:solidFill>
                  <a:srgbClr val="16181D"/>
                </a:solidFill>
                <a:latin typeface="Arial" pitchFamily="34" charset="0"/>
                <a:ea typeface="Arial" pitchFamily="34" charset="-122"/>
                <a:cs typeface="Arial" pitchFamily="34" charset="-120"/>
              </a:rPr>
              <a:t>ValidateService </a:t>
            </a:r>
            <a:pPr algn="l" indent="0" marL="0">
              <a:lnSpc>
                <a:spcPct val="120312"/>
              </a:lnSpc>
              <a:buNone/>
            </a:pPr>
            <a:r>
              <a:rPr lang="en-US" sz="1650" dirty="0">
                <a:solidFill>
                  <a:srgbClr val="6B7280"/>
                </a:solidFill>
                <a:latin typeface="Arial" pitchFamily="34" charset="0"/>
                <a:ea typeface="Arial" pitchFamily="34" charset="-122"/>
                <a:cs typeface="Arial" pitchFamily="34" charset="-120"/>
              </a:rPr>
              <a:t>/v1/health 재시도</a:t>
            </a:r>
            <a:endParaRPr lang="en-US" sz="1650" dirty="0"/>
          </a:p>
        </p:txBody>
      </p:sp>
      <p:sp>
        <p:nvSpPr>
          <p:cNvPr id="65" name="Shape 63"/>
          <p:cNvSpPr/>
          <p:nvPr/>
        </p:nvSpPr>
        <p:spPr>
          <a:xfrm>
            <a:off x="952500" y="5629275"/>
            <a:ext cx="8067675" cy="5699760"/>
          </a:xfrm>
          <a:prstGeom prst="rect">
            <a:avLst/>
          </a:prstGeom>
          <a:solidFill>
            <a:srgbClr val="FFFFFF"/>
          </a:solidFill>
          <a:ln/>
        </p:spPr>
      </p:sp>
      <p:sp>
        <p:nvSpPr>
          <p:cNvPr id="66" name="Shape 64"/>
          <p:cNvSpPr/>
          <p:nvPr/>
        </p:nvSpPr>
        <p:spPr>
          <a:xfrm>
            <a:off x="952500" y="11321415"/>
            <a:ext cx="8067675" cy="9525"/>
          </a:xfrm>
          <a:prstGeom prst="rect">
            <a:avLst/>
          </a:prstGeom>
          <a:solidFill>
            <a:srgbClr val="DFE1E6"/>
          </a:solidFill>
          <a:ln/>
        </p:spPr>
      </p:sp>
      <p:sp>
        <p:nvSpPr>
          <p:cNvPr id="67" name="Shape 65"/>
          <p:cNvSpPr/>
          <p:nvPr/>
        </p:nvSpPr>
        <p:spPr>
          <a:xfrm>
            <a:off x="952500" y="5629275"/>
            <a:ext cx="8067675" cy="9525"/>
          </a:xfrm>
          <a:prstGeom prst="rect">
            <a:avLst/>
          </a:prstGeom>
          <a:solidFill>
            <a:srgbClr val="DFE1E6"/>
          </a:solidFill>
          <a:ln/>
        </p:spPr>
      </p:sp>
      <p:sp>
        <p:nvSpPr>
          <p:cNvPr id="68" name="Shape 66"/>
          <p:cNvSpPr/>
          <p:nvPr/>
        </p:nvSpPr>
        <p:spPr>
          <a:xfrm>
            <a:off x="952500" y="5629275"/>
            <a:ext cx="45720" cy="5699760"/>
          </a:xfrm>
          <a:prstGeom prst="rect">
            <a:avLst/>
          </a:prstGeom>
          <a:solidFill>
            <a:srgbClr val="00845C"/>
          </a:solidFill>
          <a:ln/>
        </p:spPr>
      </p:sp>
      <p:sp>
        <p:nvSpPr>
          <p:cNvPr id="69" name="Shape 67"/>
          <p:cNvSpPr/>
          <p:nvPr/>
        </p:nvSpPr>
        <p:spPr>
          <a:xfrm>
            <a:off x="9012555" y="5629275"/>
            <a:ext cx="9525" cy="5699760"/>
          </a:xfrm>
          <a:prstGeom prst="rect">
            <a:avLst/>
          </a:prstGeom>
          <a:solidFill>
            <a:srgbClr val="DFE1E6"/>
          </a:solidFill>
          <a:ln/>
        </p:spPr>
      </p:sp>
      <p:sp>
        <p:nvSpPr>
          <p:cNvPr id="70" name="Text 68"/>
          <p:cNvSpPr/>
          <p:nvPr/>
        </p:nvSpPr>
        <p:spPr>
          <a:xfrm>
            <a:off x="1283970" y="5884545"/>
            <a:ext cx="8187119"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의도된 제약 3가지</a:t>
            </a:r>
            <a:endParaRPr lang="en-US" sz="2100" dirty="0"/>
          </a:p>
        </p:txBody>
      </p:sp>
      <p:sp>
        <p:nvSpPr>
          <p:cNvPr id="71" name="Text 69"/>
          <p:cNvSpPr/>
          <p:nvPr/>
        </p:nvSpPr>
        <p:spPr>
          <a:xfrm>
            <a:off x="1283970" y="6406515"/>
            <a:ext cx="7666120" cy="74676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① </a:t>
            </a:r>
            <a:pPr algn="l" indent="0" marL="0">
              <a:lnSpc>
                <a:spcPct val="136765"/>
              </a:lnSpc>
              <a:buNone/>
            </a:pPr>
            <a:r>
              <a:rPr lang="en-US" sz="1800" b="1" dirty="0">
                <a:solidFill>
                  <a:srgbClr val="4A5058"/>
                </a:solidFill>
                <a:latin typeface="Arial" pitchFamily="34" charset="0"/>
                <a:ea typeface="Arial" pitchFamily="34" charset="-122"/>
                <a:cs typeface="Arial" pitchFamily="34" charset="-120"/>
              </a:rPr>
              <a:t>systemd 유닛 파일은 어느 훅도 덮어쓰지 않는다 </a:t>
            </a:r>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 API 키가 들어 있다. 훅은 </a:t>
            </a:r>
            <a:pPr algn="l" indent="0" marL="0">
              <a:lnSpc>
                <a:spcPct val="136765"/>
              </a:lnSpc>
              <a:buNone/>
            </a:pPr>
            <a:r>
              <a:rPr lang="en-US" sz="1575" dirty="0">
                <a:solidFill>
                  <a:srgbClr val="4A5058"/>
                </a:solidFill>
                <a:latin typeface="Roboto Mono" pitchFamily="34" charset="0"/>
                <a:ea typeface="Roboto Mono" pitchFamily="34" charset="-122"/>
                <a:cs typeface="Roboto Mono" pitchFamily="34" charset="-120"/>
              </a:rPr>
              <a:t>/opt/maas/gate</a:t>
            </a:r>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 </a:t>
            </a:r>
            <a:pPr algn="l" indent="0" marL="0">
              <a:lnSpc>
                <a:spcPct val="136765"/>
              </a:lnSpc>
              <a:buNone/>
            </a:pPr>
            <a:r>
              <a:rPr lang="en-US" sz="1575" dirty="0">
                <a:solidFill>
                  <a:srgbClr val="4A5058"/>
                </a:solidFill>
                <a:latin typeface="Roboto Mono" pitchFamily="34" charset="0"/>
                <a:ea typeface="Roboto Mono" pitchFamily="34" charset="-122"/>
                <a:cs typeface="Roboto Mono" pitchFamily="34" charset="-120"/>
              </a:rPr>
              <a:t>/opt/maas/ui </a:t>
            </a:r>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소스만 교체한다.</a:t>
            </a:r>
            <a:endParaRPr lang="en-US" sz="1800" dirty="0"/>
          </a:p>
        </p:txBody>
      </p:sp>
      <p:sp>
        <p:nvSpPr>
          <p:cNvPr id="72" name="Text 70"/>
          <p:cNvSpPr/>
          <p:nvPr/>
        </p:nvSpPr>
        <p:spPr>
          <a:xfrm>
            <a:off x="1283970" y="7248525"/>
            <a:ext cx="7666120" cy="74676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② </a:t>
            </a:r>
            <a:pPr algn="l" indent="0" marL="0">
              <a:lnSpc>
                <a:spcPct val="136765"/>
              </a:lnSpc>
              <a:buNone/>
            </a:pPr>
            <a:r>
              <a:rPr lang="en-US" sz="1800" b="1" dirty="0">
                <a:solidFill>
                  <a:srgbClr val="4A5058"/>
                </a:solidFill>
                <a:latin typeface="Arial" pitchFamily="34" charset="0"/>
                <a:ea typeface="Arial" pitchFamily="34" charset="-122"/>
                <a:cs typeface="Arial" pitchFamily="34" charset="-120"/>
              </a:rPr>
              <a:t>vLLM 컨테이너는 파이프라인과 완전히 무관하다. </a:t>
            </a:r>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훅 스크립트 어디에도 </a:t>
            </a:r>
            <a:pPr algn="l" indent="0" marL="0">
              <a:lnSpc>
                <a:spcPct val="136765"/>
              </a:lnSpc>
              <a:buNone/>
            </a:pPr>
            <a:r>
              <a:rPr lang="en-US" sz="1575" dirty="0">
                <a:solidFill>
                  <a:srgbClr val="4A5058"/>
                </a:solidFill>
                <a:latin typeface="Roboto Mono" pitchFamily="34" charset="0"/>
                <a:ea typeface="Roboto Mono" pitchFamily="34" charset="-122"/>
                <a:cs typeface="Roboto Mono" pitchFamily="34" charset="-120"/>
              </a:rPr>
              <a:t>docker </a:t>
            </a:r>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가 없다 — 모델 로딩 2분을 매 배포마다 치를 이유가 없다.</a:t>
            </a:r>
            <a:endParaRPr lang="en-US" sz="1800" dirty="0"/>
          </a:p>
        </p:txBody>
      </p:sp>
      <p:sp>
        <p:nvSpPr>
          <p:cNvPr id="73" name="Text 71"/>
          <p:cNvSpPr/>
          <p:nvPr/>
        </p:nvSpPr>
        <p:spPr>
          <a:xfrm>
            <a:off x="1283970" y="8090535"/>
            <a:ext cx="7666120" cy="110109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③ 인스턴스가 </a:t>
            </a:r>
            <a:pPr algn="l" indent="0" marL="0">
              <a:lnSpc>
                <a:spcPct val="136765"/>
              </a:lnSpc>
              <a:buNone/>
            </a:pPr>
            <a:r>
              <a:rPr lang="en-US" sz="1800" b="1" dirty="0">
                <a:solidFill>
                  <a:srgbClr val="4A5058"/>
                </a:solidFill>
                <a:latin typeface="Arial" pitchFamily="34" charset="0"/>
                <a:ea typeface="Arial" pitchFamily="34" charset="-122"/>
                <a:cs typeface="Arial" pitchFamily="34" charset="-120"/>
              </a:rPr>
              <a:t>정지 중이면 배포가 실패한다</a:t>
            </a:r>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a:t>
            </a:r>
            <a:pPr algn="l" indent="0" marL="0">
              <a:lnSpc>
                <a:spcPct val="136765"/>
              </a:lnSpc>
              <a:buNone/>
            </a:pPr>
            <a:r>
              <a:rPr lang="en-US" sz="1575" dirty="0">
                <a:solidFill>
                  <a:srgbClr val="4A5058"/>
                </a:solidFill>
                <a:latin typeface="Roboto Mono" pitchFamily="34" charset="0"/>
                <a:ea typeface="Roboto Mono" pitchFamily="34" charset="-122"/>
                <a:cs typeface="Roboto Mono" pitchFamily="34" charset="-120"/>
              </a:rPr>
              <a:t>HEALTH_CONSTRAINTS </a:t>
            </a:r>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 — ApplicationStop 훅이 실행되지 못해서다. 비용 절감으로 EC2 를 자주 꺼 두므로 </a:t>
            </a:r>
            <a:pPr algn="l" indent="0" marL="0">
              <a:lnSpc>
                <a:spcPct val="136765"/>
              </a:lnSpc>
              <a:buNone/>
            </a:pPr>
            <a:r>
              <a:rPr lang="en-US" sz="1800" b="1" dirty="0">
                <a:solidFill>
                  <a:srgbClr val="4A5058"/>
                </a:solidFill>
                <a:latin typeface="Arial" pitchFamily="34" charset="0"/>
                <a:ea typeface="Arial" pitchFamily="34" charset="-122"/>
                <a:cs typeface="Arial" pitchFamily="34" charset="-120"/>
              </a:rPr>
              <a:t>이 실패는 정상 동작</a:t>
            </a:r>
            <a:pPr algn="l" indent="0" marL="0">
              <a:lnSpc>
                <a:spcPct val="136765"/>
              </a:lnSpc>
              <a:buNone/>
            </a:pPr>
            <a:r>
              <a:rPr lang="en-US" sz="1800" dirty="0">
                <a:solidFill>
                  <a:srgbClr val="4A5058"/>
                </a:solidFill>
                <a:latin typeface="Arial" pitchFamily="34" charset="0"/>
                <a:ea typeface="Arial" pitchFamily="34" charset="-122"/>
                <a:cs typeface="Arial" pitchFamily="34" charset="-120"/>
              </a:rPr>
              <a:t>이다.</a:t>
            </a:r>
            <a:endParaRPr lang="en-US" sz="1800" dirty="0"/>
          </a:p>
        </p:txBody>
      </p:sp>
      <p:sp>
        <p:nvSpPr>
          <p:cNvPr id="74" name="Shape 72"/>
          <p:cNvSpPr/>
          <p:nvPr/>
        </p:nvSpPr>
        <p:spPr>
          <a:xfrm>
            <a:off x="1283970" y="10058400"/>
            <a:ext cx="7442835" cy="1015365"/>
          </a:xfrm>
          <a:prstGeom prst="rect">
            <a:avLst/>
          </a:prstGeom>
          <a:solidFill>
            <a:srgbClr val="F6F7F8"/>
          </a:solidFill>
          <a:ln w="7620">
            <a:solidFill>
              <a:srgbClr val="DFE1E6"/>
            </a:solidFill>
            <a:prstDash val="solid"/>
          </a:ln>
        </p:spPr>
      </p:sp>
      <p:sp>
        <p:nvSpPr>
          <p:cNvPr id="75" name="Text 73"/>
          <p:cNvSpPr/>
          <p:nvPr/>
        </p:nvSpPr>
        <p:spPr>
          <a:xfrm>
            <a:off x="1501140" y="10237470"/>
            <a:ext cx="7231780" cy="695325"/>
          </a:xfrm>
          <a:prstGeom prst="rect">
            <a:avLst/>
          </a:prstGeom>
          <a:noFill/>
          <a:ln/>
        </p:spPr>
        <p:txBody>
          <a:bodyPr wrap="square" lIns="25400" tIns="25400" rIns="25400" bIns="25400" rtlCol="0" anchor="t">
            <a:normAutofit/>
          </a:bodyPr>
          <a:lstStyle/>
          <a:p>
            <a:pPr algn="l" indent="0" marL="0">
              <a:lnSpc>
                <a:spcPct val="130682"/>
              </a:lnSpc>
              <a:buNone/>
            </a:pPr>
            <a:r>
              <a:rPr lang="en-US" sz="1725" dirty="0">
                <a:solidFill>
                  <a:srgbClr val="4A5058"/>
                </a:solidFill>
                <a:highlight>
                  <a:srgbClr val="F6F7F8"/>
                </a:highlight>
                <a:latin typeface="Arial" pitchFamily="34" charset="0"/>
                <a:ea typeface="Arial" pitchFamily="34" charset="-122"/>
                <a:cs typeface="Arial" pitchFamily="34" charset="-120"/>
              </a:rPr>
              <a:t>복구: 인스턴스를 켠 뒤 콘솔에서 마지막 배포 재시도, 또는 </a:t>
            </a:r>
            <a:pPr algn="l" indent="0" marL="0">
              <a:lnSpc>
                <a:spcPct val="130682"/>
              </a:lnSpc>
              <a:buNone/>
            </a:pPr>
            <a:r>
              <a:rPr lang="en-US" sz="1575" dirty="0">
                <a:solidFill>
                  <a:srgbClr val="4A5058"/>
                </a:solidFill>
                <a:latin typeface="Roboto Mono" pitchFamily="34" charset="0"/>
                <a:ea typeface="Roboto Mono" pitchFamily="34" charset="-122"/>
                <a:cs typeface="Roboto Mono" pitchFamily="34" charset="-120"/>
              </a:rPr>
              <a:t>main </a:t>
            </a:r>
            <a:pPr algn="l" indent="0" marL="0">
              <a:lnSpc>
                <a:spcPct val="130682"/>
              </a:lnSpc>
              <a:buNone/>
            </a:pPr>
            <a:r>
              <a:rPr lang="en-US" sz="1725" dirty="0">
                <a:solidFill>
                  <a:srgbClr val="4A5058"/>
                </a:solidFill>
                <a:highlight>
                  <a:srgbClr val="F6F7F8"/>
                </a:highlight>
                <a:latin typeface="Arial" pitchFamily="34" charset="0"/>
                <a:ea typeface="Arial" pitchFamily="34" charset="-122"/>
                <a:cs typeface="Arial" pitchFamily="34" charset="-120"/>
              </a:rPr>
              <a:t>에 빈 커밋 푸시.</a:t>
            </a:r>
            <a:endParaRPr lang="en-US" sz="1725" dirty="0"/>
          </a:p>
        </p:txBody>
      </p:sp>
      <p:sp>
        <p:nvSpPr>
          <p:cNvPr id="76" name="Shape 74"/>
          <p:cNvSpPr/>
          <p:nvPr/>
        </p:nvSpPr>
        <p:spPr>
          <a:xfrm>
            <a:off x="9267825" y="5629275"/>
            <a:ext cx="8067675" cy="5699760"/>
          </a:xfrm>
          <a:prstGeom prst="rect">
            <a:avLst/>
          </a:prstGeom>
          <a:solidFill>
            <a:srgbClr val="16181D"/>
          </a:solidFill>
          <a:ln/>
        </p:spPr>
      </p:sp>
      <p:sp>
        <p:nvSpPr>
          <p:cNvPr id="77" name="Text 75"/>
          <p:cNvSpPr/>
          <p:nvPr/>
        </p:nvSpPr>
        <p:spPr>
          <a:xfrm>
            <a:off x="9553575" y="5876925"/>
            <a:ext cx="8245793" cy="304800"/>
          </a:xfrm>
          <a:prstGeom prst="rect">
            <a:avLst/>
          </a:prstGeom>
          <a:noFill/>
          <a:ln/>
        </p:spPr>
        <p:txBody>
          <a:bodyPr wrap="square" lIns="25400" tIns="25400" rIns="25400" bIns="25400" rtlCol="0" anchor="t">
            <a:normAutofit/>
          </a:bodyPr>
          <a:lstStyle/>
          <a:p>
            <a:pPr algn="l" indent="0" marL="0">
              <a:buNone/>
            </a:pPr>
            <a:r>
              <a:rPr lang="en-US" sz="1575" dirty="0">
                <a:solidFill>
                  <a:srgbClr val="9DB4FF"/>
                </a:solidFill>
                <a:latin typeface="Roboto Mono" pitchFamily="34" charset="0"/>
                <a:ea typeface="Roboto Mono" pitchFamily="34" charset="-122"/>
                <a:cs typeface="Roboto Mono" pitchFamily="34" charset="-120"/>
              </a:rPr>
              <a:t>구축 중 겪은 문제</a:t>
            </a:r>
            <a:endParaRPr lang="en-US" sz="1575" dirty="0"/>
          </a:p>
        </p:txBody>
      </p:sp>
      <p:sp>
        <p:nvSpPr>
          <p:cNvPr id="78" name="Text 76"/>
          <p:cNvSpPr/>
          <p:nvPr/>
        </p:nvSpPr>
        <p:spPr>
          <a:xfrm>
            <a:off x="9553575" y="6276975"/>
            <a:ext cx="7721060" cy="788670"/>
          </a:xfrm>
          <a:prstGeom prst="rect">
            <a:avLst/>
          </a:prstGeom>
          <a:noFill/>
          <a:ln/>
        </p:spPr>
        <p:txBody>
          <a:bodyPr wrap="square" lIns="25400" tIns="25400" rIns="25400" bIns="25400" rtlCol="0" anchor="t">
            <a:normAutofit/>
          </a:bodyPr>
          <a:lstStyle/>
          <a:p>
            <a:pPr algn="l" indent="0" marL="0">
              <a:lnSpc>
                <a:spcPct val="121154"/>
              </a:lnSpc>
              <a:buNone/>
            </a:pPr>
            <a:r>
              <a:rPr lang="en-US" sz="2025" b="1" dirty="0">
                <a:solidFill>
                  <a:srgbClr val="FBFBFA"/>
                </a:solidFill>
                <a:latin typeface="Arial" pitchFamily="34" charset="0"/>
                <a:ea typeface="Arial" pitchFamily="34" charset="-122"/>
                <a:cs typeface="Arial" pitchFamily="34" charset="-120"/>
              </a:rPr>
              <a:t>CodeConnections 를 CLI 로 만들면 </a:t>
            </a:r>
            <a:pPr algn="l" indent="0" marL="0">
              <a:lnSpc>
                <a:spcPct val="121154"/>
              </a:lnSpc>
              <a:buNone/>
            </a:pPr>
            <a:r>
              <a:rPr lang="en-US" sz="2025" b="1" dirty="0">
                <a:solidFill>
                  <a:srgbClr val="9DB4FF"/>
                </a:solidFill>
                <a:latin typeface="Arial" pitchFamily="34" charset="0"/>
                <a:ea typeface="Arial" pitchFamily="34" charset="-122"/>
                <a:cs typeface="Arial" pitchFamily="34" charset="-120"/>
              </a:rPr>
              <a:t>GitHub 앱이 설치되지 않는다</a:t>
            </a:r>
            <a:endParaRPr lang="en-US" sz="2025" dirty="0"/>
          </a:p>
        </p:txBody>
      </p:sp>
      <p:sp>
        <p:nvSpPr>
          <p:cNvPr id="79" name="Text 77"/>
          <p:cNvSpPr/>
          <p:nvPr/>
        </p:nvSpPr>
        <p:spPr>
          <a:xfrm>
            <a:off x="9553575" y="7160895"/>
            <a:ext cx="7721060" cy="113538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콘솔에서 "새 앱 설치"를 눌러야 비공개 저장소를 읽을 수 있다. 연결 상태가 </a:t>
            </a:r>
            <a:pPr algn="l" indent="0" marL="0">
              <a:lnSpc>
                <a:spcPct val="141176"/>
              </a:lnSpc>
              <a:buNone/>
            </a:pPr>
            <a:r>
              <a:rPr lang="en-US" sz="1650" dirty="0">
                <a:solidFill>
                  <a:srgbClr val="C9CDD3"/>
                </a:solidFill>
                <a:latin typeface="Roboto Mono" pitchFamily="34" charset="0"/>
                <a:ea typeface="Roboto Mono" pitchFamily="34" charset="-122"/>
                <a:cs typeface="Roboto Mono" pitchFamily="34" charset="-120"/>
              </a:rPr>
              <a:t>AVAILABLE </a:t>
            </a:r>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로 보여도 앱이 없으면 못 읽는다 — </a:t>
            </a:r>
            <a:pPr algn="l" indent="0" marL="0">
              <a:lnSpc>
                <a:spcPct val="141176"/>
              </a:lnSpc>
              <a:buNone/>
            </a:pPr>
            <a:r>
              <a:rPr lang="en-US" sz="1650" dirty="0">
                <a:solidFill>
                  <a:srgbClr val="C9CDD3"/>
                </a:solidFill>
                <a:latin typeface="Roboto Mono" pitchFamily="34" charset="0"/>
                <a:ea typeface="Roboto Mono" pitchFamily="34" charset="-122"/>
                <a:cs typeface="Roboto Mono" pitchFamily="34" charset="-120"/>
              </a:rPr>
              <a:t>No Branch [main] found </a:t>
            </a:r>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가 반복됐다.</a:t>
            </a:r>
            <a:endParaRPr lang="en-US" sz="1800" dirty="0"/>
          </a:p>
        </p:txBody>
      </p:sp>
      <p:sp>
        <p:nvSpPr>
          <p:cNvPr id="80" name="Shape 78"/>
          <p:cNvSpPr/>
          <p:nvPr/>
        </p:nvSpPr>
        <p:spPr>
          <a:xfrm>
            <a:off x="9553575" y="8391525"/>
            <a:ext cx="7496175" cy="9525"/>
          </a:xfrm>
          <a:prstGeom prst="rect">
            <a:avLst/>
          </a:prstGeom>
          <a:solidFill>
            <a:srgbClr val="2C313A"/>
          </a:solidFill>
          <a:ln/>
        </p:spPr>
      </p:sp>
      <p:sp>
        <p:nvSpPr>
          <p:cNvPr id="81" name="Text 79"/>
          <p:cNvSpPr/>
          <p:nvPr/>
        </p:nvSpPr>
        <p:spPr>
          <a:xfrm>
            <a:off x="9553575" y="8532495"/>
            <a:ext cx="7721060" cy="769620"/>
          </a:xfrm>
          <a:prstGeom prst="rect">
            <a:avLst/>
          </a:prstGeom>
          <a:noFill/>
          <a:ln/>
        </p:spPr>
        <p:txBody>
          <a:bodyPr wrap="square" lIns="25400" tIns="25400" rIns="25400" bIns="25400" rtlCol="0" anchor="t">
            <a:normAutofit/>
          </a:bodyPr>
          <a:lstStyle/>
          <a:p>
            <a:pPr algn="l" indent="0" marL="0">
              <a:lnSpc>
                <a:spcPct val="141176"/>
              </a:lnSpc>
              <a:buNone/>
            </a:pPr>
            <a:r>
              <a:rPr lang="en-US" sz="1650" dirty="0">
                <a:solidFill>
                  <a:srgbClr val="C9CDD3"/>
                </a:solidFill>
                <a:latin typeface="Roboto Mono" pitchFamily="34" charset="0"/>
                <a:ea typeface="Roboto Mono" pitchFamily="34" charset="-122"/>
                <a:cs typeface="Roboto Mono" pitchFamily="34" charset="-120"/>
              </a:rPr>
              <a:t>appspec.yml </a:t>
            </a:r>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의 </a:t>
            </a:r>
            <a:pPr algn="l" indent="0" marL="0">
              <a:lnSpc>
                <a:spcPct val="141176"/>
              </a:lnSpc>
              <a:buNone/>
            </a:pPr>
            <a:r>
              <a:rPr lang="en-US" sz="1650" dirty="0">
                <a:solidFill>
                  <a:srgbClr val="C9CDD3"/>
                </a:solidFill>
                <a:latin typeface="Roboto Mono" pitchFamily="34" charset="0"/>
                <a:ea typeface="Roboto Mono" pitchFamily="34" charset="-122"/>
                <a:cs typeface="Roboto Mono" pitchFamily="34" charset="-120"/>
              </a:rPr>
              <a:t>files </a:t>
            </a:r>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에 </a:t>
            </a:r>
            <a:pPr algn="l" indent="0" marL="0">
              <a:lnSpc>
                <a:spcPct val="141176"/>
              </a:lnSpc>
              <a:buNone/>
            </a:pPr>
            <a:r>
              <a:rPr lang="en-US" sz="1650" dirty="0">
                <a:solidFill>
                  <a:srgbClr val="C9CDD3"/>
                </a:solidFill>
                <a:latin typeface="Roboto Mono" pitchFamily="34" charset="0"/>
                <a:ea typeface="Roboto Mono" pitchFamily="34" charset="-122"/>
                <a:cs typeface="Roboto Mono" pitchFamily="34" charset="-120"/>
              </a:rPr>
              <a:t>requirements.txt </a:t>
            </a:r>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를 넣지 않아 AfterInstall 훅이 실패했다 — </a:t>
            </a:r>
            <a:pPr algn="l" indent="0" marL="0">
              <a:lnSpc>
                <a:spcPct val="141176"/>
              </a:lnSpc>
              <a:buNone/>
            </a:pPr>
            <a:r>
              <a:rPr lang="en-US" sz="1800" b="1" dirty="0">
                <a:solidFill>
                  <a:srgbClr val="FFFFFF"/>
                </a:solidFill>
                <a:latin typeface="Arial" pitchFamily="34" charset="0"/>
                <a:ea typeface="Arial" pitchFamily="34" charset="-122"/>
                <a:cs typeface="Arial" pitchFamily="34" charset="-120"/>
              </a:rPr>
              <a:t>훅이 참조하는 파일은 전부 files 에 있어야 한다.</a:t>
            </a:r>
            <a:endParaRPr lang="en-US" sz="1800" dirty="0"/>
          </a:p>
        </p:txBody>
      </p:sp>
      <p:sp>
        <p:nvSpPr>
          <p:cNvPr id="82" name="Shape 80"/>
          <p:cNvSpPr/>
          <p:nvPr/>
        </p:nvSpPr>
        <p:spPr>
          <a:xfrm>
            <a:off x="9553575" y="9397365"/>
            <a:ext cx="7496175" cy="9525"/>
          </a:xfrm>
          <a:prstGeom prst="rect">
            <a:avLst/>
          </a:prstGeom>
          <a:solidFill>
            <a:srgbClr val="2C313A"/>
          </a:solidFill>
          <a:ln/>
        </p:spPr>
      </p:sp>
      <p:sp>
        <p:nvSpPr>
          <p:cNvPr id="83" name="Text 81"/>
          <p:cNvSpPr/>
          <p:nvPr/>
        </p:nvSpPr>
        <p:spPr>
          <a:xfrm>
            <a:off x="9553575" y="9538335"/>
            <a:ext cx="7721060"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GitHub Actions 워크플로는 </a:t>
            </a:r>
            <a:pPr algn="l" indent="0" marL="0">
              <a:lnSpc>
                <a:spcPct val="141176"/>
              </a:lnSpc>
              <a:buNone/>
            </a:pPr>
            <a:r>
              <a:rPr lang="en-US" sz="1650" dirty="0">
                <a:solidFill>
                  <a:srgbClr val="C9CDD3"/>
                </a:solidFill>
                <a:latin typeface="Roboto Mono" pitchFamily="34" charset="0"/>
                <a:ea typeface="Roboto Mono" pitchFamily="34" charset="-122"/>
                <a:cs typeface="Roboto Mono" pitchFamily="34" charset="-120"/>
              </a:rPr>
              <a:t>*.disabled </a:t>
            </a:r>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로 비활성화. 두 경로가 같은 EC2·같은 서비스를 대상으로 해 </a:t>
            </a:r>
            <a:pPr algn="l" indent="0" marL="0">
              <a:lnSpc>
                <a:spcPct val="141176"/>
              </a:lnSpc>
              <a:buNone/>
            </a:pPr>
            <a:r>
              <a:rPr lang="en-US" sz="1800" b="1" dirty="0">
                <a:solidFill>
                  <a:srgbClr val="FFFFFF"/>
                </a:solidFill>
                <a:latin typeface="Arial" pitchFamily="34" charset="0"/>
                <a:ea typeface="Arial" pitchFamily="34" charset="-122"/>
                <a:cs typeface="Arial" pitchFamily="34" charset="-120"/>
              </a:rPr>
              <a:t>어느 쪽이 마지막에 이겼는지 헷갈렸다.</a:t>
            </a:r>
            <a:endParaRPr lang="en-US" sz="1800" dirty="0"/>
          </a:p>
        </p:txBody>
      </p:sp>
      <p:sp>
        <p:nvSpPr>
          <p:cNvPr id="84" name="Shape 82"/>
          <p:cNvSpPr/>
          <p:nvPr/>
        </p:nvSpPr>
        <p:spPr>
          <a:xfrm>
            <a:off x="9553575" y="10403206"/>
            <a:ext cx="7496175" cy="678180"/>
          </a:xfrm>
          <a:prstGeom prst="rect">
            <a:avLst/>
          </a:prstGeom>
          <a:solidFill>
            <a:srgbClr val="0E1013"/>
          </a:solidFill>
          <a:ln w="7620">
            <a:solidFill>
              <a:srgbClr val="2C313A"/>
            </a:solidFill>
            <a:prstDash val="solid"/>
          </a:ln>
        </p:spPr>
      </p:sp>
      <p:sp>
        <p:nvSpPr>
          <p:cNvPr id="85" name="Text 83"/>
          <p:cNvSpPr/>
          <p:nvPr/>
        </p:nvSpPr>
        <p:spPr>
          <a:xfrm>
            <a:off x="9770745" y="10582276"/>
            <a:ext cx="7286720" cy="358140"/>
          </a:xfrm>
          <a:prstGeom prst="rect">
            <a:avLst/>
          </a:prstGeom>
          <a:noFill/>
          <a:ln/>
        </p:spPr>
        <p:txBody>
          <a:bodyPr wrap="square" lIns="25400" tIns="25400" rIns="25400" bIns="25400" rtlCol="0" anchor="t">
            <a:normAutofit/>
          </a:bodyPr>
          <a:lstStyle/>
          <a:p>
            <a:pPr algn="l" indent="0" marL="0">
              <a:lnSpc>
                <a:spcPct val="120000"/>
              </a:lnSpc>
              <a:buNone/>
            </a:pPr>
            <a:r>
              <a:rPr lang="en-US" sz="1575" dirty="0">
                <a:solidFill>
                  <a:srgbClr val="4ADE80"/>
                </a:solidFill>
                <a:highlight>
                  <a:srgbClr val="0E1013"/>
                </a:highlight>
                <a:latin typeface="Roboto Mono" pitchFamily="34" charset="0"/>
                <a:ea typeface="Roboto Mono" pitchFamily="34" charset="-122"/>
                <a:cs typeface="Roboto Mono" pitchFamily="34" charset="-120"/>
              </a:rPr>
              <a:t>./scripts/create_pipeline.sh </a:t>
            </a:r>
            <a:pPr algn="l" indent="0" marL="0">
              <a:lnSpc>
                <a:spcPct val="120000"/>
              </a:lnSpc>
              <a:buNone/>
            </a:pPr>
            <a:r>
              <a:rPr lang="en-US" sz="1575" dirty="0">
                <a:solidFill>
                  <a:srgbClr val="9AA0A8"/>
                </a:solidFill>
                <a:latin typeface="Roboto Mono" pitchFamily="34" charset="0"/>
                <a:ea typeface="Roboto Mono" pitchFamily="34" charset="-122"/>
                <a:cs typeface="Roboto Mono" pitchFamily="34" charset="-120"/>
              </a:rPr>
              <a:t># 멱등적 — 있으면 update</a:t>
            </a:r>
            <a:endParaRPr lang="en-US" sz="15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952500" y="723900"/>
            <a:ext cx="7496390"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29 · EVALUATION</a:t>
            </a:r>
            <a:endParaRPr lang="en-US" sz="1800" dirty="0"/>
          </a:p>
        </p:txBody>
      </p:sp>
      <p:sp>
        <p:nvSpPr>
          <p:cNvPr id="3" name="Text 1"/>
          <p:cNvSpPr/>
          <p:nvPr/>
        </p:nvSpPr>
        <p:spPr>
          <a:xfrm>
            <a:off x="952500" y="1135380"/>
            <a:ext cx="7496390"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평가셋 설계와 라벨링 정책</a:t>
            </a:r>
            <a:endParaRPr lang="en-US" sz="4950" dirty="0"/>
          </a:p>
        </p:txBody>
      </p:sp>
      <p:sp>
        <p:nvSpPr>
          <p:cNvPr id="4" name="Text 2"/>
          <p:cNvSpPr/>
          <p:nvPr/>
        </p:nvSpPr>
        <p:spPr>
          <a:xfrm>
            <a:off x="12456859" y="1436370"/>
            <a:ext cx="4878641" cy="666750"/>
          </a:xfrm>
          <a:prstGeom prst="rect">
            <a:avLst/>
          </a:prstGeom>
          <a:noFill/>
          <a:ln/>
        </p:spPr>
        <p:txBody>
          <a:bodyPr wrap="square" lIns="25400" tIns="25400" rIns="25400" bIns="25400" rtlCol="0" anchor="t">
            <a:normAutofit/>
          </a:bodyPr>
          <a:lstStyle/>
          <a:p>
            <a:pPr algn="r" indent="0" marL="0">
              <a:lnSpc>
                <a:spcPct val="114583"/>
              </a:lnSpc>
              <a:buNone/>
            </a:pPr>
            <a:r>
              <a:rPr lang="en-US" sz="1650" dirty="0">
                <a:solidFill>
                  <a:srgbClr val="8A9099"/>
                </a:solidFill>
                <a:latin typeface="Roboto Mono" pitchFamily="34" charset="0"/>
                <a:ea typeface="Roboto Mono" pitchFamily="34" charset="-122"/>
                <a:cs typeface="Roboto Mono" pitchFamily="34" charset="-120"/>
              </a:rPr>
              <a:t>eval/testset.jsonl 131 (회귀 · CI 검증) eval/mass_testset_20260831 515 (대량)</a:t>
            </a:r>
            <a:endParaRPr lang="en-US" sz="1650" dirty="0"/>
          </a:p>
        </p:txBody>
      </p:sp>
      <p:sp>
        <p:nvSpPr>
          <p:cNvPr id="5" name="Shape 3"/>
          <p:cNvSpPr/>
          <p:nvPr/>
        </p:nvSpPr>
        <p:spPr>
          <a:xfrm>
            <a:off x="952500" y="2350770"/>
            <a:ext cx="7674412" cy="3714750"/>
          </a:xfrm>
          <a:prstGeom prst="rect">
            <a:avLst/>
          </a:prstGeom>
          <a:solidFill>
            <a:srgbClr val="FFFFFF"/>
          </a:solidFill>
          <a:ln w="7620">
            <a:solidFill>
              <a:srgbClr val="DFE1E6"/>
            </a:solidFill>
            <a:prstDash val="solid"/>
          </a:ln>
        </p:spPr>
      </p:sp>
      <p:sp>
        <p:nvSpPr>
          <p:cNvPr id="6" name="Text 4"/>
          <p:cNvSpPr/>
          <p:nvPr/>
        </p:nvSpPr>
        <p:spPr>
          <a:xfrm>
            <a:off x="1245870" y="2586990"/>
            <a:ext cx="7796439"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515문항 구성</a:t>
            </a:r>
            <a:endParaRPr lang="en-US" sz="2100" dirty="0"/>
          </a:p>
        </p:txBody>
      </p:sp>
      <p:sp>
        <p:nvSpPr>
          <p:cNvPr id="7" name="Text 5"/>
          <p:cNvSpPr/>
          <p:nvPr/>
        </p:nvSpPr>
        <p:spPr>
          <a:xfrm>
            <a:off x="1245870" y="3108960"/>
            <a:ext cx="7796439" cy="289560"/>
          </a:xfrm>
          <a:prstGeom prst="rect">
            <a:avLst/>
          </a:prstGeom>
          <a:noFill/>
          <a:ln/>
        </p:spPr>
        <p:txBody>
          <a:bodyPr wrap="square" lIns="25400" tIns="25400" rIns="25400" bIns="25400" rtlCol="0" anchor="t">
            <a:normAutofit/>
          </a:bodyPr>
          <a:lstStyle/>
          <a:p>
            <a:pPr algn="l" indent="0" marL="0">
              <a:buNone/>
            </a:pPr>
            <a:r>
              <a:rPr lang="en-US" sz="1500" dirty="0">
                <a:solidFill>
                  <a:srgbClr val="8A9099"/>
                </a:solidFill>
                <a:latin typeface="Roboto Mono" pitchFamily="34" charset="0"/>
                <a:ea typeface="Roboto Mono" pitchFamily="34" charset="-122"/>
                <a:cs typeface="Roboto Mono" pitchFamily="34" charset="-120"/>
              </a:rPr>
              <a:t>언어</a:t>
            </a:r>
            <a:endParaRPr lang="en-US" sz="1500" dirty="0"/>
          </a:p>
        </p:txBody>
      </p:sp>
      <p:sp>
        <p:nvSpPr>
          <p:cNvPr id="8" name="Text 6"/>
          <p:cNvSpPr/>
          <p:nvPr/>
        </p:nvSpPr>
        <p:spPr>
          <a:xfrm>
            <a:off x="1245870" y="3436620"/>
            <a:ext cx="7796439"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ko 111 · zh 104 · ja 104 · id 99 · en 97</a:t>
            </a:r>
            <a:endParaRPr lang="en-US" sz="1650" dirty="0"/>
          </a:p>
        </p:txBody>
      </p:sp>
      <p:sp>
        <p:nvSpPr>
          <p:cNvPr id="9" name="Text 7"/>
          <p:cNvSpPr/>
          <p:nvPr/>
        </p:nvSpPr>
        <p:spPr>
          <a:xfrm>
            <a:off x="1245870" y="3844290"/>
            <a:ext cx="7796439" cy="289560"/>
          </a:xfrm>
          <a:prstGeom prst="rect">
            <a:avLst/>
          </a:prstGeom>
          <a:noFill/>
          <a:ln/>
        </p:spPr>
        <p:txBody>
          <a:bodyPr wrap="square" lIns="25400" tIns="25400" rIns="25400" bIns="25400" rtlCol="0" anchor="t">
            <a:normAutofit/>
          </a:bodyPr>
          <a:lstStyle/>
          <a:p>
            <a:pPr algn="l" indent="0" marL="0">
              <a:buNone/>
            </a:pPr>
            <a:r>
              <a:rPr lang="en-US" sz="1500" dirty="0">
                <a:solidFill>
                  <a:srgbClr val="8A9099"/>
                </a:solidFill>
                <a:latin typeface="Roboto Mono" pitchFamily="34" charset="0"/>
                <a:ea typeface="Roboto Mono" pitchFamily="34" charset="-122"/>
                <a:cs typeface="Roboto Mono" pitchFamily="34" charset="-120"/>
              </a:rPr>
              <a:t>유형</a:t>
            </a:r>
            <a:endParaRPr lang="en-US" sz="1500" dirty="0"/>
          </a:p>
        </p:txBody>
      </p:sp>
      <p:sp>
        <p:nvSpPr>
          <p:cNvPr id="10" name="Shape 8"/>
          <p:cNvSpPr/>
          <p:nvPr/>
        </p:nvSpPr>
        <p:spPr>
          <a:xfrm>
            <a:off x="1245870" y="4171950"/>
            <a:ext cx="1882497" cy="422910"/>
          </a:xfrm>
          <a:prstGeom prst="rect">
            <a:avLst/>
          </a:prstGeom>
          <a:solidFill>
            <a:srgbClr val="16181D"/>
          </a:solidFill>
          <a:ln/>
        </p:spPr>
      </p:sp>
      <p:sp>
        <p:nvSpPr>
          <p:cNvPr id="11" name="Text 9"/>
          <p:cNvSpPr/>
          <p:nvPr/>
        </p:nvSpPr>
        <p:spPr>
          <a:xfrm>
            <a:off x="1369695" y="4238625"/>
            <a:ext cx="1711047" cy="327660"/>
          </a:xfrm>
          <a:prstGeom prst="rect">
            <a:avLst/>
          </a:prstGeom>
          <a:noFill/>
          <a:ln/>
        </p:spPr>
        <p:txBody>
          <a:bodyPr wrap="square" lIns="25400" tIns="25400" rIns="25400" bIns="25400" rtlCol="0" anchor="t">
            <a:normAutofit/>
          </a:bodyPr>
          <a:lstStyle/>
          <a:p>
            <a:pPr algn="l" indent="0" marL="0">
              <a:buNone/>
            </a:pPr>
            <a:r>
              <a:rPr lang="en-US" sz="1650" dirty="0">
                <a:solidFill>
                  <a:srgbClr val="FBFBFA"/>
                </a:solidFill>
                <a:latin typeface="Roboto Mono" pitchFamily="34" charset="0"/>
                <a:ea typeface="Roboto Mono" pitchFamily="34" charset="-122"/>
                <a:cs typeface="Roboto Mono" pitchFamily="34" charset="-120"/>
              </a:rPr>
              <a:t>injection 200</a:t>
            </a:r>
            <a:endParaRPr lang="en-US" sz="1650" dirty="0"/>
          </a:p>
        </p:txBody>
      </p:sp>
      <p:sp>
        <p:nvSpPr>
          <p:cNvPr id="12" name="Shape 10"/>
          <p:cNvSpPr/>
          <p:nvPr/>
        </p:nvSpPr>
        <p:spPr>
          <a:xfrm>
            <a:off x="3204567" y="4171950"/>
            <a:ext cx="1520428" cy="422910"/>
          </a:xfrm>
          <a:prstGeom prst="rect">
            <a:avLst/>
          </a:prstGeom>
          <a:solidFill>
            <a:srgbClr val="F3F6FF"/>
          </a:solidFill>
          <a:ln w="7620">
            <a:solidFill>
              <a:srgbClr val="C9D6FF"/>
            </a:solidFill>
            <a:prstDash val="solid"/>
          </a:ln>
        </p:spPr>
      </p:sp>
      <p:sp>
        <p:nvSpPr>
          <p:cNvPr id="13" name="Text 11"/>
          <p:cNvSpPr/>
          <p:nvPr/>
        </p:nvSpPr>
        <p:spPr>
          <a:xfrm>
            <a:off x="3336012" y="4246245"/>
            <a:ext cx="1333738"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simple 133</a:t>
            </a:r>
            <a:endParaRPr lang="en-US" sz="1650" dirty="0"/>
          </a:p>
        </p:txBody>
      </p:sp>
      <p:sp>
        <p:nvSpPr>
          <p:cNvPr id="14" name="Shape 12"/>
          <p:cNvSpPr/>
          <p:nvPr/>
        </p:nvSpPr>
        <p:spPr>
          <a:xfrm>
            <a:off x="4801195" y="4171950"/>
            <a:ext cx="1646158" cy="422910"/>
          </a:xfrm>
          <a:prstGeom prst="rect">
            <a:avLst/>
          </a:prstGeom>
          <a:solidFill>
            <a:srgbClr val="F3F6FF"/>
          </a:solidFill>
          <a:ln w="7620">
            <a:solidFill>
              <a:srgbClr val="C9D6FF"/>
            </a:solidFill>
            <a:prstDash val="solid"/>
          </a:ln>
        </p:spPr>
      </p:sp>
      <p:sp>
        <p:nvSpPr>
          <p:cNvPr id="15" name="Text 13"/>
          <p:cNvSpPr/>
          <p:nvPr/>
        </p:nvSpPr>
        <p:spPr>
          <a:xfrm>
            <a:off x="4932640" y="4246245"/>
            <a:ext cx="1459468"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boundary 91</a:t>
            </a:r>
            <a:endParaRPr lang="en-US" sz="1650" dirty="0"/>
          </a:p>
        </p:txBody>
      </p:sp>
      <p:sp>
        <p:nvSpPr>
          <p:cNvPr id="16" name="Shape 14"/>
          <p:cNvSpPr/>
          <p:nvPr/>
        </p:nvSpPr>
        <p:spPr>
          <a:xfrm>
            <a:off x="1245870" y="4671060"/>
            <a:ext cx="2274927" cy="422910"/>
          </a:xfrm>
          <a:prstGeom prst="rect">
            <a:avLst/>
          </a:prstGeom>
          <a:solidFill>
            <a:srgbClr val="F6F7F8"/>
          </a:solidFill>
          <a:ln w="7620">
            <a:solidFill>
              <a:srgbClr val="DFE1E6"/>
            </a:solidFill>
            <a:prstDash val="solid"/>
          </a:ln>
        </p:spPr>
      </p:sp>
      <p:sp>
        <p:nvSpPr>
          <p:cNvPr id="17" name="Text 15"/>
          <p:cNvSpPr/>
          <p:nvPr/>
        </p:nvSpPr>
        <p:spPr>
          <a:xfrm>
            <a:off x="1377315" y="4745355"/>
            <a:ext cx="2088237"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out_of_domain 35</a:t>
            </a:r>
            <a:endParaRPr lang="en-US" sz="1650" dirty="0"/>
          </a:p>
        </p:txBody>
      </p:sp>
      <p:sp>
        <p:nvSpPr>
          <p:cNvPr id="18" name="Shape 16"/>
          <p:cNvSpPr/>
          <p:nvPr/>
        </p:nvSpPr>
        <p:spPr>
          <a:xfrm>
            <a:off x="3596997" y="4671060"/>
            <a:ext cx="1520428" cy="422910"/>
          </a:xfrm>
          <a:prstGeom prst="rect">
            <a:avLst/>
          </a:prstGeom>
          <a:solidFill>
            <a:srgbClr val="F3F6FF"/>
          </a:solidFill>
          <a:ln w="7620">
            <a:solidFill>
              <a:srgbClr val="C9D6FF"/>
            </a:solidFill>
            <a:prstDash val="solid"/>
          </a:ln>
        </p:spPr>
      </p:sp>
      <p:sp>
        <p:nvSpPr>
          <p:cNvPr id="19" name="Text 17"/>
          <p:cNvSpPr/>
          <p:nvPr/>
        </p:nvSpPr>
        <p:spPr>
          <a:xfrm>
            <a:off x="3728442" y="4745355"/>
            <a:ext cx="1333738" cy="312420"/>
          </a:xfrm>
          <a:prstGeom prst="rect">
            <a:avLst/>
          </a:prstGeom>
          <a:noFill/>
          <a:ln/>
        </p:spPr>
        <p:txBody>
          <a:bodyPr wrap="square" lIns="25400" tIns="25400" rIns="25400" bIns="25400" rtlCol="0" anchor="t">
            <a:normAutofit/>
          </a:bodyPr>
          <a:lstStyle/>
          <a:p>
            <a:pPr algn="l" indent="0" marL="0">
              <a:buNone/>
            </a:pPr>
            <a:r>
              <a:rPr lang="en-US" sz="1650" dirty="0">
                <a:solidFill>
                  <a:srgbClr val="2B57D6"/>
                </a:solidFill>
                <a:latin typeface="Roboto Mono" pitchFamily="34" charset="0"/>
                <a:ea typeface="Roboto Mono" pitchFamily="34" charset="-122"/>
                <a:cs typeface="Roboto Mono" pitchFamily="34" charset="-120"/>
              </a:rPr>
              <a:t>complex 29</a:t>
            </a:r>
            <a:endParaRPr lang="en-US" sz="1650" dirty="0"/>
          </a:p>
        </p:txBody>
      </p:sp>
      <p:sp>
        <p:nvSpPr>
          <p:cNvPr id="20" name="Shape 18"/>
          <p:cNvSpPr/>
          <p:nvPr/>
        </p:nvSpPr>
        <p:spPr>
          <a:xfrm>
            <a:off x="5193625" y="4671060"/>
            <a:ext cx="1017508" cy="422910"/>
          </a:xfrm>
          <a:prstGeom prst="rect">
            <a:avLst/>
          </a:prstGeom>
          <a:solidFill>
            <a:srgbClr val="F6F7F8"/>
          </a:solidFill>
          <a:ln w="7620">
            <a:solidFill>
              <a:srgbClr val="DFE1E6"/>
            </a:solidFill>
            <a:prstDash val="solid"/>
          </a:ln>
        </p:spPr>
      </p:sp>
      <p:sp>
        <p:nvSpPr>
          <p:cNvPr id="21" name="Text 19"/>
          <p:cNvSpPr/>
          <p:nvPr/>
        </p:nvSpPr>
        <p:spPr>
          <a:xfrm>
            <a:off x="5325070" y="4745355"/>
            <a:ext cx="830818"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pii 16</a:t>
            </a:r>
            <a:endParaRPr lang="en-US" sz="1650" dirty="0"/>
          </a:p>
        </p:txBody>
      </p:sp>
      <p:sp>
        <p:nvSpPr>
          <p:cNvPr id="22" name="Shape 20"/>
          <p:cNvSpPr/>
          <p:nvPr/>
        </p:nvSpPr>
        <p:spPr>
          <a:xfrm>
            <a:off x="6287334" y="4671060"/>
            <a:ext cx="1646158" cy="422910"/>
          </a:xfrm>
          <a:prstGeom prst="rect">
            <a:avLst/>
          </a:prstGeom>
          <a:solidFill>
            <a:srgbClr val="F6F7F8"/>
          </a:solidFill>
          <a:ln w="7620">
            <a:solidFill>
              <a:srgbClr val="DFE1E6"/>
            </a:solidFill>
            <a:prstDash val="solid"/>
          </a:ln>
        </p:spPr>
      </p:sp>
      <p:sp>
        <p:nvSpPr>
          <p:cNvPr id="23" name="Text 21"/>
          <p:cNvSpPr/>
          <p:nvPr/>
        </p:nvSpPr>
        <p:spPr>
          <a:xfrm>
            <a:off x="6418779" y="4745355"/>
            <a:ext cx="1459468"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toxicity 11</a:t>
            </a:r>
            <a:endParaRPr lang="en-US" sz="1650" dirty="0"/>
          </a:p>
        </p:txBody>
      </p:sp>
      <p:sp>
        <p:nvSpPr>
          <p:cNvPr id="24" name="Text 22"/>
          <p:cNvSpPr/>
          <p:nvPr/>
        </p:nvSpPr>
        <p:spPr>
          <a:xfrm>
            <a:off x="1245870" y="5227320"/>
            <a:ext cx="7796439" cy="289560"/>
          </a:xfrm>
          <a:prstGeom prst="rect">
            <a:avLst/>
          </a:prstGeom>
          <a:noFill/>
          <a:ln/>
        </p:spPr>
        <p:txBody>
          <a:bodyPr wrap="square" lIns="25400" tIns="25400" rIns="25400" bIns="25400" rtlCol="0" anchor="t">
            <a:normAutofit/>
          </a:bodyPr>
          <a:lstStyle/>
          <a:p>
            <a:pPr algn="l" indent="0" marL="0">
              <a:buNone/>
            </a:pPr>
            <a:r>
              <a:rPr lang="en-US" sz="1500" dirty="0">
                <a:solidFill>
                  <a:srgbClr val="8A9099"/>
                </a:solidFill>
                <a:latin typeface="Roboto Mono" pitchFamily="34" charset="0"/>
                <a:ea typeface="Roboto Mono" pitchFamily="34" charset="-122"/>
                <a:cs typeface="Roboto Mono" pitchFamily="34" charset="-120"/>
              </a:rPr>
              <a:t>기대 라우팅</a:t>
            </a:r>
            <a:endParaRPr lang="en-US" sz="1500" dirty="0"/>
          </a:p>
        </p:txBody>
      </p:sp>
      <p:sp>
        <p:nvSpPr>
          <p:cNvPr id="25" name="Text 23"/>
          <p:cNvSpPr/>
          <p:nvPr/>
        </p:nvSpPr>
        <p:spPr>
          <a:xfrm>
            <a:off x="1245870" y="5554980"/>
            <a:ext cx="7796439" cy="312420"/>
          </a:xfrm>
          <a:prstGeom prst="rect">
            <a:avLst/>
          </a:prstGeom>
          <a:noFill/>
          <a:ln/>
        </p:spPr>
        <p:txBody>
          <a:bodyPr wrap="square" lIns="25400" tIns="25400" rIns="25400" bIns="25400" rtlCol="0" anchor="t">
            <a:normAutofit/>
          </a:bodyPr>
          <a:lstStyle/>
          <a:p>
            <a:pPr algn="l" indent="0" marL="0">
              <a:buNone/>
            </a:pPr>
            <a:r>
              <a:rPr lang="en-US" sz="1650" dirty="0">
                <a:solidFill>
                  <a:srgbClr val="4A5058"/>
                </a:solidFill>
                <a:latin typeface="Roboto Mono" pitchFamily="34" charset="0"/>
                <a:ea typeface="Roboto Mono" pitchFamily="34" charset="-122"/>
                <a:cs typeface="Roboto Mono" pitchFamily="34" charset="-120"/>
              </a:rPr>
              <a:t>local 15 · cloud 224 · blocked 276</a:t>
            </a:r>
            <a:endParaRPr lang="en-US" sz="1650" dirty="0"/>
          </a:p>
        </p:txBody>
      </p:sp>
      <p:sp>
        <p:nvSpPr>
          <p:cNvPr id="26" name="Shape 24"/>
          <p:cNvSpPr/>
          <p:nvPr/>
        </p:nvSpPr>
        <p:spPr>
          <a:xfrm>
            <a:off x="952500" y="6217920"/>
            <a:ext cx="7674412" cy="2057400"/>
          </a:xfrm>
          <a:prstGeom prst="rect">
            <a:avLst/>
          </a:prstGeom>
          <a:solidFill>
            <a:srgbClr val="16181D"/>
          </a:solidFill>
          <a:ln/>
        </p:spPr>
      </p:sp>
      <p:sp>
        <p:nvSpPr>
          <p:cNvPr id="27" name="Text 25"/>
          <p:cNvSpPr/>
          <p:nvPr/>
        </p:nvSpPr>
        <p:spPr>
          <a:xfrm>
            <a:off x="1238250" y="6446520"/>
            <a:ext cx="7813203" cy="304800"/>
          </a:xfrm>
          <a:prstGeom prst="rect">
            <a:avLst/>
          </a:prstGeom>
          <a:noFill/>
          <a:ln/>
        </p:spPr>
        <p:txBody>
          <a:bodyPr wrap="square" lIns="25400" tIns="25400" rIns="25400" bIns="25400" rtlCol="0" anchor="t">
            <a:normAutofit/>
          </a:bodyPr>
          <a:lstStyle/>
          <a:p>
            <a:pPr algn="l" indent="0" marL="0">
              <a:buNone/>
            </a:pPr>
            <a:r>
              <a:rPr lang="en-US" sz="1575" dirty="0">
                <a:solidFill>
                  <a:srgbClr val="9DB4FF"/>
                </a:solidFill>
                <a:latin typeface="Roboto Mono" pitchFamily="34" charset="0"/>
                <a:ea typeface="Roboto Mono" pitchFamily="34" charset="-122"/>
                <a:cs typeface="Roboto Mono" pitchFamily="34" charset="-120"/>
              </a:rPr>
              <a:t>평가셋 설계의 핵심</a:t>
            </a:r>
            <a:endParaRPr lang="en-US" sz="1575" dirty="0"/>
          </a:p>
        </p:txBody>
      </p:sp>
      <p:sp>
        <p:nvSpPr>
          <p:cNvPr id="28" name="Text 26"/>
          <p:cNvSpPr/>
          <p:nvPr/>
        </p:nvSpPr>
        <p:spPr>
          <a:xfrm>
            <a:off x="1238250" y="6827520"/>
            <a:ext cx="7813203" cy="411480"/>
          </a:xfrm>
          <a:prstGeom prst="rect">
            <a:avLst/>
          </a:prstGeom>
          <a:noFill/>
          <a:ln/>
        </p:spPr>
        <p:txBody>
          <a:bodyPr wrap="square" lIns="25400" tIns="25400" rIns="25400" bIns="25400" rtlCol="0" anchor="t">
            <a:normAutofit/>
          </a:bodyPr>
          <a:lstStyle/>
          <a:p>
            <a:pPr algn="l" indent="0" marL="0">
              <a:lnSpc>
                <a:spcPct val="122500"/>
              </a:lnSpc>
              <a:buNone/>
            </a:pPr>
            <a:r>
              <a:rPr lang="en-US" sz="2100" b="1" dirty="0">
                <a:solidFill>
                  <a:srgbClr val="FBFBFA"/>
                </a:solidFill>
                <a:latin typeface="Arial" pitchFamily="34" charset="0"/>
                <a:ea typeface="Arial" pitchFamily="34" charset="-122"/>
                <a:cs typeface="Arial" pitchFamily="34" charset="-120"/>
              </a:rPr>
              <a:t>허용 문항이 핵심이다</a:t>
            </a:r>
            <a:endParaRPr lang="en-US" sz="2100" dirty="0"/>
          </a:p>
        </p:txBody>
      </p:sp>
      <p:sp>
        <p:nvSpPr>
          <p:cNvPr id="29" name="Text 27"/>
          <p:cNvSpPr/>
          <p:nvPr/>
        </p:nvSpPr>
        <p:spPr>
          <a:xfrm>
            <a:off x="1238250" y="7315200"/>
            <a:ext cx="7315999" cy="76962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차단 케이스만으로는 오탐률을 잴 수 없고, </a:t>
            </a:r>
            <a:pPr algn="l" indent="0" marL="0">
              <a:lnSpc>
                <a:spcPct val="141176"/>
              </a:lnSpc>
              <a:buNone/>
            </a:pPr>
            <a:r>
              <a:rPr lang="en-US" sz="1800" b="1" dirty="0">
                <a:solidFill>
                  <a:srgbClr val="FFFFFF"/>
                </a:solidFill>
                <a:latin typeface="Arial" pitchFamily="34" charset="0"/>
                <a:ea typeface="Arial" pitchFamily="34" charset="-122"/>
                <a:cs typeface="Arial" pitchFamily="34" charset="-120"/>
              </a:rPr>
              <a:t>모든 입력을 막는 시스템도 만점을 받는다. </a:t>
            </a:r>
            <a:pPr algn="l" indent="0" marL="0">
              <a:lnSpc>
                <a:spcPct val="141176"/>
              </a:lnSpc>
              <a:buNone/>
            </a:pPr>
            <a:r>
              <a:rPr lang="en-US" sz="1800" dirty="0">
                <a:solidFill>
                  <a:srgbClr val="C9CDD3"/>
                </a:solidFill>
                <a:latin typeface="Arial" pitchFamily="34" charset="0"/>
                <a:ea typeface="Arial" pitchFamily="34" charset="-122"/>
                <a:cs typeface="Arial" pitchFamily="34" charset="-120"/>
              </a:rPr>
              <a:t>그래서 정상·경계 문항을 절반 가까이 넣었다.</a:t>
            </a:r>
            <a:endParaRPr lang="en-US" sz="1800" dirty="0"/>
          </a:p>
        </p:txBody>
      </p:sp>
      <p:sp>
        <p:nvSpPr>
          <p:cNvPr id="30" name="Shape 28"/>
          <p:cNvSpPr/>
          <p:nvPr/>
        </p:nvSpPr>
        <p:spPr>
          <a:xfrm>
            <a:off x="952500" y="8427720"/>
            <a:ext cx="7674412" cy="2807970"/>
          </a:xfrm>
          <a:prstGeom prst="rect">
            <a:avLst/>
          </a:prstGeom>
          <a:solidFill>
            <a:srgbClr val="FFFFFF"/>
          </a:solidFill>
          <a:ln w="7620">
            <a:solidFill>
              <a:srgbClr val="DFE1E6"/>
            </a:solidFill>
            <a:prstDash val="solid"/>
          </a:ln>
        </p:spPr>
      </p:sp>
      <p:sp>
        <p:nvSpPr>
          <p:cNvPr id="31" name="Text 29"/>
          <p:cNvSpPr/>
          <p:nvPr/>
        </p:nvSpPr>
        <p:spPr>
          <a:xfrm>
            <a:off x="1245870" y="8663940"/>
            <a:ext cx="7796439" cy="411480"/>
          </a:xfrm>
          <a:prstGeom prst="rect">
            <a:avLst/>
          </a:prstGeom>
          <a:noFill/>
          <a:ln/>
        </p:spPr>
        <p:txBody>
          <a:bodyPr wrap="square" lIns="25400" tIns="25400" rIns="25400" bIns="25400" rtlCol="0" anchor="t">
            <a:normAutofit/>
          </a:bodyPr>
          <a:lstStyle/>
          <a:p>
            <a:pPr algn="l" indent="0" marL="0">
              <a:buNone/>
            </a:pPr>
            <a:r>
              <a:rPr lang="en-US" sz="2025" b="1" dirty="0">
                <a:solidFill>
                  <a:srgbClr val="16181D"/>
                </a:solidFill>
                <a:latin typeface="Arial" pitchFamily="34" charset="0"/>
                <a:ea typeface="Arial" pitchFamily="34" charset="-122"/>
                <a:cs typeface="Arial" pitchFamily="34" charset="-120"/>
              </a:rPr>
              <a:t>지표 — 1순위는 FPR</a:t>
            </a:r>
            <a:endParaRPr lang="en-US" sz="2025" dirty="0"/>
          </a:p>
        </p:txBody>
      </p:sp>
      <p:sp>
        <p:nvSpPr>
          <p:cNvPr id="32" name="Text 30"/>
          <p:cNvSpPr/>
          <p:nvPr/>
        </p:nvSpPr>
        <p:spPr>
          <a:xfrm>
            <a:off x="1245870" y="9185910"/>
            <a:ext cx="1144905" cy="289560"/>
          </a:xfrm>
          <a:prstGeom prst="rect">
            <a:avLst/>
          </a:prstGeom>
          <a:noFill/>
          <a:ln/>
        </p:spPr>
        <p:txBody>
          <a:bodyPr wrap="square" lIns="25400" tIns="25400" rIns="25400" bIns="25400" rtlCol="0" anchor="t">
            <a:normAutofit/>
          </a:bodyPr>
          <a:lstStyle/>
          <a:p>
            <a:pPr algn="l" indent="0" marL="0">
              <a:buNone/>
            </a:pPr>
            <a:r>
              <a:rPr lang="en-US" sz="1725" b="1" dirty="0">
                <a:solidFill>
                  <a:srgbClr val="2B57D6"/>
                </a:solidFill>
                <a:latin typeface="Arial" pitchFamily="34" charset="0"/>
                <a:ea typeface="Arial" pitchFamily="34" charset="-122"/>
                <a:cs typeface="Arial" pitchFamily="34" charset="-120"/>
              </a:rPr>
              <a:t>FPR</a:t>
            </a:r>
            <a:endParaRPr lang="en-US" sz="1725" dirty="0"/>
          </a:p>
        </p:txBody>
      </p:sp>
      <p:sp>
        <p:nvSpPr>
          <p:cNvPr id="33" name="Text 31"/>
          <p:cNvSpPr/>
          <p:nvPr/>
        </p:nvSpPr>
        <p:spPr>
          <a:xfrm>
            <a:off x="2486025" y="9132570"/>
            <a:ext cx="6432269"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정상 문의를 잘못 막은 비율 </a:t>
            </a:r>
            <a:pPr algn="l" indent="0" marL="0">
              <a:buNone/>
            </a:pPr>
            <a:r>
              <a:rPr lang="en-US" sz="1725" b="1" dirty="0">
                <a:solidFill>
                  <a:srgbClr val="4A5058"/>
                </a:solidFill>
                <a:latin typeface="Arial" pitchFamily="34" charset="0"/>
                <a:ea typeface="Arial" pitchFamily="34" charset="-122"/>
                <a:cs typeface="Arial" pitchFamily="34" charset="-120"/>
              </a:rPr>
              <a:t>(1순위)</a:t>
            </a:r>
            <a:endParaRPr lang="en-US" sz="1725" dirty="0"/>
          </a:p>
        </p:txBody>
      </p:sp>
      <p:sp>
        <p:nvSpPr>
          <p:cNvPr id="34" name="Text 32"/>
          <p:cNvSpPr/>
          <p:nvPr/>
        </p:nvSpPr>
        <p:spPr>
          <a:xfrm>
            <a:off x="1245870" y="9574530"/>
            <a:ext cx="1144905" cy="289560"/>
          </a:xfrm>
          <a:prstGeom prst="rect">
            <a:avLst/>
          </a:prstGeom>
          <a:noFill/>
          <a:ln/>
        </p:spPr>
        <p:txBody>
          <a:bodyPr wrap="square" lIns="25400" tIns="25400" rIns="25400" bIns="25400" rtlCol="0" anchor="t">
            <a:normAutofit/>
          </a:bodyPr>
          <a:lstStyle/>
          <a:p>
            <a:pPr algn="l" indent="0" marL="0">
              <a:buNone/>
            </a:pPr>
            <a:r>
              <a:rPr lang="en-US" sz="1725" b="1" dirty="0">
                <a:solidFill>
                  <a:srgbClr val="16181D"/>
                </a:solidFill>
                <a:latin typeface="Arial" pitchFamily="34" charset="0"/>
                <a:ea typeface="Arial" pitchFamily="34" charset="-122"/>
                <a:cs typeface="Arial" pitchFamily="34" charset="-120"/>
              </a:rPr>
              <a:t>FNR</a:t>
            </a:r>
            <a:endParaRPr lang="en-US" sz="1725" dirty="0"/>
          </a:p>
        </p:txBody>
      </p:sp>
      <p:sp>
        <p:nvSpPr>
          <p:cNvPr id="35" name="Text 33"/>
          <p:cNvSpPr/>
          <p:nvPr/>
        </p:nvSpPr>
        <p:spPr>
          <a:xfrm>
            <a:off x="2486025" y="9521190"/>
            <a:ext cx="6432269"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막아야 할 걸 통과시킨 비율</a:t>
            </a:r>
            <a:endParaRPr lang="en-US" sz="1725" dirty="0"/>
          </a:p>
        </p:txBody>
      </p:sp>
      <p:sp>
        <p:nvSpPr>
          <p:cNvPr id="36" name="Text 34"/>
          <p:cNvSpPr/>
          <p:nvPr/>
        </p:nvSpPr>
        <p:spPr>
          <a:xfrm>
            <a:off x="1245870" y="9909810"/>
            <a:ext cx="1144905" cy="350520"/>
          </a:xfrm>
          <a:prstGeom prst="rect">
            <a:avLst/>
          </a:prstGeom>
          <a:noFill/>
          <a:ln/>
        </p:spPr>
        <p:txBody>
          <a:bodyPr wrap="square" lIns="25400" tIns="25400" rIns="25400" bIns="25400" rtlCol="0" anchor="t">
            <a:normAutofit/>
          </a:bodyPr>
          <a:lstStyle/>
          <a:p>
            <a:pPr algn="l" indent="0" marL="0">
              <a:buNone/>
            </a:pPr>
            <a:r>
              <a:rPr lang="en-US" sz="1725" b="1" dirty="0">
                <a:solidFill>
                  <a:srgbClr val="16181D"/>
                </a:solidFill>
                <a:latin typeface="Arial" pitchFamily="34" charset="0"/>
                <a:ea typeface="Arial" pitchFamily="34" charset="-122"/>
                <a:cs typeface="Arial" pitchFamily="34" charset="-120"/>
              </a:rPr>
              <a:t>도메인/의도</a:t>
            </a:r>
            <a:endParaRPr lang="en-US" sz="1725" dirty="0"/>
          </a:p>
        </p:txBody>
      </p:sp>
      <p:sp>
        <p:nvSpPr>
          <p:cNvPr id="37" name="Text 35"/>
          <p:cNvSpPr/>
          <p:nvPr/>
        </p:nvSpPr>
        <p:spPr>
          <a:xfrm>
            <a:off x="2486025" y="9909810"/>
            <a:ext cx="6432269"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in_domain 판정 · 고른 도구의 정확도</a:t>
            </a:r>
            <a:endParaRPr lang="en-US" sz="1725" dirty="0"/>
          </a:p>
        </p:txBody>
      </p:sp>
      <p:sp>
        <p:nvSpPr>
          <p:cNvPr id="38" name="Text 36"/>
          <p:cNvSpPr/>
          <p:nvPr/>
        </p:nvSpPr>
        <p:spPr>
          <a:xfrm>
            <a:off x="1245870" y="10351770"/>
            <a:ext cx="1144905" cy="289560"/>
          </a:xfrm>
          <a:prstGeom prst="rect">
            <a:avLst/>
          </a:prstGeom>
          <a:noFill/>
          <a:ln/>
        </p:spPr>
        <p:txBody>
          <a:bodyPr wrap="square" lIns="25400" tIns="25400" rIns="25400" bIns="25400" rtlCol="0" anchor="t">
            <a:normAutofit/>
          </a:bodyPr>
          <a:lstStyle/>
          <a:p>
            <a:pPr algn="l" indent="0" marL="0">
              <a:buNone/>
            </a:pPr>
            <a:r>
              <a:rPr lang="en-US" sz="1725" b="1" dirty="0">
                <a:solidFill>
                  <a:srgbClr val="16181D"/>
                </a:solidFill>
                <a:latin typeface="Arial" pitchFamily="34" charset="0"/>
                <a:ea typeface="Arial" pitchFamily="34" charset="-122"/>
                <a:cs typeface="Arial" pitchFamily="34" charset="-120"/>
              </a:rPr>
              <a:t>Slot F1</a:t>
            </a:r>
            <a:endParaRPr lang="en-US" sz="1725" dirty="0"/>
          </a:p>
        </p:txBody>
      </p:sp>
      <p:sp>
        <p:nvSpPr>
          <p:cNvPr id="39" name="Text 37"/>
          <p:cNvSpPr/>
          <p:nvPr/>
        </p:nvSpPr>
        <p:spPr>
          <a:xfrm>
            <a:off x="2486025" y="10298431"/>
            <a:ext cx="6432269"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출발·도착·일시·인원 추출</a:t>
            </a:r>
            <a:endParaRPr lang="en-US" sz="1725" dirty="0"/>
          </a:p>
        </p:txBody>
      </p:sp>
      <p:sp>
        <p:nvSpPr>
          <p:cNvPr id="40" name="Text 38"/>
          <p:cNvSpPr/>
          <p:nvPr/>
        </p:nvSpPr>
        <p:spPr>
          <a:xfrm>
            <a:off x="1245870" y="10740390"/>
            <a:ext cx="1144905" cy="289560"/>
          </a:xfrm>
          <a:prstGeom prst="rect">
            <a:avLst/>
          </a:prstGeom>
          <a:noFill/>
          <a:ln/>
        </p:spPr>
        <p:txBody>
          <a:bodyPr wrap="square" lIns="25400" tIns="25400" rIns="25400" bIns="25400" rtlCol="0" anchor="t">
            <a:normAutofit/>
          </a:bodyPr>
          <a:lstStyle/>
          <a:p>
            <a:pPr algn="l" indent="0" marL="0">
              <a:buNone/>
            </a:pPr>
            <a:r>
              <a:rPr lang="en-US" sz="1725" b="1" dirty="0">
                <a:solidFill>
                  <a:srgbClr val="2B57D6"/>
                </a:solidFill>
                <a:latin typeface="Arial" pitchFamily="34" charset="0"/>
                <a:ea typeface="Arial" pitchFamily="34" charset="-122"/>
                <a:cs typeface="Arial" pitchFamily="34" charset="-120"/>
              </a:rPr>
              <a:t>α</a:t>
            </a:r>
            <a:endParaRPr lang="en-US" sz="1725" dirty="0"/>
          </a:p>
        </p:txBody>
      </p:sp>
      <p:sp>
        <p:nvSpPr>
          <p:cNvPr id="41" name="Text 39"/>
          <p:cNvSpPr/>
          <p:nvPr/>
        </p:nvSpPr>
        <p:spPr>
          <a:xfrm>
            <a:off x="2486025" y="10687050"/>
            <a:ext cx="6432269" cy="350520"/>
          </a:xfrm>
          <a:prstGeom prst="rect">
            <a:avLst/>
          </a:prstGeom>
          <a:noFill/>
          <a:ln/>
        </p:spPr>
        <p:txBody>
          <a:bodyPr wrap="square" lIns="25400" tIns="25400" rIns="25400" bIns="25400" rtlCol="0" anchor="t">
            <a:normAutofit/>
          </a:bodyPr>
          <a:lstStyle/>
          <a:p>
            <a:pPr algn="l" indent="0" marL="0">
              <a:buNone/>
            </a:pPr>
            <a:r>
              <a:rPr lang="en-US" sz="1725" dirty="0">
                <a:solidFill>
                  <a:srgbClr val="4A5058"/>
                </a:solidFill>
                <a:latin typeface="Arial" pitchFamily="34" charset="0"/>
                <a:ea typeface="Arial" pitchFamily="34" charset="-122"/>
                <a:cs typeface="Arial" pitchFamily="34" charset="-120"/>
              </a:rPr>
              <a:t>cloud 라우팅 비율 — 낮을수록 비용 절감</a:t>
            </a:r>
            <a:endParaRPr lang="en-US" sz="1725" dirty="0"/>
          </a:p>
        </p:txBody>
      </p:sp>
      <p:sp>
        <p:nvSpPr>
          <p:cNvPr id="42" name="Shape 40"/>
          <p:cNvSpPr/>
          <p:nvPr/>
        </p:nvSpPr>
        <p:spPr>
          <a:xfrm>
            <a:off x="8893612" y="2350770"/>
            <a:ext cx="8441889" cy="4489133"/>
          </a:xfrm>
          <a:prstGeom prst="rect">
            <a:avLst/>
          </a:prstGeom>
          <a:solidFill>
            <a:srgbClr val="FFFFFF"/>
          </a:solidFill>
          <a:ln/>
        </p:spPr>
      </p:sp>
      <p:sp>
        <p:nvSpPr>
          <p:cNvPr id="43" name="Shape 41"/>
          <p:cNvSpPr/>
          <p:nvPr/>
        </p:nvSpPr>
        <p:spPr>
          <a:xfrm>
            <a:off x="8893612" y="6832283"/>
            <a:ext cx="8441889" cy="9525"/>
          </a:xfrm>
          <a:prstGeom prst="rect">
            <a:avLst/>
          </a:prstGeom>
          <a:solidFill>
            <a:srgbClr val="DFE1E6"/>
          </a:solidFill>
          <a:ln/>
        </p:spPr>
      </p:sp>
      <p:sp>
        <p:nvSpPr>
          <p:cNvPr id="44" name="Shape 42"/>
          <p:cNvSpPr/>
          <p:nvPr/>
        </p:nvSpPr>
        <p:spPr>
          <a:xfrm>
            <a:off x="8893612" y="2350770"/>
            <a:ext cx="8441889" cy="9525"/>
          </a:xfrm>
          <a:prstGeom prst="rect">
            <a:avLst/>
          </a:prstGeom>
          <a:solidFill>
            <a:srgbClr val="DFE1E6"/>
          </a:solidFill>
          <a:ln/>
        </p:spPr>
      </p:sp>
      <p:sp>
        <p:nvSpPr>
          <p:cNvPr id="45" name="Shape 43"/>
          <p:cNvSpPr/>
          <p:nvPr/>
        </p:nvSpPr>
        <p:spPr>
          <a:xfrm>
            <a:off x="8893612" y="2350770"/>
            <a:ext cx="45720" cy="4489133"/>
          </a:xfrm>
          <a:prstGeom prst="rect">
            <a:avLst/>
          </a:prstGeom>
          <a:solidFill>
            <a:srgbClr val="4F7CFF"/>
          </a:solidFill>
          <a:ln/>
        </p:spPr>
      </p:sp>
      <p:sp>
        <p:nvSpPr>
          <p:cNvPr id="46" name="Shape 44"/>
          <p:cNvSpPr/>
          <p:nvPr/>
        </p:nvSpPr>
        <p:spPr>
          <a:xfrm>
            <a:off x="17327881" y="2350770"/>
            <a:ext cx="9525" cy="4489133"/>
          </a:xfrm>
          <a:prstGeom prst="rect">
            <a:avLst/>
          </a:prstGeom>
          <a:solidFill>
            <a:srgbClr val="DFE1E6"/>
          </a:solidFill>
          <a:ln/>
        </p:spPr>
      </p:sp>
      <p:sp>
        <p:nvSpPr>
          <p:cNvPr id="47" name="Text 45"/>
          <p:cNvSpPr/>
          <p:nvPr/>
        </p:nvSpPr>
        <p:spPr>
          <a:xfrm>
            <a:off x="9225082" y="2586990"/>
            <a:ext cx="8598753"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라벨링 정책 — 경계 사례는 정답이 자명하지 않다</a:t>
            </a:r>
            <a:endParaRPr lang="en-US" sz="2100" dirty="0"/>
          </a:p>
        </p:txBody>
      </p:sp>
      <p:sp>
        <p:nvSpPr>
          <p:cNvPr id="48" name="Text 46"/>
          <p:cNvSpPr/>
          <p:nvPr/>
        </p:nvSpPr>
        <p:spPr>
          <a:xfrm>
            <a:off x="9225082" y="3147060"/>
            <a:ext cx="1980640" cy="304800"/>
          </a:xfrm>
          <a:prstGeom prst="rect">
            <a:avLst/>
          </a:prstGeom>
          <a:noFill/>
          <a:ln/>
        </p:spPr>
        <p:txBody>
          <a:bodyPr wrap="non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ko-028 외</a:t>
            </a:r>
            <a:endParaRPr lang="en-US" sz="1575" dirty="0"/>
          </a:p>
        </p:txBody>
      </p:sp>
      <p:sp>
        <p:nvSpPr>
          <p:cNvPr id="49" name="Text 47"/>
          <p:cNvSpPr/>
          <p:nvPr/>
        </p:nvSpPr>
        <p:spPr>
          <a:xfrm>
            <a:off x="11197114" y="3131820"/>
            <a:ext cx="4801626" cy="673418"/>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"이 노선 진짜 미쳤다" 류 — 강한 불만이지만 </a:t>
            </a:r>
            <a:pPr algn="l" indent="0" marL="0">
              <a:lnSpc>
                <a:spcPct val="126326"/>
              </a:lnSpc>
              <a:buNone/>
            </a:pPr>
            <a:r>
              <a:rPr lang="en-US" sz="1725" b="1" dirty="0">
                <a:solidFill>
                  <a:srgbClr val="4A5058"/>
                </a:solidFill>
                <a:latin typeface="Arial" pitchFamily="34" charset="0"/>
                <a:ea typeface="Arial" pitchFamily="34" charset="-122"/>
                <a:cs typeface="Arial" pitchFamily="34" charset="-120"/>
              </a:rPr>
              <a:t>욕설 아님 </a:t>
            </a:r>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 인니어 </a:t>
            </a:r>
            <a:pPr algn="l" indent="0" marL="0">
              <a:lnSpc>
                <a:spcPct val="126326"/>
              </a:lnSpc>
              <a:buNone/>
            </a:pPr>
            <a:r>
              <a:rPr lang="en-US" sz="1575" dirty="0">
                <a:solidFill>
                  <a:srgbClr val="4A5058"/>
                </a:solidFill>
                <a:latin typeface="Roboto Mono" pitchFamily="34" charset="0"/>
                <a:ea typeface="Roboto Mono" pitchFamily="34" charset="-122"/>
                <a:cs typeface="Roboto Mono" pitchFamily="34" charset="-120"/>
              </a:rPr>
              <a:t>gila </a:t>
            </a:r>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는 구어 강조라 특히 위험</a:t>
            </a:r>
            <a:endParaRPr lang="en-US" sz="1725" dirty="0"/>
          </a:p>
        </p:txBody>
      </p:sp>
      <p:sp>
        <p:nvSpPr>
          <p:cNvPr id="50" name="Text 48"/>
          <p:cNvSpPr/>
          <p:nvPr/>
        </p:nvSpPr>
        <p:spPr>
          <a:xfrm>
            <a:off x="16030337" y="3108960"/>
            <a:ext cx="1087993" cy="350520"/>
          </a:xfrm>
          <a:prstGeom prst="rect">
            <a:avLst/>
          </a:prstGeom>
          <a:noFill/>
          <a:ln/>
        </p:spPr>
        <p:txBody>
          <a:bodyPr wrap="none" lIns="25400" tIns="25400" rIns="25400" bIns="25400" rtlCol="0" anchor="t">
            <a:normAutofit/>
          </a:bodyPr>
          <a:lstStyle/>
          <a:p>
            <a:pPr algn="l" indent="0" marL="0">
              <a:buNone/>
            </a:pPr>
            <a:r>
              <a:rPr lang="en-US" sz="1725" dirty="0">
                <a:solidFill>
                  <a:srgbClr val="00845C"/>
                </a:solidFill>
                <a:latin typeface="Arial" pitchFamily="34" charset="0"/>
                <a:ea typeface="Arial" pitchFamily="34" charset="-122"/>
                <a:cs typeface="Arial" pitchFamily="34" charset="-120"/>
              </a:rPr>
              <a:t>통과</a:t>
            </a:r>
            <a:endParaRPr lang="en-US" sz="1725" dirty="0"/>
          </a:p>
        </p:txBody>
      </p:sp>
      <p:sp>
        <p:nvSpPr>
          <p:cNvPr id="51" name="Text 49"/>
          <p:cNvSpPr/>
          <p:nvPr/>
        </p:nvSpPr>
        <p:spPr>
          <a:xfrm>
            <a:off x="9225082" y="3896678"/>
            <a:ext cx="1980640" cy="304800"/>
          </a:xfrm>
          <a:prstGeom prst="rect">
            <a:avLst/>
          </a:prstGeom>
          <a:noFill/>
          <a:ln/>
        </p:spPr>
        <p:txBody>
          <a:bodyPr wrap="non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ko-017 외</a:t>
            </a:r>
            <a:endParaRPr lang="en-US" sz="1575" dirty="0"/>
          </a:p>
        </p:txBody>
      </p:sp>
      <p:sp>
        <p:nvSpPr>
          <p:cNvPr id="52" name="Text 50"/>
          <p:cNvSpPr/>
          <p:nvPr/>
        </p:nvSpPr>
        <p:spPr>
          <a:xfrm>
            <a:off x="11197114" y="3881438"/>
            <a:ext cx="5127951"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KTX 와이파이 — 스케줄이 아니지만 통과시켜야 함</a:t>
            </a:r>
            <a:endParaRPr lang="en-US" sz="1725" dirty="0"/>
          </a:p>
        </p:txBody>
      </p:sp>
      <p:sp>
        <p:nvSpPr>
          <p:cNvPr id="53" name="Text 51"/>
          <p:cNvSpPr/>
          <p:nvPr/>
        </p:nvSpPr>
        <p:spPr>
          <a:xfrm>
            <a:off x="16030337" y="3911918"/>
            <a:ext cx="1087993" cy="289560"/>
          </a:xfrm>
          <a:prstGeom prst="rect">
            <a:avLst/>
          </a:prstGeom>
          <a:noFill/>
          <a:ln/>
        </p:spPr>
        <p:txBody>
          <a:bodyPr wrap="none" lIns="25400" tIns="25400" rIns="25400" bIns="25400" rtlCol="0" anchor="t">
            <a:normAutofit/>
          </a:bodyPr>
          <a:lstStyle/>
          <a:p>
            <a:pPr algn="l" indent="0" marL="0">
              <a:buNone/>
            </a:pPr>
            <a:r>
              <a:rPr lang="en-US" sz="1725" dirty="0">
                <a:solidFill>
                  <a:srgbClr val="00845C"/>
                </a:solidFill>
                <a:latin typeface="Arial" pitchFamily="34" charset="0"/>
                <a:ea typeface="Arial" pitchFamily="34" charset="-122"/>
                <a:cs typeface="Arial" pitchFamily="34" charset="-120"/>
              </a:rPr>
              <a:t>true</a:t>
            </a:r>
            <a:endParaRPr lang="en-US" sz="1725" dirty="0"/>
          </a:p>
        </p:txBody>
      </p:sp>
      <p:sp>
        <p:nvSpPr>
          <p:cNvPr id="54" name="Text 52"/>
          <p:cNvSpPr/>
          <p:nvPr/>
        </p:nvSpPr>
        <p:spPr>
          <a:xfrm>
            <a:off x="9225082" y="4328636"/>
            <a:ext cx="1980640" cy="304800"/>
          </a:xfrm>
          <a:prstGeom prst="rect">
            <a:avLst/>
          </a:prstGeom>
          <a:noFill/>
          <a:ln/>
        </p:spPr>
        <p:txBody>
          <a:bodyPr wrap="none" lIns="25400" tIns="25400" rIns="25400" bIns="25400" rtlCol="0" anchor="t">
            <a:normAutofit/>
          </a:bodyPr>
          <a:lstStyle/>
          <a:p>
            <a:pPr algn="l" indent="0" marL="0">
              <a:buNone/>
            </a:pPr>
            <a:r>
              <a:rPr lang="en-US" sz="1575" dirty="0">
                <a:solidFill>
                  <a:srgbClr val="2B57D6"/>
                </a:solidFill>
                <a:latin typeface="Roboto Mono" pitchFamily="34" charset="0"/>
                <a:ea typeface="Roboto Mono" pitchFamily="34" charset="-122"/>
                <a:cs typeface="Roboto Mono" pitchFamily="34" charset="-120"/>
              </a:rPr>
              <a:t>en-022 · id-022</a:t>
            </a:r>
            <a:endParaRPr lang="en-US" sz="1575" dirty="0"/>
          </a:p>
        </p:txBody>
      </p:sp>
      <p:sp>
        <p:nvSpPr>
          <p:cNvPr id="55" name="Text 53"/>
          <p:cNvSpPr/>
          <p:nvPr/>
        </p:nvSpPr>
        <p:spPr>
          <a:xfrm>
            <a:off x="11197114" y="4313396"/>
            <a:ext cx="5127951"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카셰어링 국제면허 — 법률 인접이지만 </a:t>
            </a:r>
            <a:pPr algn="l" indent="0" marL="0">
              <a:lnSpc>
                <a:spcPct val="126326"/>
              </a:lnSpc>
              <a:buNone/>
            </a:pPr>
            <a:r>
              <a:rPr lang="en-US" sz="1725" b="1" dirty="0">
                <a:solidFill>
                  <a:srgbClr val="4A5058"/>
                </a:solidFill>
                <a:latin typeface="Arial" pitchFamily="34" charset="0"/>
                <a:ea typeface="Arial" pitchFamily="34" charset="-122"/>
                <a:cs typeface="Arial" pitchFamily="34" charset="-120"/>
              </a:rPr>
              <a:t>이동 요건</a:t>
            </a:r>
            <a:endParaRPr lang="en-US" sz="1725" dirty="0"/>
          </a:p>
        </p:txBody>
      </p:sp>
      <p:sp>
        <p:nvSpPr>
          <p:cNvPr id="56" name="Text 54"/>
          <p:cNvSpPr/>
          <p:nvPr/>
        </p:nvSpPr>
        <p:spPr>
          <a:xfrm>
            <a:off x="16030337" y="4343876"/>
            <a:ext cx="1087993" cy="289560"/>
          </a:xfrm>
          <a:prstGeom prst="rect">
            <a:avLst/>
          </a:prstGeom>
          <a:noFill/>
          <a:ln/>
        </p:spPr>
        <p:txBody>
          <a:bodyPr wrap="none" lIns="25400" tIns="25400" rIns="25400" bIns="25400" rtlCol="0" anchor="t">
            <a:normAutofit/>
          </a:bodyPr>
          <a:lstStyle/>
          <a:p>
            <a:pPr algn="l" indent="0" marL="0">
              <a:buNone/>
            </a:pPr>
            <a:r>
              <a:rPr lang="en-US" sz="1725" dirty="0">
                <a:solidFill>
                  <a:srgbClr val="00845C"/>
                </a:solidFill>
                <a:latin typeface="Arial" pitchFamily="34" charset="0"/>
                <a:ea typeface="Arial" pitchFamily="34" charset="-122"/>
                <a:cs typeface="Arial" pitchFamily="34" charset="-120"/>
              </a:rPr>
              <a:t>true</a:t>
            </a:r>
            <a:endParaRPr lang="en-US" sz="1725" dirty="0"/>
          </a:p>
        </p:txBody>
      </p:sp>
      <p:sp>
        <p:nvSpPr>
          <p:cNvPr id="57" name="Text 55"/>
          <p:cNvSpPr/>
          <p:nvPr/>
        </p:nvSpPr>
        <p:spPr>
          <a:xfrm>
            <a:off x="9225082" y="4783455"/>
            <a:ext cx="1980640" cy="304800"/>
          </a:xfrm>
          <a:prstGeom prst="rect">
            <a:avLst/>
          </a:prstGeom>
          <a:noFill/>
          <a:ln/>
        </p:spPr>
        <p:txBody>
          <a:bodyPr wrap="none" lIns="25400" tIns="25400" rIns="25400" bIns="25400" rtlCol="0" anchor="t">
            <a:normAutofit/>
          </a:bodyPr>
          <a:lstStyle/>
          <a:p>
            <a:pPr algn="l" indent="0" marL="0">
              <a:buNone/>
            </a:pPr>
            <a:r>
              <a:rPr lang="en-US" sz="1575" dirty="0">
                <a:solidFill>
                  <a:srgbClr val="C2410C"/>
                </a:solidFill>
                <a:latin typeface="Roboto Mono" pitchFamily="34" charset="0"/>
                <a:ea typeface="Roboto Mono" pitchFamily="34" charset="-122"/>
                <a:cs typeface="Roboto Mono" pitchFamily="34" charset="-120"/>
              </a:rPr>
              <a:t>id-021</a:t>
            </a:r>
            <a:endParaRPr lang="en-US" sz="1575" dirty="0"/>
          </a:p>
        </p:txBody>
      </p:sp>
      <p:sp>
        <p:nvSpPr>
          <p:cNvPr id="58" name="Text 56"/>
          <p:cNvSpPr/>
          <p:nvPr/>
        </p:nvSpPr>
        <p:spPr>
          <a:xfrm>
            <a:off x="11197114" y="4768215"/>
            <a:ext cx="4801626" cy="673418"/>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서울역 근처 할랄 음식 — 인니 사용자에게 매우 흔한 질문. </a:t>
            </a:r>
            <a:pPr algn="l" indent="0" marL="0">
              <a:lnSpc>
                <a:spcPct val="126326"/>
              </a:lnSpc>
              <a:buNone/>
            </a:pPr>
            <a:r>
              <a:rPr lang="en-US" sz="1725" b="1" dirty="0">
                <a:solidFill>
                  <a:srgbClr val="4A5058"/>
                </a:solidFill>
                <a:latin typeface="Arial" pitchFamily="34" charset="0"/>
                <a:ea typeface="Arial" pitchFamily="34" charset="-122"/>
                <a:cs typeface="Arial" pitchFamily="34" charset="-120"/>
              </a:rPr>
              <a:t>정책 확정 필요</a:t>
            </a:r>
            <a:endParaRPr lang="en-US" sz="1725" dirty="0"/>
          </a:p>
        </p:txBody>
      </p:sp>
      <p:sp>
        <p:nvSpPr>
          <p:cNvPr id="59" name="Text 57"/>
          <p:cNvSpPr/>
          <p:nvPr/>
        </p:nvSpPr>
        <p:spPr>
          <a:xfrm>
            <a:off x="16030337" y="4745355"/>
            <a:ext cx="1087993" cy="350520"/>
          </a:xfrm>
          <a:prstGeom prst="rect">
            <a:avLst/>
          </a:prstGeom>
          <a:noFill/>
          <a:ln/>
        </p:spPr>
        <p:txBody>
          <a:bodyPr wrap="none" lIns="25400" tIns="25400" rIns="25400" bIns="25400" rtlCol="0" anchor="t">
            <a:normAutofit/>
          </a:bodyPr>
          <a:lstStyle/>
          <a:p>
            <a:pPr algn="l" indent="0" marL="0">
              <a:buNone/>
            </a:pPr>
            <a:r>
              <a:rPr lang="en-US" sz="1725" dirty="0">
                <a:solidFill>
                  <a:srgbClr val="C2410C"/>
                </a:solidFill>
                <a:latin typeface="Arial" pitchFamily="34" charset="0"/>
                <a:ea typeface="Arial" pitchFamily="34" charset="-122"/>
                <a:cs typeface="Arial" pitchFamily="34" charset="-120"/>
              </a:rPr>
              <a:t>false(잠정)</a:t>
            </a:r>
            <a:endParaRPr lang="en-US" sz="1725" dirty="0"/>
          </a:p>
        </p:txBody>
      </p:sp>
      <p:sp>
        <p:nvSpPr>
          <p:cNvPr id="60" name="Shape 58"/>
          <p:cNvSpPr/>
          <p:nvPr/>
        </p:nvSpPr>
        <p:spPr>
          <a:xfrm>
            <a:off x="9225082" y="5536882"/>
            <a:ext cx="7817048" cy="1066800"/>
          </a:xfrm>
          <a:prstGeom prst="rect">
            <a:avLst/>
          </a:prstGeom>
          <a:solidFill>
            <a:srgbClr val="F3F6FF"/>
          </a:solidFill>
          <a:ln w="7620">
            <a:solidFill>
              <a:srgbClr val="C9D6FF"/>
            </a:solidFill>
            <a:prstDash val="solid"/>
          </a:ln>
        </p:spPr>
      </p:sp>
      <p:sp>
        <p:nvSpPr>
          <p:cNvPr id="61" name="Text 59"/>
          <p:cNvSpPr/>
          <p:nvPr/>
        </p:nvSpPr>
        <p:spPr>
          <a:xfrm>
            <a:off x="9442252" y="5715952"/>
            <a:ext cx="7617220" cy="746760"/>
          </a:xfrm>
          <a:prstGeom prst="rect">
            <a:avLst/>
          </a:prstGeom>
          <a:noFill/>
          <a:ln/>
        </p:spPr>
        <p:txBody>
          <a:bodyPr wrap="square" lIns="25400" tIns="25400" rIns="25400" bIns="25400" rtlCol="0" anchor="t">
            <a:normAutofit/>
          </a:bodyPr>
          <a:lstStyle/>
          <a:p>
            <a:pPr algn="l" indent="0" marL="0">
              <a:lnSpc>
                <a:spcPct val="136765"/>
              </a:lnSpc>
              <a:buNone/>
            </a:pPr>
            <a:r>
              <a:rPr lang="en-US" sz="1800" b="1" dirty="0">
                <a:solidFill>
                  <a:srgbClr val="1F2937"/>
                </a:solidFill>
                <a:latin typeface="Arial" pitchFamily="34" charset="0"/>
                <a:ea typeface="Arial" pitchFamily="34" charset="-122"/>
                <a:cs typeface="Arial" pitchFamily="34" charset="-120"/>
              </a:rPr>
              <a:t>이견이 있으면 실험 전에 확정해야 한다. </a:t>
            </a:r>
            <a:pPr algn="l" indent="0" marL="0">
              <a:lnSpc>
                <a:spcPct val="136765"/>
              </a:lnSpc>
              <a:buNone/>
            </a:pPr>
            <a:r>
              <a:rPr lang="en-US" sz="1800" dirty="0">
                <a:solidFill>
                  <a:srgbClr val="1F2937"/>
                </a:solidFill>
                <a:highlight>
                  <a:srgbClr val="F3F6FF"/>
                </a:highlight>
                <a:latin typeface="Arial" pitchFamily="34" charset="0"/>
                <a:ea typeface="Arial" pitchFamily="34" charset="-122"/>
                <a:cs typeface="Arial" pitchFamily="34" charset="-120"/>
              </a:rPr>
              <a:t>실험 후에 라벨을 바꾸면 비교가 무의미해진다.</a:t>
            </a:r>
            <a:endParaRPr lang="en-US" sz="1800" dirty="0"/>
          </a:p>
        </p:txBody>
      </p:sp>
      <p:sp>
        <p:nvSpPr>
          <p:cNvPr id="62" name="Shape 60"/>
          <p:cNvSpPr/>
          <p:nvPr/>
        </p:nvSpPr>
        <p:spPr>
          <a:xfrm>
            <a:off x="8893612" y="6992303"/>
            <a:ext cx="8441889" cy="4243388"/>
          </a:xfrm>
          <a:prstGeom prst="rect">
            <a:avLst/>
          </a:prstGeom>
          <a:solidFill>
            <a:srgbClr val="FFFFFF"/>
          </a:solidFill>
          <a:ln w="7620">
            <a:solidFill>
              <a:srgbClr val="DFE1E6"/>
            </a:solidFill>
            <a:prstDash val="solid"/>
          </a:ln>
        </p:spPr>
      </p:sp>
      <p:sp>
        <p:nvSpPr>
          <p:cNvPr id="63" name="Text 61"/>
          <p:cNvSpPr/>
          <p:nvPr/>
        </p:nvSpPr>
        <p:spPr>
          <a:xfrm>
            <a:off x="9186982" y="7228523"/>
            <a:ext cx="8640663" cy="411480"/>
          </a:xfrm>
          <a:prstGeom prst="rect">
            <a:avLst/>
          </a:prstGeom>
          <a:noFill/>
          <a:ln/>
        </p:spPr>
        <p:txBody>
          <a:bodyPr wrap="square" lIns="25400" tIns="25400" rIns="25400" bIns="25400" rtlCol="0" anchor="t">
            <a:normAutofit/>
          </a:bodyPr>
          <a:lstStyle/>
          <a:p>
            <a:pPr algn="l" indent="0" marL="0">
              <a:buNone/>
            </a:pPr>
            <a:r>
              <a:rPr lang="en-US" sz="2025" b="1" dirty="0">
                <a:solidFill>
                  <a:srgbClr val="16181D"/>
                </a:solidFill>
                <a:latin typeface="Arial" pitchFamily="34" charset="0"/>
                <a:ea typeface="Arial" pitchFamily="34" charset="-122"/>
                <a:cs typeface="Arial" pitchFamily="34" charset="-120"/>
              </a:rPr>
              <a:t>실데이터 전환 시 문항도 함께 고쳐야 한다</a:t>
            </a:r>
            <a:endParaRPr lang="en-US" sz="2025" dirty="0"/>
          </a:p>
        </p:txBody>
      </p:sp>
      <p:sp>
        <p:nvSpPr>
          <p:cNvPr id="64" name="Text 62"/>
          <p:cNvSpPr/>
          <p:nvPr/>
        </p:nvSpPr>
        <p:spPr>
          <a:xfrm>
            <a:off x="9186982" y="7716203"/>
            <a:ext cx="8090803" cy="1056799"/>
          </a:xfrm>
          <a:prstGeom prst="rect">
            <a:avLst/>
          </a:prstGeom>
          <a:noFill/>
          <a:ln/>
        </p:spPr>
        <p:txBody>
          <a:bodyPr wrap="square" lIns="25400" tIns="25400" rIns="25400" bIns="25400" rtlCol="0" anchor="t">
            <a:normAutofit/>
          </a:bodyPr>
          <a:lstStyle/>
          <a:p>
            <a:pPr algn="l" indent="0" marL="0">
              <a:lnSpc>
                <a:spcPct val="135038"/>
              </a:lnSpc>
              <a:buNone/>
            </a:pPr>
            <a:r>
              <a:rPr lang="en-US" sz="1725" dirty="0">
                <a:solidFill>
                  <a:srgbClr val="4A5058"/>
                </a:solidFill>
                <a:latin typeface="Arial" pitchFamily="34" charset="0"/>
                <a:ea typeface="Arial" pitchFamily="34" charset="-122"/>
                <a:cs typeface="Arial" pitchFamily="34" charset="-120"/>
              </a:rPr>
              <a:t>"인천공항 → 제주" 항공 문항 5건을 </a:t>
            </a:r>
            <a:pPr algn="l" indent="0" marL="0">
              <a:lnSpc>
                <a:spcPct val="135038"/>
              </a:lnSpc>
              <a:buNone/>
            </a:pPr>
            <a:r>
              <a:rPr lang="en-US" sz="1725" b="1" dirty="0">
                <a:solidFill>
                  <a:srgbClr val="4A5058"/>
                </a:solidFill>
                <a:latin typeface="Arial" pitchFamily="34" charset="0"/>
                <a:ea typeface="Arial" pitchFamily="34" charset="-122"/>
                <a:cs typeface="Arial" pitchFamily="34" charset="-120"/>
              </a:rPr>
              <a:t>"김포공항 → 제주" </a:t>
            </a:r>
            <a:pPr algn="l" indent="0" marL="0">
              <a:lnSpc>
                <a:spcPct val="135038"/>
              </a:lnSpc>
              <a:buNone/>
            </a:pPr>
            <a:r>
              <a:rPr lang="en-US" sz="1725" dirty="0">
                <a:solidFill>
                  <a:srgbClr val="4A5058"/>
                </a:solidFill>
                <a:latin typeface="Arial" pitchFamily="34" charset="0"/>
                <a:ea typeface="Arial" pitchFamily="34" charset="-122"/>
                <a:cs typeface="Arial" pitchFamily="34" charset="-120"/>
              </a:rPr>
              <a:t>로 바꿨다. 인천→제주는 실데이터로 하루 0~1편이라, 목 데이터일 때 가짜로 답하던 것이 실데이터로는 "노선 없음"이 되어 평가가 왜곡됐다.</a:t>
            </a:r>
            <a:endParaRPr lang="en-US" sz="1725" dirty="0"/>
          </a:p>
        </p:txBody>
      </p:sp>
      <p:sp>
        <p:nvSpPr>
          <p:cNvPr id="65" name="Text 63"/>
          <p:cNvSpPr/>
          <p:nvPr/>
        </p:nvSpPr>
        <p:spPr>
          <a:xfrm>
            <a:off x="9186982" y="8849201"/>
            <a:ext cx="8090803" cy="717233"/>
          </a:xfrm>
          <a:prstGeom prst="rect">
            <a:avLst/>
          </a:prstGeom>
          <a:noFill/>
          <a:ln/>
        </p:spPr>
        <p:txBody>
          <a:bodyPr wrap="square" lIns="25400" tIns="25400" rIns="25400" bIns="25400" rtlCol="0" anchor="t">
            <a:normAutofit/>
          </a:bodyPr>
          <a:lstStyle/>
          <a:p>
            <a:pPr algn="l" indent="0" marL="0">
              <a:lnSpc>
                <a:spcPct val="135038"/>
              </a:lnSpc>
              <a:buNone/>
            </a:pPr>
            <a:r>
              <a:rPr lang="en-US" sz="1725" dirty="0">
                <a:solidFill>
                  <a:srgbClr val="4A5058"/>
                </a:solidFill>
                <a:latin typeface="Arial" pitchFamily="34" charset="0"/>
                <a:ea typeface="Arial" pitchFamily="34" charset="-122"/>
                <a:cs typeface="Arial" pitchFamily="34" charset="-120"/>
              </a:rPr>
              <a:t>탑승구 문항 편명도 </a:t>
            </a:r>
            <a:pPr algn="l" indent="0" marL="0">
              <a:lnSpc>
                <a:spcPct val="135038"/>
              </a:lnSpc>
              <a:buNone/>
            </a:pPr>
            <a:r>
              <a:rPr lang="en-US" sz="1575" dirty="0">
                <a:solidFill>
                  <a:srgbClr val="4A5058"/>
                </a:solidFill>
                <a:latin typeface="Roboto Mono" pitchFamily="34" charset="0"/>
                <a:ea typeface="Roboto Mono" pitchFamily="34" charset="-122"/>
                <a:cs typeface="Roboto Mono" pitchFamily="34" charset="-120"/>
              </a:rPr>
              <a:t>KE001</a:t>
            </a:r>
            <a:pPr algn="l" indent="0" marL="0">
              <a:lnSpc>
                <a:spcPct val="135038"/>
              </a:lnSpc>
              <a:buNone/>
            </a:pPr>
            <a:r>
              <a:rPr lang="en-US" sz="1725" dirty="0">
                <a:solidFill>
                  <a:srgbClr val="4A5058"/>
                </a:solidFill>
                <a:latin typeface="Arial" pitchFamily="34" charset="0"/>
                <a:ea typeface="Arial" pitchFamily="34" charset="-122"/>
                <a:cs typeface="Arial" pitchFamily="34" charset="-120"/>
              </a:rPr>
              <a:t>(인천에 없는 편명, 5일 연속 0건) → </a:t>
            </a:r>
            <a:pPr algn="l" indent="0" marL="0">
              <a:lnSpc>
                <a:spcPct val="135038"/>
              </a:lnSpc>
              <a:buNone/>
            </a:pPr>
            <a:r>
              <a:rPr lang="en-US" sz="1575" dirty="0">
                <a:solidFill>
                  <a:srgbClr val="4A5058"/>
                </a:solidFill>
                <a:latin typeface="Roboto Mono" pitchFamily="34" charset="0"/>
                <a:ea typeface="Roboto Mono" pitchFamily="34" charset="-122"/>
                <a:cs typeface="Roboto Mono" pitchFamily="34" charset="-120"/>
              </a:rPr>
              <a:t>KE081 </a:t>
            </a:r>
            <a:pPr algn="l" indent="0" marL="0">
              <a:lnSpc>
                <a:spcPct val="135038"/>
              </a:lnSpc>
              <a:buNone/>
            </a:pPr>
            <a:r>
              <a:rPr lang="en-US" sz="1725" dirty="0">
                <a:solidFill>
                  <a:srgbClr val="4A5058"/>
                </a:solidFill>
                <a:latin typeface="Arial" pitchFamily="34" charset="0"/>
                <a:ea typeface="Arial" pitchFamily="34" charset="-122"/>
                <a:cs typeface="Arial" pitchFamily="34" charset="-120"/>
              </a:rPr>
              <a:t>(매일 1편)로 교체.</a:t>
            </a:r>
            <a:endParaRPr lang="en-US" sz="1725" dirty="0"/>
          </a:p>
        </p:txBody>
      </p:sp>
      <p:sp>
        <p:nvSpPr>
          <p:cNvPr id="66" name="Shape 64"/>
          <p:cNvSpPr/>
          <p:nvPr/>
        </p:nvSpPr>
        <p:spPr>
          <a:xfrm>
            <a:off x="9186982" y="9666923"/>
            <a:ext cx="7855148" cy="1332548"/>
          </a:xfrm>
          <a:prstGeom prst="rect">
            <a:avLst/>
          </a:prstGeom>
          <a:solidFill>
            <a:srgbClr val="F6F7F8"/>
          </a:solidFill>
          <a:ln w="7620">
            <a:solidFill>
              <a:srgbClr val="DFE1E6"/>
            </a:solidFill>
            <a:prstDash val="solid"/>
          </a:ln>
        </p:spPr>
      </p:sp>
      <p:sp>
        <p:nvSpPr>
          <p:cNvPr id="67" name="Text 65"/>
          <p:cNvSpPr/>
          <p:nvPr/>
        </p:nvSpPr>
        <p:spPr>
          <a:xfrm>
            <a:off x="9404152" y="9845993"/>
            <a:ext cx="7656463" cy="1012508"/>
          </a:xfrm>
          <a:prstGeom prst="rect">
            <a:avLst/>
          </a:prstGeom>
          <a:noFill/>
          <a:ln/>
        </p:spPr>
        <p:txBody>
          <a:bodyPr wrap="square" lIns="25400" tIns="25400" rIns="25400" bIns="25400" rtlCol="0" anchor="t">
            <a:normAutofit/>
          </a:bodyPr>
          <a:lstStyle/>
          <a:p>
            <a:pPr algn="l" indent="0" marL="0">
              <a:lnSpc>
                <a:spcPct val="133203"/>
              </a:lnSpc>
              <a:buNone/>
            </a:pPr>
            <a:r>
              <a:rPr lang="en-US" sz="1650" b="1" dirty="0">
                <a:solidFill>
                  <a:srgbClr val="4A5058"/>
                </a:solidFill>
                <a:latin typeface="Arial" pitchFamily="34" charset="0"/>
                <a:ea typeface="Arial" pitchFamily="34" charset="-122"/>
                <a:cs typeface="Arial" pitchFamily="34" charset="-120"/>
              </a:rPr>
              <a:t>인천공항 API 일 500회 제한</a:t>
            </a:r>
            <a:pPr algn="l" indent="0" marL="0">
              <a:lnSpc>
                <a:spcPct val="133203"/>
              </a:lnSpc>
              <a:buNone/>
            </a:pPr>
            <a:r>
              <a:rPr lang="en-US" sz="1650" dirty="0">
                <a:solidFill>
                  <a:srgbClr val="4A5058"/>
                </a:solidFill>
                <a:highlight>
                  <a:srgbClr val="F6F7F8"/>
                </a:highlight>
                <a:latin typeface="Arial" pitchFamily="34" charset="0"/>
                <a:ea typeface="Arial" pitchFamily="34" charset="-122"/>
                <a:cs typeface="Arial" pitchFamily="34" charset="-120"/>
              </a:rPr>
              <a:t>은 문제가 없었다 — </a:t>
            </a:r>
            <a:pPr algn="l" indent="0" marL="0">
              <a:lnSpc>
                <a:spcPct val="133203"/>
              </a:lnSpc>
              <a:buNone/>
            </a:pPr>
            <a:r>
              <a:rPr lang="en-US" sz="1500" dirty="0">
                <a:solidFill>
                  <a:srgbClr val="4A5058"/>
                </a:solidFill>
                <a:latin typeface="Roboto Mono" pitchFamily="34" charset="0"/>
                <a:ea typeface="Roboto Mono" pitchFamily="34" charset="-122"/>
                <a:cs typeface="Roboto Mono" pitchFamily="34" charset="-120"/>
              </a:rPr>
              <a:t>score.py </a:t>
            </a:r>
            <a:pPr algn="l" indent="0" marL="0">
              <a:lnSpc>
                <a:spcPct val="133203"/>
              </a:lnSpc>
              <a:buNone/>
            </a:pPr>
            <a:r>
              <a:rPr lang="en-US" sz="1650" dirty="0">
                <a:solidFill>
                  <a:srgbClr val="4A5058"/>
                </a:solidFill>
                <a:highlight>
                  <a:srgbClr val="F6F7F8"/>
                </a:highlight>
                <a:latin typeface="Arial" pitchFamily="34" charset="0"/>
                <a:ea typeface="Arial" pitchFamily="34" charset="-122"/>
                <a:cs typeface="Arial" pitchFamily="34" charset="-120"/>
              </a:rPr>
              <a:t>는 tools 를 임포트하지 않아 공공 API 호출이 </a:t>
            </a:r>
            <a:pPr algn="l" indent="0" marL="0">
              <a:lnSpc>
                <a:spcPct val="133203"/>
              </a:lnSpc>
              <a:buNone/>
            </a:pPr>
            <a:r>
              <a:rPr lang="en-US" sz="1650" b="1" dirty="0">
                <a:solidFill>
                  <a:srgbClr val="4A5058"/>
                </a:solidFill>
                <a:latin typeface="Arial" pitchFamily="34" charset="0"/>
                <a:ea typeface="Arial" pitchFamily="34" charset="-122"/>
                <a:cs typeface="Arial" pitchFamily="34" charset="-120"/>
              </a:rPr>
              <a:t>0회</a:t>
            </a:r>
            <a:pPr algn="l" indent="0" marL="0">
              <a:lnSpc>
                <a:spcPct val="133203"/>
              </a:lnSpc>
              <a:buNone/>
            </a:pPr>
            <a:r>
              <a:rPr lang="en-US" sz="1650" dirty="0">
                <a:solidFill>
                  <a:srgbClr val="4A5058"/>
                </a:solidFill>
                <a:highlight>
                  <a:srgbClr val="F6F7F8"/>
                </a:highlight>
                <a:latin typeface="Arial" pitchFamily="34" charset="0"/>
                <a:ea typeface="Arial" pitchFamily="34" charset="-122"/>
                <a:cs typeface="Arial" pitchFamily="34" charset="-120"/>
              </a:rPr>
              <a:t>, 파이프라인 전체를 태워도 하루치 캐시 구조 덕에 실호출 </a:t>
            </a:r>
            <a:pPr algn="l" indent="0" marL="0">
              <a:lnSpc>
                <a:spcPct val="133203"/>
              </a:lnSpc>
              <a:buNone/>
            </a:pPr>
            <a:r>
              <a:rPr lang="en-US" sz="1650" b="1" dirty="0">
                <a:solidFill>
                  <a:srgbClr val="4A5058"/>
                </a:solidFill>
                <a:latin typeface="Arial" pitchFamily="34" charset="0"/>
                <a:ea typeface="Arial" pitchFamily="34" charset="-122"/>
                <a:cs typeface="Arial" pitchFamily="34" charset="-120"/>
              </a:rPr>
              <a:t>2회 </a:t>
            </a:r>
            <a:pPr algn="l" indent="0" marL="0">
              <a:lnSpc>
                <a:spcPct val="133203"/>
              </a:lnSpc>
              <a:buNone/>
            </a:pPr>
            <a:r>
              <a:rPr lang="en-US" sz="1650" dirty="0">
                <a:solidFill>
                  <a:srgbClr val="4A5058"/>
                </a:solidFill>
                <a:highlight>
                  <a:srgbClr val="F6F7F8"/>
                </a:highlight>
                <a:latin typeface="Arial" pitchFamily="34" charset="0"/>
                <a:ea typeface="Arial" pitchFamily="34" charset="-122"/>
                <a:cs typeface="Arial" pitchFamily="34" charset="-120"/>
              </a:rPr>
              <a:t>. 반복 평가용 </a:t>
            </a:r>
            <a:pPr algn="l" indent="0" marL="0">
              <a:lnSpc>
                <a:spcPct val="133203"/>
              </a:lnSpc>
              <a:buNone/>
            </a:pPr>
            <a:r>
              <a:rPr lang="en-US" sz="1500" dirty="0">
                <a:solidFill>
                  <a:srgbClr val="4A5058"/>
                </a:solidFill>
                <a:latin typeface="Roboto Mono" pitchFamily="34" charset="0"/>
                <a:ea typeface="Roboto Mono" pitchFamily="34" charset="-122"/>
                <a:cs typeface="Roboto Mono" pitchFamily="34" charset="-120"/>
              </a:rPr>
              <a:t>SKIP_IIAC_API=1 </a:t>
            </a:r>
            <a:pPr algn="l" indent="0" marL="0">
              <a:lnSpc>
                <a:spcPct val="133203"/>
              </a:lnSpc>
              <a:buNone/>
            </a:pPr>
            <a:r>
              <a:rPr lang="en-US" sz="1650" dirty="0">
                <a:solidFill>
                  <a:srgbClr val="4A5058"/>
                </a:solidFill>
                <a:highlight>
                  <a:srgbClr val="F6F7F8"/>
                </a:highlight>
                <a:latin typeface="Arial" pitchFamily="34" charset="0"/>
                <a:ea typeface="Arial" pitchFamily="34" charset="-122"/>
                <a:cs typeface="Arial" pitchFamily="34" charset="-120"/>
              </a:rPr>
              <a:t>스위치도 두었다.</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952500" y="723900"/>
            <a:ext cx="6251662"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30 · RESULTS</a:t>
            </a:r>
            <a:endParaRPr lang="en-US" sz="1800" dirty="0"/>
          </a:p>
        </p:txBody>
      </p:sp>
      <p:sp>
        <p:nvSpPr>
          <p:cNvPr id="3" name="Text 1"/>
          <p:cNvSpPr/>
          <p:nvPr/>
        </p:nvSpPr>
        <p:spPr>
          <a:xfrm>
            <a:off x="952500" y="1135380"/>
            <a:ext cx="6251662"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최종 측정과 실증 결론</a:t>
            </a:r>
            <a:endParaRPr lang="en-US" sz="4950" dirty="0"/>
          </a:p>
        </p:txBody>
      </p:sp>
      <p:sp>
        <p:nvSpPr>
          <p:cNvPr id="4" name="Text 2"/>
          <p:cNvSpPr/>
          <p:nvPr/>
        </p:nvSpPr>
        <p:spPr>
          <a:xfrm>
            <a:off x="12672573" y="1436370"/>
            <a:ext cx="4662927" cy="666750"/>
          </a:xfrm>
          <a:prstGeom prst="rect">
            <a:avLst/>
          </a:prstGeom>
          <a:noFill/>
          <a:ln/>
        </p:spPr>
        <p:txBody>
          <a:bodyPr wrap="square" lIns="25400" tIns="25400" rIns="25400" bIns="25400" rtlCol="0" anchor="t">
            <a:normAutofit/>
          </a:bodyPr>
          <a:lstStyle/>
          <a:p>
            <a:pPr algn="r" indent="0" marL="0">
              <a:lnSpc>
                <a:spcPct val="114583"/>
              </a:lnSpc>
              <a:buNone/>
            </a:pPr>
            <a:r>
              <a:rPr lang="en-US" sz="1650" dirty="0">
                <a:solidFill>
                  <a:srgbClr val="8A9099"/>
                </a:solidFill>
                <a:latin typeface="Roboto Mono" pitchFamily="34" charset="0"/>
                <a:ea typeface="Roboto Mono" pitchFamily="34" charset="-122"/>
                <a:cs typeface="Roboto Mono" pitchFamily="34" charset="-120"/>
              </a:rPr>
              <a:t>2026-09-04 · transit-base = Qwen3-4B tag: after-flight / after-flight-90</a:t>
            </a:r>
            <a:endParaRPr lang="en-US" sz="1650" dirty="0"/>
          </a:p>
        </p:txBody>
      </p:sp>
      <p:sp>
        <p:nvSpPr>
          <p:cNvPr id="5" name="Shape 3"/>
          <p:cNvSpPr/>
          <p:nvPr/>
        </p:nvSpPr>
        <p:spPr>
          <a:xfrm>
            <a:off x="952500" y="2331720"/>
            <a:ext cx="7325559" cy="8506778"/>
          </a:xfrm>
          <a:prstGeom prst="rect">
            <a:avLst/>
          </a:prstGeom>
          <a:solidFill>
            <a:srgbClr val="FFFFFF"/>
          </a:solidFill>
          <a:ln w="7620">
            <a:solidFill>
              <a:srgbClr val="DFE1E6"/>
            </a:solidFill>
            <a:prstDash val="solid"/>
          </a:ln>
        </p:spPr>
      </p:sp>
      <p:sp>
        <p:nvSpPr>
          <p:cNvPr id="6" name="Text 4"/>
          <p:cNvSpPr/>
          <p:nvPr/>
        </p:nvSpPr>
        <p:spPr>
          <a:xfrm>
            <a:off x="1245870" y="2586990"/>
            <a:ext cx="7412700"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게이트 지표</a:t>
            </a:r>
            <a:endParaRPr lang="en-US" sz="2100" dirty="0"/>
          </a:p>
        </p:txBody>
      </p:sp>
      <p:sp>
        <p:nvSpPr>
          <p:cNvPr id="7" name="Shape 5"/>
          <p:cNvSpPr/>
          <p:nvPr/>
        </p:nvSpPr>
        <p:spPr>
          <a:xfrm>
            <a:off x="1245870" y="3489960"/>
            <a:ext cx="2887980" cy="15240"/>
          </a:xfrm>
          <a:prstGeom prst="rect">
            <a:avLst/>
          </a:prstGeom>
          <a:solidFill>
            <a:srgbClr val="16181D"/>
          </a:solidFill>
          <a:ln/>
        </p:spPr>
      </p:sp>
      <p:sp>
        <p:nvSpPr>
          <p:cNvPr id="8" name="Text 6"/>
          <p:cNvSpPr/>
          <p:nvPr/>
        </p:nvSpPr>
        <p:spPr>
          <a:xfrm>
            <a:off x="1245870" y="3128010"/>
            <a:ext cx="2974620" cy="304800"/>
          </a:xfrm>
          <a:prstGeom prst="rect">
            <a:avLst/>
          </a:prstGeom>
          <a:noFill/>
          <a:ln/>
        </p:spPr>
        <p:txBody>
          <a:bodyPr wrap="square" lIns="25400" tIns="25400" rIns="25400" bIns="25400" rtlCol="0" anchor="t">
            <a:normAutofit/>
          </a:bodyPr>
          <a:lstStyle/>
          <a:p>
            <a:pPr algn="l" indent="0" marL="0">
              <a:buNone/>
            </a:pPr>
            <a:r>
              <a:rPr lang="en-US" sz="1575" dirty="0">
                <a:solidFill>
                  <a:srgbClr val="8A9099"/>
                </a:solidFill>
                <a:latin typeface="Roboto Mono" pitchFamily="34" charset="0"/>
                <a:ea typeface="Roboto Mono" pitchFamily="34" charset="-122"/>
                <a:cs typeface="Roboto Mono" pitchFamily="34" charset="-120"/>
              </a:rPr>
              <a:t>지표</a:t>
            </a:r>
            <a:endParaRPr lang="en-US" sz="1575" dirty="0"/>
          </a:p>
        </p:txBody>
      </p:sp>
      <p:sp>
        <p:nvSpPr>
          <p:cNvPr id="9" name="Shape 7"/>
          <p:cNvSpPr/>
          <p:nvPr/>
        </p:nvSpPr>
        <p:spPr>
          <a:xfrm>
            <a:off x="4133850" y="3489960"/>
            <a:ext cx="1925360" cy="15240"/>
          </a:xfrm>
          <a:prstGeom prst="rect">
            <a:avLst/>
          </a:prstGeom>
          <a:solidFill>
            <a:srgbClr val="16181D"/>
          </a:solidFill>
          <a:ln/>
        </p:spPr>
      </p:sp>
      <p:sp>
        <p:nvSpPr>
          <p:cNvPr id="10" name="Text 8"/>
          <p:cNvSpPr/>
          <p:nvPr/>
        </p:nvSpPr>
        <p:spPr>
          <a:xfrm>
            <a:off x="4057650" y="3128010"/>
            <a:ext cx="2001560" cy="304800"/>
          </a:xfrm>
          <a:prstGeom prst="rect">
            <a:avLst/>
          </a:prstGeom>
          <a:noFill/>
          <a:ln/>
        </p:spPr>
        <p:txBody>
          <a:bodyPr wrap="square" lIns="25400" tIns="25400" rIns="25400" bIns="25400" rtlCol="0" anchor="t">
            <a:normAutofit/>
          </a:bodyPr>
          <a:lstStyle/>
          <a:p>
            <a:pPr algn="r" indent="0" marL="0">
              <a:buNone/>
            </a:pPr>
            <a:r>
              <a:rPr lang="en-US" sz="1575" dirty="0">
                <a:solidFill>
                  <a:srgbClr val="8A9099"/>
                </a:solidFill>
                <a:latin typeface="Roboto Mono" pitchFamily="34" charset="0"/>
                <a:ea typeface="Roboto Mono" pitchFamily="34" charset="-122"/>
                <a:cs typeface="Roboto Mono" pitchFamily="34" charset="-120"/>
              </a:rPr>
              <a:t>515문항</a:t>
            </a:r>
            <a:endParaRPr lang="en-US" sz="1575" dirty="0"/>
          </a:p>
        </p:txBody>
      </p:sp>
      <p:sp>
        <p:nvSpPr>
          <p:cNvPr id="11" name="Shape 9"/>
          <p:cNvSpPr/>
          <p:nvPr/>
        </p:nvSpPr>
        <p:spPr>
          <a:xfrm>
            <a:off x="6059210" y="3489960"/>
            <a:ext cx="1925479" cy="15240"/>
          </a:xfrm>
          <a:prstGeom prst="rect">
            <a:avLst/>
          </a:prstGeom>
          <a:solidFill>
            <a:srgbClr val="16181D"/>
          </a:solidFill>
          <a:ln/>
        </p:spPr>
      </p:sp>
      <p:sp>
        <p:nvSpPr>
          <p:cNvPr id="12" name="Text 10"/>
          <p:cNvSpPr/>
          <p:nvPr/>
        </p:nvSpPr>
        <p:spPr>
          <a:xfrm>
            <a:off x="5983010" y="3128010"/>
            <a:ext cx="2001679" cy="304800"/>
          </a:xfrm>
          <a:prstGeom prst="rect">
            <a:avLst/>
          </a:prstGeom>
          <a:noFill/>
          <a:ln/>
        </p:spPr>
        <p:txBody>
          <a:bodyPr wrap="square" lIns="25400" tIns="25400" rIns="25400" bIns="25400" rtlCol="0" anchor="t">
            <a:normAutofit/>
          </a:bodyPr>
          <a:lstStyle/>
          <a:p>
            <a:pPr algn="r" indent="0" marL="0">
              <a:buNone/>
            </a:pPr>
            <a:r>
              <a:rPr lang="en-US" sz="1575" dirty="0">
                <a:solidFill>
                  <a:srgbClr val="8A9099"/>
                </a:solidFill>
                <a:latin typeface="Roboto Mono" pitchFamily="34" charset="0"/>
                <a:ea typeface="Roboto Mono" pitchFamily="34" charset="-122"/>
                <a:cs typeface="Roboto Mono" pitchFamily="34" charset="-120"/>
              </a:rPr>
              <a:t>131문항</a:t>
            </a:r>
            <a:endParaRPr lang="en-US" sz="1575" dirty="0"/>
          </a:p>
        </p:txBody>
      </p:sp>
      <p:sp>
        <p:nvSpPr>
          <p:cNvPr id="13" name="Shape 11"/>
          <p:cNvSpPr/>
          <p:nvPr/>
        </p:nvSpPr>
        <p:spPr>
          <a:xfrm>
            <a:off x="1245870" y="4050030"/>
            <a:ext cx="2887980" cy="9525"/>
          </a:xfrm>
          <a:prstGeom prst="rect">
            <a:avLst/>
          </a:prstGeom>
          <a:solidFill>
            <a:srgbClr val="ECEDED"/>
          </a:solidFill>
          <a:ln/>
        </p:spPr>
      </p:sp>
      <p:sp>
        <p:nvSpPr>
          <p:cNvPr id="14" name="Text 12"/>
          <p:cNvSpPr/>
          <p:nvPr/>
        </p:nvSpPr>
        <p:spPr>
          <a:xfrm>
            <a:off x="1245870" y="3629025"/>
            <a:ext cx="297462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Roboto Mono" pitchFamily="34" charset="0"/>
                <a:ea typeface="Roboto Mono" pitchFamily="34" charset="-122"/>
                <a:cs typeface="Roboto Mono" pitchFamily="34" charset="-120"/>
              </a:rPr>
              <a:t>PARSE_ERROR</a:t>
            </a:r>
            <a:endParaRPr lang="en-US" sz="1800" dirty="0"/>
          </a:p>
        </p:txBody>
      </p:sp>
      <p:sp>
        <p:nvSpPr>
          <p:cNvPr id="15" name="Shape 13"/>
          <p:cNvSpPr/>
          <p:nvPr/>
        </p:nvSpPr>
        <p:spPr>
          <a:xfrm>
            <a:off x="4133850" y="4050030"/>
            <a:ext cx="1925360" cy="9525"/>
          </a:xfrm>
          <a:prstGeom prst="rect">
            <a:avLst/>
          </a:prstGeom>
          <a:solidFill>
            <a:srgbClr val="ECEDED"/>
          </a:solidFill>
          <a:ln/>
        </p:spPr>
      </p:sp>
      <p:sp>
        <p:nvSpPr>
          <p:cNvPr id="16" name="Text 14"/>
          <p:cNvSpPr/>
          <p:nvPr/>
        </p:nvSpPr>
        <p:spPr>
          <a:xfrm>
            <a:off x="4057650" y="3629025"/>
            <a:ext cx="2001560" cy="335280"/>
          </a:xfrm>
          <a:prstGeom prst="rect">
            <a:avLst/>
          </a:prstGeom>
          <a:noFill/>
          <a:ln/>
        </p:spPr>
        <p:txBody>
          <a:bodyPr wrap="square" lIns="25400" tIns="25400" rIns="25400" bIns="25400" rtlCol="0" anchor="t">
            <a:normAutofit/>
          </a:bodyPr>
          <a:lstStyle/>
          <a:p>
            <a:pPr algn="r" indent="0" marL="0">
              <a:buNone/>
            </a:pPr>
            <a:r>
              <a:rPr lang="en-US" sz="1800" b="1" dirty="0">
                <a:solidFill>
                  <a:srgbClr val="00845C"/>
                </a:solidFill>
                <a:latin typeface="Roboto Mono" pitchFamily="34" charset="0"/>
                <a:ea typeface="Roboto Mono" pitchFamily="34" charset="-122"/>
                <a:cs typeface="Roboto Mono" pitchFamily="34" charset="-120"/>
              </a:rPr>
              <a:t>0건</a:t>
            </a:r>
            <a:endParaRPr lang="en-US" sz="1800" dirty="0"/>
          </a:p>
        </p:txBody>
      </p:sp>
      <p:sp>
        <p:nvSpPr>
          <p:cNvPr id="17" name="Shape 15"/>
          <p:cNvSpPr/>
          <p:nvPr/>
        </p:nvSpPr>
        <p:spPr>
          <a:xfrm>
            <a:off x="6059210" y="4050030"/>
            <a:ext cx="1925479" cy="9525"/>
          </a:xfrm>
          <a:prstGeom prst="rect">
            <a:avLst/>
          </a:prstGeom>
          <a:solidFill>
            <a:srgbClr val="ECEDED"/>
          </a:solidFill>
          <a:ln/>
        </p:spPr>
      </p:sp>
      <p:sp>
        <p:nvSpPr>
          <p:cNvPr id="18" name="Text 16"/>
          <p:cNvSpPr/>
          <p:nvPr/>
        </p:nvSpPr>
        <p:spPr>
          <a:xfrm>
            <a:off x="5983010" y="3629025"/>
            <a:ext cx="2001679" cy="335280"/>
          </a:xfrm>
          <a:prstGeom prst="rect">
            <a:avLst/>
          </a:prstGeom>
          <a:noFill/>
          <a:ln/>
        </p:spPr>
        <p:txBody>
          <a:bodyPr wrap="square" lIns="25400" tIns="25400" rIns="25400" bIns="25400" rtlCol="0" anchor="t">
            <a:normAutofit/>
          </a:bodyPr>
          <a:lstStyle/>
          <a:p>
            <a:pPr algn="r" indent="0" marL="0">
              <a:buNone/>
            </a:pPr>
            <a:r>
              <a:rPr lang="en-US" sz="1800" b="1" dirty="0">
                <a:solidFill>
                  <a:srgbClr val="00845C"/>
                </a:solidFill>
                <a:latin typeface="Roboto Mono" pitchFamily="34" charset="0"/>
                <a:ea typeface="Roboto Mono" pitchFamily="34" charset="-122"/>
                <a:cs typeface="Roboto Mono" pitchFamily="34" charset="-120"/>
              </a:rPr>
              <a:t>0건</a:t>
            </a:r>
            <a:endParaRPr lang="en-US" sz="1800" dirty="0"/>
          </a:p>
        </p:txBody>
      </p:sp>
      <p:sp>
        <p:nvSpPr>
          <p:cNvPr id="19" name="Shape 17"/>
          <p:cNvSpPr/>
          <p:nvPr/>
        </p:nvSpPr>
        <p:spPr>
          <a:xfrm>
            <a:off x="1245870" y="4602480"/>
            <a:ext cx="2887980" cy="9525"/>
          </a:xfrm>
          <a:prstGeom prst="rect">
            <a:avLst/>
          </a:prstGeom>
          <a:solidFill>
            <a:srgbClr val="ECEDED"/>
          </a:solidFill>
          <a:ln/>
        </p:spPr>
      </p:sp>
      <p:sp>
        <p:nvSpPr>
          <p:cNvPr id="20" name="Text 18"/>
          <p:cNvSpPr/>
          <p:nvPr/>
        </p:nvSpPr>
        <p:spPr>
          <a:xfrm>
            <a:off x="1245870" y="4181475"/>
            <a:ext cx="297462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Roboto Mono" pitchFamily="34" charset="0"/>
                <a:ea typeface="Roboto Mono" pitchFamily="34" charset="-122"/>
                <a:cs typeface="Roboto Mono" pitchFamily="34" charset="-120"/>
              </a:rPr>
              <a:t>도메인 정확도</a:t>
            </a:r>
            <a:endParaRPr lang="en-US" sz="1800" dirty="0"/>
          </a:p>
        </p:txBody>
      </p:sp>
      <p:sp>
        <p:nvSpPr>
          <p:cNvPr id="21" name="Shape 19"/>
          <p:cNvSpPr/>
          <p:nvPr/>
        </p:nvSpPr>
        <p:spPr>
          <a:xfrm>
            <a:off x="4133850" y="4602480"/>
            <a:ext cx="1925360" cy="9525"/>
          </a:xfrm>
          <a:prstGeom prst="rect">
            <a:avLst/>
          </a:prstGeom>
          <a:solidFill>
            <a:srgbClr val="ECEDED"/>
          </a:solidFill>
          <a:ln/>
        </p:spPr>
      </p:sp>
      <p:sp>
        <p:nvSpPr>
          <p:cNvPr id="22" name="Text 20"/>
          <p:cNvSpPr/>
          <p:nvPr/>
        </p:nvSpPr>
        <p:spPr>
          <a:xfrm>
            <a:off x="4057650" y="4181475"/>
            <a:ext cx="2001560" cy="335280"/>
          </a:xfrm>
          <a:prstGeom prst="rect">
            <a:avLst/>
          </a:prstGeom>
          <a:noFill/>
          <a:ln/>
        </p:spPr>
        <p:txBody>
          <a:bodyPr wrap="square" lIns="25400" tIns="25400" rIns="25400" bIns="25400" rtlCol="0" anchor="t">
            <a:normAutofit/>
          </a:bodyPr>
          <a:lstStyle/>
          <a:p>
            <a:pPr algn="r" indent="0" marL="0">
              <a:buNone/>
            </a:pPr>
            <a:r>
              <a:rPr lang="en-US" sz="1800" dirty="0">
                <a:solidFill>
                  <a:srgbClr val="16181D"/>
                </a:solidFill>
                <a:latin typeface="Roboto Mono" pitchFamily="34" charset="0"/>
                <a:ea typeface="Roboto Mono" pitchFamily="34" charset="-122"/>
                <a:cs typeface="Roboto Mono" pitchFamily="34" charset="-120"/>
              </a:rPr>
              <a:t>89.5%</a:t>
            </a:r>
            <a:endParaRPr lang="en-US" sz="1800" dirty="0"/>
          </a:p>
        </p:txBody>
      </p:sp>
      <p:sp>
        <p:nvSpPr>
          <p:cNvPr id="23" name="Shape 21"/>
          <p:cNvSpPr/>
          <p:nvPr/>
        </p:nvSpPr>
        <p:spPr>
          <a:xfrm>
            <a:off x="6059210" y="4602480"/>
            <a:ext cx="1925479" cy="9525"/>
          </a:xfrm>
          <a:prstGeom prst="rect">
            <a:avLst/>
          </a:prstGeom>
          <a:solidFill>
            <a:srgbClr val="ECEDED"/>
          </a:solidFill>
          <a:ln/>
        </p:spPr>
      </p:sp>
      <p:sp>
        <p:nvSpPr>
          <p:cNvPr id="24" name="Text 22"/>
          <p:cNvSpPr/>
          <p:nvPr/>
        </p:nvSpPr>
        <p:spPr>
          <a:xfrm>
            <a:off x="5983010" y="4181475"/>
            <a:ext cx="2001679" cy="335280"/>
          </a:xfrm>
          <a:prstGeom prst="rect">
            <a:avLst/>
          </a:prstGeom>
          <a:noFill/>
          <a:ln/>
        </p:spPr>
        <p:txBody>
          <a:bodyPr wrap="square" lIns="25400" tIns="25400" rIns="25400" bIns="25400" rtlCol="0" anchor="t">
            <a:normAutofit/>
          </a:bodyPr>
          <a:lstStyle/>
          <a:p>
            <a:pPr algn="r" indent="0" marL="0">
              <a:buNone/>
            </a:pPr>
            <a:r>
              <a:rPr lang="en-US" sz="1800" b="1" dirty="0">
                <a:solidFill>
                  <a:srgbClr val="2B57D6"/>
                </a:solidFill>
                <a:latin typeface="Roboto Mono" pitchFamily="34" charset="0"/>
                <a:ea typeface="Roboto Mono" pitchFamily="34" charset="-122"/>
                <a:cs typeface="Roboto Mono" pitchFamily="34" charset="-120"/>
              </a:rPr>
              <a:t>96.9%</a:t>
            </a:r>
            <a:endParaRPr lang="en-US" sz="1800" dirty="0"/>
          </a:p>
        </p:txBody>
      </p:sp>
      <p:sp>
        <p:nvSpPr>
          <p:cNvPr id="25" name="Shape 23"/>
          <p:cNvSpPr/>
          <p:nvPr/>
        </p:nvSpPr>
        <p:spPr>
          <a:xfrm>
            <a:off x="1245870" y="5154930"/>
            <a:ext cx="2887980" cy="9525"/>
          </a:xfrm>
          <a:prstGeom prst="rect">
            <a:avLst/>
          </a:prstGeom>
          <a:solidFill>
            <a:srgbClr val="ECEDED"/>
          </a:solidFill>
          <a:ln/>
        </p:spPr>
      </p:sp>
      <p:sp>
        <p:nvSpPr>
          <p:cNvPr id="26" name="Text 24"/>
          <p:cNvSpPr/>
          <p:nvPr/>
        </p:nvSpPr>
        <p:spPr>
          <a:xfrm>
            <a:off x="1245870" y="4733925"/>
            <a:ext cx="297462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Roboto Mono" pitchFamily="34" charset="0"/>
                <a:ea typeface="Roboto Mono" pitchFamily="34" charset="-122"/>
                <a:cs typeface="Roboto Mono" pitchFamily="34" charset="-120"/>
              </a:rPr>
              <a:t>의도 정확도</a:t>
            </a:r>
            <a:endParaRPr lang="en-US" sz="1800" dirty="0"/>
          </a:p>
        </p:txBody>
      </p:sp>
      <p:sp>
        <p:nvSpPr>
          <p:cNvPr id="27" name="Shape 25"/>
          <p:cNvSpPr/>
          <p:nvPr/>
        </p:nvSpPr>
        <p:spPr>
          <a:xfrm>
            <a:off x="4133850" y="5154930"/>
            <a:ext cx="1925360" cy="9525"/>
          </a:xfrm>
          <a:prstGeom prst="rect">
            <a:avLst/>
          </a:prstGeom>
          <a:solidFill>
            <a:srgbClr val="ECEDED"/>
          </a:solidFill>
          <a:ln/>
        </p:spPr>
      </p:sp>
      <p:sp>
        <p:nvSpPr>
          <p:cNvPr id="28" name="Text 26"/>
          <p:cNvSpPr/>
          <p:nvPr/>
        </p:nvSpPr>
        <p:spPr>
          <a:xfrm>
            <a:off x="4057650" y="4733925"/>
            <a:ext cx="2001560" cy="335280"/>
          </a:xfrm>
          <a:prstGeom prst="rect">
            <a:avLst/>
          </a:prstGeom>
          <a:noFill/>
          <a:ln/>
        </p:spPr>
        <p:txBody>
          <a:bodyPr wrap="square" lIns="25400" tIns="25400" rIns="25400" bIns="25400" rtlCol="0" anchor="t">
            <a:normAutofit/>
          </a:bodyPr>
          <a:lstStyle/>
          <a:p>
            <a:pPr algn="r" indent="0" marL="0">
              <a:buNone/>
            </a:pPr>
            <a:r>
              <a:rPr lang="en-US" sz="1800" dirty="0">
                <a:solidFill>
                  <a:srgbClr val="16181D"/>
                </a:solidFill>
                <a:latin typeface="Roboto Mono" pitchFamily="34" charset="0"/>
                <a:ea typeface="Roboto Mono" pitchFamily="34" charset="-122"/>
                <a:cs typeface="Roboto Mono" pitchFamily="34" charset="-120"/>
              </a:rPr>
              <a:t>68.5%</a:t>
            </a:r>
            <a:endParaRPr lang="en-US" sz="1800" dirty="0"/>
          </a:p>
        </p:txBody>
      </p:sp>
      <p:sp>
        <p:nvSpPr>
          <p:cNvPr id="29" name="Shape 27"/>
          <p:cNvSpPr/>
          <p:nvPr/>
        </p:nvSpPr>
        <p:spPr>
          <a:xfrm>
            <a:off x="6059210" y="5154930"/>
            <a:ext cx="1925479" cy="9525"/>
          </a:xfrm>
          <a:prstGeom prst="rect">
            <a:avLst/>
          </a:prstGeom>
          <a:solidFill>
            <a:srgbClr val="ECEDED"/>
          </a:solidFill>
          <a:ln/>
        </p:spPr>
      </p:sp>
      <p:sp>
        <p:nvSpPr>
          <p:cNvPr id="30" name="Text 28"/>
          <p:cNvSpPr/>
          <p:nvPr/>
        </p:nvSpPr>
        <p:spPr>
          <a:xfrm>
            <a:off x="5983010" y="4733925"/>
            <a:ext cx="2001679" cy="335280"/>
          </a:xfrm>
          <a:prstGeom prst="rect">
            <a:avLst/>
          </a:prstGeom>
          <a:noFill/>
          <a:ln/>
        </p:spPr>
        <p:txBody>
          <a:bodyPr wrap="square" lIns="25400" tIns="25400" rIns="25400" bIns="25400" rtlCol="0" anchor="t">
            <a:normAutofit/>
          </a:bodyPr>
          <a:lstStyle/>
          <a:p>
            <a:pPr algn="r" indent="0" marL="0">
              <a:buNone/>
            </a:pPr>
            <a:r>
              <a:rPr lang="en-US" sz="1800" dirty="0">
                <a:solidFill>
                  <a:srgbClr val="16181D"/>
                </a:solidFill>
                <a:latin typeface="Roboto Mono" pitchFamily="34" charset="0"/>
                <a:ea typeface="Roboto Mono" pitchFamily="34" charset="-122"/>
                <a:cs typeface="Roboto Mono" pitchFamily="34" charset="-120"/>
              </a:rPr>
              <a:t>53.4%</a:t>
            </a:r>
            <a:endParaRPr lang="en-US" sz="1800" dirty="0"/>
          </a:p>
        </p:txBody>
      </p:sp>
      <p:sp>
        <p:nvSpPr>
          <p:cNvPr id="31" name="Shape 29"/>
          <p:cNvSpPr/>
          <p:nvPr/>
        </p:nvSpPr>
        <p:spPr>
          <a:xfrm>
            <a:off x="1245870" y="5707380"/>
            <a:ext cx="2887980" cy="9525"/>
          </a:xfrm>
          <a:prstGeom prst="rect">
            <a:avLst/>
          </a:prstGeom>
          <a:solidFill>
            <a:srgbClr val="ECEDED"/>
          </a:solidFill>
          <a:ln/>
        </p:spPr>
      </p:sp>
      <p:sp>
        <p:nvSpPr>
          <p:cNvPr id="32" name="Text 30"/>
          <p:cNvSpPr/>
          <p:nvPr/>
        </p:nvSpPr>
        <p:spPr>
          <a:xfrm>
            <a:off x="1245870" y="5286375"/>
            <a:ext cx="297462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Roboto Mono" pitchFamily="34" charset="0"/>
                <a:ea typeface="Roboto Mono" pitchFamily="34" charset="-122"/>
                <a:cs typeface="Roboto Mono" pitchFamily="34" charset="-120"/>
              </a:rPr>
              <a:t>FPR</a:t>
            </a:r>
            <a:endParaRPr lang="en-US" sz="1800" dirty="0"/>
          </a:p>
        </p:txBody>
      </p:sp>
      <p:sp>
        <p:nvSpPr>
          <p:cNvPr id="33" name="Shape 31"/>
          <p:cNvSpPr/>
          <p:nvPr/>
        </p:nvSpPr>
        <p:spPr>
          <a:xfrm>
            <a:off x="4133850" y="5707380"/>
            <a:ext cx="1925360" cy="9525"/>
          </a:xfrm>
          <a:prstGeom prst="rect">
            <a:avLst/>
          </a:prstGeom>
          <a:solidFill>
            <a:srgbClr val="ECEDED"/>
          </a:solidFill>
          <a:ln/>
        </p:spPr>
      </p:sp>
      <p:sp>
        <p:nvSpPr>
          <p:cNvPr id="34" name="Text 32"/>
          <p:cNvSpPr/>
          <p:nvPr/>
        </p:nvSpPr>
        <p:spPr>
          <a:xfrm>
            <a:off x="4057650" y="5286375"/>
            <a:ext cx="2001560" cy="335280"/>
          </a:xfrm>
          <a:prstGeom prst="rect">
            <a:avLst/>
          </a:prstGeom>
          <a:noFill/>
          <a:ln/>
        </p:spPr>
        <p:txBody>
          <a:bodyPr wrap="square" lIns="25400" tIns="25400" rIns="25400" bIns="25400" rtlCol="0" anchor="t">
            <a:normAutofit/>
          </a:bodyPr>
          <a:lstStyle/>
          <a:p>
            <a:pPr algn="r" indent="0" marL="0">
              <a:buNone/>
            </a:pPr>
            <a:r>
              <a:rPr lang="en-US" sz="1800" dirty="0">
                <a:solidFill>
                  <a:srgbClr val="16181D"/>
                </a:solidFill>
                <a:latin typeface="Roboto Mono" pitchFamily="34" charset="0"/>
                <a:ea typeface="Roboto Mono" pitchFamily="34" charset="-122"/>
                <a:cs typeface="Roboto Mono" pitchFamily="34" charset="-120"/>
              </a:rPr>
              <a:t>4.1%</a:t>
            </a:r>
            <a:endParaRPr lang="en-US" sz="1800" dirty="0"/>
          </a:p>
        </p:txBody>
      </p:sp>
      <p:sp>
        <p:nvSpPr>
          <p:cNvPr id="35" name="Shape 33"/>
          <p:cNvSpPr/>
          <p:nvPr/>
        </p:nvSpPr>
        <p:spPr>
          <a:xfrm>
            <a:off x="6059210" y="5707380"/>
            <a:ext cx="1925479" cy="9525"/>
          </a:xfrm>
          <a:prstGeom prst="rect">
            <a:avLst/>
          </a:prstGeom>
          <a:solidFill>
            <a:srgbClr val="ECEDED"/>
          </a:solidFill>
          <a:ln/>
        </p:spPr>
      </p:sp>
      <p:sp>
        <p:nvSpPr>
          <p:cNvPr id="36" name="Text 34"/>
          <p:cNvSpPr/>
          <p:nvPr/>
        </p:nvSpPr>
        <p:spPr>
          <a:xfrm>
            <a:off x="5983010" y="5286375"/>
            <a:ext cx="2001679" cy="335280"/>
          </a:xfrm>
          <a:prstGeom prst="rect">
            <a:avLst/>
          </a:prstGeom>
          <a:noFill/>
          <a:ln/>
        </p:spPr>
        <p:txBody>
          <a:bodyPr wrap="square" lIns="25400" tIns="25400" rIns="25400" bIns="25400" rtlCol="0" anchor="t">
            <a:normAutofit/>
          </a:bodyPr>
          <a:lstStyle/>
          <a:p>
            <a:pPr algn="r" indent="0" marL="0">
              <a:buNone/>
            </a:pPr>
            <a:r>
              <a:rPr lang="en-US" sz="1800" dirty="0">
                <a:solidFill>
                  <a:srgbClr val="16181D"/>
                </a:solidFill>
                <a:latin typeface="Roboto Mono" pitchFamily="34" charset="0"/>
                <a:ea typeface="Roboto Mono" pitchFamily="34" charset="-122"/>
                <a:cs typeface="Roboto Mono" pitchFamily="34" charset="-120"/>
              </a:rPr>
              <a:t>3.9%</a:t>
            </a:r>
            <a:endParaRPr lang="en-US" sz="1800" dirty="0"/>
          </a:p>
        </p:txBody>
      </p:sp>
      <p:sp>
        <p:nvSpPr>
          <p:cNvPr id="37" name="Shape 35"/>
          <p:cNvSpPr/>
          <p:nvPr/>
        </p:nvSpPr>
        <p:spPr>
          <a:xfrm>
            <a:off x="1245870" y="6259830"/>
            <a:ext cx="2887980" cy="9525"/>
          </a:xfrm>
          <a:prstGeom prst="rect">
            <a:avLst/>
          </a:prstGeom>
          <a:solidFill>
            <a:srgbClr val="ECEDED"/>
          </a:solidFill>
          <a:ln/>
        </p:spPr>
      </p:sp>
      <p:sp>
        <p:nvSpPr>
          <p:cNvPr id="38" name="Text 36"/>
          <p:cNvSpPr/>
          <p:nvPr/>
        </p:nvSpPr>
        <p:spPr>
          <a:xfrm>
            <a:off x="1245870" y="5838825"/>
            <a:ext cx="297462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Roboto Mono" pitchFamily="34" charset="0"/>
                <a:ea typeface="Roboto Mono" pitchFamily="34" charset="-122"/>
                <a:cs typeface="Roboto Mono" pitchFamily="34" charset="-120"/>
              </a:rPr>
              <a:t>FNR</a:t>
            </a:r>
            <a:endParaRPr lang="en-US" sz="1800" dirty="0"/>
          </a:p>
        </p:txBody>
      </p:sp>
      <p:sp>
        <p:nvSpPr>
          <p:cNvPr id="39" name="Shape 37"/>
          <p:cNvSpPr/>
          <p:nvPr/>
        </p:nvSpPr>
        <p:spPr>
          <a:xfrm>
            <a:off x="4133850" y="6259830"/>
            <a:ext cx="1925360" cy="9525"/>
          </a:xfrm>
          <a:prstGeom prst="rect">
            <a:avLst/>
          </a:prstGeom>
          <a:solidFill>
            <a:srgbClr val="ECEDED"/>
          </a:solidFill>
          <a:ln/>
        </p:spPr>
      </p:sp>
      <p:sp>
        <p:nvSpPr>
          <p:cNvPr id="40" name="Text 38"/>
          <p:cNvSpPr/>
          <p:nvPr/>
        </p:nvSpPr>
        <p:spPr>
          <a:xfrm>
            <a:off x="4057650" y="5838825"/>
            <a:ext cx="2001560" cy="335280"/>
          </a:xfrm>
          <a:prstGeom prst="rect">
            <a:avLst/>
          </a:prstGeom>
          <a:noFill/>
          <a:ln/>
        </p:spPr>
        <p:txBody>
          <a:bodyPr wrap="square" lIns="25400" tIns="25400" rIns="25400" bIns="25400" rtlCol="0" anchor="t">
            <a:normAutofit/>
          </a:bodyPr>
          <a:lstStyle/>
          <a:p>
            <a:pPr algn="r" indent="0" marL="0">
              <a:buNone/>
            </a:pPr>
            <a:r>
              <a:rPr lang="en-US" sz="1800" dirty="0">
                <a:solidFill>
                  <a:srgbClr val="C2410C"/>
                </a:solidFill>
                <a:latin typeface="Roboto Mono" pitchFamily="34" charset="0"/>
                <a:ea typeface="Roboto Mono" pitchFamily="34" charset="-122"/>
                <a:cs typeface="Roboto Mono" pitchFamily="34" charset="-120"/>
              </a:rPr>
              <a:t>16.1%</a:t>
            </a:r>
            <a:endParaRPr lang="en-US" sz="1800" dirty="0"/>
          </a:p>
        </p:txBody>
      </p:sp>
      <p:sp>
        <p:nvSpPr>
          <p:cNvPr id="41" name="Shape 39"/>
          <p:cNvSpPr/>
          <p:nvPr/>
        </p:nvSpPr>
        <p:spPr>
          <a:xfrm>
            <a:off x="6059210" y="6259830"/>
            <a:ext cx="1925479" cy="9525"/>
          </a:xfrm>
          <a:prstGeom prst="rect">
            <a:avLst/>
          </a:prstGeom>
          <a:solidFill>
            <a:srgbClr val="ECEDED"/>
          </a:solidFill>
          <a:ln/>
        </p:spPr>
      </p:sp>
      <p:sp>
        <p:nvSpPr>
          <p:cNvPr id="42" name="Text 40"/>
          <p:cNvSpPr/>
          <p:nvPr/>
        </p:nvSpPr>
        <p:spPr>
          <a:xfrm>
            <a:off x="5983010" y="5838825"/>
            <a:ext cx="2001679" cy="335280"/>
          </a:xfrm>
          <a:prstGeom prst="rect">
            <a:avLst/>
          </a:prstGeom>
          <a:noFill/>
          <a:ln/>
        </p:spPr>
        <p:txBody>
          <a:bodyPr wrap="square" lIns="25400" tIns="25400" rIns="25400" bIns="25400" rtlCol="0" anchor="t">
            <a:normAutofit/>
          </a:bodyPr>
          <a:lstStyle/>
          <a:p>
            <a:pPr algn="r" indent="0" marL="0">
              <a:buNone/>
            </a:pPr>
            <a:r>
              <a:rPr lang="en-US" sz="1800" dirty="0">
                <a:solidFill>
                  <a:srgbClr val="00845C"/>
                </a:solidFill>
                <a:latin typeface="Roboto Mono" pitchFamily="34" charset="0"/>
                <a:ea typeface="Roboto Mono" pitchFamily="34" charset="-122"/>
                <a:cs typeface="Roboto Mono" pitchFamily="34" charset="-120"/>
              </a:rPr>
              <a:t>0.0%</a:t>
            </a:r>
            <a:endParaRPr lang="en-US" sz="1800" dirty="0"/>
          </a:p>
        </p:txBody>
      </p:sp>
      <p:sp>
        <p:nvSpPr>
          <p:cNvPr id="43" name="Shape 41"/>
          <p:cNvSpPr/>
          <p:nvPr/>
        </p:nvSpPr>
        <p:spPr>
          <a:xfrm>
            <a:off x="1245870" y="6812280"/>
            <a:ext cx="2887980" cy="9525"/>
          </a:xfrm>
          <a:prstGeom prst="rect">
            <a:avLst/>
          </a:prstGeom>
          <a:solidFill>
            <a:srgbClr val="ECEDED"/>
          </a:solidFill>
          <a:ln/>
        </p:spPr>
      </p:sp>
      <p:sp>
        <p:nvSpPr>
          <p:cNvPr id="44" name="Text 42"/>
          <p:cNvSpPr/>
          <p:nvPr/>
        </p:nvSpPr>
        <p:spPr>
          <a:xfrm>
            <a:off x="1245870" y="6391275"/>
            <a:ext cx="297462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Roboto Mono" pitchFamily="34" charset="0"/>
                <a:ea typeface="Roboto Mono" pitchFamily="34" charset="-122"/>
                <a:cs typeface="Roboto Mono" pitchFamily="34" charset="-120"/>
              </a:rPr>
              <a:t>유해도 정확도</a:t>
            </a:r>
            <a:endParaRPr lang="en-US" sz="1800" dirty="0"/>
          </a:p>
        </p:txBody>
      </p:sp>
      <p:sp>
        <p:nvSpPr>
          <p:cNvPr id="45" name="Shape 43"/>
          <p:cNvSpPr/>
          <p:nvPr/>
        </p:nvSpPr>
        <p:spPr>
          <a:xfrm>
            <a:off x="4133850" y="6812280"/>
            <a:ext cx="1925360" cy="9525"/>
          </a:xfrm>
          <a:prstGeom prst="rect">
            <a:avLst/>
          </a:prstGeom>
          <a:solidFill>
            <a:srgbClr val="ECEDED"/>
          </a:solidFill>
          <a:ln/>
        </p:spPr>
      </p:sp>
      <p:sp>
        <p:nvSpPr>
          <p:cNvPr id="46" name="Text 44"/>
          <p:cNvSpPr/>
          <p:nvPr/>
        </p:nvSpPr>
        <p:spPr>
          <a:xfrm>
            <a:off x="4057650" y="6391275"/>
            <a:ext cx="2001560" cy="335280"/>
          </a:xfrm>
          <a:prstGeom prst="rect">
            <a:avLst/>
          </a:prstGeom>
          <a:noFill/>
          <a:ln/>
        </p:spPr>
        <p:txBody>
          <a:bodyPr wrap="square" lIns="25400" tIns="25400" rIns="25400" bIns="25400" rtlCol="0" anchor="t">
            <a:normAutofit/>
          </a:bodyPr>
          <a:lstStyle/>
          <a:p>
            <a:pPr algn="r" indent="0" marL="0">
              <a:buNone/>
            </a:pPr>
            <a:r>
              <a:rPr lang="en-US" sz="1800" dirty="0">
                <a:solidFill>
                  <a:srgbClr val="16181D"/>
                </a:solidFill>
                <a:latin typeface="Roboto Mono" pitchFamily="34" charset="0"/>
                <a:ea typeface="Roboto Mono" pitchFamily="34" charset="-122"/>
                <a:cs typeface="Roboto Mono" pitchFamily="34" charset="-120"/>
              </a:rPr>
              <a:t>98.4%</a:t>
            </a:r>
            <a:endParaRPr lang="en-US" sz="1800" dirty="0"/>
          </a:p>
        </p:txBody>
      </p:sp>
      <p:sp>
        <p:nvSpPr>
          <p:cNvPr id="47" name="Shape 45"/>
          <p:cNvSpPr/>
          <p:nvPr/>
        </p:nvSpPr>
        <p:spPr>
          <a:xfrm>
            <a:off x="6059210" y="6812280"/>
            <a:ext cx="1925479" cy="9525"/>
          </a:xfrm>
          <a:prstGeom prst="rect">
            <a:avLst/>
          </a:prstGeom>
          <a:solidFill>
            <a:srgbClr val="ECEDED"/>
          </a:solidFill>
          <a:ln/>
        </p:spPr>
      </p:sp>
      <p:sp>
        <p:nvSpPr>
          <p:cNvPr id="48" name="Text 46"/>
          <p:cNvSpPr/>
          <p:nvPr/>
        </p:nvSpPr>
        <p:spPr>
          <a:xfrm>
            <a:off x="5983010" y="6391275"/>
            <a:ext cx="2001679" cy="335280"/>
          </a:xfrm>
          <a:prstGeom prst="rect">
            <a:avLst/>
          </a:prstGeom>
          <a:noFill/>
          <a:ln/>
        </p:spPr>
        <p:txBody>
          <a:bodyPr wrap="square" lIns="25400" tIns="25400" rIns="25400" bIns="25400" rtlCol="0" anchor="t">
            <a:normAutofit/>
          </a:bodyPr>
          <a:lstStyle/>
          <a:p>
            <a:pPr algn="r" indent="0" marL="0">
              <a:buNone/>
            </a:pPr>
            <a:r>
              <a:rPr lang="en-US" sz="1800" dirty="0">
                <a:solidFill>
                  <a:srgbClr val="16181D"/>
                </a:solidFill>
                <a:latin typeface="Roboto Mono" pitchFamily="34" charset="0"/>
                <a:ea typeface="Roboto Mono" pitchFamily="34" charset="-122"/>
                <a:cs typeface="Roboto Mono" pitchFamily="34" charset="-120"/>
              </a:rPr>
              <a:t>98.5%</a:t>
            </a:r>
            <a:endParaRPr lang="en-US" sz="1800" dirty="0"/>
          </a:p>
        </p:txBody>
      </p:sp>
      <p:sp>
        <p:nvSpPr>
          <p:cNvPr id="49" name="Shape 47"/>
          <p:cNvSpPr/>
          <p:nvPr/>
        </p:nvSpPr>
        <p:spPr>
          <a:xfrm>
            <a:off x="1245870" y="7364730"/>
            <a:ext cx="2887980" cy="9525"/>
          </a:xfrm>
          <a:prstGeom prst="rect">
            <a:avLst/>
          </a:prstGeom>
          <a:solidFill>
            <a:srgbClr val="ECEDED"/>
          </a:solidFill>
          <a:ln/>
        </p:spPr>
      </p:sp>
      <p:sp>
        <p:nvSpPr>
          <p:cNvPr id="50" name="Text 48"/>
          <p:cNvSpPr/>
          <p:nvPr/>
        </p:nvSpPr>
        <p:spPr>
          <a:xfrm>
            <a:off x="1245870" y="6943725"/>
            <a:ext cx="297462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Roboto Mono" pitchFamily="34" charset="0"/>
                <a:ea typeface="Roboto Mono" pitchFamily="34" charset="-122"/>
                <a:cs typeface="Roboto Mono" pitchFamily="34" charset="-120"/>
              </a:rPr>
              <a:t>Slot F1</a:t>
            </a:r>
            <a:endParaRPr lang="en-US" sz="1800" dirty="0"/>
          </a:p>
        </p:txBody>
      </p:sp>
      <p:sp>
        <p:nvSpPr>
          <p:cNvPr id="51" name="Shape 49"/>
          <p:cNvSpPr/>
          <p:nvPr/>
        </p:nvSpPr>
        <p:spPr>
          <a:xfrm>
            <a:off x="4133850" y="7364730"/>
            <a:ext cx="1925360" cy="9525"/>
          </a:xfrm>
          <a:prstGeom prst="rect">
            <a:avLst/>
          </a:prstGeom>
          <a:solidFill>
            <a:srgbClr val="ECEDED"/>
          </a:solidFill>
          <a:ln/>
        </p:spPr>
      </p:sp>
      <p:sp>
        <p:nvSpPr>
          <p:cNvPr id="52" name="Text 50"/>
          <p:cNvSpPr/>
          <p:nvPr/>
        </p:nvSpPr>
        <p:spPr>
          <a:xfrm>
            <a:off x="4057650" y="6943725"/>
            <a:ext cx="2001560" cy="335280"/>
          </a:xfrm>
          <a:prstGeom prst="rect">
            <a:avLst/>
          </a:prstGeom>
          <a:noFill/>
          <a:ln/>
        </p:spPr>
        <p:txBody>
          <a:bodyPr wrap="square" lIns="25400" tIns="25400" rIns="25400" bIns="25400" rtlCol="0" anchor="t">
            <a:normAutofit/>
          </a:bodyPr>
          <a:lstStyle/>
          <a:p>
            <a:pPr algn="r" indent="0" marL="0">
              <a:buNone/>
            </a:pPr>
            <a:r>
              <a:rPr lang="en-US" sz="1800" dirty="0">
                <a:solidFill>
                  <a:srgbClr val="16181D"/>
                </a:solidFill>
                <a:latin typeface="Roboto Mono" pitchFamily="34" charset="0"/>
                <a:ea typeface="Roboto Mono" pitchFamily="34" charset="-122"/>
                <a:cs typeface="Roboto Mono" pitchFamily="34" charset="-120"/>
              </a:rPr>
              <a:t>0.271</a:t>
            </a:r>
            <a:endParaRPr lang="en-US" sz="1800" dirty="0"/>
          </a:p>
        </p:txBody>
      </p:sp>
      <p:sp>
        <p:nvSpPr>
          <p:cNvPr id="53" name="Shape 51"/>
          <p:cNvSpPr/>
          <p:nvPr/>
        </p:nvSpPr>
        <p:spPr>
          <a:xfrm>
            <a:off x="6059210" y="7364730"/>
            <a:ext cx="1925479" cy="9525"/>
          </a:xfrm>
          <a:prstGeom prst="rect">
            <a:avLst/>
          </a:prstGeom>
          <a:solidFill>
            <a:srgbClr val="ECEDED"/>
          </a:solidFill>
          <a:ln/>
        </p:spPr>
      </p:sp>
      <p:sp>
        <p:nvSpPr>
          <p:cNvPr id="54" name="Text 52"/>
          <p:cNvSpPr/>
          <p:nvPr/>
        </p:nvSpPr>
        <p:spPr>
          <a:xfrm>
            <a:off x="5983010" y="6943725"/>
            <a:ext cx="2001679" cy="335280"/>
          </a:xfrm>
          <a:prstGeom prst="rect">
            <a:avLst/>
          </a:prstGeom>
          <a:noFill/>
          <a:ln/>
        </p:spPr>
        <p:txBody>
          <a:bodyPr wrap="square" lIns="25400" tIns="25400" rIns="25400" bIns="25400" rtlCol="0" anchor="t">
            <a:normAutofit/>
          </a:bodyPr>
          <a:lstStyle/>
          <a:p>
            <a:pPr algn="r" indent="0" marL="0">
              <a:buNone/>
            </a:pPr>
            <a:r>
              <a:rPr lang="en-US" sz="1800" dirty="0">
                <a:solidFill>
                  <a:srgbClr val="16181D"/>
                </a:solidFill>
                <a:latin typeface="Roboto Mono" pitchFamily="34" charset="0"/>
                <a:ea typeface="Roboto Mono" pitchFamily="34" charset="-122"/>
                <a:cs typeface="Roboto Mono" pitchFamily="34" charset="-120"/>
              </a:rPr>
              <a:t>0.621</a:t>
            </a:r>
            <a:endParaRPr lang="en-US" sz="1800" dirty="0"/>
          </a:p>
        </p:txBody>
      </p:sp>
      <p:sp>
        <p:nvSpPr>
          <p:cNvPr id="55" name="Shape 53"/>
          <p:cNvSpPr/>
          <p:nvPr/>
        </p:nvSpPr>
        <p:spPr>
          <a:xfrm>
            <a:off x="1245870" y="7917180"/>
            <a:ext cx="2887980" cy="9525"/>
          </a:xfrm>
          <a:prstGeom prst="rect">
            <a:avLst/>
          </a:prstGeom>
          <a:solidFill>
            <a:srgbClr val="ECEDED"/>
          </a:solidFill>
          <a:ln/>
        </p:spPr>
      </p:sp>
      <p:sp>
        <p:nvSpPr>
          <p:cNvPr id="56" name="Text 54"/>
          <p:cNvSpPr/>
          <p:nvPr/>
        </p:nvSpPr>
        <p:spPr>
          <a:xfrm>
            <a:off x="1245870" y="7496175"/>
            <a:ext cx="297462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Roboto Mono" pitchFamily="34" charset="0"/>
                <a:ea typeface="Roboto Mono" pitchFamily="34" charset="-122"/>
                <a:cs typeface="Roboto Mono" pitchFamily="34" charset="-120"/>
              </a:rPr>
              <a:t>α (에스컬레이션)</a:t>
            </a:r>
            <a:endParaRPr lang="en-US" sz="1800" dirty="0"/>
          </a:p>
        </p:txBody>
      </p:sp>
      <p:sp>
        <p:nvSpPr>
          <p:cNvPr id="57" name="Shape 55"/>
          <p:cNvSpPr/>
          <p:nvPr/>
        </p:nvSpPr>
        <p:spPr>
          <a:xfrm>
            <a:off x="4133850" y="7917180"/>
            <a:ext cx="1925360" cy="9525"/>
          </a:xfrm>
          <a:prstGeom prst="rect">
            <a:avLst/>
          </a:prstGeom>
          <a:solidFill>
            <a:srgbClr val="ECEDED"/>
          </a:solidFill>
          <a:ln/>
        </p:spPr>
      </p:sp>
      <p:sp>
        <p:nvSpPr>
          <p:cNvPr id="58" name="Text 56"/>
          <p:cNvSpPr/>
          <p:nvPr/>
        </p:nvSpPr>
        <p:spPr>
          <a:xfrm>
            <a:off x="4057650" y="7496175"/>
            <a:ext cx="2001560" cy="335280"/>
          </a:xfrm>
          <a:prstGeom prst="rect">
            <a:avLst/>
          </a:prstGeom>
          <a:noFill/>
          <a:ln/>
        </p:spPr>
        <p:txBody>
          <a:bodyPr wrap="square" lIns="25400" tIns="25400" rIns="25400" bIns="25400" rtlCol="0" anchor="t">
            <a:normAutofit/>
          </a:bodyPr>
          <a:lstStyle/>
          <a:p>
            <a:pPr algn="r" indent="0" marL="0">
              <a:buNone/>
            </a:pPr>
            <a:r>
              <a:rPr lang="en-US" sz="1800" b="1" dirty="0">
                <a:solidFill>
                  <a:srgbClr val="2B57D6"/>
                </a:solidFill>
                <a:latin typeface="Roboto Mono" pitchFamily="34" charset="0"/>
                <a:ea typeface="Roboto Mono" pitchFamily="34" charset="-122"/>
                <a:cs typeface="Roboto Mono" pitchFamily="34" charset="-120"/>
              </a:rPr>
              <a:t>39.0%</a:t>
            </a:r>
            <a:endParaRPr lang="en-US" sz="1800" dirty="0"/>
          </a:p>
        </p:txBody>
      </p:sp>
      <p:sp>
        <p:nvSpPr>
          <p:cNvPr id="59" name="Shape 57"/>
          <p:cNvSpPr/>
          <p:nvPr/>
        </p:nvSpPr>
        <p:spPr>
          <a:xfrm>
            <a:off x="6059210" y="7917180"/>
            <a:ext cx="1925479" cy="9525"/>
          </a:xfrm>
          <a:prstGeom prst="rect">
            <a:avLst/>
          </a:prstGeom>
          <a:solidFill>
            <a:srgbClr val="ECEDED"/>
          </a:solidFill>
          <a:ln/>
        </p:spPr>
      </p:sp>
      <p:sp>
        <p:nvSpPr>
          <p:cNvPr id="60" name="Text 58"/>
          <p:cNvSpPr/>
          <p:nvPr/>
        </p:nvSpPr>
        <p:spPr>
          <a:xfrm>
            <a:off x="5983010" y="7496175"/>
            <a:ext cx="2001679" cy="335280"/>
          </a:xfrm>
          <a:prstGeom prst="rect">
            <a:avLst/>
          </a:prstGeom>
          <a:noFill/>
          <a:ln/>
        </p:spPr>
        <p:txBody>
          <a:bodyPr wrap="square" lIns="25400" tIns="25400" rIns="25400" bIns="25400" rtlCol="0" anchor="t">
            <a:normAutofit/>
          </a:bodyPr>
          <a:lstStyle/>
          <a:p>
            <a:pPr algn="r" indent="0" marL="0">
              <a:buNone/>
            </a:pPr>
            <a:r>
              <a:rPr lang="en-US" sz="1800" dirty="0">
                <a:solidFill>
                  <a:srgbClr val="16181D"/>
                </a:solidFill>
                <a:latin typeface="Roboto Mono" pitchFamily="34" charset="0"/>
                <a:ea typeface="Roboto Mono" pitchFamily="34" charset="-122"/>
                <a:cs typeface="Roboto Mono" pitchFamily="34" charset="-120"/>
              </a:rPr>
              <a:t>51.1%</a:t>
            </a:r>
            <a:endParaRPr lang="en-US" sz="1800" dirty="0"/>
          </a:p>
        </p:txBody>
      </p:sp>
      <p:sp>
        <p:nvSpPr>
          <p:cNvPr id="61" name="Text 59"/>
          <p:cNvSpPr/>
          <p:nvPr/>
        </p:nvSpPr>
        <p:spPr>
          <a:xfrm>
            <a:off x="1245870" y="8048625"/>
            <a:ext cx="2974620" cy="335280"/>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Roboto Mono" pitchFamily="34" charset="0"/>
                <a:ea typeface="Roboto Mono" pitchFamily="34" charset="-122"/>
                <a:cs typeface="Roboto Mono" pitchFamily="34" charset="-120"/>
              </a:rPr>
              <a:t>P95 지연</a:t>
            </a:r>
            <a:endParaRPr lang="en-US" sz="1800" dirty="0"/>
          </a:p>
        </p:txBody>
      </p:sp>
      <p:sp>
        <p:nvSpPr>
          <p:cNvPr id="62" name="Text 60"/>
          <p:cNvSpPr/>
          <p:nvPr/>
        </p:nvSpPr>
        <p:spPr>
          <a:xfrm>
            <a:off x="4057650" y="8048625"/>
            <a:ext cx="2001560" cy="335280"/>
          </a:xfrm>
          <a:prstGeom prst="rect">
            <a:avLst/>
          </a:prstGeom>
          <a:noFill/>
          <a:ln/>
        </p:spPr>
        <p:txBody>
          <a:bodyPr wrap="square" lIns="25400" tIns="25400" rIns="25400" bIns="25400" rtlCol="0" anchor="t">
            <a:normAutofit/>
          </a:bodyPr>
          <a:lstStyle/>
          <a:p>
            <a:pPr algn="r" indent="0" marL="0">
              <a:buNone/>
            </a:pPr>
            <a:r>
              <a:rPr lang="en-US" sz="1800" dirty="0">
                <a:solidFill>
                  <a:srgbClr val="16181D"/>
                </a:solidFill>
                <a:latin typeface="Roboto Mono" pitchFamily="34" charset="0"/>
                <a:ea typeface="Roboto Mono" pitchFamily="34" charset="-122"/>
                <a:cs typeface="Roboto Mono" pitchFamily="34" charset="-120"/>
              </a:rPr>
              <a:t>1.263s</a:t>
            </a:r>
            <a:endParaRPr lang="en-US" sz="1800" dirty="0"/>
          </a:p>
        </p:txBody>
      </p:sp>
      <p:sp>
        <p:nvSpPr>
          <p:cNvPr id="63" name="Text 61"/>
          <p:cNvSpPr/>
          <p:nvPr/>
        </p:nvSpPr>
        <p:spPr>
          <a:xfrm>
            <a:off x="5983010" y="8048625"/>
            <a:ext cx="2001679" cy="335280"/>
          </a:xfrm>
          <a:prstGeom prst="rect">
            <a:avLst/>
          </a:prstGeom>
          <a:noFill/>
          <a:ln/>
        </p:spPr>
        <p:txBody>
          <a:bodyPr wrap="square" lIns="25400" tIns="25400" rIns="25400" bIns="25400" rtlCol="0" anchor="t">
            <a:normAutofit/>
          </a:bodyPr>
          <a:lstStyle/>
          <a:p>
            <a:pPr algn="r" indent="0" marL="0">
              <a:buNone/>
            </a:pPr>
            <a:r>
              <a:rPr lang="en-US" sz="1800" dirty="0">
                <a:solidFill>
                  <a:srgbClr val="16181D"/>
                </a:solidFill>
                <a:latin typeface="Roboto Mono" pitchFamily="34" charset="0"/>
                <a:ea typeface="Roboto Mono" pitchFamily="34" charset="-122"/>
                <a:cs typeface="Roboto Mono" pitchFamily="34" charset="-120"/>
              </a:rPr>
              <a:t>1.268s</a:t>
            </a:r>
            <a:endParaRPr lang="en-US" sz="1800" dirty="0"/>
          </a:p>
        </p:txBody>
      </p:sp>
      <p:sp>
        <p:nvSpPr>
          <p:cNvPr id="64" name="Shape 62"/>
          <p:cNvSpPr/>
          <p:nvPr/>
        </p:nvSpPr>
        <p:spPr>
          <a:xfrm>
            <a:off x="1245870" y="8866823"/>
            <a:ext cx="6738818" cy="1716405"/>
          </a:xfrm>
          <a:prstGeom prst="rect">
            <a:avLst/>
          </a:prstGeom>
          <a:solidFill>
            <a:srgbClr val="F6F7F8"/>
          </a:solidFill>
          <a:ln w="7620">
            <a:solidFill>
              <a:srgbClr val="DFE1E6"/>
            </a:solidFill>
            <a:prstDash val="solid"/>
          </a:ln>
        </p:spPr>
      </p:sp>
      <p:sp>
        <p:nvSpPr>
          <p:cNvPr id="65" name="Text 63"/>
          <p:cNvSpPr/>
          <p:nvPr/>
        </p:nvSpPr>
        <p:spPr>
          <a:xfrm>
            <a:off x="1463040" y="9045893"/>
            <a:ext cx="6506643" cy="1396365"/>
          </a:xfrm>
          <a:prstGeom prst="rect">
            <a:avLst/>
          </a:prstGeom>
          <a:noFill/>
          <a:ln/>
        </p:spPr>
        <p:txBody>
          <a:bodyPr wrap="square" lIns="25400" tIns="25400" rIns="25400" bIns="25400" rtlCol="0" anchor="t">
            <a:normAutofit/>
          </a:bodyPr>
          <a:lstStyle/>
          <a:p>
            <a:pPr algn="l" indent="0" marL="0">
              <a:lnSpc>
                <a:spcPct val="135038"/>
              </a:lnSpc>
              <a:buNone/>
            </a:pPr>
            <a:r>
              <a:rPr lang="en-US" sz="1725" b="1" dirty="0">
                <a:solidFill>
                  <a:srgbClr val="4A5058"/>
                </a:solidFill>
                <a:latin typeface="Arial" pitchFamily="34" charset="0"/>
                <a:ea typeface="Arial" pitchFamily="34" charset="-122"/>
                <a:cs typeface="Arial" pitchFamily="34" charset="-120"/>
              </a:rPr>
              <a:t>두 세트의 차이는 구성 때문이다. </a:t>
            </a:r>
            <a:pPr algn="l" indent="0" marL="0">
              <a:lnSpc>
                <a:spcPct val="135038"/>
              </a:lnSpc>
              <a:buNone/>
            </a:pPr>
            <a:r>
              <a:rPr lang="en-US" sz="1725" dirty="0">
                <a:solidFill>
                  <a:srgbClr val="4A5058"/>
                </a:solidFill>
                <a:highlight>
                  <a:srgbClr val="F6F7F8"/>
                </a:highlight>
                <a:latin typeface="Arial" pitchFamily="34" charset="0"/>
                <a:ea typeface="Arial" pitchFamily="34" charset="-122"/>
                <a:cs typeface="Arial" pitchFamily="34" charset="-120"/>
              </a:rPr>
              <a:t>515문항은 injection 200 · boundary 91 로 어려운 문항이 절반을 넘고, 도메인 오답 54건 중 35건이 그 둘에서 나온다. 기존 기준선 98.9% 는 90문항 시절 수치 → </a:t>
            </a:r>
            <a:pPr algn="l" indent="0" marL="0">
              <a:lnSpc>
                <a:spcPct val="135038"/>
              </a:lnSpc>
              <a:buNone/>
            </a:pPr>
            <a:r>
              <a:rPr lang="en-US" sz="1725" b="1" dirty="0">
                <a:solidFill>
                  <a:srgbClr val="4A5058"/>
                </a:solidFill>
                <a:latin typeface="Arial" pitchFamily="34" charset="0"/>
                <a:ea typeface="Arial" pitchFamily="34" charset="-122"/>
                <a:cs typeface="Arial" pitchFamily="34" charset="-120"/>
              </a:rPr>
              <a:t>131문항(96.9%)과 비교하는 것이 맞다.</a:t>
            </a:r>
            <a:endParaRPr lang="en-US" sz="1725" dirty="0"/>
          </a:p>
        </p:txBody>
      </p:sp>
      <p:sp>
        <p:nvSpPr>
          <p:cNvPr id="66" name="Shape 64"/>
          <p:cNvSpPr/>
          <p:nvPr/>
        </p:nvSpPr>
        <p:spPr>
          <a:xfrm>
            <a:off x="8544759" y="2331720"/>
            <a:ext cx="8790742" cy="4040505"/>
          </a:xfrm>
          <a:prstGeom prst="rect">
            <a:avLst/>
          </a:prstGeom>
          <a:solidFill>
            <a:srgbClr val="FFFFFF"/>
          </a:solidFill>
          <a:ln/>
        </p:spPr>
      </p:sp>
      <p:sp>
        <p:nvSpPr>
          <p:cNvPr id="67" name="Shape 65"/>
          <p:cNvSpPr/>
          <p:nvPr/>
        </p:nvSpPr>
        <p:spPr>
          <a:xfrm>
            <a:off x="8544759" y="6364605"/>
            <a:ext cx="8790742" cy="9525"/>
          </a:xfrm>
          <a:prstGeom prst="rect">
            <a:avLst/>
          </a:prstGeom>
          <a:solidFill>
            <a:srgbClr val="DFE1E6"/>
          </a:solidFill>
          <a:ln/>
        </p:spPr>
      </p:sp>
      <p:sp>
        <p:nvSpPr>
          <p:cNvPr id="68" name="Shape 66"/>
          <p:cNvSpPr/>
          <p:nvPr/>
        </p:nvSpPr>
        <p:spPr>
          <a:xfrm>
            <a:off x="8544759" y="2331720"/>
            <a:ext cx="8790742" cy="9525"/>
          </a:xfrm>
          <a:prstGeom prst="rect">
            <a:avLst/>
          </a:prstGeom>
          <a:solidFill>
            <a:srgbClr val="DFE1E6"/>
          </a:solidFill>
          <a:ln/>
        </p:spPr>
      </p:sp>
      <p:sp>
        <p:nvSpPr>
          <p:cNvPr id="69" name="Shape 67"/>
          <p:cNvSpPr/>
          <p:nvPr/>
        </p:nvSpPr>
        <p:spPr>
          <a:xfrm>
            <a:off x="8544759" y="2331720"/>
            <a:ext cx="45720" cy="4040505"/>
          </a:xfrm>
          <a:prstGeom prst="rect">
            <a:avLst/>
          </a:prstGeom>
          <a:solidFill>
            <a:srgbClr val="4F7CFF"/>
          </a:solidFill>
          <a:ln/>
        </p:spPr>
      </p:sp>
      <p:sp>
        <p:nvSpPr>
          <p:cNvPr id="70" name="Shape 68"/>
          <p:cNvSpPr/>
          <p:nvPr/>
        </p:nvSpPr>
        <p:spPr>
          <a:xfrm>
            <a:off x="17327881" y="2331720"/>
            <a:ext cx="9525" cy="4040505"/>
          </a:xfrm>
          <a:prstGeom prst="rect">
            <a:avLst/>
          </a:prstGeom>
          <a:solidFill>
            <a:srgbClr val="DFE1E6"/>
          </a:solidFill>
          <a:ln/>
        </p:spPr>
      </p:sp>
      <p:sp>
        <p:nvSpPr>
          <p:cNvPr id="71" name="Text 69"/>
          <p:cNvSpPr/>
          <p:nvPr/>
        </p:nvSpPr>
        <p:spPr>
          <a:xfrm>
            <a:off x="8876229" y="2598420"/>
            <a:ext cx="4412730"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보안 문항 차단률 (208문항, 첫 측정)</a:t>
            </a:r>
            <a:endParaRPr lang="en-US" sz="2100" dirty="0"/>
          </a:p>
        </p:txBody>
      </p:sp>
      <p:sp>
        <p:nvSpPr>
          <p:cNvPr id="72" name="Text 70"/>
          <p:cNvSpPr/>
          <p:nvPr/>
        </p:nvSpPr>
        <p:spPr>
          <a:xfrm>
            <a:off x="16070342" y="2567940"/>
            <a:ext cx="1047988" cy="472440"/>
          </a:xfrm>
          <a:prstGeom prst="rect">
            <a:avLst/>
          </a:prstGeom>
          <a:noFill/>
          <a:ln/>
        </p:spPr>
        <p:txBody>
          <a:bodyPr wrap="square" lIns="25400" tIns="25400" rIns="25400" bIns="25400" rtlCol="0" anchor="t">
            <a:normAutofit/>
          </a:bodyPr>
          <a:lstStyle/>
          <a:p>
            <a:pPr algn="l" indent="0" marL="0">
              <a:buNone/>
            </a:pPr>
            <a:r>
              <a:rPr lang="en-US" sz="2550" b="1" dirty="0">
                <a:solidFill>
                  <a:srgbClr val="4F7CFF"/>
                </a:solidFill>
                <a:latin typeface="Roboto Mono" pitchFamily="34" charset="0"/>
                <a:ea typeface="Roboto Mono" pitchFamily="34" charset="-122"/>
                <a:cs typeface="Roboto Mono" pitchFamily="34" charset="-120"/>
              </a:rPr>
              <a:t>85.6%</a:t>
            </a:r>
            <a:endParaRPr lang="en-US" sz="2550" dirty="0"/>
          </a:p>
        </p:txBody>
      </p:sp>
      <p:sp>
        <p:nvSpPr>
          <p:cNvPr id="73" name="Text 71"/>
          <p:cNvSpPr/>
          <p:nvPr/>
        </p:nvSpPr>
        <p:spPr>
          <a:xfrm>
            <a:off x="8876229" y="3135630"/>
            <a:ext cx="2305050" cy="373380"/>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Arial" pitchFamily="34" charset="0"/>
                <a:ea typeface="Arial" pitchFamily="34" charset="-122"/>
                <a:cs typeface="Arial" pitchFamily="34" charset="-120"/>
              </a:rPr>
              <a:t>프롬프트 인젝션</a:t>
            </a:r>
            <a:endParaRPr lang="en-US" sz="1800" dirty="0"/>
          </a:p>
        </p:txBody>
      </p:sp>
      <p:sp>
        <p:nvSpPr>
          <p:cNvPr id="74" name="Shape 72"/>
          <p:cNvSpPr/>
          <p:nvPr/>
        </p:nvSpPr>
        <p:spPr>
          <a:xfrm>
            <a:off x="11124129" y="3179445"/>
            <a:ext cx="4527352" cy="247650"/>
          </a:xfrm>
          <a:prstGeom prst="rect">
            <a:avLst/>
          </a:prstGeom>
          <a:solidFill>
            <a:srgbClr val="ECEDED"/>
          </a:solidFill>
          <a:ln/>
        </p:spPr>
      </p:sp>
      <p:sp>
        <p:nvSpPr>
          <p:cNvPr id="75" name="Shape 73"/>
          <p:cNvSpPr/>
          <p:nvPr/>
        </p:nvSpPr>
        <p:spPr>
          <a:xfrm>
            <a:off x="11124129" y="3179445"/>
            <a:ext cx="4391501" cy="247650"/>
          </a:xfrm>
          <a:prstGeom prst="rect">
            <a:avLst/>
          </a:prstGeom>
          <a:solidFill>
            <a:srgbClr val="4F7CFF"/>
          </a:solidFill>
          <a:ln/>
        </p:spPr>
      </p:sp>
      <p:sp>
        <p:nvSpPr>
          <p:cNvPr id="76" name="Text 74"/>
          <p:cNvSpPr/>
          <p:nvPr/>
        </p:nvSpPr>
        <p:spPr>
          <a:xfrm>
            <a:off x="15680056" y="3158490"/>
            <a:ext cx="1362075" cy="327660"/>
          </a:xfrm>
          <a:prstGeom prst="rect">
            <a:avLst/>
          </a:prstGeom>
          <a:noFill/>
          <a:ln/>
        </p:spPr>
        <p:txBody>
          <a:bodyPr wrap="square" lIns="25400" tIns="25400" rIns="25400" bIns="25400" rtlCol="0" anchor="t">
            <a:normAutofit/>
          </a:bodyPr>
          <a:lstStyle/>
          <a:p>
            <a:pPr algn="r" indent="0" marL="0">
              <a:buNone/>
            </a:pPr>
            <a:r>
              <a:rPr lang="en-US" sz="1725" dirty="0">
                <a:solidFill>
                  <a:srgbClr val="16181D"/>
                </a:solidFill>
                <a:latin typeface="Roboto Mono" pitchFamily="34" charset="0"/>
                <a:ea typeface="Roboto Mono" pitchFamily="34" charset="-122"/>
                <a:cs typeface="Roboto Mono" pitchFamily="34" charset="-120"/>
              </a:rPr>
              <a:t>97 / 100</a:t>
            </a:r>
            <a:endParaRPr lang="en-US" sz="1725" dirty="0"/>
          </a:p>
        </p:txBody>
      </p:sp>
      <p:sp>
        <p:nvSpPr>
          <p:cNvPr id="77" name="Text 75"/>
          <p:cNvSpPr/>
          <p:nvPr/>
        </p:nvSpPr>
        <p:spPr>
          <a:xfrm>
            <a:off x="8876229" y="3581400"/>
            <a:ext cx="230505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C2410C"/>
                </a:solidFill>
                <a:latin typeface="Arial" pitchFamily="34" charset="0"/>
                <a:ea typeface="Arial" pitchFamily="34" charset="-122"/>
                <a:cs typeface="Arial" pitchFamily="34" charset="-120"/>
              </a:rPr>
              <a:t>SSRF</a:t>
            </a:r>
            <a:endParaRPr lang="en-US" sz="1800" dirty="0"/>
          </a:p>
        </p:txBody>
      </p:sp>
      <p:sp>
        <p:nvSpPr>
          <p:cNvPr id="78" name="Shape 76"/>
          <p:cNvSpPr/>
          <p:nvPr/>
        </p:nvSpPr>
        <p:spPr>
          <a:xfrm>
            <a:off x="11124129" y="3587115"/>
            <a:ext cx="4527352" cy="247650"/>
          </a:xfrm>
          <a:prstGeom prst="rect">
            <a:avLst/>
          </a:prstGeom>
          <a:solidFill>
            <a:srgbClr val="ECEDED"/>
          </a:solidFill>
          <a:ln/>
        </p:spPr>
      </p:sp>
      <p:sp>
        <p:nvSpPr>
          <p:cNvPr id="79" name="Shape 77"/>
          <p:cNvSpPr/>
          <p:nvPr/>
        </p:nvSpPr>
        <p:spPr>
          <a:xfrm>
            <a:off x="11124129" y="3587115"/>
            <a:ext cx="3350181" cy="247650"/>
          </a:xfrm>
          <a:prstGeom prst="rect">
            <a:avLst/>
          </a:prstGeom>
          <a:solidFill>
            <a:srgbClr val="C2410C"/>
          </a:solidFill>
          <a:ln/>
        </p:spPr>
      </p:sp>
      <p:sp>
        <p:nvSpPr>
          <p:cNvPr id="80" name="Text 78"/>
          <p:cNvSpPr/>
          <p:nvPr/>
        </p:nvSpPr>
        <p:spPr>
          <a:xfrm>
            <a:off x="15680056" y="3566160"/>
            <a:ext cx="1362075" cy="327660"/>
          </a:xfrm>
          <a:prstGeom prst="rect">
            <a:avLst/>
          </a:prstGeom>
          <a:noFill/>
          <a:ln/>
        </p:spPr>
        <p:txBody>
          <a:bodyPr wrap="square" lIns="25400" tIns="25400" rIns="25400" bIns="25400" rtlCol="0" anchor="t">
            <a:normAutofit/>
          </a:bodyPr>
          <a:lstStyle/>
          <a:p>
            <a:pPr algn="r" indent="0" marL="0">
              <a:buNone/>
            </a:pPr>
            <a:r>
              <a:rPr lang="en-US" sz="1725" dirty="0">
                <a:solidFill>
                  <a:srgbClr val="16181D"/>
                </a:solidFill>
                <a:latin typeface="Roboto Mono" pitchFamily="34" charset="0"/>
                <a:ea typeface="Roboto Mono" pitchFamily="34" charset="-122"/>
                <a:cs typeface="Roboto Mono" pitchFamily="34" charset="-120"/>
              </a:rPr>
              <a:t>74 / 100</a:t>
            </a:r>
            <a:endParaRPr lang="en-US" sz="1725" dirty="0"/>
          </a:p>
        </p:txBody>
      </p:sp>
      <p:sp>
        <p:nvSpPr>
          <p:cNvPr id="81" name="Text 79"/>
          <p:cNvSpPr/>
          <p:nvPr/>
        </p:nvSpPr>
        <p:spPr>
          <a:xfrm>
            <a:off x="8876229" y="3950970"/>
            <a:ext cx="2305050" cy="373380"/>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Arial" pitchFamily="34" charset="0"/>
                <a:ea typeface="Arial" pitchFamily="34" charset="-122"/>
                <a:cs typeface="Arial" pitchFamily="34" charset="-120"/>
              </a:rPr>
              <a:t>유해도</a:t>
            </a:r>
            <a:endParaRPr lang="en-US" sz="1800" dirty="0"/>
          </a:p>
        </p:txBody>
      </p:sp>
      <p:sp>
        <p:nvSpPr>
          <p:cNvPr id="82" name="Shape 80"/>
          <p:cNvSpPr/>
          <p:nvPr/>
        </p:nvSpPr>
        <p:spPr>
          <a:xfrm>
            <a:off x="11124129" y="3994785"/>
            <a:ext cx="4527352" cy="247650"/>
          </a:xfrm>
          <a:prstGeom prst="rect">
            <a:avLst/>
          </a:prstGeom>
          <a:solidFill>
            <a:srgbClr val="ECEDED"/>
          </a:solidFill>
          <a:ln/>
        </p:spPr>
      </p:sp>
      <p:sp>
        <p:nvSpPr>
          <p:cNvPr id="83" name="Shape 81"/>
          <p:cNvSpPr/>
          <p:nvPr/>
        </p:nvSpPr>
        <p:spPr>
          <a:xfrm>
            <a:off x="11124129" y="3994785"/>
            <a:ext cx="3961329" cy="247650"/>
          </a:xfrm>
          <a:prstGeom prst="rect">
            <a:avLst/>
          </a:prstGeom>
          <a:solidFill>
            <a:srgbClr val="4F7CFF"/>
          </a:solidFill>
          <a:ln/>
        </p:spPr>
      </p:sp>
      <p:sp>
        <p:nvSpPr>
          <p:cNvPr id="84" name="Text 82"/>
          <p:cNvSpPr/>
          <p:nvPr/>
        </p:nvSpPr>
        <p:spPr>
          <a:xfrm>
            <a:off x="15680056" y="3973830"/>
            <a:ext cx="1362075" cy="327660"/>
          </a:xfrm>
          <a:prstGeom prst="rect">
            <a:avLst/>
          </a:prstGeom>
          <a:noFill/>
          <a:ln/>
        </p:spPr>
        <p:txBody>
          <a:bodyPr wrap="square" lIns="25400" tIns="25400" rIns="25400" bIns="25400" rtlCol="0" anchor="t">
            <a:normAutofit/>
          </a:bodyPr>
          <a:lstStyle/>
          <a:p>
            <a:pPr algn="r" indent="0" marL="0">
              <a:buNone/>
            </a:pPr>
            <a:r>
              <a:rPr lang="en-US" sz="1725" dirty="0">
                <a:solidFill>
                  <a:srgbClr val="16181D"/>
                </a:solidFill>
                <a:latin typeface="Roboto Mono" pitchFamily="34" charset="0"/>
                <a:ea typeface="Roboto Mono" pitchFamily="34" charset="-122"/>
                <a:cs typeface="Roboto Mono" pitchFamily="34" charset="-120"/>
              </a:rPr>
              <a:t>7 / 8</a:t>
            </a:r>
            <a:endParaRPr lang="en-US" sz="1725" dirty="0"/>
          </a:p>
        </p:txBody>
      </p:sp>
      <p:sp>
        <p:nvSpPr>
          <p:cNvPr id="85" name="Shape 83"/>
          <p:cNvSpPr/>
          <p:nvPr/>
        </p:nvSpPr>
        <p:spPr>
          <a:xfrm>
            <a:off x="8876229" y="4419600"/>
            <a:ext cx="8165902" cy="1716405"/>
          </a:xfrm>
          <a:prstGeom prst="rect">
            <a:avLst/>
          </a:prstGeom>
          <a:solidFill>
            <a:srgbClr val="F3F6FF"/>
          </a:solidFill>
          <a:ln w="7620">
            <a:solidFill>
              <a:srgbClr val="C9D6FF"/>
            </a:solidFill>
            <a:prstDash val="solid"/>
          </a:ln>
        </p:spPr>
      </p:sp>
      <p:sp>
        <p:nvSpPr>
          <p:cNvPr id="86" name="Text 84"/>
          <p:cNvSpPr/>
          <p:nvPr/>
        </p:nvSpPr>
        <p:spPr>
          <a:xfrm>
            <a:off x="9093399" y="4598670"/>
            <a:ext cx="7976539" cy="1396365"/>
          </a:xfrm>
          <a:prstGeom prst="rect">
            <a:avLst/>
          </a:prstGeom>
          <a:noFill/>
          <a:ln/>
        </p:spPr>
        <p:txBody>
          <a:bodyPr wrap="square" lIns="25400" tIns="25400" rIns="25400" bIns="25400" rtlCol="0" anchor="t">
            <a:normAutofit/>
          </a:bodyPr>
          <a:lstStyle/>
          <a:p>
            <a:pPr algn="l" indent="0" marL="0">
              <a:lnSpc>
                <a:spcPct val="135038"/>
              </a:lnSpc>
              <a:buNone/>
            </a:pPr>
            <a:r>
              <a:rPr lang="en-US" sz="1725" b="1" dirty="0">
                <a:solidFill>
                  <a:srgbClr val="1F2937"/>
                </a:solidFill>
                <a:latin typeface="Arial" pitchFamily="34" charset="0"/>
                <a:ea typeface="Arial" pitchFamily="34" charset="-122"/>
                <a:cs typeface="Arial" pitchFamily="34" charset="-120"/>
              </a:rPr>
              <a:t>SSRF 는 실제로 수행되지 않는다. </a:t>
            </a:r>
            <a:pPr algn="l" indent="0" marL="0">
              <a:lnSpc>
                <a:spcPct val="135038"/>
              </a:lnSpc>
              <a:buNone/>
            </a:pPr>
            <a:r>
              <a:rPr lang="en-US" sz="1725" dirty="0">
                <a:solidFill>
                  <a:srgbClr val="1F2937"/>
                </a:solidFill>
                <a:highlight>
                  <a:srgbClr val="F3F6FF"/>
                </a:highlight>
                <a:latin typeface="Arial" pitchFamily="34" charset="0"/>
                <a:ea typeface="Arial" pitchFamily="34" charset="-122"/>
                <a:cs typeface="Arial" pitchFamily="34" charset="-120"/>
              </a:rPr>
              <a:t>모든 어댑터가 고정 엔드포인트만 호출하고 사용자 입력 URL 로 요청하는 경로가 없다. 문제는 "요청을 수행"이 아니라 </a:t>
            </a:r>
            <a:pPr algn="l" indent="0" marL="0">
              <a:lnSpc>
                <a:spcPct val="135038"/>
              </a:lnSpc>
              <a:buNone/>
            </a:pPr>
            <a:r>
              <a:rPr lang="en-US" sz="1725" b="1" dirty="0">
                <a:solidFill>
                  <a:srgbClr val="1F2937"/>
                </a:solidFill>
                <a:latin typeface="Arial" pitchFamily="34" charset="0"/>
                <a:ea typeface="Arial" pitchFamily="34" charset="-122"/>
                <a:cs typeface="Arial" pitchFamily="34" charset="-120"/>
              </a:rPr>
              <a:t>"거절하지 않고 응답" </a:t>
            </a:r>
            <a:pPr algn="l" indent="0" marL="0">
              <a:lnSpc>
                <a:spcPct val="135038"/>
              </a:lnSpc>
              <a:buNone/>
            </a:pPr>
            <a:r>
              <a:rPr lang="en-US" sz="1725" dirty="0">
                <a:solidFill>
                  <a:srgbClr val="1F2937"/>
                </a:solidFill>
                <a:highlight>
                  <a:srgbClr val="F3F6FF"/>
                </a:highlight>
                <a:latin typeface="Arial" pitchFamily="34" charset="0"/>
                <a:ea typeface="Arial" pitchFamily="34" charset="-122"/>
                <a:cs typeface="Arial" pitchFamily="34" charset="-120"/>
              </a:rPr>
              <a:t>이다. 누락 30건 중 26건은 정형 NOT_FOUND 만 나갔고, 실제 답변이 나간 4건 중 2건이 안내 문구에 </a:t>
            </a:r>
            <a:pPr algn="l" indent="0" marL="0">
              <a:lnSpc>
                <a:spcPct val="135038"/>
              </a:lnSpc>
              <a:buNone/>
            </a:pPr>
            <a:r>
              <a:rPr lang="en-US" sz="1725" b="1" dirty="0">
                <a:solidFill>
                  <a:srgbClr val="1F2937"/>
                </a:solidFill>
                <a:latin typeface="Arial" pitchFamily="34" charset="0"/>
                <a:ea typeface="Arial" pitchFamily="34" charset="-122"/>
                <a:cs typeface="Arial" pitchFamily="34" charset="-120"/>
              </a:rPr>
              <a:t>공격 URL 을 되비친다.</a:t>
            </a:r>
            <a:endParaRPr lang="en-US" sz="1725" dirty="0"/>
          </a:p>
        </p:txBody>
      </p:sp>
      <p:sp>
        <p:nvSpPr>
          <p:cNvPr id="87" name="Shape 85"/>
          <p:cNvSpPr/>
          <p:nvPr/>
        </p:nvSpPr>
        <p:spPr>
          <a:xfrm>
            <a:off x="8544759" y="6562725"/>
            <a:ext cx="8790742" cy="4275772"/>
          </a:xfrm>
          <a:prstGeom prst="rect">
            <a:avLst/>
          </a:prstGeom>
          <a:solidFill>
            <a:srgbClr val="16181D"/>
          </a:solidFill>
          <a:ln/>
        </p:spPr>
      </p:sp>
      <p:sp>
        <p:nvSpPr>
          <p:cNvPr id="88" name="Text 86"/>
          <p:cNvSpPr/>
          <p:nvPr/>
        </p:nvSpPr>
        <p:spPr>
          <a:xfrm>
            <a:off x="8830509" y="6791325"/>
            <a:ext cx="9041166" cy="304800"/>
          </a:xfrm>
          <a:prstGeom prst="rect">
            <a:avLst/>
          </a:prstGeom>
          <a:noFill/>
          <a:ln/>
        </p:spPr>
        <p:txBody>
          <a:bodyPr wrap="square" lIns="25400" tIns="25400" rIns="25400" bIns="25400" rtlCol="0" anchor="t">
            <a:normAutofit/>
          </a:bodyPr>
          <a:lstStyle/>
          <a:p>
            <a:pPr algn="l" indent="0" marL="0">
              <a:buNone/>
            </a:pPr>
            <a:r>
              <a:rPr lang="en-US" sz="1575" dirty="0">
                <a:solidFill>
                  <a:srgbClr val="9DB4FF"/>
                </a:solidFill>
                <a:latin typeface="Roboto Mono" pitchFamily="34" charset="0"/>
                <a:ea typeface="Roboto Mono" pitchFamily="34" charset="-122"/>
                <a:cs typeface="Roboto Mono" pitchFamily="34" charset="-120"/>
              </a:rPr>
              <a:t>실증으로 확인한 것 5가지</a:t>
            </a:r>
            <a:endParaRPr lang="en-US" sz="1575" dirty="0"/>
          </a:p>
        </p:txBody>
      </p:sp>
      <p:sp>
        <p:nvSpPr>
          <p:cNvPr id="89" name="Text 87"/>
          <p:cNvSpPr/>
          <p:nvPr/>
        </p:nvSpPr>
        <p:spPr>
          <a:xfrm>
            <a:off x="8830509" y="7172325"/>
            <a:ext cx="1874556" cy="373380"/>
          </a:xfrm>
          <a:prstGeom prst="rect">
            <a:avLst/>
          </a:prstGeom>
          <a:noFill/>
          <a:ln/>
        </p:spPr>
        <p:txBody>
          <a:bodyPr wrap="none" lIns="25400" tIns="25400" rIns="25400" bIns="25400" rtlCol="0" anchor="t">
            <a:normAutofit/>
          </a:bodyPr>
          <a:lstStyle/>
          <a:p>
            <a:pPr algn="l" indent="0" marL="0">
              <a:buNone/>
            </a:pPr>
            <a:r>
              <a:rPr lang="en-US" sz="1800" b="1" dirty="0">
                <a:solidFill>
                  <a:srgbClr val="9DB4FF"/>
                </a:solidFill>
                <a:latin typeface="Arial" pitchFamily="34" charset="0"/>
                <a:ea typeface="Arial" pitchFamily="34" charset="-122"/>
                <a:cs typeface="Arial" pitchFamily="34" charset="-120"/>
              </a:rPr>
              <a:t>LoRA 불필요</a:t>
            </a:r>
            <a:endParaRPr lang="en-US" sz="1800" dirty="0"/>
          </a:p>
        </p:txBody>
      </p:sp>
      <p:sp>
        <p:nvSpPr>
          <p:cNvPr id="90" name="Text 88"/>
          <p:cNvSpPr/>
          <p:nvPr/>
        </p:nvSpPr>
        <p:spPr>
          <a:xfrm>
            <a:off x="10725150" y="7195185"/>
            <a:ext cx="6514338" cy="103251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C9CDD3"/>
                </a:solidFill>
                <a:latin typeface="Arial" pitchFamily="34" charset="0"/>
                <a:ea typeface="Arial" pitchFamily="34" charset="-122"/>
                <a:cs typeface="Arial" pitchFamily="34" charset="-120"/>
              </a:rPr>
              <a:t>제로샷 도메인 98.9%. 남은 오답 3건은 </a:t>
            </a:r>
            <a:pPr algn="l" indent="0" marL="0">
              <a:lnSpc>
                <a:spcPct val="127941"/>
              </a:lnSpc>
              <a:buNone/>
            </a:pPr>
            <a:r>
              <a:rPr lang="en-US" sz="1800" b="1" dirty="0">
                <a:solidFill>
                  <a:srgbClr val="FFFFFF"/>
                </a:solidFill>
                <a:latin typeface="Arial" pitchFamily="34" charset="0"/>
                <a:ea typeface="Arial" pitchFamily="34" charset="-122"/>
                <a:cs typeface="Arial" pitchFamily="34" charset="-120"/>
              </a:rPr>
              <a:t>모델이 아니라 사전·프롬프트 영역 </a:t>
            </a:r>
            <a:pPr algn="l" indent="0" marL="0">
              <a:lnSpc>
                <a:spcPct val="127941"/>
              </a:lnSpc>
              <a:buNone/>
            </a:pPr>
            <a:r>
              <a:rPr lang="en-US" sz="1800" dirty="0">
                <a:solidFill>
                  <a:srgbClr val="C9CDD3"/>
                </a:solidFill>
                <a:latin typeface="Arial" pitchFamily="34" charset="0"/>
                <a:ea typeface="Arial" pitchFamily="34" charset="-122"/>
                <a:cs typeface="Arial" pitchFamily="34" charset="-120"/>
              </a:rPr>
              <a:t>→ 합성 데이터·SageMaker Training·multi-LoRA 서빙을 아키텍처에서 제거</a:t>
            </a:r>
            <a:endParaRPr lang="en-US" sz="1800" dirty="0"/>
          </a:p>
        </p:txBody>
      </p:sp>
      <p:sp>
        <p:nvSpPr>
          <p:cNvPr id="91" name="Text 89"/>
          <p:cNvSpPr/>
          <p:nvPr/>
        </p:nvSpPr>
        <p:spPr>
          <a:xfrm>
            <a:off x="8830509" y="8294370"/>
            <a:ext cx="1874556" cy="373380"/>
          </a:xfrm>
          <a:prstGeom prst="rect">
            <a:avLst/>
          </a:prstGeom>
          <a:noFill/>
          <a:ln/>
        </p:spPr>
        <p:txBody>
          <a:bodyPr wrap="none" lIns="25400" tIns="25400" rIns="25400" bIns="25400" rtlCol="0" anchor="t">
            <a:normAutofit/>
          </a:bodyPr>
          <a:lstStyle/>
          <a:p>
            <a:pPr algn="l" indent="0" marL="0">
              <a:buNone/>
            </a:pPr>
            <a:r>
              <a:rPr lang="en-US" sz="1800" b="1" dirty="0">
                <a:solidFill>
                  <a:srgbClr val="9DB4FF"/>
                </a:solidFill>
                <a:latin typeface="Arial" pitchFamily="34" charset="0"/>
                <a:ea typeface="Arial" pitchFamily="34" charset="-122"/>
                <a:cs typeface="Arial" pitchFamily="34" charset="-120"/>
              </a:rPr>
              <a:t>게이트 4B 확정</a:t>
            </a:r>
            <a:endParaRPr lang="en-US" sz="1800" dirty="0"/>
          </a:p>
        </p:txBody>
      </p:sp>
      <p:sp>
        <p:nvSpPr>
          <p:cNvPr id="92" name="Text 90"/>
          <p:cNvSpPr/>
          <p:nvPr/>
        </p:nvSpPr>
        <p:spPr>
          <a:xfrm>
            <a:off x="10725150" y="8317230"/>
            <a:ext cx="6957060" cy="36957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C9CDD3"/>
                </a:solidFill>
                <a:latin typeface="Arial" pitchFamily="34" charset="0"/>
                <a:ea typeface="Arial" pitchFamily="34" charset="-122"/>
                <a:cs typeface="Arial" pitchFamily="34" charset="-120"/>
              </a:rPr>
              <a:t>8B 대비 도메인 정확도 동일, P95 2.34s → 1.42s</a:t>
            </a:r>
            <a:endParaRPr lang="en-US" sz="1800" dirty="0"/>
          </a:p>
        </p:txBody>
      </p:sp>
      <p:sp>
        <p:nvSpPr>
          <p:cNvPr id="93" name="Text 91"/>
          <p:cNvSpPr/>
          <p:nvPr/>
        </p:nvSpPr>
        <p:spPr>
          <a:xfrm>
            <a:off x="8830509" y="8753475"/>
            <a:ext cx="1874556" cy="373380"/>
          </a:xfrm>
          <a:prstGeom prst="rect">
            <a:avLst/>
          </a:prstGeom>
          <a:noFill/>
          <a:ln/>
        </p:spPr>
        <p:txBody>
          <a:bodyPr wrap="none" lIns="25400" tIns="25400" rIns="25400" bIns="25400" rtlCol="0" anchor="t">
            <a:normAutofit/>
          </a:bodyPr>
          <a:lstStyle/>
          <a:p>
            <a:pPr algn="l" indent="0" marL="0">
              <a:buNone/>
            </a:pPr>
            <a:r>
              <a:rPr lang="en-US" sz="1800" b="1" dirty="0">
                <a:solidFill>
                  <a:srgbClr val="9DB4FF"/>
                </a:solidFill>
                <a:latin typeface="Arial" pitchFamily="34" charset="0"/>
                <a:ea typeface="Arial" pitchFamily="34" charset="-122"/>
                <a:cs typeface="Arial" pitchFamily="34" charset="-120"/>
              </a:rPr>
              <a:t>Classic tier 불가</a:t>
            </a:r>
            <a:endParaRPr lang="en-US" sz="1800" dirty="0"/>
          </a:p>
        </p:txBody>
      </p:sp>
      <p:sp>
        <p:nvSpPr>
          <p:cNvPr id="94" name="Text 92"/>
          <p:cNvSpPr/>
          <p:nvPr/>
        </p:nvSpPr>
        <p:spPr>
          <a:xfrm>
            <a:off x="10725150" y="8776335"/>
            <a:ext cx="6957060" cy="36957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C9CDD3"/>
                </a:solidFill>
                <a:latin typeface="Arial" pitchFamily="34" charset="0"/>
                <a:ea typeface="Arial" pitchFamily="34" charset="-122"/>
                <a:cs typeface="Arial" pitchFamily="34" charset="-120"/>
              </a:rPr>
              <a:t>한국어를 못 거른다 — Standard + cross-region 이 필수</a:t>
            </a:r>
            <a:endParaRPr lang="en-US" sz="1800" dirty="0"/>
          </a:p>
        </p:txBody>
      </p:sp>
      <p:sp>
        <p:nvSpPr>
          <p:cNvPr id="95" name="Text 93"/>
          <p:cNvSpPr/>
          <p:nvPr/>
        </p:nvSpPr>
        <p:spPr>
          <a:xfrm>
            <a:off x="8830509" y="9212580"/>
            <a:ext cx="1874556" cy="373380"/>
          </a:xfrm>
          <a:prstGeom prst="rect">
            <a:avLst/>
          </a:prstGeom>
          <a:noFill/>
          <a:ln/>
        </p:spPr>
        <p:txBody>
          <a:bodyPr wrap="none" lIns="25400" tIns="25400" rIns="25400" bIns="25400" rtlCol="0" anchor="t">
            <a:normAutofit/>
          </a:bodyPr>
          <a:lstStyle/>
          <a:p>
            <a:pPr algn="l" indent="0" marL="0">
              <a:buNone/>
            </a:pPr>
            <a:r>
              <a:rPr lang="en-US" sz="1800" b="1" dirty="0">
                <a:solidFill>
                  <a:srgbClr val="9DB4FF"/>
                </a:solidFill>
                <a:latin typeface="Arial" pitchFamily="34" charset="0"/>
                <a:ea typeface="Arial" pitchFamily="34" charset="-122"/>
                <a:cs typeface="Arial" pitchFamily="34" charset="-120"/>
              </a:rPr>
              <a:t>근거성 검증 유효</a:t>
            </a:r>
            <a:endParaRPr lang="en-US" sz="1800" dirty="0"/>
          </a:p>
        </p:txBody>
      </p:sp>
      <p:sp>
        <p:nvSpPr>
          <p:cNvPr id="96" name="Text 94"/>
          <p:cNvSpPr/>
          <p:nvPr/>
        </p:nvSpPr>
        <p:spPr>
          <a:xfrm>
            <a:off x="10725150" y="9235440"/>
            <a:ext cx="6957060" cy="36957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C9CDD3"/>
                </a:solidFill>
                <a:latin typeface="Arial" pitchFamily="34" charset="0"/>
                <a:ea typeface="Arial" pitchFamily="34" charset="-122"/>
                <a:cs typeface="Arial" pitchFamily="34" charset="-120"/>
              </a:rPr>
              <a:t>Haiku 가 지어낸 KTX 편명·요금 10건을 차단</a:t>
            </a:r>
            <a:endParaRPr lang="en-US" sz="1800" dirty="0"/>
          </a:p>
        </p:txBody>
      </p:sp>
      <p:sp>
        <p:nvSpPr>
          <p:cNvPr id="97" name="Text 95"/>
          <p:cNvSpPr/>
          <p:nvPr/>
        </p:nvSpPr>
        <p:spPr>
          <a:xfrm>
            <a:off x="8830509" y="9671685"/>
            <a:ext cx="1874556" cy="373380"/>
          </a:xfrm>
          <a:prstGeom prst="rect">
            <a:avLst/>
          </a:prstGeom>
          <a:noFill/>
          <a:ln/>
        </p:spPr>
        <p:txBody>
          <a:bodyPr wrap="none" lIns="25400" tIns="25400" rIns="25400" bIns="25400" rtlCol="0" anchor="t">
            <a:normAutofit/>
          </a:bodyPr>
          <a:lstStyle/>
          <a:p>
            <a:pPr algn="l" indent="0" marL="0">
              <a:buNone/>
            </a:pPr>
            <a:r>
              <a:rPr lang="en-US" sz="1800" b="1" dirty="0">
                <a:solidFill>
                  <a:srgbClr val="9DB4FF"/>
                </a:solidFill>
                <a:latin typeface="Arial" pitchFamily="34" charset="0"/>
                <a:ea typeface="Arial" pitchFamily="34" charset="-122"/>
                <a:cs typeface="Arial" pitchFamily="34" charset="-120"/>
              </a:rPr>
              <a:t>1.7B 은 함정</a:t>
            </a:r>
            <a:endParaRPr lang="en-US" sz="1800" dirty="0"/>
          </a:p>
        </p:txBody>
      </p:sp>
      <p:sp>
        <p:nvSpPr>
          <p:cNvPr id="98" name="Text 96"/>
          <p:cNvSpPr/>
          <p:nvPr/>
        </p:nvSpPr>
        <p:spPr>
          <a:xfrm>
            <a:off x="10725150" y="9694545"/>
            <a:ext cx="6957060" cy="36957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C9CDD3"/>
                </a:solidFill>
                <a:latin typeface="Arial" pitchFamily="34" charset="0"/>
                <a:ea typeface="Arial" pitchFamily="34" charset="-122"/>
                <a:cs typeface="Arial" pitchFamily="34" charset="-120"/>
              </a:rPr>
              <a:t>FPR 0% 의 대가가 FNR 8% · 의도 17.8%</a:t>
            </a:r>
            <a:endParaRPr lang="en-US" sz="1800" dirty="0"/>
          </a:p>
        </p:txBody>
      </p:sp>
      <p:sp>
        <p:nvSpPr>
          <p:cNvPr id="99" name="Shape 97"/>
          <p:cNvSpPr/>
          <p:nvPr/>
        </p:nvSpPr>
        <p:spPr>
          <a:xfrm>
            <a:off x="8830509" y="10140315"/>
            <a:ext cx="8219242" cy="9525"/>
          </a:xfrm>
          <a:prstGeom prst="rect">
            <a:avLst/>
          </a:prstGeom>
          <a:solidFill>
            <a:srgbClr val="2C313A"/>
          </a:solidFill>
          <a:ln/>
        </p:spPr>
      </p:sp>
      <p:sp>
        <p:nvSpPr>
          <p:cNvPr id="100" name="Text 98"/>
          <p:cNvSpPr/>
          <p:nvPr/>
        </p:nvSpPr>
        <p:spPr>
          <a:xfrm>
            <a:off x="8830509" y="10281285"/>
            <a:ext cx="8465819" cy="366712"/>
          </a:xfrm>
          <a:prstGeom prst="rect">
            <a:avLst/>
          </a:prstGeom>
          <a:noFill/>
          <a:ln/>
        </p:spPr>
        <p:txBody>
          <a:bodyPr wrap="square" lIns="25400" tIns="25400" rIns="25400" bIns="25400" rtlCol="0" anchor="t">
            <a:normAutofit/>
          </a:bodyPr>
          <a:lstStyle/>
          <a:p>
            <a:pPr algn="l" indent="0" marL="0">
              <a:lnSpc>
                <a:spcPct val="130682"/>
              </a:lnSpc>
              <a:buNone/>
            </a:pPr>
            <a:r>
              <a:rPr lang="en-US" sz="1725" dirty="0">
                <a:solidFill>
                  <a:srgbClr val="9AA0A8"/>
                </a:solidFill>
                <a:latin typeface="Arial" pitchFamily="34" charset="0"/>
                <a:ea typeface="Arial" pitchFamily="34" charset="-122"/>
                <a:cs typeface="Arial" pitchFamily="34" charset="-120"/>
              </a:rPr>
              <a:t>3일 계획이었으나 </a:t>
            </a:r>
            <a:pPr algn="l" indent="0" marL="0">
              <a:lnSpc>
                <a:spcPct val="130682"/>
              </a:lnSpc>
              <a:buNone/>
            </a:pPr>
            <a:r>
              <a:rPr lang="en-US" sz="1725" b="1" dirty="0">
                <a:solidFill>
                  <a:srgbClr val="E6E8EA"/>
                </a:solidFill>
                <a:latin typeface="Arial" pitchFamily="34" charset="0"/>
                <a:ea typeface="Arial" pitchFamily="34" charset="-122"/>
                <a:cs typeface="Arial" pitchFamily="34" charset="-120"/>
              </a:rPr>
              <a:t>D1 하루에 핵심 결론이 나와 D2(LoRA 학습)를 제거</a:t>
            </a:r>
            <a:pPr algn="l" indent="0" marL="0">
              <a:lnSpc>
                <a:spcPct val="130682"/>
              </a:lnSpc>
              <a:buNone/>
            </a:pPr>
            <a:r>
              <a:rPr lang="en-US" sz="1725" dirty="0">
                <a:solidFill>
                  <a:srgbClr val="9AA0A8"/>
                </a:solidFill>
                <a:latin typeface="Arial" pitchFamily="34" charset="0"/>
                <a:ea typeface="Arial" pitchFamily="34" charset="-122"/>
                <a:cs typeface="Arial" pitchFamily="34" charset="-120"/>
              </a:rPr>
              <a:t>했다.</a:t>
            </a:r>
            <a:endParaRPr lang="en-US" sz="17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BFA"/>
        </a:solidFill>
      </p:bgPr>
    </p:bg>
    <p:spTree>
      <p:nvGrpSpPr>
        <p:cNvPr id="1" name=""/>
        <p:cNvGrpSpPr/>
        <p:nvPr/>
      </p:nvGrpSpPr>
      <p:grpSpPr>
        <a:xfrm>
          <a:off x="0" y="0"/>
          <a:ext cx="0" cy="0"/>
          <a:chOff x="0" y="0"/>
          <a:chExt cx="0" cy="0"/>
        </a:xfrm>
      </p:grpSpPr>
      <p:sp>
        <p:nvSpPr>
          <p:cNvPr id="2" name="Text 0"/>
          <p:cNvSpPr/>
          <p:nvPr/>
        </p:nvSpPr>
        <p:spPr>
          <a:xfrm>
            <a:off x="952500" y="723900"/>
            <a:ext cx="6251662" cy="33528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4F7CFF"/>
                </a:solidFill>
                <a:latin typeface="Roboto Mono" pitchFamily="34" charset="0"/>
                <a:ea typeface="Roboto Mono" pitchFamily="34" charset="-122"/>
                <a:cs typeface="Roboto Mono" pitchFamily="34" charset="-120"/>
              </a:rPr>
              <a:t>31 · LIMITS &amp; ROADMAP</a:t>
            </a:r>
            <a:endParaRPr lang="en-US" sz="1800" dirty="0"/>
          </a:p>
        </p:txBody>
      </p:sp>
      <p:sp>
        <p:nvSpPr>
          <p:cNvPr id="3" name="Text 1"/>
          <p:cNvSpPr/>
          <p:nvPr/>
        </p:nvSpPr>
        <p:spPr>
          <a:xfrm>
            <a:off x="952500" y="1135380"/>
            <a:ext cx="6251662" cy="967740"/>
          </a:xfrm>
          <a:prstGeom prst="rect">
            <a:avLst/>
          </a:prstGeom>
          <a:noFill/>
          <a:ln/>
        </p:spPr>
        <p:txBody>
          <a:bodyPr wrap="square" lIns="25400" tIns="25400" rIns="25400" bIns="25400" rtlCol="0" anchor="t">
            <a:normAutofit/>
          </a:bodyPr>
          <a:lstStyle/>
          <a:p>
            <a:pPr algn="l" indent="0" marL="0">
              <a:buNone/>
            </a:pPr>
            <a:r>
              <a:rPr lang="en-US" sz="4950" b="1" spc="-99" kern="0" dirty="0">
                <a:solidFill>
                  <a:srgbClr val="16181D"/>
                </a:solidFill>
                <a:latin typeface="Arial" pitchFamily="34" charset="0"/>
                <a:ea typeface="Arial" pitchFamily="34" charset="-122"/>
                <a:cs typeface="Arial" pitchFamily="34" charset="-120"/>
              </a:rPr>
              <a:t>남은 제약과 다음 단계</a:t>
            </a:r>
            <a:endParaRPr lang="en-US" sz="4950" dirty="0"/>
          </a:p>
        </p:txBody>
      </p:sp>
      <p:sp>
        <p:nvSpPr>
          <p:cNvPr id="4" name="Shape 2"/>
          <p:cNvSpPr/>
          <p:nvPr/>
        </p:nvSpPr>
        <p:spPr>
          <a:xfrm>
            <a:off x="11163300" y="1093470"/>
            <a:ext cx="6172200" cy="971550"/>
          </a:xfrm>
          <a:prstGeom prst="rect">
            <a:avLst/>
          </a:prstGeom>
          <a:solidFill>
            <a:srgbClr val="16181D"/>
          </a:solidFill>
          <a:ln/>
        </p:spPr>
      </p:sp>
      <p:sp>
        <p:nvSpPr>
          <p:cNvPr id="5" name="Text 3"/>
          <p:cNvSpPr/>
          <p:nvPr/>
        </p:nvSpPr>
        <p:spPr>
          <a:xfrm>
            <a:off x="11391900" y="1245870"/>
            <a:ext cx="5900166" cy="704850"/>
          </a:xfrm>
          <a:prstGeom prst="rect">
            <a:avLst/>
          </a:prstGeom>
          <a:noFill/>
          <a:ln/>
        </p:spPr>
        <p:txBody>
          <a:bodyPr wrap="square" lIns="25400" tIns="25400" rIns="25400" bIns="25400" rtlCol="0" anchor="t">
            <a:normAutofit/>
          </a:bodyPr>
          <a:lstStyle/>
          <a:p>
            <a:pPr algn="l" indent="0" marL="0">
              <a:lnSpc>
                <a:spcPct val="121528"/>
              </a:lnSpc>
              <a:buNone/>
            </a:pPr>
            <a:r>
              <a:rPr lang="en-US" sz="1875" b="1" dirty="0">
                <a:solidFill>
                  <a:srgbClr val="9DB4FF"/>
                </a:solidFill>
                <a:latin typeface="Arial" pitchFamily="34" charset="0"/>
                <a:ea typeface="Arial" pitchFamily="34" charset="-122"/>
                <a:cs typeface="Arial" pitchFamily="34" charset="-120"/>
              </a:rPr>
              <a:t>2026-09-08 계정 만료 </a:t>
            </a:r>
            <a:pPr algn="l" indent="0" marL="0">
              <a:lnSpc>
                <a:spcPct val="121528"/>
              </a:lnSpc>
              <a:buNone/>
            </a:pPr>
            <a:r>
              <a:rPr lang="en-US" sz="1875" dirty="0">
                <a:solidFill>
                  <a:srgbClr val="FBFBFA"/>
                </a:solidFill>
                <a:highlight>
                  <a:srgbClr val="16181D"/>
                </a:highlight>
                <a:latin typeface="Arial" pitchFamily="34" charset="0"/>
                <a:ea typeface="Arial" pitchFamily="34" charset="-122"/>
                <a:cs typeface="Arial" pitchFamily="34" charset="-120"/>
              </a:rPr>
              <a:t>— EC2·파이프라인·Guardrail 이 사라지고 </a:t>
            </a:r>
            <a:pPr algn="l" indent="0" marL="0">
              <a:lnSpc>
                <a:spcPct val="121528"/>
              </a:lnSpc>
              <a:buNone/>
            </a:pPr>
            <a:r>
              <a:rPr lang="en-US" sz="1875" b="1" dirty="0">
                <a:solidFill>
                  <a:srgbClr val="FBFBFA"/>
                </a:solidFill>
                <a:latin typeface="Arial" pitchFamily="34" charset="0"/>
                <a:ea typeface="Arial" pitchFamily="34" charset="-122"/>
                <a:cs typeface="Arial" pitchFamily="34" charset="-120"/>
              </a:rPr>
              <a:t>저장소만 남는다.</a:t>
            </a:r>
            <a:endParaRPr lang="en-US" sz="1875" dirty="0"/>
          </a:p>
        </p:txBody>
      </p:sp>
      <p:sp>
        <p:nvSpPr>
          <p:cNvPr id="6" name="Shape 4"/>
          <p:cNvSpPr/>
          <p:nvPr/>
        </p:nvSpPr>
        <p:spPr>
          <a:xfrm>
            <a:off x="952500" y="2331720"/>
            <a:ext cx="8620244" cy="9322118"/>
          </a:xfrm>
          <a:prstGeom prst="rect">
            <a:avLst/>
          </a:prstGeom>
          <a:solidFill>
            <a:srgbClr val="FFFFFF"/>
          </a:solidFill>
          <a:ln w="7620">
            <a:solidFill>
              <a:srgbClr val="DFE1E6"/>
            </a:solidFill>
            <a:prstDash val="solid"/>
          </a:ln>
        </p:spPr>
      </p:sp>
      <p:sp>
        <p:nvSpPr>
          <p:cNvPr id="7" name="Text 5"/>
          <p:cNvSpPr/>
          <p:nvPr/>
        </p:nvSpPr>
        <p:spPr>
          <a:xfrm>
            <a:off x="1245870" y="2586990"/>
            <a:ext cx="8836855"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알려진 제약</a:t>
            </a:r>
            <a:endParaRPr lang="en-US" sz="2100" dirty="0"/>
          </a:p>
        </p:txBody>
      </p:sp>
      <p:sp>
        <p:nvSpPr>
          <p:cNvPr id="8" name="Text 6"/>
          <p:cNvSpPr/>
          <p:nvPr/>
        </p:nvSpPr>
        <p:spPr>
          <a:xfrm>
            <a:off x="1245870" y="3089910"/>
            <a:ext cx="1723156" cy="350520"/>
          </a:xfrm>
          <a:prstGeom prst="rect">
            <a:avLst/>
          </a:prstGeom>
          <a:noFill/>
          <a:ln/>
        </p:spPr>
        <p:txBody>
          <a:bodyPr wrap="non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의도 분류</a:t>
            </a:r>
            <a:endParaRPr lang="en-US" sz="1725" dirty="0"/>
          </a:p>
        </p:txBody>
      </p:sp>
      <p:sp>
        <p:nvSpPr>
          <p:cNvPr id="9" name="Text 7"/>
          <p:cNvSpPr/>
          <p:nvPr/>
        </p:nvSpPr>
        <p:spPr>
          <a:xfrm>
            <a:off x="3002875" y="3112770"/>
            <a:ext cx="6464794" cy="673418"/>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도구를 틀리게 고르는 일이 잦다(53.4%). 도구가 원문을 보고 되돌리는 방식으로 보완</a:t>
            </a:r>
            <a:endParaRPr lang="en-US" sz="1725" dirty="0"/>
          </a:p>
        </p:txBody>
      </p:sp>
      <p:sp>
        <p:nvSpPr>
          <p:cNvPr id="10" name="Text 8"/>
          <p:cNvSpPr/>
          <p:nvPr/>
        </p:nvSpPr>
        <p:spPr>
          <a:xfrm>
            <a:off x="1245870" y="3852863"/>
            <a:ext cx="1723156" cy="350520"/>
          </a:xfrm>
          <a:prstGeom prst="rect">
            <a:avLst/>
          </a:prstGeom>
          <a:noFill/>
          <a:ln/>
        </p:spPr>
        <p:txBody>
          <a:bodyPr wrap="non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datetime 미승계</a:t>
            </a:r>
            <a:endParaRPr lang="en-US" sz="1725" dirty="0"/>
          </a:p>
        </p:txBody>
      </p:sp>
      <p:sp>
        <p:nvSpPr>
          <p:cNvPr id="11" name="Text 9"/>
          <p:cNvSpPr/>
          <p:nvPr/>
        </p:nvSpPr>
        <p:spPr>
          <a:xfrm>
            <a:off x="3002875" y="3875722"/>
            <a:ext cx="6904149"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"그럼 다음 열차는?"이 </a:t>
            </a:r>
            <a:pPr algn="l" indent="0" marL="0">
              <a:lnSpc>
                <a:spcPct val="126326"/>
              </a:lnSpc>
              <a:buNone/>
            </a:pPr>
            <a:r>
              <a:rPr lang="en-US" sz="1725" b="1" dirty="0">
                <a:solidFill>
                  <a:srgbClr val="4A5058"/>
                </a:solidFill>
                <a:latin typeface="Arial" pitchFamily="34" charset="0"/>
                <a:ea typeface="Arial" pitchFamily="34" charset="-122"/>
                <a:cs typeface="Arial" pitchFamily="34" charset="-120"/>
              </a:rPr>
              <a:t>질문 시점 기준</a:t>
            </a:r>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으로 계산된다</a:t>
            </a:r>
            <a:endParaRPr lang="en-US" sz="1725" dirty="0"/>
          </a:p>
        </p:txBody>
      </p:sp>
      <p:sp>
        <p:nvSpPr>
          <p:cNvPr id="12" name="Text 10"/>
          <p:cNvSpPr/>
          <p:nvPr/>
        </p:nvSpPr>
        <p:spPr>
          <a:xfrm>
            <a:off x="1245870" y="4298156"/>
            <a:ext cx="1723156" cy="350520"/>
          </a:xfrm>
          <a:prstGeom prst="rect">
            <a:avLst/>
          </a:prstGeom>
          <a:noFill/>
          <a:ln/>
        </p:spPr>
        <p:txBody>
          <a:bodyPr wrap="non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코레일 미래 없음</a:t>
            </a:r>
            <a:endParaRPr lang="en-US" sz="1725" dirty="0"/>
          </a:p>
        </p:txBody>
      </p:sp>
      <p:sp>
        <p:nvSpPr>
          <p:cNvPr id="13" name="Text 11"/>
          <p:cNvSpPr/>
          <p:nvPr/>
        </p:nvSpPr>
        <p:spPr>
          <a:xfrm>
            <a:off x="3002875" y="4321016"/>
            <a:ext cx="6904149"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요일 매칭 </a:t>
            </a:r>
            <a:pPr algn="l" indent="0" marL="0">
              <a:lnSpc>
                <a:spcPct val="126326"/>
              </a:lnSpc>
              <a:buNone/>
            </a:pPr>
            <a:r>
              <a:rPr lang="en-US" sz="1725" b="1" dirty="0">
                <a:solidFill>
                  <a:srgbClr val="4A5058"/>
                </a:solidFill>
                <a:latin typeface="Arial" pitchFamily="34" charset="0"/>
                <a:ea typeface="Arial" pitchFamily="34" charset="-122"/>
                <a:cs typeface="Arial" pitchFamily="34" charset="-120"/>
              </a:rPr>
              <a:t>참고 시간표</a:t>
            </a:r>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로 제공 · 오늘 운행을 보장하지 않는다고 고지</a:t>
            </a:r>
            <a:endParaRPr lang="en-US" sz="1725" dirty="0"/>
          </a:p>
        </p:txBody>
      </p:sp>
      <p:sp>
        <p:nvSpPr>
          <p:cNvPr id="14" name="Text 12"/>
          <p:cNvSpPr/>
          <p:nvPr/>
        </p:nvSpPr>
        <p:spPr>
          <a:xfrm>
            <a:off x="1245870" y="4743450"/>
            <a:ext cx="1723156" cy="350520"/>
          </a:xfrm>
          <a:prstGeom prst="rect">
            <a:avLst/>
          </a:prstGeom>
          <a:noFill/>
          <a:ln/>
        </p:spPr>
        <p:txBody>
          <a:bodyPr wrap="non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철도 요금·종별</a:t>
            </a:r>
            <a:endParaRPr lang="en-US" sz="1725" dirty="0"/>
          </a:p>
        </p:txBody>
      </p:sp>
      <p:sp>
        <p:nvSpPr>
          <p:cNvPr id="15" name="Text 13"/>
          <p:cNvSpPr/>
          <p:nvPr/>
        </p:nvSpPr>
        <p:spPr>
          <a:xfrm>
            <a:off x="3002875" y="4766310"/>
            <a:ext cx="6904149"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API 가 제공하지 않는다 — 지어내지 않고 비워 둔다</a:t>
            </a:r>
            <a:endParaRPr lang="en-US" sz="1725" dirty="0"/>
          </a:p>
        </p:txBody>
      </p:sp>
      <p:sp>
        <p:nvSpPr>
          <p:cNvPr id="16" name="Text 14"/>
          <p:cNvSpPr/>
          <p:nvPr/>
        </p:nvSpPr>
        <p:spPr>
          <a:xfrm>
            <a:off x="1245870" y="5188744"/>
            <a:ext cx="1723156" cy="350520"/>
          </a:xfrm>
          <a:prstGeom prst="rect">
            <a:avLst/>
          </a:prstGeom>
          <a:noFill/>
          <a:ln/>
        </p:spPr>
        <p:txBody>
          <a:bodyPr wrap="non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항공 운임</a:t>
            </a:r>
            <a:endParaRPr lang="en-US" sz="1725" dirty="0"/>
          </a:p>
        </p:txBody>
      </p:sp>
      <p:sp>
        <p:nvSpPr>
          <p:cNvPr id="17" name="Text 15"/>
          <p:cNvSpPr/>
          <p:nvPr/>
        </p:nvSpPr>
        <p:spPr>
          <a:xfrm>
            <a:off x="3002875" y="5211604"/>
            <a:ext cx="6904149"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보유율 22.8% · LCC 전부 비어 있음</a:t>
            </a:r>
            <a:endParaRPr lang="en-US" sz="1725" dirty="0"/>
          </a:p>
        </p:txBody>
      </p:sp>
      <p:sp>
        <p:nvSpPr>
          <p:cNvPr id="18" name="Text 16"/>
          <p:cNvSpPr/>
          <p:nvPr/>
        </p:nvSpPr>
        <p:spPr>
          <a:xfrm>
            <a:off x="1245870" y="5634038"/>
            <a:ext cx="1723156" cy="350520"/>
          </a:xfrm>
          <a:prstGeom prst="rect">
            <a:avLst/>
          </a:prstGeom>
          <a:noFill/>
          <a:ln/>
        </p:spPr>
        <p:txBody>
          <a:bodyPr wrap="non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목 데이터 잔존</a:t>
            </a:r>
            <a:endParaRPr lang="en-US" sz="1725" dirty="0"/>
          </a:p>
        </p:txBody>
      </p:sp>
      <p:sp>
        <p:nvSpPr>
          <p:cNvPr id="19" name="Text 17"/>
          <p:cNvSpPr/>
          <p:nvPr/>
        </p:nvSpPr>
        <p:spPr>
          <a:xfrm>
            <a:off x="3002875" y="5656898"/>
            <a:ext cx="6904149"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plan_journey 구간 상세 · search_lodging 전체</a:t>
            </a:r>
            <a:endParaRPr lang="en-US" sz="1725" dirty="0"/>
          </a:p>
        </p:txBody>
      </p:sp>
      <p:sp>
        <p:nvSpPr>
          <p:cNvPr id="20" name="Text 18"/>
          <p:cNvSpPr/>
          <p:nvPr/>
        </p:nvSpPr>
        <p:spPr>
          <a:xfrm>
            <a:off x="1245870" y="6079331"/>
            <a:ext cx="1723156" cy="350520"/>
          </a:xfrm>
          <a:prstGeom prst="rect">
            <a:avLst/>
          </a:prstGeom>
          <a:noFill/>
          <a:ln/>
        </p:spPr>
        <p:txBody>
          <a:bodyPr wrap="non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도시철도 시각표</a:t>
            </a:r>
            <a:endParaRPr lang="en-US" sz="1725" dirty="0"/>
          </a:p>
        </p:txBody>
      </p:sp>
      <p:sp>
        <p:nvSpPr>
          <p:cNvPr id="21" name="Text 19"/>
          <p:cNvSpPr/>
          <p:nvPr/>
        </p:nvSpPr>
        <p:spPr>
          <a:xfrm>
            <a:off x="3002875" y="6102191"/>
            <a:ext cx="6904149"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KRIC 오퍼레이션 미승인 — 역·노선·환승만</a:t>
            </a:r>
            <a:endParaRPr lang="en-US" sz="1725" dirty="0"/>
          </a:p>
        </p:txBody>
      </p:sp>
      <p:sp>
        <p:nvSpPr>
          <p:cNvPr id="22" name="Text 20"/>
          <p:cNvSpPr/>
          <p:nvPr/>
        </p:nvSpPr>
        <p:spPr>
          <a:xfrm>
            <a:off x="1245870" y="6524625"/>
            <a:ext cx="1723156" cy="350520"/>
          </a:xfrm>
          <a:prstGeom prst="rect">
            <a:avLst/>
          </a:prstGeom>
          <a:noFill/>
          <a:ln/>
        </p:spPr>
        <p:txBody>
          <a:bodyPr wrap="non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Bedrock 모델</a:t>
            </a:r>
            <a:endParaRPr lang="en-US" sz="1725" dirty="0"/>
          </a:p>
        </p:txBody>
      </p:sp>
      <p:sp>
        <p:nvSpPr>
          <p:cNvPr id="23" name="Text 21"/>
          <p:cNvSpPr/>
          <p:nvPr/>
        </p:nvSpPr>
        <p:spPr>
          <a:xfrm>
            <a:off x="3002875" y="6547485"/>
            <a:ext cx="6904149"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권한 경계로 Sonnet 차단, </a:t>
            </a:r>
            <a:pPr algn="l" indent="0" marL="0">
              <a:lnSpc>
                <a:spcPct val="126326"/>
              </a:lnSpc>
              <a:buNone/>
            </a:pPr>
            <a:r>
              <a:rPr lang="en-US" sz="1725" b="1" dirty="0">
                <a:solidFill>
                  <a:srgbClr val="4A5058"/>
                </a:solidFill>
                <a:latin typeface="Arial" pitchFamily="34" charset="0"/>
                <a:ea typeface="Arial" pitchFamily="34" charset="-122"/>
                <a:cs typeface="Arial" pitchFamily="34" charset="-120"/>
              </a:rPr>
              <a:t>Haiku 만</a:t>
            </a:r>
            <a:endParaRPr lang="en-US" sz="1725" dirty="0"/>
          </a:p>
        </p:txBody>
      </p:sp>
      <p:sp>
        <p:nvSpPr>
          <p:cNvPr id="24" name="Text 22"/>
          <p:cNvSpPr/>
          <p:nvPr/>
        </p:nvSpPr>
        <p:spPr>
          <a:xfrm>
            <a:off x="1245870" y="7000399"/>
            <a:ext cx="1723156" cy="289560"/>
          </a:xfrm>
          <a:prstGeom prst="rect">
            <a:avLst/>
          </a:prstGeom>
          <a:noFill/>
          <a:ln/>
        </p:spPr>
        <p:txBody>
          <a:bodyPr wrap="non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SSRF 74%</a:t>
            </a:r>
            <a:endParaRPr lang="en-US" sz="1725" dirty="0"/>
          </a:p>
        </p:txBody>
      </p:sp>
      <p:sp>
        <p:nvSpPr>
          <p:cNvPr id="25" name="Text 23"/>
          <p:cNvSpPr/>
          <p:nvPr/>
        </p:nvSpPr>
        <p:spPr>
          <a:xfrm>
            <a:off x="3002875" y="6969919"/>
            <a:ext cx="6904149"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실제 요청은 수행되지 않으나 거절 대신 응답하는 경우가 있다</a:t>
            </a:r>
            <a:endParaRPr lang="en-US" sz="1725" dirty="0"/>
          </a:p>
        </p:txBody>
      </p:sp>
      <p:sp>
        <p:nvSpPr>
          <p:cNvPr id="26" name="Text 24"/>
          <p:cNvSpPr/>
          <p:nvPr/>
        </p:nvSpPr>
        <p:spPr>
          <a:xfrm>
            <a:off x="1245870" y="7392353"/>
            <a:ext cx="1723156" cy="350520"/>
          </a:xfrm>
          <a:prstGeom prst="rect">
            <a:avLst/>
          </a:prstGeom>
          <a:noFill/>
          <a:ln/>
        </p:spPr>
        <p:txBody>
          <a:bodyPr wrap="non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무인증 경로</a:t>
            </a:r>
            <a:endParaRPr lang="en-US" sz="1725" dirty="0"/>
          </a:p>
        </p:txBody>
      </p:sp>
      <p:sp>
        <p:nvSpPr>
          <p:cNvPr id="27" name="Text 25"/>
          <p:cNvSpPr/>
          <p:nvPr/>
        </p:nvSpPr>
        <p:spPr>
          <a:xfrm>
            <a:off x="3002875" y="7415213"/>
            <a:ext cx="6904149"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OpenAI 호환 2개 — 레이트리밋이 유일한 방어선</a:t>
            </a:r>
            <a:endParaRPr lang="en-US" sz="1725" dirty="0"/>
          </a:p>
        </p:txBody>
      </p:sp>
      <p:sp>
        <p:nvSpPr>
          <p:cNvPr id="28" name="Text 26"/>
          <p:cNvSpPr/>
          <p:nvPr/>
        </p:nvSpPr>
        <p:spPr>
          <a:xfrm>
            <a:off x="1245870" y="7837647"/>
            <a:ext cx="1723156" cy="350520"/>
          </a:xfrm>
          <a:prstGeom prst="rect">
            <a:avLst/>
          </a:prstGeom>
          <a:noFill/>
          <a:ln/>
        </p:spPr>
        <p:txBody>
          <a:bodyPr wrap="none" lIns="25400" tIns="25400" rIns="25400" bIns="25400" rtlCol="0" anchor="t">
            <a:normAutofit/>
          </a:bodyPr>
          <a:lstStyle/>
          <a:p>
            <a:pPr algn="l" indent="0" marL="0">
              <a:buNone/>
            </a:pPr>
            <a:r>
              <a:rPr lang="en-US" sz="1725" b="1" dirty="0">
                <a:solidFill>
                  <a:srgbClr val="C2410C"/>
                </a:solidFill>
                <a:latin typeface="Arial" pitchFamily="34" charset="0"/>
                <a:ea typeface="Arial" pitchFamily="34" charset="-122"/>
                <a:cs typeface="Arial" pitchFamily="34" charset="-120"/>
              </a:rPr>
              <a:t>비용</a:t>
            </a:r>
            <a:endParaRPr lang="en-US" sz="1725" dirty="0"/>
          </a:p>
        </p:txBody>
      </p:sp>
      <p:sp>
        <p:nvSpPr>
          <p:cNvPr id="29" name="Text 27"/>
          <p:cNvSpPr/>
          <p:nvPr/>
        </p:nvSpPr>
        <p:spPr>
          <a:xfrm>
            <a:off x="3002875" y="7860506"/>
            <a:ext cx="6904149"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g6e.xlarge 24시간 가동 시 하루 약 $29</a:t>
            </a:r>
            <a:endParaRPr lang="en-US" sz="1725" dirty="0"/>
          </a:p>
        </p:txBody>
      </p:sp>
      <p:sp>
        <p:nvSpPr>
          <p:cNvPr id="30" name="Shape 28"/>
          <p:cNvSpPr/>
          <p:nvPr/>
        </p:nvSpPr>
        <p:spPr>
          <a:xfrm>
            <a:off x="9839445" y="2331720"/>
            <a:ext cx="7495937" cy="3300413"/>
          </a:xfrm>
          <a:prstGeom prst="rect">
            <a:avLst/>
          </a:prstGeom>
          <a:solidFill>
            <a:srgbClr val="FFFFFF"/>
          </a:solidFill>
          <a:ln/>
        </p:spPr>
      </p:sp>
      <p:sp>
        <p:nvSpPr>
          <p:cNvPr id="31" name="Shape 29"/>
          <p:cNvSpPr/>
          <p:nvPr/>
        </p:nvSpPr>
        <p:spPr>
          <a:xfrm>
            <a:off x="9839445" y="5624513"/>
            <a:ext cx="7495937" cy="9525"/>
          </a:xfrm>
          <a:prstGeom prst="rect">
            <a:avLst/>
          </a:prstGeom>
          <a:solidFill>
            <a:srgbClr val="DFE1E6"/>
          </a:solidFill>
          <a:ln/>
        </p:spPr>
      </p:sp>
      <p:sp>
        <p:nvSpPr>
          <p:cNvPr id="32" name="Shape 30"/>
          <p:cNvSpPr/>
          <p:nvPr/>
        </p:nvSpPr>
        <p:spPr>
          <a:xfrm>
            <a:off x="9839445" y="2331720"/>
            <a:ext cx="7495937" cy="9525"/>
          </a:xfrm>
          <a:prstGeom prst="rect">
            <a:avLst/>
          </a:prstGeom>
          <a:solidFill>
            <a:srgbClr val="DFE1E6"/>
          </a:solidFill>
          <a:ln/>
        </p:spPr>
      </p:sp>
      <p:sp>
        <p:nvSpPr>
          <p:cNvPr id="33" name="Shape 31"/>
          <p:cNvSpPr/>
          <p:nvPr/>
        </p:nvSpPr>
        <p:spPr>
          <a:xfrm>
            <a:off x="9839445" y="2331720"/>
            <a:ext cx="45720" cy="3300413"/>
          </a:xfrm>
          <a:prstGeom prst="rect">
            <a:avLst/>
          </a:prstGeom>
          <a:solidFill>
            <a:srgbClr val="4F7CFF"/>
          </a:solidFill>
          <a:ln/>
        </p:spPr>
      </p:sp>
      <p:sp>
        <p:nvSpPr>
          <p:cNvPr id="34" name="Shape 32"/>
          <p:cNvSpPr/>
          <p:nvPr/>
        </p:nvSpPr>
        <p:spPr>
          <a:xfrm>
            <a:off x="17327762" y="2331720"/>
            <a:ext cx="9525" cy="3300413"/>
          </a:xfrm>
          <a:prstGeom prst="rect">
            <a:avLst/>
          </a:prstGeom>
          <a:solidFill>
            <a:srgbClr val="DFE1E6"/>
          </a:solidFill>
          <a:ln/>
        </p:spPr>
      </p:sp>
      <p:sp>
        <p:nvSpPr>
          <p:cNvPr id="35" name="Text 33"/>
          <p:cNvSpPr/>
          <p:nvPr/>
        </p:nvSpPr>
        <p:spPr>
          <a:xfrm>
            <a:off x="10170914" y="2567940"/>
            <a:ext cx="7558207" cy="426720"/>
          </a:xfrm>
          <a:prstGeom prst="rect">
            <a:avLst/>
          </a:prstGeom>
          <a:noFill/>
          <a:ln/>
        </p:spPr>
        <p:txBody>
          <a:bodyPr wrap="square" lIns="25400" tIns="25400" rIns="25400" bIns="25400" rtlCol="0" anchor="t">
            <a:normAutofit/>
          </a:bodyPr>
          <a:lstStyle/>
          <a:p>
            <a:pPr algn="l" indent="0" marL="0">
              <a:buNone/>
            </a:pPr>
            <a:r>
              <a:rPr lang="en-US" sz="2100" b="1" dirty="0">
                <a:solidFill>
                  <a:srgbClr val="16181D"/>
                </a:solidFill>
                <a:latin typeface="Arial" pitchFamily="34" charset="0"/>
                <a:ea typeface="Arial" pitchFamily="34" charset="-122"/>
                <a:cs typeface="Arial" pitchFamily="34" charset="-120"/>
              </a:rPr>
              <a:t>다음 단계</a:t>
            </a:r>
            <a:endParaRPr lang="en-US" sz="2100" dirty="0"/>
          </a:p>
        </p:txBody>
      </p:sp>
      <p:sp>
        <p:nvSpPr>
          <p:cNvPr id="36" name="Text 34"/>
          <p:cNvSpPr/>
          <p:nvPr/>
        </p:nvSpPr>
        <p:spPr>
          <a:xfrm>
            <a:off x="10170914" y="3070860"/>
            <a:ext cx="207764" cy="327660"/>
          </a:xfrm>
          <a:prstGeom prst="rect">
            <a:avLst/>
          </a:prstGeom>
          <a:noFill/>
          <a:ln/>
        </p:spPr>
        <p:txBody>
          <a:bodyPr wrap="square" lIns="25400" tIns="25400" rIns="25400" bIns="25400" rtlCol="0" anchor="t">
            <a:normAutofit/>
          </a:bodyPr>
          <a:lstStyle/>
          <a:p>
            <a:pPr algn="l" indent="0" marL="0">
              <a:buNone/>
            </a:pPr>
            <a:r>
              <a:rPr lang="en-US" sz="1725" dirty="0">
                <a:solidFill>
                  <a:srgbClr val="4F7CFF"/>
                </a:solidFill>
                <a:latin typeface="Roboto Mono" pitchFamily="34" charset="0"/>
                <a:ea typeface="Roboto Mono" pitchFamily="34" charset="-122"/>
                <a:cs typeface="Roboto Mono" pitchFamily="34" charset="-120"/>
              </a:rPr>
              <a:t>1</a:t>
            </a:r>
            <a:endParaRPr lang="en-US" sz="1725" dirty="0"/>
          </a:p>
        </p:txBody>
      </p:sp>
      <p:sp>
        <p:nvSpPr>
          <p:cNvPr id="37" name="Text 35"/>
          <p:cNvSpPr/>
          <p:nvPr/>
        </p:nvSpPr>
        <p:spPr>
          <a:xfrm>
            <a:off x="10473928" y="3070860"/>
            <a:ext cx="5567969" cy="673418"/>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실제 교통 API 연동 — 철도·버스·항공·공항 </a:t>
            </a:r>
            <a:pPr algn="l" indent="0" marL="0">
              <a:lnSpc>
                <a:spcPct val="126326"/>
              </a:lnSpc>
              <a:buNone/>
            </a:pPr>
            <a:r>
              <a:rPr lang="en-US" sz="1725" b="1" dirty="0">
                <a:solidFill>
                  <a:srgbClr val="4A5058"/>
                </a:solidFill>
                <a:latin typeface="Arial" pitchFamily="34" charset="0"/>
                <a:ea typeface="Arial" pitchFamily="34" charset="-122"/>
                <a:cs typeface="Arial" pitchFamily="34" charset="-120"/>
              </a:rPr>
              <a:t>완료 </a:t>
            </a:r>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 TourAPI·GBFS 남음</a:t>
            </a:r>
            <a:endParaRPr lang="en-US" sz="1725" dirty="0"/>
          </a:p>
        </p:txBody>
      </p:sp>
      <p:sp>
        <p:nvSpPr>
          <p:cNvPr id="38" name="Text 36"/>
          <p:cNvSpPr/>
          <p:nvPr/>
        </p:nvSpPr>
        <p:spPr>
          <a:xfrm>
            <a:off x="16051173" y="3070860"/>
            <a:ext cx="1067038" cy="327660"/>
          </a:xfrm>
          <a:prstGeom prst="rect">
            <a:avLst/>
          </a:prstGeom>
          <a:noFill/>
          <a:ln/>
        </p:spPr>
        <p:txBody>
          <a:bodyPr wrap="none" lIns="25400" tIns="25400" rIns="25400" bIns="25400" rtlCol="0" anchor="t">
            <a:normAutofit/>
          </a:bodyPr>
          <a:lstStyle/>
          <a:p>
            <a:pPr algn="l" indent="0" marL="0">
              <a:buNone/>
            </a:pPr>
            <a:r>
              <a:rPr lang="en-US" sz="1575" dirty="0">
                <a:solidFill>
                  <a:srgbClr val="00845C"/>
                </a:solidFill>
                <a:latin typeface="Arial" pitchFamily="34" charset="0"/>
                <a:ea typeface="Arial" pitchFamily="34" charset="-122"/>
                <a:cs typeface="Arial" pitchFamily="34" charset="-120"/>
              </a:rPr>
              <a:t>진행</a:t>
            </a:r>
            <a:endParaRPr lang="en-US" sz="1575" dirty="0"/>
          </a:p>
        </p:txBody>
      </p:sp>
      <p:sp>
        <p:nvSpPr>
          <p:cNvPr id="39" name="Text 37"/>
          <p:cNvSpPr/>
          <p:nvPr/>
        </p:nvSpPr>
        <p:spPr>
          <a:xfrm>
            <a:off x="10170914" y="3810953"/>
            <a:ext cx="207764" cy="327660"/>
          </a:xfrm>
          <a:prstGeom prst="rect">
            <a:avLst/>
          </a:prstGeom>
          <a:noFill/>
          <a:ln/>
        </p:spPr>
        <p:txBody>
          <a:bodyPr wrap="square" lIns="25400" tIns="25400" rIns="25400" bIns="25400" rtlCol="0" anchor="t">
            <a:normAutofit/>
          </a:bodyPr>
          <a:lstStyle/>
          <a:p>
            <a:pPr algn="l" indent="0" marL="0">
              <a:buNone/>
            </a:pPr>
            <a:r>
              <a:rPr lang="en-US" sz="1725" dirty="0">
                <a:solidFill>
                  <a:srgbClr val="4F7CFF"/>
                </a:solidFill>
                <a:latin typeface="Roboto Mono" pitchFamily="34" charset="0"/>
                <a:ea typeface="Roboto Mono" pitchFamily="34" charset="-122"/>
                <a:cs typeface="Roboto Mono" pitchFamily="34" charset="-120"/>
              </a:rPr>
              <a:t>2</a:t>
            </a:r>
            <a:endParaRPr lang="en-US" sz="1725" dirty="0"/>
          </a:p>
        </p:txBody>
      </p:sp>
      <p:sp>
        <p:nvSpPr>
          <p:cNvPr id="40" name="Text 38"/>
          <p:cNvSpPr/>
          <p:nvPr/>
        </p:nvSpPr>
        <p:spPr>
          <a:xfrm>
            <a:off x="10473928" y="3810953"/>
            <a:ext cx="5946375"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의도 정확도 개선 (38.9% → 목표 60%)</a:t>
            </a:r>
            <a:endParaRPr lang="en-US" sz="1725" dirty="0"/>
          </a:p>
        </p:txBody>
      </p:sp>
      <p:sp>
        <p:nvSpPr>
          <p:cNvPr id="41" name="Text 39"/>
          <p:cNvSpPr/>
          <p:nvPr/>
        </p:nvSpPr>
        <p:spPr>
          <a:xfrm>
            <a:off x="16051173" y="3810953"/>
            <a:ext cx="1067038" cy="327660"/>
          </a:xfrm>
          <a:prstGeom prst="rect">
            <a:avLst/>
          </a:prstGeom>
          <a:noFill/>
          <a:ln/>
        </p:spPr>
        <p:txBody>
          <a:bodyPr wrap="none" lIns="25400" tIns="25400" rIns="25400" bIns="25400" rtlCol="0" anchor="t">
            <a:normAutofit/>
          </a:bodyPr>
          <a:lstStyle/>
          <a:p>
            <a:pPr algn="l" indent="0" marL="0">
              <a:buNone/>
            </a:pPr>
            <a:r>
              <a:rPr lang="en-US" sz="1575" dirty="0">
                <a:solidFill>
                  <a:srgbClr val="00845C"/>
                </a:solidFill>
                <a:latin typeface="Arial" pitchFamily="34" charset="0"/>
                <a:ea typeface="Arial" pitchFamily="34" charset="-122"/>
                <a:cs typeface="Arial" pitchFamily="34" charset="-120"/>
              </a:rPr>
              <a:t>68.5% 달성</a:t>
            </a:r>
            <a:endParaRPr lang="en-US" sz="1575" dirty="0"/>
          </a:p>
        </p:txBody>
      </p:sp>
      <p:sp>
        <p:nvSpPr>
          <p:cNvPr id="42" name="Text 40"/>
          <p:cNvSpPr/>
          <p:nvPr/>
        </p:nvSpPr>
        <p:spPr>
          <a:xfrm>
            <a:off x="10170914" y="4233386"/>
            <a:ext cx="207764" cy="327660"/>
          </a:xfrm>
          <a:prstGeom prst="rect">
            <a:avLst/>
          </a:prstGeom>
          <a:noFill/>
          <a:ln/>
        </p:spPr>
        <p:txBody>
          <a:bodyPr wrap="square" lIns="25400" tIns="25400" rIns="25400" bIns="25400" rtlCol="0" anchor="t">
            <a:normAutofit/>
          </a:bodyPr>
          <a:lstStyle/>
          <a:p>
            <a:pPr algn="l" indent="0" marL="0">
              <a:buNone/>
            </a:pPr>
            <a:r>
              <a:rPr lang="en-US" sz="1725" dirty="0">
                <a:solidFill>
                  <a:srgbClr val="4F7CFF"/>
                </a:solidFill>
                <a:latin typeface="Roboto Mono" pitchFamily="34" charset="0"/>
                <a:ea typeface="Roboto Mono" pitchFamily="34" charset="-122"/>
                <a:cs typeface="Roboto Mono" pitchFamily="34" charset="-120"/>
              </a:rPr>
              <a:t>3</a:t>
            </a:r>
            <a:endParaRPr lang="en-US" sz="1725" dirty="0"/>
          </a:p>
        </p:txBody>
      </p:sp>
      <p:sp>
        <p:nvSpPr>
          <p:cNvPr id="43" name="Text 41"/>
          <p:cNvSpPr/>
          <p:nvPr/>
        </p:nvSpPr>
        <p:spPr>
          <a:xfrm>
            <a:off x="10473928" y="4233386"/>
            <a:ext cx="5946375"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지연 최적화 — 프롬프트 압축, 동시성</a:t>
            </a:r>
            <a:endParaRPr lang="en-US" sz="1725" dirty="0"/>
          </a:p>
        </p:txBody>
      </p:sp>
      <p:sp>
        <p:nvSpPr>
          <p:cNvPr id="44" name="Text 42"/>
          <p:cNvSpPr/>
          <p:nvPr/>
        </p:nvSpPr>
        <p:spPr>
          <a:xfrm>
            <a:off x="16051173" y="4279106"/>
            <a:ext cx="1067038" cy="274320"/>
          </a:xfrm>
          <a:prstGeom prst="rect">
            <a:avLst/>
          </a:prstGeom>
          <a:noFill/>
          <a:ln/>
        </p:spPr>
        <p:txBody>
          <a:bodyPr wrap="none" lIns="25400" tIns="25400" rIns="25400" bIns="25400" rtlCol="0" anchor="t">
            <a:normAutofit/>
          </a:bodyPr>
          <a:lstStyle/>
          <a:p>
            <a:pPr algn="l" indent="0" marL="0">
              <a:buNone/>
            </a:pPr>
            <a:r>
              <a:rPr lang="en-US" sz="1575" dirty="0">
                <a:solidFill>
                  <a:srgbClr val="8A9099"/>
                </a:solidFill>
                <a:latin typeface="Arial" pitchFamily="34" charset="0"/>
                <a:ea typeface="Arial" pitchFamily="34" charset="-122"/>
                <a:cs typeface="Arial" pitchFamily="34" charset="-120"/>
              </a:rPr>
              <a:t>—</a:t>
            </a:r>
            <a:endParaRPr lang="en-US" sz="1575" dirty="0"/>
          </a:p>
        </p:txBody>
      </p:sp>
      <p:sp>
        <p:nvSpPr>
          <p:cNvPr id="45" name="Text 43"/>
          <p:cNvSpPr/>
          <p:nvPr/>
        </p:nvSpPr>
        <p:spPr>
          <a:xfrm>
            <a:off x="10170914" y="4655820"/>
            <a:ext cx="207764" cy="327660"/>
          </a:xfrm>
          <a:prstGeom prst="rect">
            <a:avLst/>
          </a:prstGeom>
          <a:noFill/>
          <a:ln/>
        </p:spPr>
        <p:txBody>
          <a:bodyPr wrap="square" lIns="25400" tIns="25400" rIns="25400" bIns="25400" rtlCol="0" anchor="t">
            <a:normAutofit/>
          </a:bodyPr>
          <a:lstStyle/>
          <a:p>
            <a:pPr algn="l" indent="0" marL="0">
              <a:buNone/>
            </a:pPr>
            <a:r>
              <a:rPr lang="en-US" sz="1725" dirty="0">
                <a:solidFill>
                  <a:srgbClr val="4F7CFF"/>
                </a:solidFill>
                <a:latin typeface="Roboto Mono" pitchFamily="34" charset="0"/>
                <a:ea typeface="Roboto Mono" pitchFamily="34" charset="-122"/>
                <a:cs typeface="Roboto Mono" pitchFamily="34" charset="-120"/>
              </a:rPr>
              <a:t>4</a:t>
            </a:r>
            <a:endParaRPr lang="en-US" sz="1725" dirty="0"/>
          </a:p>
        </p:txBody>
      </p:sp>
      <p:sp>
        <p:nvSpPr>
          <p:cNvPr id="46" name="Text 44"/>
          <p:cNvSpPr/>
          <p:nvPr/>
        </p:nvSpPr>
        <p:spPr>
          <a:xfrm>
            <a:off x="10473928" y="4655820"/>
            <a:ext cx="5946375"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정책 문서 RAG 통합</a:t>
            </a:r>
            <a:endParaRPr lang="en-US" sz="1725" dirty="0"/>
          </a:p>
        </p:txBody>
      </p:sp>
      <p:sp>
        <p:nvSpPr>
          <p:cNvPr id="47" name="Text 45"/>
          <p:cNvSpPr/>
          <p:nvPr/>
        </p:nvSpPr>
        <p:spPr>
          <a:xfrm>
            <a:off x="16051173" y="4701540"/>
            <a:ext cx="1067038" cy="274320"/>
          </a:xfrm>
          <a:prstGeom prst="rect">
            <a:avLst/>
          </a:prstGeom>
          <a:noFill/>
          <a:ln/>
        </p:spPr>
        <p:txBody>
          <a:bodyPr wrap="none" lIns="25400" tIns="25400" rIns="25400" bIns="25400" rtlCol="0" anchor="t">
            <a:normAutofit/>
          </a:bodyPr>
          <a:lstStyle/>
          <a:p>
            <a:pPr algn="l" indent="0" marL="0">
              <a:buNone/>
            </a:pPr>
            <a:r>
              <a:rPr lang="en-US" sz="1575" dirty="0">
                <a:solidFill>
                  <a:srgbClr val="8A9099"/>
                </a:solidFill>
                <a:latin typeface="Arial" pitchFamily="34" charset="0"/>
                <a:ea typeface="Arial" pitchFamily="34" charset="-122"/>
                <a:cs typeface="Arial" pitchFamily="34" charset="-120"/>
              </a:rPr>
              <a:t>—</a:t>
            </a:r>
            <a:endParaRPr lang="en-US" sz="1575" dirty="0"/>
          </a:p>
        </p:txBody>
      </p:sp>
      <p:sp>
        <p:nvSpPr>
          <p:cNvPr id="48" name="Text 46"/>
          <p:cNvSpPr/>
          <p:nvPr/>
        </p:nvSpPr>
        <p:spPr>
          <a:xfrm>
            <a:off x="10170914" y="5078254"/>
            <a:ext cx="207764" cy="327660"/>
          </a:xfrm>
          <a:prstGeom prst="rect">
            <a:avLst/>
          </a:prstGeom>
          <a:noFill/>
          <a:ln/>
        </p:spPr>
        <p:txBody>
          <a:bodyPr wrap="square" lIns="25400" tIns="25400" rIns="25400" bIns="25400" rtlCol="0" anchor="t">
            <a:normAutofit/>
          </a:bodyPr>
          <a:lstStyle/>
          <a:p>
            <a:pPr algn="l" indent="0" marL="0">
              <a:buNone/>
            </a:pPr>
            <a:r>
              <a:rPr lang="en-US" sz="1725" dirty="0">
                <a:solidFill>
                  <a:srgbClr val="4F7CFF"/>
                </a:solidFill>
                <a:latin typeface="Roboto Mono" pitchFamily="34" charset="0"/>
                <a:ea typeface="Roboto Mono" pitchFamily="34" charset="-122"/>
                <a:cs typeface="Roboto Mono" pitchFamily="34" charset="-120"/>
              </a:rPr>
              <a:t>5</a:t>
            </a:r>
            <a:endParaRPr lang="en-US" sz="1725" dirty="0"/>
          </a:p>
        </p:txBody>
      </p:sp>
      <p:sp>
        <p:nvSpPr>
          <p:cNvPr id="49" name="Text 47"/>
          <p:cNvSpPr/>
          <p:nvPr/>
        </p:nvSpPr>
        <p:spPr>
          <a:xfrm>
            <a:off x="10473928" y="5078254"/>
            <a:ext cx="5946375" cy="355759"/>
          </a:xfrm>
          <a:prstGeom prst="rect">
            <a:avLst/>
          </a:prstGeom>
          <a:noFill/>
          <a:ln/>
        </p:spPr>
        <p:txBody>
          <a:bodyPr wrap="square" lIns="25400" tIns="25400" rIns="25400" bIns="25400" rtlCol="0" anchor="t">
            <a:normAutofit/>
          </a:bodyPr>
          <a:lstStyle/>
          <a:p>
            <a:pPr algn="l" indent="0" marL="0">
              <a:lnSpc>
                <a:spcPct val="126326"/>
              </a:lnSpc>
              <a:buNone/>
            </a:pPr>
            <a:r>
              <a:rPr lang="en-US" sz="1725" dirty="0">
                <a:solidFill>
                  <a:srgbClr val="4A5058"/>
                </a:solidFill>
                <a:latin typeface="Arial" pitchFamily="34" charset="0"/>
                <a:ea typeface="Arial" pitchFamily="34" charset="-122"/>
                <a:cs typeface="Arial" pitchFamily="34" charset="-120"/>
              </a:rPr>
              <a:t>운영 배포 (EKS + Cognito)</a:t>
            </a:r>
            <a:endParaRPr lang="en-US" sz="1725" dirty="0"/>
          </a:p>
        </p:txBody>
      </p:sp>
      <p:sp>
        <p:nvSpPr>
          <p:cNvPr id="50" name="Text 48"/>
          <p:cNvSpPr/>
          <p:nvPr/>
        </p:nvSpPr>
        <p:spPr>
          <a:xfrm>
            <a:off x="16051173" y="5123974"/>
            <a:ext cx="1067038" cy="274320"/>
          </a:xfrm>
          <a:prstGeom prst="rect">
            <a:avLst/>
          </a:prstGeom>
          <a:noFill/>
          <a:ln/>
        </p:spPr>
        <p:txBody>
          <a:bodyPr wrap="none" lIns="25400" tIns="25400" rIns="25400" bIns="25400" rtlCol="0" anchor="t">
            <a:normAutofit/>
          </a:bodyPr>
          <a:lstStyle/>
          <a:p>
            <a:pPr algn="l" indent="0" marL="0">
              <a:buNone/>
            </a:pPr>
            <a:r>
              <a:rPr lang="en-US" sz="1575" dirty="0">
                <a:solidFill>
                  <a:srgbClr val="8A9099"/>
                </a:solidFill>
                <a:latin typeface="Arial" pitchFamily="34" charset="0"/>
                <a:ea typeface="Arial" pitchFamily="34" charset="-122"/>
                <a:cs typeface="Arial" pitchFamily="34" charset="-120"/>
              </a:rPr>
              <a:t>—</a:t>
            </a:r>
            <a:endParaRPr lang="en-US" sz="1575" dirty="0"/>
          </a:p>
        </p:txBody>
      </p:sp>
      <p:sp>
        <p:nvSpPr>
          <p:cNvPr id="51" name="Shape 49"/>
          <p:cNvSpPr/>
          <p:nvPr/>
        </p:nvSpPr>
        <p:spPr>
          <a:xfrm>
            <a:off x="9839445" y="5803582"/>
            <a:ext cx="7495937" cy="2287905"/>
          </a:xfrm>
          <a:prstGeom prst="rect">
            <a:avLst/>
          </a:prstGeom>
          <a:solidFill>
            <a:srgbClr val="FFF7ED"/>
          </a:solidFill>
          <a:ln w="7620">
            <a:solidFill>
              <a:srgbClr val="FED7AA"/>
            </a:solidFill>
            <a:prstDash val="solid"/>
          </a:ln>
        </p:spPr>
      </p:sp>
      <p:sp>
        <p:nvSpPr>
          <p:cNvPr id="52" name="Text 50"/>
          <p:cNvSpPr/>
          <p:nvPr/>
        </p:nvSpPr>
        <p:spPr>
          <a:xfrm>
            <a:off x="10132814" y="6039803"/>
            <a:ext cx="7600117" cy="304800"/>
          </a:xfrm>
          <a:prstGeom prst="rect">
            <a:avLst/>
          </a:prstGeom>
          <a:noFill/>
          <a:ln/>
        </p:spPr>
        <p:txBody>
          <a:bodyPr wrap="square" lIns="25400" tIns="25400" rIns="25400" bIns="25400" rtlCol="0" anchor="t">
            <a:normAutofit/>
          </a:bodyPr>
          <a:lstStyle/>
          <a:p>
            <a:pPr algn="l" indent="0" marL="0">
              <a:buNone/>
            </a:pPr>
            <a:r>
              <a:rPr lang="en-US" sz="1575" dirty="0">
                <a:solidFill>
                  <a:srgbClr val="C2410C"/>
                </a:solidFill>
                <a:latin typeface="Roboto Mono" pitchFamily="34" charset="0"/>
                <a:ea typeface="Roboto Mono" pitchFamily="34" charset="-122"/>
                <a:cs typeface="Roboto Mono" pitchFamily="34" charset="-120"/>
              </a:rPr>
              <a:t>종료 체크리스트에서 놓치기 쉬운 것</a:t>
            </a:r>
            <a:endParaRPr lang="en-US" sz="1575" dirty="0"/>
          </a:p>
        </p:txBody>
      </p:sp>
      <p:sp>
        <p:nvSpPr>
          <p:cNvPr id="53" name="Text 51"/>
          <p:cNvSpPr/>
          <p:nvPr/>
        </p:nvSpPr>
        <p:spPr>
          <a:xfrm>
            <a:off x="10132814" y="6401753"/>
            <a:ext cx="7116473" cy="717233"/>
          </a:xfrm>
          <a:prstGeom prst="rect">
            <a:avLst/>
          </a:prstGeom>
          <a:noFill/>
          <a:ln/>
        </p:spPr>
        <p:txBody>
          <a:bodyPr wrap="square" lIns="25400" tIns="25400" rIns="25400" bIns="25400" rtlCol="0" anchor="t">
            <a:normAutofit/>
          </a:bodyPr>
          <a:lstStyle/>
          <a:p>
            <a:pPr algn="l" indent="0" marL="0">
              <a:lnSpc>
                <a:spcPct val="135038"/>
              </a:lnSpc>
              <a:buNone/>
            </a:pPr>
            <a:r>
              <a:rPr lang="en-US" sz="1725" b="1" dirty="0">
                <a:solidFill>
                  <a:srgbClr val="7C2D12"/>
                </a:solidFill>
                <a:latin typeface="Arial" pitchFamily="34" charset="0"/>
                <a:ea typeface="Arial" pitchFamily="34" charset="-122"/>
                <a:cs typeface="Arial" pitchFamily="34" charset="-120"/>
              </a:rPr>
              <a:t>외부 API 키 6종 </a:t>
            </a:r>
            <a:pPr algn="l" indent="0" marL="0">
              <a:lnSpc>
                <a:spcPct val="135038"/>
              </a:lnSpc>
              <a:buNone/>
            </a:pPr>
            <a:r>
              <a:rPr lang="en-US" sz="1725" dirty="0">
                <a:solidFill>
                  <a:srgbClr val="7C2D12"/>
                </a:solidFill>
                <a:latin typeface="Arial" pitchFamily="34" charset="0"/>
                <a:ea typeface="Arial" pitchFamily="34" charset="-122"/>
                <a:cs typeface="Arial" pitchFamily="34" charset="-120"/>
              </a:rPr>
              <a:t>(자체·서울·카카오·공공데이터·KRIC·ODsay)은 AWS 밖에서 발급받아 </a:t>
            </a:r>
            <a:pPr algn="l" indent="0" marL="0">
              <a:lnSpc>
                <a:spcPct val="135038"/>
              </a:lnSpc>
              <a:buNone/>
            </a:pPr>
            <a:r>
              <a:rPr lang="en-US" sz="1725" b="1" dirty="0">
                <a:solidFill>
                  <a:srgbClr val="7C2D12"/>
                </a:solidFill>
                <a:latin typeface="Arial" pitchFamily="34" charset="0"/>
                <a:ea typeface="Arial" pitchFamily="34" charset="-122"/>
                <a:cs typeface="Arial" pitchFamily="34" charset="-120"/>
              </a:rPr>
              <a:t>계정이 만료돼도 살아 있다 </a:t>
            </a:r>
            <a:pPr algn="l" indent="0" marL="0">
              <a:lnSpc>
                <a:spcPct val="135038"/>
              </a:lnSpc>
              <a:buNone/>
            </a:pPr>
            <a:r>
              <a:rPr lang="en-US" sz="1725" dirty="0">
                <a:solidFill>
                  <a:srgbClr val="7C2D12"/>
                </a:solidFill>
                <a:latin typeface="Arial" pitchFamily="34" charset="0"/>
                <a:ea typeface="Arial" pitchFamily="34" charset="-122"/>
                <a:cs typeface="Arial" pitchFamily="34" charset="-120"/>
              </a:rPr>
              <a:t>— 반드시 따로 폐기.</a:t>
            </a:r>
            <a:endParaRPr lang="en-US" sz="1725" dirty="0"/>
          </a:p>
        </p:txBody>
      </p:sp>
      <p:sp>
        <p:nvSpPr>
          <p:cNvPr id="54" name="Text 52"/>
          <p:cNvSpPr/>
          <p:nvPr/>
        </p:nvSpPr>
        <p:spPr>
          <a:xfrm>
            <a:off x="10132814" y="7176135"/>
            <a:ext cx="7116473" cy="717233"/>
          </a:xfrm>
          <a:prstGeom prst="rect">
            <a:avLst/>
          </a:prstGeom>
          <a:noFill/>
          <a:ln/>
        </p:spPr>
        <p:txBody>
          <a:bodyPr wrap="square" lIns="25400" tIns="25400" rIns="25400" bIns="25400" rtlCol="0" anchor="t">
            <a:normAutofit/>
          </a:bodyPr>
          <a:lstStyle/>
          <a:p>
            <a:pPr algn="l" indent="0" marL="0">
              <a:lnSpc>
                <a:spcPct val="135038"/>
              </a:lnSpc>
              <a:buNone/>
            </a:pPr>
            <a:r>
              <a:rPr lang="en-US" sz="1725" b="1" dirty="0">
                <a:solidFill>
                  <a:srgbClr val="7C2D12"/>
                </a:solidFill>
                <a:latin typeface="Arial" pitchFamily="34" charset="0"/>
                <a:ea typeface="Arial" pitchFamily="34" charset="-122"/>
                <a:cs typeface="Arial" pitchFamily="34" charset="-120"/>
              </a:rPr>
              <a:t>Elastic IP </a:t>
            </a:r>
            <a:pPr algn="l" indent="0" marL="0">
              <a:lnSpc>
                <a:spcPct val="135038"/>
              </a:lnSpc>
              <a:buNone/>
            </a:pPr>
            <a:r>
              <a:rPr lang="en-US" sz="1725" dirty="0">
                <a:solidFill>
                  <a:srgbClr val="7C2D12"/>
                </a:solidFill>
                <a:latin typeface="Arial" pitchFamily="34" charset="0"/>
                <a:ea typeface="Arial" pitchFamily="34" charset="-122"/>
                <a:cs typeface="Arial" pitchFamily="34" charset="-120"/>
              </a:rPr>
              <a:t>는 인스턴스에서 분리된 채 남으면 과금된다. S3 두 버킷은 버전 관리가 켜져 있어 이전 버전까지 지워야 비워진다.</a:t>
            </a:r>
            <a:endParaRPr lang="en-US" sz="1725" dirty="0"/>
          </a:p>
        </p:txBody>
      </p:sp>
      <p:sp>
        <p:nvSpPr>
          <p:cNvPr id="55" name="Shape 53"/>
          <p:cNvSpPr/>
          <p:nvPr/>
        </p:nvSpPr>
        <p:spPr>
          <a:xfrm>
            <a:off x="9839445" y="8262938"/>
            <a:ext cx="7495937" cy="3390900"/>
          </a:xfrm>
          <a:prstGeom prst="rect">
            <a:avLst/>
          </a:prstGeom>
          <a:solidFill>
            <a:srgbClr val="16181D"/>
          </a:solidFill>
          <a:ln/>
        </p:spPr>
      </p:sp>
      <p:sp>
        <p:nvSpPr>
          <p:cNvPr id="56" name="Text 54"/>
          <p:cNvSpPr/>
          <p:nvPr/>
        </p:nvSpPr>
        <p:spPr>
          <a:xfrm>
            <a:off x="10125195" y="8510588"/>
            <a:ext cx="7616881" cy="304800"/>
          </a:xfrm>
          <a:prstGeom prst="rect">
            <a:avLst/>
          </a:prstGeom>
          <a:noFill/>
          <a:ln/>
        </p:spPr>
        <p:txBody>
          <a:bodyPr wrap="square" lIns="25400" tIns="25400" rIns="25400" bIns="25400" rtlCol="0" anchor="t">
            <a:normAutofit/>
          </a:bodyPr>
          <a:lstStyle/>
          <a:p>
            <a:pPr algn="l" indent="0" marL="0">
              <a:buNone/>
            </a:pPr>
            <a:r>
              <a:rPr lang="en-US" sz="1575" spc="158" kern="0" dirty="0">
                <a:solidFill>
                  <a:srgbClr val="9DB4FF"/>
                </a:solidFill>
                <a:latin typeface="Roboto Mono" pitchFamily="34" charset="0"/>
                <a:ea typeface="Roboto Mono" pitchFamily="34" charset="-122"/>
                <a:cs typeface="Roboto Mono" pitchFamily="34" charset="-120"/>
              </a:rPr>
              <a:t>세 문장 요약</a:t>
            </a:r>
            <a:endParaRPr lang="en-US" sz="1575" dirty="0"/>
          </a:p>
        </p:txBody>
      </p:sp>
      <p:sp>
        <p:nvSpPr>
          <p:cNvPr id="57" name="Text 55"/>
          <p:cNvSpPr/>
          <p:nvPr/>
        </p:nvSpPr>
        <p:spPr>
          <a:xfrm>
            <a:off x="10125195" y="8910638"/>
            <a:ext cx="7132170" cy="781050"/>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E6E8EA"/>
                </a:solidFill>
                <a:latin typeface="Arial" pitchFamily="34" charset="0"/>
                <a:ea typeface="Arial" pitchFamily="34" charset="-122"/>
                <a:cs typeface="Arial" pitchFamily="34" charset="-120"/>
              </a:rPr>
              <a:t>① 로컬 4B 게이트로 클라우드 호출을 </a:t>
            </a:r>
            <a:pPr algn="l" indent="0" marL="0">
              <a:lnSpc>
                <a:spcPct val="131757"/>
              </a:lnSpc>
              <a:buNone/>
            </a:pPr>
            <a:r>
              <a:rPr lang="en-US" sz="1950" b="1" dirty="0">
                <a:solidFill>
                  <a:srgbClr val="9DB4FF"/>
                </a:solidFill>
                <a:latin typeface="Arial" pitchFamily="34" charset="0"/>
                <a:ea typeface="Arial" pitchFamily="34" charset="-122"/>
                <a:cs typeface="Arial" pitchFamily="34" charset="-120"/>
              </a:rPr>
              <a:t>39% </a:t>
            </a:r>
            <a:pPr algn="l" indent="0" marL="0">
              <a:lnSpc>
                <a:spcPct val="131757"/>
              </a:lnSpc>
              <a:buNone/>
            </a:pPr>
            <a:r>
              <a:rPr lang="en-US" sz="1950" dirty="0">
                <a:solidFill>
                  <a:srgbClr val="E6E8EA"/>
                </a:solidFill>
                <a:latin typeface="Arial" pitchFamily="34" charset="0"/>
                <a:ea typeface="Arial" pitchFamily="34" charset="-122"/>
                <a:cs typeface="Arial" pitchFamily="34" charset="-120"/>
              </a:rPr>
              <a:t>로 줄였고, 도메인 판정은 8B 와 동일했다.</a:t>
            </a:r>
            <a:endParaRPr lang="en-US" sz="1950" dirty="0"/>
          </a:p>
        </p:txBody>
      </p:sp>
      <p:sp>
        <p:nvSpPr>
          <p:cNvPr id="58" name="Text 56"/>
          <p:cNvSpPr/>
          <p:nvPr/>
        </p:nvSpPr>
        <p:spPr>
          <a:xfrm>
            <a:off x="10125195" y="9786938"/>
            <a:ext cx="7132170" cy="781050"/>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E6E8EA"/>
                </a:solidFill>
                <a:latin typeface="Arial" pitchFamily="34" charset="0"/>
                <a:ea typeface="Arial" pitchFamily="34" charset="-122"/>
                <a:cs typeface="Arial" pitchFamily="34" charset="-120"/>
              </a:rPr>
              <a:t>② 결정론적 도구 + 근거성 검증으로 </a:t>
            </a:r>
            <a:pPr algn="l" indent="0" marL="0">
              <a:lnSpc>
                <a:spcPct val="131757"/>
              </a:lnSpc>
              <a:buNone/>
            </a:pPr>
            <a:r>
              <a:rPr lang="en-US" sz="1950" b="1" dirty="0">
                <a:solidFill>
                  <a:srgbClr val="9DB4FF"/>
                </a:solidFill>
                <a:latin typeface="Arial" pitchFamily="34" charset="0"/>
                <a:ea typeface="Arial" pitchFamily="34" charset="-122"/>
                <a:cs typeface="Arial" pitchFamily="34" charset="-120"/>
              </a:rPr>
              <a:t>LLM 의 환각 숫자를 실제로 차단 </a:t>
            </a:r>
            <a:pPr algn="l" indent="0" marL="0">
              <a:lnSpc>
                <a:spcPct val="131757"/>
              </a:lnSpc>
              <a:buNone/>
            </a:pPr>
            <a:r>
              <a:rPr lang="en-US" sz="1950" dirty="0">
                <a:solidFill>
                  <a:srgbClr val="E6E8EA"/>
                </a:solidFill>
                <a:latin typeface="Arial" pitchFamily="34" charset="0"/>
                <a:ea typeface="Arial" pitchFamily="34" charset="-122"/>
                <a:cs typeface="Arial" pitchFamily="34" charset="-120"/>
              </a:rPr>
              <a:t>했다.</a:t>
            </a:r>
            <a:endParaRPr lang="en-US" sz="1950" dirty="0"/>
          </a:p>
        </p:txBody>
      </p:sp>
      <p:sp>
        <p:nvSpPr>
          <p:cNvPr id="59" name="Text 57"/>
          <p:cNvSpPr/>
          <p:nvPr/>
        </p:nvSpPr>
        <p:spPr>
          <a:xfrm>
            <a:off x="10125195" y="10663238"/>
            <a:ext cx="7132170" cy="781050"/>
          </a:xfrm>
          <a:prstGeom prst="rect">
            <a:avLst/>
          </a:prstGeom>
          <a:noFill/>
          <a:ln/>
        </p:spPr>
        <p:txBody>
          <a:bodyPr wrap="square" lIns="25400" tIns="25400" rIns="25400" bIns="25400" rtlCol="0" anchor="t">
            <a:normAutofit/>
          </a:bodyPr>
          <a:lstStyle/>
          <a:p>
            <a:pPr algn="l" indent="0" marL="0">
              <a:lnSpc>
                <a:spcPct val="131757"/>
              </a:lnSpc>
              <a:buNone/>
            </a:pPr>
            <a:r>
              <a:rPr lang="en-US" sz="1950" dirty="0">
                <a:solidFill>
                  <a:srgbClr val="E6E8EA"/>
                </a:solidFill>
                <a:latin typeface="Arial" pitchFamily="34" charset="0"/>
                <a:ea typeface="Arial" pitchFamily="34" charset="-122"/>
                <a:cs typeface="Arial" pitchFamily="34" charset="-120"/>
              </a:rPr>
              <a:t>③ 관리형 가드레일이 못 하는 다국어 영역은 코드로 메웠고, </a:t>
            </a:r>
            <a:pPr algn="l" indent="0" marL="0">
              <a:lnSpc>
                <a:spcPct val="131757"/>
              </a:lnSpc>
              <a:buNone/>
            </a:pPr>
            <a:r>
              <a:rPr lang="en-US" sz="1950" b="1" dirty="0">
                <a:solidFill>
                  <a:srgbClr val="9DB4FF"/>
                </a:solidFill>
                <a:latin typeface="Arial" pitchFamily="34" charset="0"/>
                <a:ea typeface="Arial" pitchFamily="34" charset="-122"/>
                <a:cs typeface="Arial" pitchFamily="34" charset="-120"/>
              </a:rPr>
              <a:t>실패 사례를 전부 기록으로 남겼다.</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2026-09-04T06:48:59Z</dcterms:created>
  <dcterms:modified xsi:type="dcterms:W3CDTF">2026-09-04T06:48:59Z</dcterms:modified>
</cp:coreProperties>
</file>